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715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Preparation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Basics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Data Analytics with 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188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Sources: Where does data come from?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Transformation in Excel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Process: Extract, Transform, Load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971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Warehousing Concepts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5661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Basics with pandas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41605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4160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Validation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Data Come From?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your data sources is the first step in any analytics project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9144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Excel Files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format for sharing data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4023360" cy="9144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(SQL)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MySQL, PostgreSQL, SQL Server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4023360" cy="9144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Systems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3063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Salesforce, HubSpot, Zoho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560320"/>
            <a:ext cx="4023360" cy="9144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3776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Systems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7760" y="3063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SAP, Oracle, Microsoft Dynamics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4023360" cy="9144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794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Data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4160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web scraping, Google Analytics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657600"/>
            <a:ext cx="4023360" cy="9144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3794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937760" y="4160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Forms, SurveyMonkey, Typeform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Data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Organized in rows and columns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Easy to search and analyze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Stored in databases, spreadsheets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Examples: Sales records, customer tables, inventory data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Data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754880" y="164592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predefined format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Harder to process and analyze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Requires special tools to handle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Examples: Emails, PDFs, images, social media posts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2062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in Excel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techniques every analyst should know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474720" y="13716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tab → Remove Duplicates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&amp; Replace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0" y="18745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H → Fix inconsistent entries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to Columns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0" y="23774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 in one column into multiple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TRIM() function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288036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extra spaces from text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CLEAN() function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33832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non-printable characters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8862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PROPER() / UPPER() / LOWER()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38862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text case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3891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blanks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43891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Special → Blanks → Fill or delete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 in Excel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Formatting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text dates to proper date format using DATEVALUE() or Text to Columns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Formatting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currency symbols, convert text to numbers using VALUE()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Categories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IF() or VLOOKUP() to group data into categories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derived columns (profit margin, age from DOB, duration)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and summarize data for analysis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ETL?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of moving data from source systems to a data warehouse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2743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29260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data from various source systems (databases, files, APIs)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463040"/>
            <a:ext cx="2651760" cy="2743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91840" y="16459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291840" y="2377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29000" y="29260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format, validate, and restructure the data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463040"/>
            <a:ext cx="2651760" cy="2743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26480" y="16459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126480" y="2377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63640" y="29260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the processed data in a data warehouse or database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718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80644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in Action: Example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011680" cy="5029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Data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2011680" cy="5029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CSV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2011680" cy="5029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Analytics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0" y="2103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200400" y="1371600"/>
            <a:ext cx="2743200" cy="2286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Process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20116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Extract from sources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Clean &amp; standardize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Join related tables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Calculate metrics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Validate quality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35040" y="2103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675120" y="1554480"/>
            <a:ext cx="2011680" cy="18288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75120" y="1828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66560" y="2286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integrated, analysis-ready data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0" y="3474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675120" y="3931920"/>
            <a:ext cx="2011680" cy="7315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75120" y="39319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&amp; Reports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Warehousing Basics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Data Warehouse?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 repository that stores integrated data from multiple sources, optimized for analysis and reporting rather than day-to-day operations.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8229600" cy="25603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Database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Warehouse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daily operations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analysis &amp; decisions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Current, real-time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Historical, aggregated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Clerks, operators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Analysts, managers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Simple, frequent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Complex, occasional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Dashboard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097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Source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1508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data? (CSV, database, API)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303520" y="1097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0" y="1508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data into your working environment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2331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Transform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743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issues, standardize formats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03520" y="2331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Data Model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03520" y="2743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relationships between tables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3566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Visualizations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39776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charts, tables, KPIs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03520" y="3566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Dashboard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03520" y="39776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with stakeholders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Data Preparation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Python?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Free and open source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Handles large datasets easily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Automates repetitive tasks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Extensive libraries (pandas, numpy)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Industry standard for data science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Library: pandas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is the go-to library for data manipulation in Python. It provides data structures (DataFrame) similar to Excel tables.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8229600" cy="14630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pd.read_csv('sales_data.csv')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df.head()  # View first 5 rows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pandas Operations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data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834640" y="1005840"/>
            <a:ext cx="5852160" cy="41148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926080" y="10058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pd.read_csv('file.csv')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structure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34640" y="1508760"/>
            <a:ext cx="5852160" cy="41148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0" y="150876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df.info(), df.describe()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nulls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834640" y="2011680"/>
            <a:ext cx="5852160" cy="41148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26080" y="201168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df.isnull().sum()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5146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duplicates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834640" y="2514600"/>
            <a:ext cx="5852160" cy="41148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926080" y="251460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df.drop_duplicates()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0175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missing values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834640" y="3017520"/>
            <a:ext cx="5852160" cy="41148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926080" y="301752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df.fillna(value)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5204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rows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834640" y="3520440"/>
            <a:ext cx="5852160" cy="41148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926080" y="35204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df[df['column'] &gt; 100]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023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column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834640" y="4023360"/>
            <a:ext cx="5852160" cy="41148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926080" y="402336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df['profit'] = df['revenue'] - df['cost']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526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 file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834640" y="4526280"/>
            <a:ext cx="5852160" cy="41148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926080" y="452628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df.to_csv('clean_data.csv')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Assessment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analysis, always assess your data quality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86868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5270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missing values?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417320"/>
            <a:ext cx="4023360" cy="86868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15270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data correct and reliable?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4023360" cy="86868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5786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data formatted uniformly?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468880"/>
            <a:ext cx="4023360" cy="86868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37760" y="25786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Timeliness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776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data current and up-to-date?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4023360" cy="86868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630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3977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duplicate records?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520440"/>
            <a:ext cx="4023360" cy="86868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3630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937760" y="3977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data follow business rules?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 Techniques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Checks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should be 0-120, dates in valid range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Validation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patterns, phone number formats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Cross-field Validation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date &gt; Start date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 exists in customer table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611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Checks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outliers using mean ± 3 std dev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251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Checks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fields are not empty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868</Words>
  <Application>Microsoft Office PowerPoint</Application>
  <PresentationFormat>On-screen Show (16:9)</PresentationFormat>
  <Paragraphs>205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Collection &amp; Preparation (ETL Basics)</dc:title>
  <dc:subject>PptxGenJS Presentation</dc:subject>
  <dc:creator>SkillShikshya</dc:creator>
  <cp:lastModifiedBy>Sauhar Khanal</cp:lastModifiedBy>
  <cp:revision>3</cp:revision>
  <dcterms:created xsi:type="dcterms:W3CDTF">2026-03-15T12:28:20Z</dcterms:created>
  <dcterms:modified xsi:type="dcterms:W3CDTF">2026-03-15T14:59:28Z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b2248cf-7f03-4ea3-bc21-100a3e94dc1a_Enabled">
    <vt:lpwstr>true</vt:lpwstr>
  </property>
  <property fmtid="{D5CDD505-2E9C-101B-9397-08002B2CF9AE}" pid="3" name="MSIP_Label_0b2248cf-7f03-4ea3-bc21-100a3e94dc1a_SetDate">
    <vt:lpwstr>2026-03-15T14:58:20Z</vt:lpwstr>
  </property>
  <property fmtid="{D5CDD505-2E9C-101B-9397-08002B2CF9AE}" pid="4" name="MSIP_Label_0b2248cf-7f03-4ea3-bc21-100a3e94dc1a_Method">
    <vt:lpwstr>Standard</vt:lpwstr>
  </property>
  <property fmtid="{D5CDD505-2E9C-101B-9397-08002B2CF9AE}" pid="5" name="MSIP_Label_0b2248cf-7f03-4ea3-bc21-100a3e94dc1a_Name">
    <vt:lpwstr>defa4170-0d19-0005-0004-bc88714345d2</vt:lpwstr>
  </property>
  <property fmtid="{D5CDD505-2E9C-101B-9397-08002B2CF9AE}" pid="6" name="MSIP_Label_0b2248cf-7f03-4ea3-bc21-100a3e94dc1a_SiteId">
    <vt:lpwstr>8ccadef0-d125-45d2-82b6-d3a9d60db293</vt:lpwstr>
  </property>
  <property fmtid="{D5CDD505-2E9C-101B-9397-08002B2CF9AE}" pid="7" name="MSIP_Label_0b2248cf-7f03-4ea3-bc21-100a3e94dc1a_ActionId">
    <vt:lpwstr>5b0c211a-16a8-471c-b4aa-415875f391f1</vt:lpwstr>
  </property>
  <property fmtid="{D5CDD505-2E9C-101B-9397-08002B2CF9AE}" pid="8" name="MSIP_Label_0b2248cf-7f03-4ea3-bc21-100a3e94dc1a_ContentBits">
    <vt:lpwstr>0</vt:lpwstr>
  </property>
  <property fmtid="{D5CDD505-2E9C-101B-9397-08002B2CF9AE}" pid="9" name="MSIP_Label_0b2248cf-7f03-4ea3-bc21-100a3e94dc1a_Tag">
    <vt:lpwstr>10, 3, 0, 1</vt:lpwstr>
  </property>
</Properties>
</file>