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6518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Modern Data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Data Analytics with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Learn Today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Cloud Computing for Analytics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48132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Cloud Platforms: AWS, Azure, Google Cloud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95681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5681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Warehouses: Snowflake, BigQuery, Redshift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4323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43230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Lakes vs Data Warehouses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90779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9077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ETL Tools &amp; Data Pipelines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83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Cloud Data to Power BI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8587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85876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&amp; Data Governance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33425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433425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Cloud Analytics with Power BI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Cloud Computing?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resources delivered over the internet, on-demand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electricity: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build your own power plant — you plug in and pay for what you use. Cloud works the same way!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 for Analytics: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20116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Pay-as-you-go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2461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upfront hardware costs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2697480"/>
            <a:ext cx="20116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06040" y="2880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51760" y="32461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any data size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2697480"/>
            <a:ext cx="20116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54880" y="2880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0600" y="32461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from anywhere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03720" y="2697480"/>
            <a:ext cx="20116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03720" y="2880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49440" y="32461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up resources in minutes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vs Cloud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743200" cy="457200"/>
          </a:xfrm>
          <a:prstGeom prst="rect">
            <a:avLst/>
          </a:prstGeom>
          <a:solidFill>
            <a:srgbClr val="0B39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91840" y="1005840"/>
            <a:ext cx="2743200" cy="4572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9184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Cost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3756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(buy servers)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46304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(pay per use)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96596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19659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196596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19659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Weeks/months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196596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19659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24688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91840" y="246888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337560" y="24688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IT team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46888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172200" y="24688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provider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97180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29718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91840" y="297180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337560" y="29718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297180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172200" y="29718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responsibility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47472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2920" y="3474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91840" y="347472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337560" y="3474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office only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3474720"/>
            <a:ext cx="27432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172200" y="3474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world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397764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02920" y="39776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291840" y="397764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337560" y="39776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upgrades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26480" y="3977640"/>
            <a:ext cx="27432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172200" y="39776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008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companies today use hybrid approach: some on-premise, some cloud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Three Cloud Providers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they control ~65% of the global cloud market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743200" cy="6400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ecosystem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Tools: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Redshift, S3, Glue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7560" y="1280160"/>
            <a:ext cx="274320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337560" y="1280160"/>
            <a:ext cx="2743200" cy="64008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37560" y="1325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29000" y="2971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Office 365 integration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2900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Tools: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29000" y="3703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Synapse, Power BI, Data Factory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274320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17920" y="1280160"/>
            <a:ext cx="2743200" cy="64008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17920" y="1325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09360" y="2011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Platform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09360" y="2331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09360" y="2971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AI/ML &amp; BigQuery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09360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Tools: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09360" y="3703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BigQuery, Looker, Dataflow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Warehouses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analytics: store and analyze massive datasets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Cloud DW Special?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 storage — optimized for analytics queries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Massively parallel processing (MPP) — queries run on multiple servers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468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storage &amp; compute — scale each independently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interface — use skills you already have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Options: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20116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4160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Multi-cloud, pay per second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606040" y="3749040"/>
            <a:ext cx="20116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606040" y="3840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51760" y="4160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great for Google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749040"/>
            <a:ext cx="20116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54880" y="3840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4160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native, mature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903720" y="3749040"/>
            <a:ext cx="201168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03720" y="3840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9440" y="41605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native, Power BI integrated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Snowflake: The Cloud Data Platform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 independent cloud data warehouse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Architecture: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4114800" cy="731520"/>
          </a:xfrm>
          <a:prstGeom prst="rect">
            <a:avLst/>
          </a:prstGeom>
          <a:solidFill>
            <a:srgbClr val="29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metadata, optimization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4114800" cy="7315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(Virtual Warehouses)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queries, scale up/down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4114800" cy="7315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657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columnar storage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0" y="1280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Snowflake is Popular: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1645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AWS, Azure, and GCP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0574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only when queries run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2468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maintenance required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2880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0" y="2880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data sharing across orgs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2918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291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travel (query past data)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3703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3703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Auto-scaling compute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425196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Nepali companies like Daraz, eSewa, and F1Soft are increasingly adopting cloud data warehouses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&amp; Redshift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023360" cy="54864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BigQuery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Serverless — no infrastructure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03911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Analyze petabytes in seconds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7802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Built-in ML with SQL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916936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Real-time analytics streaming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3558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Pay per query (per TB scanned)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794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Best for: Google ecosystem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40233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023360" cy="5486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0" y="960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Redshift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46320" y="16002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Mature &amp; battle-tested (since 2012)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03911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Deep AWS integration (S3, Glue)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47802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Redshift Spectrum for data lake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916936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Concurrency scaling auto-capacity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3558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Pay per node (hourly/reserved)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7947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Best for: Existing AWS customers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vs Data Warehouse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= Raw water reservoir (store everything, figure it out later)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= Filtered water supply (cleaned, structured, ready to use)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2743200" cy="411480"/>
          </a:xfrm>
          <a:prstGeom prst="rect">
            <a:avLst/>
          </a:prstGeom>
          <a:solidFill>
            <a:srgbClr val="0B39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965960"/>
            <a:ext cx="274320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91840" y="1965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965960"/>
            <a:ext cx="2743200" cy="4114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26480" y="1965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3774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2377440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37560" y="23774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all types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2377440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23774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Processed: structured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276148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2761488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37560" y="276148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Schema-on-read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761488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172200" y="276148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Schema-on-write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145536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314553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3145536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37560" y="314553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26480" y="3145536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72200" y="314553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529584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352958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91840" y="3529584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37560" y="352958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storage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26480" y="3529584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172200" y="352958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expensive compute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913632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391363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Speed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91840" y="3913632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337560" y="391363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26480" y="3913632"/>
            <a:ext cx="2743200" cy="384048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172200" y="391363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(optimized)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429768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02920" y="429768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429768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337560" y="429768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ML, exploration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429768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172200" y="429768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Reports, dashboards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ETL &amp; Data Pipeline Tools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and transforming data in the cloud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331720" y="1463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651760" y="1371600"/>
            <a:ext cx="1828800" cy="6400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63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46320" y="1371600"/>
            <a:ext cx="1828800" cy="6400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20840" y="1463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040880" y="1371600"/>
            <a:ext cx="1828800" cy="6400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04088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194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Cloud ETL Tools: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201168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560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60320" y="2560320"/>
            <a:ext cx="8229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560320" y="256032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2560320"/>
            <a:ext cx="12801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74720" y="25603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560320"/>
            <a:ext cx="256032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46320" y="25603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926080"/>
            <a:ext cx="201168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29260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 Factory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2926080"/>
            <a:ext cx="82296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606040" y="292608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74720" y="2926080"/>
            <a:ext cx="128016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520440" y="292608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ETL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926080"/>
            <a:ext cx="256032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292608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Microsoft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273552"/>
            <a:ext cx="20116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" y="32735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560320" y="3273552"/>
            <a:ext cx="8229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606040" y="327355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474720" y="3273552"/>
            <a:ext cx="12801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520440" y="3273552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ETL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273552"/>
            <a:ext cx="256032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892040" y="32735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Python/Spark based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3621024"/>
            <a:ext cx="201168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" y="362102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Dataflow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60320" y="3621024"/>
            <a:ext cx="82296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606040" y="362102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474720" y="3621024"/>
            <a:ext cx="128016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520440" y="3621024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ETL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46320" y="3621024"/>
            <a:ext cx="256032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92040" y="362102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Beam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" y="3968496"/>
            <a:ext cx="20116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02920" y="396849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Fivetran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560320" y="3968496"/>
            <a:ext cx="8229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606040" y="396849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474720" y="3968496"/>
            <a:ext cx="12801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520440" y="396849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ELT Platform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846320" y="3968496"/>
            <a:ext cx="256032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892040" y="396849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connectors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315968"/>
            <a:ext cx="201168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02920" y="43159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2560320" y="4315968"/>
            <a:ext cx="82296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2606040" y="431596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474720" y="4315968"/>
            <a:ext cx="128016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520440" y="431596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(T)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846320" y="4315968"/>
            <a:ext cx="2560320" cy="347472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892040" y="431596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SQL-based, version controlled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" y="4663440"/>
            <a:ext cx="20116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02920" y="46634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560320" y="4663440"/>
            <a:ext cx="8229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2606040" y="466344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474720" y="4663440"/>
            <a:ext cx="12801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3520440" y="466344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ELT Platform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846320" y="4663440"/>
            <a:ext cx="256032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892040" y="46634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vs ELT: What's the Difference?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ETL: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64592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48840" y="1417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560320" y="1371600"/>
            <a:ext cx="1645920" cy="5486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56032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51960" y="1417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164592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344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417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on separate server before loading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103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ELT: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164592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5146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8840" y="2514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2560320" y="2468880"/>
            <a:ext cx="1645920" cy="5486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0" y="25146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51960" y="2514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663440" y="2468880"/>
            <a:ext cx="1645920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63440" y="25146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inside the warehouse (SQL)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ELT is becoming standard: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5661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35661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warehouses are powerful enough to transform data directly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95020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" y="39502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set up — just load raw data first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33425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7240" y="43342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flexible — transform as needed, keep raw data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71830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77240" y="471830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makes SQL transformations version-controlled and testable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Cloud Data to Power BI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has native connectors for all major cloud platforms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Cloud Architecture: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828800" cy="411480"/>
          </a:xfrm>
          <a:prstGeom prst="rect">
            <a:avLst/>
          </a:prstGeom>
          <a:solidFill>
            <a:srgbClr val="29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1828800" cy="41148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828800" cy="41148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1828800" cy="4114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2926080" y="1691640"/>
            <a:ext cx="2286000" cy="20116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926080" y="2011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26080" y="24231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DirectQuery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Import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5852160" y="1691640"/>
            <a:ext cx="1828800" cy="411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852160" y="16916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52160" y="2194560"/>
            <a:ext cx="1828800" cy="411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52160" y="2194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852160" y="2697480"/>
            <a:ext cx="1828800" cy="411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852160" y="2697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852160" y="3200400"/>
            <a:ext cx="1828800" cy="411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852160" y="3200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Modes: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160520"/>
            <a:ext cx="4023360" cy="5486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4206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Import: Data copied to Power BI (fast, scheduled refresh)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4160520"/>
            <a:ext cx="4023360" cy="5486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4206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DirectQuery: Live connection (always current, fast source)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BI: Connecting to Cloud Sources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Data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32588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'Get Data' → Search for your cloud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051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0352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Server Details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0" y="132588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URL, database name, warehouse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1488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2103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4231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Username/Password, Azure AD, or OAuth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10312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21488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03520" y="2103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Mode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0" y="24231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(copy) or DirectQuery (live)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2461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Tables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35204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tables/views to load, preview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20040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54880" y="32461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0352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Report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0" y="35204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visualizations, publish to Service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Tip: For large datasets, use DirectQuery to avoid refreshing millions of rows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&amp; Data Governance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your data safe in the cloud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Responsibility Model: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02336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402336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Provider Manages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data centers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Network infrastructure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Hardware maintenance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Platform security patches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645920"/>
            <a:ext cx="402336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645920"/>
            <a:ext cx="4023360" cy="4572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0" y="1691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User access &amp; permissions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Data encryption settings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Application security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Compliance &amp; policies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429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Security Features: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2011680" cy="86868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4206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rest &amp; in transit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606040" y="3794760"/>
            <a:ext cx="2011680" cy="86868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606040" y="3886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651760" y="4206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 Mgmt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3794760"/>
            <a:ext cx="2011680" cy="86868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54880" y="3886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4206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accessed what, when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903720" y="3794760"/>
            <a:ext cx="2011680" cy="86868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903720" y="3886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49440" y="4206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 auth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in the Cloud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and processes to manage data quality, security, and compliance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Pillars of Data Governance: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01168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Accuracy checks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Completeness rules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Consistency validation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645920"/>
            <a:ext cx="201168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06040" y="1783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2194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Access controls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97480" y="2560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Encryption policies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9748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Privacy protection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645920"/>
            <a:ext cx="201168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783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194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Metadata management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2560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lineage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Business glossary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1645920"/>
            <a:ext cx="201168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03720" y="1783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95160" y="2194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GDPR, HIPAA rules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95160" y="2560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retention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9516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trails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 Context: Nepal Rastra Bank has data localization rules for financial data.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cloud providers now have data centers in nearby regions (Mumbai, Singapore).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Management Best Practices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Small, Scale Up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with pilot project, learn, then expand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1148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46320" y="960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960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Managed Services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cloud provider handle infrastructure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1148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Tagging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148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resources for cost tracking and organization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1783080"/>
            <a:ext cx="41148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1208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Monitoring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2148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costs, performance, and security alerts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41148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2697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400" y="2697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Everything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code, automated pipelines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651760"/>
            <a:ext cx="41148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46320" y="2697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212080" y="2697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Data Lineage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where data comes from and goes 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520440"/>
            <a:ext cx="41148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" y="3566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14400" y="3566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Backups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3886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in cloud, have backup and recovery plans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520440"/>
            <a:ext cx="41148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46320" y="3566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212080" y="3566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Costs Monthly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12080" y="3886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bills can surprise you — monitor closely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Cloud Mistakes to Avoid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Do This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63440" y="914400"/>
            <a:ext cx="4023360" cy="411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663440" y="9144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Instead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02336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325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Lifting &amp; shifting without redesigning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0" y="1325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architecture for cloud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40233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18288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cost management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828800"/>
            <a:ext cx="40233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8288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budgets and alerts from day 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402336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3317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Over-provisioning resources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331720"/>
            <a:ext cx="402336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54880" y="23317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small, use auto-scaling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40233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28346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backup strategy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834640"/>
            <a:ext cx="40233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54880" y="28346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automated backups and test recovery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37560"/>
            <a:ext cx="402336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33375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access controls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337560"/>
            <a:ext cx="4023360" cy="50292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54880" y="33375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least-privilege access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40233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" y="38404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classification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3840480"/>
            <a:ext cx="402336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54880" y="38404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sensitive data, apply controls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= on-demand resources, pay for what you use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Three: AWS (largest), Azure (Microsoft), GCP (Google/AI)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DW (Snowflake, BigQuery, Redshift) = fast analytics at scale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= raw storage; Data Warehouse = processed analytics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7432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ELT is replacing ETL — transform inside the warehouse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200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connects to all major cloud sources natively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657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shared responsibility — you manage access &amp; policies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small, monitor costs, automate everything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Cloud Analytics with Power BI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Power BI to a cloud data source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Cloud Account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free tier account on Azure, AWS, or GCP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1920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Sample Data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194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NepalMart dataset to cloud storage/database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06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Power BI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Get Data → select cloud source → authenticate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2461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Dashboard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474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sales by region, category, time visualizations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3840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to Service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" y="4114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to Power BI Service for sharing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4526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51560" y="4480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Refresh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1560" y="4754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scheduled data refresh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Cloud Options for Learning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major platforms offer free tiers — no credit card needed to start!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Database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tier: 100K vCore-seconds/month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0" y="13716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free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portal.azure.com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BigQuery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5328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tier: 1 TB queries, 10 GB storage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240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free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22402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console.cloud.google.com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108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4015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tier: 750 hrs RDS, 5 GB S3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31089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aws.amazon.com/free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Trial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2702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 credits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3977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39776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signup.snowflake.com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Use Azure SQL Database (free) + Power BI Desktop (free)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BI: Connecting to Azure SQL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6576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Power BI Desktop → Click 'Get Data'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65760" cy="36576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93268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0" y="9144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'Azure SQL Database' → Click Connect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70992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server: yourserver.database.windows.net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691640"/>
            <a:ext cx="365760" cy="36576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0" y="170992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database name: nepalmart_analytics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365760" cy="36576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48716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24688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'Database' auth → Enter username &amp; password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468880"/>
            <a:ext cx="365760" cy="36576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48716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4688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tables: fact_sales, dim_customer, dim_product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365760" cy="36576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326440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324612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'Load' or 'Transform Data' if needed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246120"/>
            <a:ext cx="365760" cy="36576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54880" y="326440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24612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visualizations!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solidFill>
            <a:srgbClr val="0B39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Server: nepalmart.database.windows.net  |  Database: analytics  |  Auth: SQL Login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3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Output: Sales Dashboard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these visualizations from cloud-connected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01168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45.2L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06040" y="1280160"/>
            <a:ext cx="201168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06040" y="1325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06040" y="1783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201168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1325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3,665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0" y="1783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03720" y="1280160"/>
            <a:ext cx="201168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903720" y="1325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03720" y="1783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240280"/>
            <a:ext cx="4206240" cy="1828800"/>
          </a:xfrm>
          <a:prstGeom prst="rect">
            <a:avLst/>
          </a:prstGeom>
          <a:solidFill>
            <a:srgbClr val="E8F4F8"/>
          </a:solidFill>
          <a:ln w="63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29260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Category [Bar Chart]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2240280"/>
            <a:ext cx="3840480" cy="1828800"/>
          </a:xfrm>
          <a:prstGeom prst="rect">
            <a:avLst/>
          </a:prstGeom>
          <a:solidFill>
            <a:srgbClr val="E8F4F8"/>
          </a:solidFill>
          <a:ln w="63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3776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Trend by Month [Line Chart]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4206240" cy="5486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251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Province [Map]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4160520"/>
            <a:ext cx="3840480" cy="5486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3776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Products [Table]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is not just about technology — it's about business agility!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Advanced Power BI &amp; DAX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1767</Words>
  <Application>Microsoft Office PowerPoint</Application>
  <PresentationFormat>On-screen Show (16:9)</PresentationFormat>
  <Paragraphs>460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Platforms &amp; Modern Data Stack</dc:title>
  <dc:subject>PptxGenJS Presentation</dc:subject>
  <dc:creator>PptxGenJS</dc:creator>
  <cp:lastModifiedBy>Sauhar Khanal</cp:lastModifiedBy>
  <cp:revision>3</cp:revision>
  <dcterms:created xsi:type="dcterms:W3CDTF">2026-03-19T06:19:39Z</dcterms:created>
  <dcterms:modified xsi:type="dcterms:W3CDTF">2026-03-28T08:21:07Z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b2248cf-7f03-4ea3-bc21-100a3e94dc1a_Enabled">
    <vt:lpwstr>true</vt:lpwstr>
  </property>
  <property fmtid="{D5CDD505-2E9C-101B-9397-08002B2CF9AE}" pid="3" name="MSIP_Label_0b2248cf-7f03-4ea3-bc21-100a3e94dc1a_SetDate">
    <vt:lpwstr>2026-03-20T13:01:46Z</vt:lpwstr>
  </property>
  <property fmtid="{D5CDD505-2E9C-101B-9397-08002B2CF9AE}" pid="4" name="MSIP_Label_0b2248cf-7f03-4ea3-bc21-100a3e94dc1a_Method">
    <vt:lpwstr>Standard</vt:lpwstr>
  </property>
  <property fmtid="{D5CDD505-2E9C-101B-9397-08002B2CF9AE}" pid="5" name="MSIP_Label_0b2248cf-7f03-4ea3-bc21-100a3e94dc1a_Name">
    <vt:lpwstr>defa4170-0d19-0005-0004-bc88714345d2</vt:lpwstr>
  </property>
  <property fmtid="{D5CDD505-2E9C-101B-9397-08002B2CF9AE}" pid="6" name="MSIP_Label_0b2248cf-7f03-4ea3-bc21-100a3e94dc1a_SiteId">
    <vt:lpwstr>8ccadef0-d125-45d2-82b6-d3a9d60db293</vt:lpwstr>
  </property>
  <property fmtid="{D5CDD505-2E9C-101B-9397-08002B2CF9AE}" pid="7" name="MSIP_Label_0b2248cf-7f03-4ea3-bc21-100a3e94dc1a_ActionId">
    <vt:lpwstr>12731f34-1d49-411b-8d6d-05e82cdfa6c7</vt:lpwstr>
  </property>
  <property fmtid="{D5CDD505-2E9C-101B-9397-08002B2CF9AE}" pid="8" name="MSIP_Label_0b2248cf-7f03-4ea3-bc21-100a3e94dc1a_ContentBits">
    <vt:lpwstr>0</vt:lpwstr>
  </property>
  <property fmtid="{D5CDD505-2E9C-101B-9397-08002B2CF9AE}" pid="9" name="MSIP_Label_0b2248cf-7f03-4ea3-bc21-100a3e94dc1a_Tag">
    <vt:lpwstr>10, 3, 0, 1</vt:lpwstr>
  </property>
</Properties>
</file>