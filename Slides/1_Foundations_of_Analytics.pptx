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5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103120"/>
            <a:ext cx="16459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of Analytics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building blocks of data-driven decision making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Analytics with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vs Business Analytics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 Real-World Business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4231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Lifecycle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0175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 in Analytics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6118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 Data Analysis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20624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9164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Fundamentals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 vs Business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the same coin with different focal points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 (DA)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processes of collecting, cleaning, and analyzing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mining &amp; extraction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Statistical modeling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recognition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visualization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373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Analytics (BA)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4231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insights to drive business decisions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tracking &amp; reporting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Forecasting &amp; planning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recommendations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Differences at a Glance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does the data tell us?"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can we improve the business?"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Emphasis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Programming, statistics, 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knowledge, communication,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R, SQL, Tableau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Excel, Power BI, Dashboards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Insights, models, visualizations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Reports, recommendations,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teams, 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Executives, managers,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disciplines work together to create data-driven organizations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in Real-World Business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leading industries leverage data for competitive advantage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optimization, demand forecasting, customer segmentation, personalized recommendations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371600"/>
            <a:ext cx="411480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1371600"/>
            <a:ext cx="73152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00600" y="155448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00600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ROI analysis, A/B testing, customer journey mapping, attribution modeling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91840"/>
            <a:ext cx="411480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3291840"/>
            <a:ext cx="73152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85800" y="347472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85800" y="4206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assessment, fraud detection, portfolio analysis, credit scoring models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0" y="3291840"/>
            <a:ext cx="411480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0" y="3291840"/>
            <a:ext cx="73152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00600" y="347472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5661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4800600" y="4206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optimization, cart abandonment analysis, price optimization, user behavior tracking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insights: A systematic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23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51460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77440" y="2011680"/>
            <a:ext cx="1371600" cy="13716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242316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945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514600"/>
            <a:ext cx="36576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114800" y="201168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242316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3192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514600"/>
            <a:ext cx="365760" cy="3657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852160" y="2011680"/>
            <a:ext cx="1371600" cy="13716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423160"/>
            <a:ext cx="548640" cy="5486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6692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514600"/>
            <a:ext cx="365760" cy="36576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589520" y="201168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2423160"/>
            <a:ext cx="548640" cy="5486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40664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502920" y="3931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databases, APIs, surveys, sensors</a:t>
            </a:r>
            <a:endParaRPr lang="en-US" sz="1000" dirty="0"/>
          </a:p>
        </p:txBody>
      </p:sp>
      <p:sp>
        <p:nvSpPr>
          <p:cNvPr id="24" name="Text 13"/>
          <p:cNvSpPr/>
          <p:nvPr/>
        </p:nvSpPr>
        <p:spPr>
          <a:xfrm>
            <a:off x="2240280" y="3931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errors, handle missing values, standardize formats</a:t>
            </a:r>
            <a:endParaRPr lang="en-US" sz="1000" dirty="0"/>
          </a:p>
        </p:txBody>
      </p:sp>
      <p:sp>
        <p:nvSpPr>
          <p:cNvPr id="25" name="Text 14"/>
          <p:cNvSpPr/>
          <p:nvPr/>
        </p:nvSpPr>
        <p:spPr>
          <a:xfrm>
            <a:off x="3977640" y="3931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methods, find patterns, test hypotheses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5715000" y="3931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charts, dashboards, reports for stakeholders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7452360" y="3931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business actions and strategy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Dive: Each Stage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14600" y="9601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(surveys, experiments) vs Secondary sources (databases, APIs). Quality starts here.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0" y="960120"/>
            <a:ext cx="17373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1252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analysis time is spent on data prep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7647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176479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fix inconsistencies. The foundation of reliable analysis.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17373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contains critical errors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66090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60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5694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14600" y="256946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(what happened), Diagnostic (why), Predictive (what will happen), Prescriptive (what to do).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2569464"/>
            <a:ext cx="17373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25237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2862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 with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46557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465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37413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14600" y="337413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numbers into stories. Choose the right chart for your message. Less is more.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3374136"/>
            <a:ext cx="17373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49440" y="36667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are visual learners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27024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41788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514600" y="41788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action is just noise. Connect insights to business outcomes and KPIs.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9440" y="4178808"/>
            <a:ext cx="17373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4944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49440" y="4471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boost from analytics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Paths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pathways to a rewarding career in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SQL, Visualization, Statistics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417320"/>
            <a:ext cx="201168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51760" y="141732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892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Analyst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3154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Process mapping, Reporting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201168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154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Python, Pipeline building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1417320"/>
            <a:ext cx="201168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40880" y="141732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7804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Scientist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7804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3154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ML, Statistics, Big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Excel Formulas for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=SUMIF(range, criteria, sum_range)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values meeting conditions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1148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=COUNTIF(range, criteria)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cells meeting 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=AVERAGEIF(range, criteria, avg_range)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with conditions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31720"/>
            <a:ext cx="41148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=VLOOKUP(value, table, col, FALSE)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related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=INDEX(array, MATCH(value, range, 0))</a:t>
            </a:r>
            <a:b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/>
              <a:t>MATCH → finds row number</a:t>
            </a:r>
            <a:br>
              <a:rPr lang="en-US" sz="1100" dirty="0"/>
            </a:br>
            <a:r>
              <a:rPr lang="en-US" sz="1100" dirty="0"/>
              <a:t>INDEX → returns value from that row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lookups (better than VLOOKUP)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657600"/>
            <a:ext cx="41148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=IF(condition, true_value, false_value)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Statistics for Analysts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measures every analyst must know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Central Tendency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5176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all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=AVERAGE(range)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sales: 45,000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265176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when sorted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=MEDIAN(range)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salary: 50,000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5176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=MODE(range)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size: 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Essential Measures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Part/Whole × 100 — Growth rates, market share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4612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data — Variability, risk assessment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to +1 relationship — Variable relationships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753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Analytics</dc:title>
  <dc:subject>Business Data Analytics with AI - Module 1</dc:subject>
  <dc:creator>SkillShikshya</dc:creator>
  <cp:lastModifiedBy>Sauhar Khanal</cp:lastModifiedBy>
  <cp:revision>4</cp:revision>
  <dcterms:created xsi:type="dcterms:W3CDTF">2026-02-03T09:28:49Z</dcterms:created>
  <dcterms:modified xsi:type="dcterms:W3CDTF">2026-03-15T14:57:19Z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2026-03-15T12:05:19Z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e907a13b-fb38-4810-867b-b6b7d62974d1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