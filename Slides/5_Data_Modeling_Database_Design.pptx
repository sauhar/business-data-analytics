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1482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Database Design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Data Analytics with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Learn Today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Data Modeling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Entity-Relationship (ER) Diagrams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Normalization: 1NF, 2NF, 3NF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560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&amp; Snowflake Schema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063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 vs Dimension Tables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566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 Best Practices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069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E-Commerce Dimensional Model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Data Modeling?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blueprint for organizing and structuring your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an architect's blueprint: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building a house, you need a plan. Before building a database, you need a data model!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Data Modeling: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265176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business view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do we need?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2834640"/>
            <a:ext cx="265176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32918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structure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data organized?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2834640"/>
            <a:ext cx="265176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2648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32918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implementation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it stored?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Data Modeling Matters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097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errors, duplicates, and inconsistencies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Performance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331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Well-designed models = faster reports and dashboards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8229600" cy="77724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246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add new data sources as business grows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8229600" cy="77724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3840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Understanding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4160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shared vocabulary between IT and business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Entity-Relationship (ER) Diagrams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representation of data and relationships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5603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we store data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(Customer,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Order)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645920"/>
            <a:ext cx="25603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1691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91840" y="20574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of an entity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(name, email, price,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order_date)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0" y="1645920"/>
            <a:ext cx="25603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0" y="1691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035040" y="20574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entities connect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(Customer PLACES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566160"/>
            <a:ext cx="146304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749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37490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→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0" y="3566160"/>
            <a:ext cx="146304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0" y="3749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3566160"/>
            <a:ext cx="146304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09360" y="3749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Cardinality: How Entities Relate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how many instances of one entity relate to another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One-to-One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(1:1)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───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 ↔ Passport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person has exactly one passport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One-to-Many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(1:N)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───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→ Orders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customer can have many orders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Many-to-Many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(M:N)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───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Students ↔ Courses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students take many courses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3886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Many-to-Many requires a junction table (e.g., order_items links orders and products)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Normalization?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data to reduce redundancy and improve integrity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Normalization (Messy):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4572000" cy="100584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 Ram's name/city repeated, Laptop price repeated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Normalization (Clean):</a:t>
            </a:r>
            <a:endParaRPr lang="en-US" sz="1200" dirty="0"/>
          </a:p>
        </p:txBody>
      </p:sp>
      <p:sp>
        <p:nvSpPr>
          <p:cNvPr id="5" name="Text 5"/>
          <p:cNvSpPr/>
          <p:nvPr/>
        </p:nvSpPr>
        <p:spPr>
          <a:xfrm>
            <a:off x="5029200" y="1645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74520"/>
          <a:ext cx="2560320" cy="6400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680960" y="1645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0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874520"/>
          <a:ext cx="1371600" cy="640080"/>
        </p:xfrm>
        <a:graphic>
          <a:graphicData uri="http://schemas.openxmlformats.org/drawingml/2006/table">
            <a:tbl>
              <a:tblPr/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502920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fact stored ONCE!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640080" y="3291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Normalization:</a:t>
            </a:r>
            <a:endParaRPr lang="en-US" sz="1300" dirty="0"/>
          </a:p>
        </p:txBody>
      </p:sp>
      <p:sp>
        <p:nvSpPr>
          <p:cNvPr id="9" name="Text 10"/>
          <p:cNvSpPr/>
          <p:nvPr/>
        </p:nvSpPr>
        <p:spPr>
          <a:xfrm>
            <a:off x="640080" y="361188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duplicate data = smaller database size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Update once = changes apply everywhere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anomalies = consistent data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Normal Form (1NF)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Each cell contains only ONE value (atomic values)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Violates 1NF: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3931920" cy="7315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phone_numbers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9841234567, 9851234567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9801234567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4688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values in one cell!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5488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Follows 1NF: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645920"/>
          <a:ext cx="393192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9841234567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9851234567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9801234567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5"/>
          <p:cNvSpPr/>
          <p:nvPr/>
        </p:nvSpPr>
        <p:spPr>
          <a:xfrm>
            <a:off x="4754880" y="26517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per cell!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3017520"/>
            <a:ext cx="8229600" cy="128016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640080" y="31089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 Rules: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Each column has atomic (indivisible) values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Each column has a unique name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Order of rows/columns doesn't matter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Each row is unique (has a primary key)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Normal Form (2NF)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All non-key columns depend on the ENTIRE primary key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Violates 2NF: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4114800" cy="9601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Headphones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199" y="2651760"/>
            <a:ext cx="5576637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product_name depends only on product_id, not the full key! (key can be single key or composite key)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Follows 2NF (split into 2 tables):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2918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order_items</a:t>
            </a:r>
            <a:endParaRPr lang="en-US" sz="10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2743200" cy="6858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6"/>
          <p:cNvSpPr/>
          <p:nvPr/>
        </p:nvSpPr>
        <p:spPr>
          <a:xfrm>
            <a:off x="3657600" y="32918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000" dirty="0"/>
          </a:p>
        </p:txBody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3520440"/>
          <a:ext cx="2286000" cy="6858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Headphones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400800" y="3291840"/>
            <a:ext cx="2286000" cy="100584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6492240" y="33832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 = 1NF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partial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1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BFF83E-0DF5-2431-E7B0-4A918D4F57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36613"/>
              </p:ext>
            </p:extLst>
          </p:nvPr>
        </p:nvGraphicFramePr>
        <p:xfrm>
          <a:off x="4691860" y="1600200"/>
          <a:ext cx="2894051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2135">
                  <a:extLst>
                    <a:ext uri="{9D8B030D-6E8A-4147-A177-3AD203B41FA5}">
                      <a16:colId xmlns:a16="http://schemas.microsoft.com/office/drawing/2014/main" val="4149562441"/>
                    </a:ext>
                  </a:extLst>
                </a:gridCol>
                <a:gridCol w="1287379">
                  <a:extLst>
                    <a:ext uri="{9D8B030D-6E8A-4147-A177-3AD203B41FA5}">
                      <a16:colId xmlns:a16="http://schemas.microsoft.com/office/drawing/2014/main" val="2178094989"/>
                    </a:ext>
                  </a:extLst>
                </a:gridCol>
                <a:gridCol w="834537">
                  <a:extLst>
                    <a:ext uri="{9D8B030D-6E8A-4147-A177-3AD203B41FA5}">
                      <a16:colId xmlns:a16="http://schemas.microsoft.com/office/drawing/2014/main" val="547602120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dirty="0"/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16209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r>
                        <a:rPr lang="en-US" sz="900" dirty="0"/>
                        <a:t>2NF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Depends on half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Split by 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34842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Normal Form (3NF)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No transitive dependencies (non-key → non-key)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Violates 3NF: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029200" cy="96012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Bagmati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Bagmati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Gandaki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6517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depends on city, not customer_id (transitive dependency)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Follows 3NF: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2918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3200400" cy="6858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 Gurung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931920" y="3291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</a:t>
            </a:r>
            <a:endParaRPr lang="en-US" sz="10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3520440"/>
          <a:ext cx="2011680" cy="6858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Bagmati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Gandaki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400800" y="3291840"/>
            <a:ext cx="2286000" cy="100584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6492240" y="33832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 = 2NF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transitive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1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34EAFE6-D61C-77AB-4319-2052BDB3D6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28919"/>
              </p:ext>
            </p:extLst>
          </p:nvPr>
        </p:nvGraphicFramePr>
        <p:xfrm>
          <a:off x="5577840" y="1663964"/>
          <a:ext cx="310896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265">
                  <a:extLst>
                    <a:ext uri="{9D8B030D-6E8A-4147-A177-3AD203B41FA5}">
                      <a16:colId xmlns:a16="http://schemas.microsoft.com/office/drawing/2014/main" val="4149562441"/>
                    </a:ext>
                  </a:extLst>
                </a:gridCol>
                <a:gridCol w="1546058">
                  <a:extLst>
                    <a:ext uri="{9D8B030D-6E8A-4147-A177-3AD203B41FA5}">
                      <a16:colId xmlns:a16="http://schemas.microsoft.com/office/drawing/2014/main" val="2178094989"/>
                    </a:ext>
                  </a:extLst>
                </a:gridCol>
                <a:gridCol w="1004637">
                  <a:extLst>
                    <a:ext uri="{9D8B030D-6E8A-4147-A177-3AD203B41FA5}">
                      <a16:colId xmlns:a16="http://schemas.microsoft.com/office/drawing/2014/main" val="547602120"/>
                    </a:ext>
                  </a:extLst>
                </a:gridCol>
              </a:tblGrid>
              <a:tr h="1606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dirty="0"/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162092"/>
                  </a:ext>
                </a:extLst>
              </a:tr>
              <a:tr h="160622">
                <a:tc>
                  <a:txBody>
                    <a:bodyPr/>
                    <a:lstStyle/>
                    <a:p>
                      <a:r>
                        <a:rPr lang="en-US" sz="900" dirty="0"/>
                        <a:t>3NF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Depends on another 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Split by column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34842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Summary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14630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1NF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Atomic values (one value per cell)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lists in cells"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dependencies on composite key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"Whole key"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transitive dependencies (non-key → non-key)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"Nothing but the key"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265176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27889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"Every non-key attribute depends on the key, the whole key, and nothing but the key."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Normalize vs Denormalize: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840480"/>
            <a:ext cx="384048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4864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(OLTP)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160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systems, frequent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updates, data integrity critical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46320" y="3840480"/>
            <a:ext cx="384048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93776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Denormalize (OLAP)</a:t>
            </a:r>
            <a:endParaRPr lang="en-US" sz="1200" dirty="0"/>
          </a:p>
        </p:txBody>
      </p:sp>
      <p:sp>
        <p:nvSpPr>
          <p:cNvPr id="3" name="Text 9"/>
          <p:cNvSpPr/>
          <p:nvPr/>
        </p:nvSpPr>
        <p:spPr>
          <a:xfrm>
            <a:off x="4937760" y="4160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dashboards, read-heavy,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performance critical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vs OLAP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database designs for different purposes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560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(Online Transaction Processing)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(Online Analytical Processing)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Day-to-day operations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&amp; reporting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INSERT, UPDATE, DELETE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(read-heavy)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Normalized (3NF)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Denormalized (Star/Snowflake)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Clerks, app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Analysts,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 checkout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= OLAP database designed for fast querying of large historical datasets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data warehouse design pattern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474720" y="1828800"/>
            <a:ext cx="2194560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0" y="2103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2743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order_id, date_key,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product_key, customer_key,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quantity, amount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0" y="457200"/>
            <a:ext cx="2194560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0" y="594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Date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0" y="8686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date_key, date, month, year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0" y="1280160"/>
            <a:ext cx="0" cy="5486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2194560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1488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Customer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customer_key, name, city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926080" y="2468880"/>
            <a:ext cx="548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17920" y="2011680"/>
            <a:ext cx="2194560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0" y="21488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Product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product_key, name, category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669280" y="2468880"/>
            <a:ext cx="54864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474720" y="3657600"/>
            <a:ext cx="2194560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47472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Store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4069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store_key, name, city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320040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"Star"? Dimensions surround the central fact table like points of a star!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Schema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dimension tables — more joins, less redundancy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474720" y="1828800"/>
            <a:ext cx="2194560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0" y="21031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Sales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74720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product_key,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category_key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0" y="1645920"/>
            <a:ext cx="1828800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0" y="1783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Product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product_key, name,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category_key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669280" y="2011680"/>
            <a:ext cx="7315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0" y="2651760"/>
            <a:ext cx="1828800" cy="7315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0" y="2788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Category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017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category_key, name,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department_key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0" y="2377440"/>
            <a:ext cx="0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0" y="3657600"/>
            <a:ext cx="1828800" cy="6400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3749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Department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department_key, name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315200" y="3383280"/>
            <a:ext cx="0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14400" y="1828800"/>
            <a:ext cx="1828800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1965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Customer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2194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customer_key, name,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city_key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0" y="2194560"/>
            <a:ext cx="7315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14400" y="2834640"/>
            <a:ext cx="1828800" cy="6400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City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440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city_key, city, state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828800" y="2560320"/>
            <a:ext cx="0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branch out like snowflakes — more normalized, more joins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vs Snowflake Schema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25603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Schema 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 Schema ❄️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 Design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Denormalized (flat)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Normalized (multiple tables)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Joins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joins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joins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queries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queries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redundancy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redundancy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to understand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complex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 tools, dashboards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storage is critical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37490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Start with Star Schema — simpler and optimized for analytics.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Snowflake only if you have specific storage constraints.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measurable business events (numbers you analyze)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fact_sales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315200" cy="100584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sale_id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date_key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product_key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customer_key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unit_price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total_amount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20240105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20240105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20240108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92024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Keys (links to dimensions)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2920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(numbers to analyze)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Measures: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34290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3429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sum across all dimensions (quantity, amount)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0" y="34290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= SUM(amount)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Semi-Additive: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920240" y="3840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sum across some dimensions (account balance)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0" y="38404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by date, not sum all dates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4251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Non-Additive:</a:t>
            </a:r>
            <a:endParaRPr lang="en-US" sz="1100" dirty="0"/>
          </a:p>
        </p:txBody>
      </p:sp>
      <p:sp>
        <p:nvSpPr>
          <p:cNvPr id="5" name="Text 14"/>
          <p:cNvSpPr/>
          <p:nvPr/>
        </p:nvSpPr>
        <p:spPr>
          <a:xfrm>
            <a:off x="1920240" y="4251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sum (ratios, percentages)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0" y="42519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margin = must recalculate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Tables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descriptive attributes (the "who, what, where, when")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3931920" cy="6858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customer_key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 Sharma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Kathmandu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Sita Thapa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Pokhara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325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1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54480"/>
          <a:ext cx="3931920" cy="6858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product_key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Clothing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Face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331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 (special dimension)</a:t>
            </a:r>
            <a:endParaRPr lang="en-US" sz="1200" dirty="0"/>
          </a:p>
        </p:txBody>
      </p:sp>
      <p:graphicFrame>
        <p:nvGraphicFramePr>
          <p:cNvPr id="5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6492240" cy="6553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date_key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full_date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day_name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is_holiday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20240105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2024-01-05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20240108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2024-01-08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Design Tips: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surrogate keys (integer) not natural keys for better performance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Include all attributes users might filter or group by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Date dimension should be pre-populated for several years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vs Dimension Tables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25603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Measurements, 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Descriptive attributes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numeric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rows (millions+)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rows (thousands)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rows added constantly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Relatively static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to dimensions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Surrogate PK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"How much? How many?"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"Who? What? Where? When?"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37490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this way: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4023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= "What happened" (events, transactions)   |   Dimension = "Context" (who, what, where, when)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 Best Practices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Business Questions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234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questions will users ask? Design model to answer them.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554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Consistent Naming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8745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dim_customer, fact_sales, date_key — be predictable.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5720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Surrogate Keys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514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keys (1, 2, 3) are faster than natural keys (emails, codes).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26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2834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Date Dimension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154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Pre-populate for 10+ years with day, week, month, quarter, year.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Fact Tables Narrow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794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keys and measures — attributes go in dimensions.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45720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2062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1148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Everything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4434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 explaining each table and column.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E-Commerce Data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design a dimensional model for an e-commerce business like Daraz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 to Answer: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total sales by month/quarter/year?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products are selling the most?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our top customers by city?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7889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average order value by category?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sales compare across different time periods?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Task: Design a star schema with 1 fact table and 4 dimension tables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Star Schema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0" y="1737360"/>
            <a:ext cx="2743200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91840" y="224028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sale_id (PK)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date_key (FK)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product_key (FK)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customer_key (FK)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store_key (FK)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unit_price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discount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0" y="274320"/>
            <a:ext cx="2743200" cy="10058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685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date_key, full_date, day,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month, quarter, year, day_name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0" y="1280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2468880" cy="1280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20116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3317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customer_key, name,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email, city, state,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join_date, segment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0" y="2560320"/>
            <a:ext cx="4572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0" y="1920240"/>
            <a:ext cx="2286000" cy="1280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23317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product_key, name,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category, subcategory,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brand, price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943600" y="2560320"/>
            <a:ext cx="4572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0" y="4023360"/>
            <a:ext cx="2743200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dim_store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44348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store_key, store_name,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city, state, type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0" y="3749040"/>
            <a:ext cx="0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Design Your Data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complete data model for an e-commerce business: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1148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fact table and what measures to include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41148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874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4 dimension tables: Date, Customer, Product, Store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41148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377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columns for each dimension with appropriate data types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1148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2880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star schema showing relationships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41148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3832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sample SQL to create these tables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41148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8862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3886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query joining fact + dimensions for a business question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ER diagram + SQL script with CREATE TABLE statements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 is the blueprint before building your database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diagrams show entities, attributes, and relationships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(1NF, 2NF, 3NF) reduces redundancy in OLTP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warehouses use Star or Snowflake schemas for analytics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7432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 store measures; Dimension tables store context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= simple + fast; Snowflake = normalized + complex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657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start with business questions when designing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surrogate keys and create a comprehensive date dimension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data model is the foundation of good analytics!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Data Visualization with Power BI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2076</Words>
  <Application>Microsoft Office PowerPoint</Application>
  <PresentationFormat>On-screen Show (16:9)</PresentationFormat>
  <Paragraphs>612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Modeling &amp; Database Design</dc:title>
  <dc:subject>PptxGenJS Presentation</dc:subject>
  <dc:creator>PptxGenJS</dc:creator>
  <cp:lastModifiedBy>Sauhar Khanal</cp:lastModifiedBy>
  <cp:revision>9</cp:revision>
  <dcterms:created xsi:type="dcterms:W3CDTF">2026-03-18T10:46:50Z</dcterms:created>
  <dcterms:modified xsi:type="dcterms:W3CDTF">2026-03-18T14:19:33Z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b2248cf-7f03-4ea3-bc21-100a3e94dc1a_Enabled">
    <vt:lpwstr>true</vt:lpwstr>
  </property>
  <property fmtid="{D5CDD505-2E9C-101B-9397-08002B2CF9AE}" pid="3" name="MSIP_Label_0b2248cf-7f03-4ea3-bc21-100a3e94dc1a_SetDate">
    <vt:lpwstr>2026-03-18T12:14:51Z</vt:lpwstr>
  </property>
  <property fmtid="{D5CDD505-2E9C-101B-9397-08002B2CF9AE}" pid="4" name="MSIP_Label_0b2248cf-7f03-4ea3-bc21-100a3e94dc1a_Method">
    <vt:lpwstr>Standard</vt:lpwstr>
  </property>
  <property fmtid="{D5CDD505-2E9C-101B-9397-08002B2CF9AE}" pid="5" name="MSIP_Label_0b2248cf-7f03-4ea3-bc21-100a3e94dc1a_Name">
    <vt:lpwstr>defa4170-0d19-0005-0004-bc88714345d2</vt:lpwstr>
  </property>
  <property fmtid="{D5CDD505-2E9C-101B-9397-08002B2CF9AE}" pid="6" name="MSIP_Label_0b2248cf-7f03-4ea3-bc21-100a3e94dc1a_SiteId">
    <vt:lpwstr>8ccadef0-d125-45d2-82b6-d3a9d60db293</vt:lpwstr>
  </property>
  <property fmtid="{D5CDD505-2E9C-101B-9397-08002B2CF9AE}" pid="7" name="MSIP_Label_0b2248cf-7f03-4ea3-bc21-100a3e94dc1a_ActionId">
    <vt:lpwstr>d3410c50-24af-410d-80ab-4af1e5416614</vt:lpwstr>
  </property>
  <property fmtid="{D5CDD505-2E9C-101B-9397-08002B2CF9AE}" pid="8" name="MSIP_Label_0b2248cf-7f03-4ea3-bc21-100a3e94dc1a_ContentBits">
    <vt:lpwstr>0</vt:lpwstr>
  </property>
  <property fmtid="{D5CDD505-2E9C-101B-9397-08002B2CF9AE}" pid="9" name="MSIP_Label_0b2248cf-7f03-4ea3-bc21-100a3e94dc1a_Tag">
    <vt:lpwstr>10, 3, 0, 1</vt:lpwstr>
  </property>
</Properties>
</file>