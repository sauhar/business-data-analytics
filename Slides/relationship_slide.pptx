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10" autoAdjust="0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6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5102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1168" y="0"/>
            <a:ext cx="8942832" cy="54864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Relationships &amp; Joins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Beginner's Step-by-Step Guide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2743200"/>
            <a:ext cx="1600200" cy="347472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27432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21992" y="2743200"/>
            <a:ext cx="1600200" cy="347472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21992" y="27432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941064" y="2743200"/>
            <a:ext cx="1600200" cy="347472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941064" y="27432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 Table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0136" y="2743200"/>
            <a:ext cx="1600200" cy="347472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0136" y="27432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/ UNION ALL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79208" y="2743200"/>
            <a:ext cx="1600200" cy="347472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79208" y="27432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JOIN Types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SkillShikshya  •  Business Data Analytics with AI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Database: Nepal School System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4 tables used throughout every example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6B21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2011680" cy="438912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515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155448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teacher_id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teacher_name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city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3977640"/>
            <a:ext cx="2011680" cy="548640"/>
          </a:xfrm>
          <a:prstGeom prst="rect">
            <a:avLst/>
          </a:prstGeom>
          <a:solidFill>
            <a:srgbClr val="F9FAFB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39776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rows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Anita = no subjects ⚠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50592" y="105156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50592" y="1051560"/>
            <a:ext cx="2011680" cy="438912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450592" y="10515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60320" y="155448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subject_id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subject_name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teacher_id (FK)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50592" y="3977640"/>
            <a:ext cx="2011680" cy="548640"/>
          </a:xfrm>
          <a:prstGeom prst="rect">
            <a:avLst/>
          </a:prstGeom>
          <a:solidFill>
            <a:srgbClr val="F9FAFB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50592" y="39776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rows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= no teacher ⚠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26864" y="105156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653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26864" y="1051560"/>
            <a:ext cx="2011680" cy="438912"/>
          </a:xfrm>
          <a:prstGeom prst="rect">
            <a:avLst/>
          </a:prstGeom>
          <a:solidFill>
            <a:srgbClr val="1665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26864" y="10515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36592" y="155448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student_id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student_name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city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is_active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26864" y="3977640"/>
            <a:ext cx="2011680" cy="548640"/>
          </a:xfrm>
          <a:prstGeom prst="rect">
            <a:avLst/>
          </a:prstGeom>
          <a:solidFill>
            <a:srgbClr val="F9FAFB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26864" y="39776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rows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= no enrollments ⚠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03136" y="105156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A34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803136" y="1051560"/>
            <a:ext cx="2011680" cy="438912"/>
          </a:xfrm>
          <a:prstGeom prst="rect">
            <a:avLst/>
          </a:prstGeom>
          <a:solidFill>
            <a:srgbClr val="9A34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03136" y="10515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12864" y="155448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enrollment_id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student_id (FK)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subject_id (FK)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grade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03136" y="3977640"/>
            <a:ext cx="2011680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9A34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03136" y="39776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rows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 Table ★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83464" y="4663440"/>
            <a:ext cx="768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KEY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4712" y="4727448"/>
            <a:ext cx="7680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2011680"/>
            <a:ext cx="8979408" cy="54864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20040" y="14173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 Relationship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20040" y="23317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teacher → teaches MANY subjects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One-to-Many: How it works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FK (teacher_id) lives in the 'many' side — the subjects table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475488"/>
          </a:xfrm>
          <a:prstGeom prst="rect">
            <a:avLst/>
          </a:prstGeom>
          <a:solidFill>
            <a:srgbClr val="EDE9FE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777240" cy="475488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83464" y="1005840"/>
            <a:ext cx="768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" y="106984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teacher can teach MANY subjects. But each subject is taught by only ONE teacher. The Foreign Key (teacher_id) is stored in the subjects table — not in teachers.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600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table  (ONE side)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874520"/>
          <a:ext cx="3840480" cy="15087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teacher_id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1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teacher_name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1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1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Ramesh Shrestha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Kathmandu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Sunita Tamang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Pokhara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Sandesh Adhikari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Kathmandu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Anita Maharjan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Lalitpur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846320" y="16002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 table  (MANY side — FK here!)</a:t>
            </a:r>
            <a:endParaRPr lang="en-US" sz="1200" dirty="0"/>
          </a:p>
        </p:txBody>
      </p:sp>
      <p:graphicFrame>
        <p:nvGraphicFramePr>
          <p:cNvPr id="1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874520"/>
          <a:ext cx="4023360" cy="1783080"/>
        </p:xfrm>
        <a:graphic>
          <a:graphicData uri="http://schemas.openxmlformats.org/drawingml/2006/table">
            <a:tbl>
              <a:tblPr/>
              <a:tblGrid>
                <a:gridCol w="1341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subject_name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teacher_id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Mathematics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Science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Accountancy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4114800" y="2834640"/>
            <a:ext cx="640080" cy="0"/>
          </a:xfrm>
          <a:prstGeom prst="line">
            <a:avLst/>
          </a:prstGeom>
          <a:noFill/>
          <a:ln w="12700">
            <a:solidFill>
              <a:srgbClr val="6B21A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3886200" y="26060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links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→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274320" y="3703320"/>
            <a:ext cx="3840480" cy="292608"/>
          </a:xfrm>
          <a:prstGeom prst="rect">
            <a:avLst/>
          </a:prstGeom>
          <a:solidFill>
            <a:srgbClr val="EDE9FE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320040" y="37216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Sandesh (teacher_id=3) appears TWICE in subjects → that is One-to-Many!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One-to-Many: Practice Queries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these in DBeaver — predict the result before you run!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 — Show each subject with its teacher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5029200" cy="914400"/>
          </a:xfrm>
          <a:prstGeom prst="rect">
            <a:avLst/>
          </a:prstGeom>
          <a:solidFill>
            <a:srgbClr val="1E1B4B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s.subject_name, t.teacher_name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subjects 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teachers t ON s.teacher_id = t.teacher_id;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267712"/>
          <a:ext cx="5029200" cy="138989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9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subject_name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teacher_name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9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Mathematics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Ramesh Shrestha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9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Science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Sunita Tamang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9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Accountancy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Sandesh Adhikari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9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Sandesh Adhikari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577840" y="10058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2 — Count subjects per teacher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577840" y="1280160"/>
            <a:ext cx="3291840" cy="1234440"/>
          </a:xfrm>
          <a:prstGeom prst="rect">
            <a:avLst/>
          </a:prstGeom>
          <a:solidFill>
            <a:srgbClr val="1E1B4B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715000" y="137160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t.teacher_name,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COUNT(s.subject_id) AS total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teachers 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subjects s ON t.teacher_id = s.teacher_id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t.teacher_name;</a:t>
            </a:r>
            <a:endParaRPr lang="en-US" sz="1100" dirty="0"/>
          </a:p>
        </p:txBody>
      </p:sp>
      <p:graphicFrame>
        <p:nvGraphicFramePr>
          <p:cNvPr id="1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2587752"/>
          <a:ext cx="3291840" cy="106984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teacher_name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1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1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Sandesh Adhikari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Ramesh Shrestha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Sunita Tamang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274320" y="3767328"/>
            <a:ext cx="8595360" cy="347472"/>
          </a:xfrm>
          <a:prstGeom prst="rect">
            <a:avLst/>
          </a:prstGeom>
          <a:solidFill>
            <a:srgbClr val="FEFCE8"/>
          </a:solidFill>
          <a:ln w="12700">
            <a:solidFill>
              <a:srgbClr val="854D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274320" y="3767328"/>
            <a:ext cx="777240" cy="347472"/>
          </a:xfrm>
          <a:prstGeom prst="rect">
            <a:avLst/>
          </a:prstGeom>
          <a:solidFill>
            <a:srgbClr val="854D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283464" y="3767328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4712" y="3831336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(NULL teacher) and Anita (no subjects) are both missing from results. INNER JOIN only shows matched rows.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2011680"/>
            <a:ext cx="8979408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20040" y="14173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 Relationship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20040" y="23317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enroll in Subjects — both sides can have many links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Many-to-Many: The Problem &amp; The Solution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can't just add more columns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023360" cy="2606040"/>
          </a:xfrm>
          <a:prstGeom prst="rect">
            <a:avLst/>
          </a:prstGeom>
          <a:solidFill>
            <a:srgbClr val="FEF2F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WRONG WAY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subject columns to the students table: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64208"/>
          <a:ext cx="3931920" cy="1097280"/>
        </p:xfrm>
        <a:graphic>
          <a:graphicData uri="http://schemas.openxmlformats.org/drawingml/2006/table">
            <a:tbl>
              <a:tblPr/>
              <a:tblGrid>
                <a:gridCol w="982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2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2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2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subj_1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subj_2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subj_3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Aarav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CompSci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Accountancy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CompSci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Accountancy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80720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 What if 10 subjects? → 10 columns!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cells = NULL (wasted space). Hard to search.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407408" y="2377440"/>
            <a:ext cx="41148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407408" y="21488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892040" y="1005840"/>
            <a:ext cx="3977640" cy="2606040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892040" y="100584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CORRECT: Junction Table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83480" y="137160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enrollment = clean &amp; flexible:</a:t>
            </a:r>
            <a:endParaRPr lang="en-US" sz="10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664208"/>
          <a:ext cx="3886200" cy="1600200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(Aarav)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(Maths)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(Aarav)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(CompSci)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(Aarav)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(Acct)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(Priya)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(Maths)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(Priya)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(CompSci)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274320" y="3767328"/>
            <a:ext cx="8595360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274320" y="3767328"/>
            <a:ext cx="777240" cy="347472"/>
          </a:xfrm>
          <a:prstGeom prst="rect">
            <a:avLst/>
          </a:prstGeom>
          <a:solidFill>
            <a:srgbClr val="1665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283464" y="3767328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4712" y="3831336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enrollments table holds two Foreign Keys: student_id → students, subject_id → subjects. Each row = one student-subject link.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Many-to-Many: The Junction Table in Action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3-table JOIN: students → enrollments → subjects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2286000" cy="2011680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1051560"/>
            <a:ext cx="2286000" cy="347472"/>
          </a:xfrm>
          <a:prstGeom prst="rect">
            <a:avLst/>
          </a:prstGeom>
          <a:solidFill>
            <a:srgbClr val="1665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10515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" y="144475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Aarav Thapa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6032" y="174650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Priya Gurung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2048256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Suman Poudel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" y="235000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Kabita Shrestha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" y="265176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Rohan Dahal ⚠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1600200"/>
            <a:ext cx="502920" cy="0"/>
          </a:xfrm>
          <a:prstGeom prst="line">
            <a:avLst/>
          </a:prstGeom>
          <a:noFill/>
          <a:ln w="12700">
            <a:solidFill>
              <a:srgbClr val="9A341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468880" y="1920240"/>
            <a:ext cx="502920" cy="0"/>
          </a:xfrm>
          <a:prstGeom prst="line">
            <a:avLst/>
          </a:prstGeom>
          <a:noFill/>
          <a:ln w="12700">
            <a:solidFill>
              <a:srgbClr val="9A341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468880" y="2240280"/>
            <a:ext cx="502920" cy="0"/>
          </a:xfrm>
          <a:prstGeom prst="line">
            <a:avLst/>
          </a:prstGeom>
          <a:noFill/>
          <a:ln w="12700">
            <a:solidFill>
              <a:srgbClr val="9A341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50592" y="1371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(FK)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017520" y="1051560"/>
            <a:ext cx="2926080" cy="201168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017520" y="1051560"/>
            <a:ext cx="2926080" cy="34747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017520" y="10515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enrollments  (JUNCTION TABLE)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90672" y="1444752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(Aarav)  →  1 (Maths)  [A]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090672" y="1746504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(Aarav)  →  2 (CompSci)  [B+]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090672" y="2048256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(Aarav)  →  3 (Acct)  [A]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90672" y="2350008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(Priya)  →  1 (Maths)  [B]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090672" y="265176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(Priya)  →  2 (CompSci)  [A+]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0" y="1600200"/>
            <a:ext cx="502920" cy="0"/>
          </a:xfrm>
          <a:prstGeom prst="line">
            <a:avLst/>
          </a:prstGeom>
          <a:noFill/>
          <a:ln w="12700">
            <a:solidFill>
              <a:srgbClr val="1E40A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943600" y="1920240"/>
            <a:ext cx="502920" cy="0"/>
          </a:xfrm>
          <a:prstGeom prst="line">
            <a:avLst/>
          </a:prstGeom>
          <a:noFill/>
          <a:ln w="12700">
            <a:solidFill>
              <a:srgbClr val="1E40A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943600" y="2240280"/>
            <a:ext cx="502920" cy="0"/>
          </a:xfrm>
          <a:prstGeom prst="line">
            <a:avLst/>
          </a:prstGeom>
          <a:noFill/>
          <a:ln w="12700">
            <a:solidFill>
              <a:srgbClr val="1E40A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25312" y="1371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subject_id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(FK)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492240" y="1051560"/>
            <a:ext cx="2377440" cy="2011680"/>
          </a:xfrm>
          <a:prstGeom prst="rect">
            <a:avLst/>
          </a:prstGeom>
          <a:solidFill>
            <a:srgbClr val="DBEAFE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492240" y="1051560"/>
            <a:ext cx="2377440" cy="347472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92240" y="10515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65392" y="144475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Mathematics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65392" y="174650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Computer Science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65392" y="2048256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Accountancy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65392" y="235000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English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65392" y="26517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Physics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82880" y="3182112"/>
            <a:ext cx="5943600" cy="914400"/>
          </a:xfrm>
          <a:prstGeom prst="rect">
            <a:avLst/>
          </a:prstGeom>
          <a:solidFill>
            <a:srgbClr val="1E1B4B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20040" y="3273552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st.student_name, su.subject_name, e.grade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enrollments 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students st ON e.student_id = st.student_id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subjects  su ON e.subject_id = su.subject_id;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72200" y="3182112"/>
            <a:ext cx="2743200" cy="9144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172200" y="3182112"/>
            <a:ext cx="777240" cy="914400"/>
          </a:xfrm>
          <a:prstGeom prst="rect">
            <a:avLst/>
          </a:prstGeom>
          <a:solidFill>
            <a:srgbClr val="1665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181344" y="3182112"/>
            <a:ext cx="768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022592" y="3246120"/>
            <a:ext cx="1828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Aarav = 3 rows (enrolled in 3 subjects). Mathematics = 3 rows (3 students). Rohan = 0 rows (not enrolled anywhere).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2011680"/>
            <a:ext cx="8979408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20040" y="14173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 &amp;  UNION ALL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20040" y="23317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two query results on top of each other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vs UNION ALL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syntax — different behavior with duplicates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2971800"/>
          </a:xfrm>
          <a:prstGeom prst="rect">
            <a:avLst/>
          </a:prstGeom>
          <a:solidFill>
            <a:srgbClr val="DBEAFE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114800" cy="365760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duplicate rows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Slower (checks for duplicates)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Use when: you want a clean unique list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304288"/>
            <a:ext cx="3977640" cy="749808"/>
          </a:xfrm>
          <a:prstGeom prst="rect">
            <a:avLst/>
          </a:prstGeom>
          <a:solidFill>
            <a:srgbClr val="1E1B4B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395728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city FROM teachers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city FROM students;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09067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6 unique cities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duplicates — Kathmandu appears once)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114800" cy="29718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solidFill>
            <a:srgbClr val="1665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ALL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14173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ALL rows including duplicates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Faster (no duplicate check)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Use when: every row matters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304288"/>
            <a:ext cx="3977640" cy="749808"/>
          </a:xfrm>
          <a:prstGeom prst="rect">
            <a:avLst/>
          </a:prstGeom>
          <a:solidFill>
            <a:srgbClr val="1E1B4B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0" y="2395728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city FROM teachers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 ALL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city FROM students;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309067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9 rows total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(Kathmandu appears 3 times — kept!)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4087368"/>
            <a:ext cx="8595360" cy="347472"/>
          </a:xfrm>
          <a:prstGeom prst="rect">
            <a:avLst/>
          </a:prstGeom>
          <a:solidFill>
            <a:srgbClr val="FEFCE8"/>
          </a:solidFill>
          <a:ln w="12700">
            <a:solidFill>
              <a:srgbClr val="854D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4087368"/>
            <a:ext cx="777240" cy="347472"/>
          </a:xfrm>
          <a:prstGeom prst="rect">
            <a:avLst/>
          </a:prstGeom>
          <a:solidFill>
            <a:srgbClr val="854D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83464" y="4087368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" y="4151376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SELECT statements must return the SAME number of columns with compatible data types. Column names come from the FIRST SELECT.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UNION: Practical Example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Labelling Active vs Inactive students in one combined list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1005840"/>
          </a:xfrm>
          <a:prstGeom prst="rect">
            <a:avLst/>
          </a:prstGeom>
          <a:solidFill>
            <a:srgbClr val="1E1B4B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student_name, city, 'Active'   AS status FROM students WHERE is_active = TRUE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student_name, city, 'Inactive' AS status FROM students WHERE is_active = FALSE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status, student_name;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03120"/>
          <a:ext cx="8595360" cy="1828800"/>
        </p:xfrm>
        <a:graphic>
          <a:graphicData uri="http://schemas.openxmlformats.org/drawingml/2006/table">
            <a:tbl>
              <a:tblPr/>
              <a:tblGrid>
                <a:gridCol w="286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Aarav Thapa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Kathmandu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Gurung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Pokhara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Rohan Dahal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Chitwan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Suman Poudel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Butwal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Kabita Shrestha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Kathmandu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4069080"/>
            <a:ext cx="8595360" cy="347472"/>
          </a:xfrm>
          <a:prstGeom prst="rect">
            <a:avLst/>
          </a:prstGeom>
          <a:solidFill>
            <a:srgbClr val="DBEAFE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74320" y="4069080"/>
            <a:ext cx="777240" cy="347472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83464" y="4069080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4712" y="4133088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is perfect for combining lists from the same table (or different tables) into a single organized report.</a:t>
            </a:r>
            <a:endParaRPr lang="en-US" sz="1200" dirty="0"/>
          </a:p>
        </p:txBody>
      </p:sp>
      <p:sp>
        <p:nvSpPr>
          <p:cNvPr id="7" name="Text 9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2011680"/>
            <a:ext cx="8979408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20040" y="14173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JOIN Types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20040" y="23317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 •  LEFT  •  RIGHT  •  FULL OUTER  •  SELF  •  CROSS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Types: Quick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across JOIN types: which unmatched rows appear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35204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1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returns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1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to use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1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40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INNER JOIN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rows that MATCH in both tables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want exact matches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JOIN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rows from LEFT + matched from right (NULL if no match)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all from left side, even with no match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A3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JOIN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Matched from left + ALL rows from RIGHT (NULL if no match)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all from right side, even with no match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OUTER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rows from BOTH tables (NULLs on either side)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everything — show all unmatched rows too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21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 JOIN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joined with itself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rows WITHIN the same 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54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 JOIN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row × every row (all combinations)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possible pairings between two tables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663440"/>
            <a:ext cx="8595360" cy="338328"/>
          </a:xfrm>
          <a:prstGeom prst="rect">
            <a:avLst/>
          </a:prstGeom>
          <a:solidFill>
            <a:srgbClr val="FEFCE8"/>
          </a:solidFill>
          <a:ln w="12700">
            <a:solidFill>
              <a:srgbClr val="9A34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74320" y="4663440"/>
            <a:ext cx="777240" cy="338328"/>
          </a:xfrm>
          <a:prstGeom prst="rect">
            <a:avLst/>
          </a:prstGeom>
          <a:solidFill>
            <a:srgbClr val="9A34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83464" y="4663440"/>
            <a:ext cx="768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" y="4727448"/>
            <a:ext cx="7680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slides 14–17, same two tables: teachers + subjects. Watch Anita (no subjects) and Physics (no teacher) across each JOIN type.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 vs  LEFT JOIN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what happens to Anita (no subjects) in each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4114800" cy="3931920"/>
          </a:xfrm>
          <a:prstGeom prst="rect">
            <a:avLst/>
          </a:prstGeom>
          <a:solidFill>
            <a:srgbClr val="DBEAFE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4114800" cy="338328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987552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 — only matches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" y="1371600"/>
            <a:ext cx="3950208" cy="960120"/>
          </a:xfrm>
          <a:prstGeom prst="rect">
            <a:avLst/>
          </a:prstGeom>
          <a:solidFill>
            <a:srgbClr val="1E1B4B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" y="1463040"/>
            <a:ext cx="36758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t.teacher_name, s.subject_name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teachers 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 subjects 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t.teacher_id = s.teacher_id;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2395728"/>
          <a:ext cx="3950208" cy="1371600"/>
        </p:xfrm>
        <a:graphic>
          <a:graphicData uri="http://schemas.openxmlformats.org/drawingml/2006/table">
            <a:tbl>
              <a:tblPr/>
              <a:tblGrid>
                <a:gridCol w="1975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5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teacher_name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subject_name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Ramesh Shrestha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Mathematics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Sunita Tamang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Science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Sandesh Adhikari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Accountancy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Sandesh Adhikari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47472" y="3822192"/>
            <a:ext cx="3950208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11480" y="3840480"/>
            <a:ext cx="382219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4 rows returned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Anita → EXCLUDED (no subject)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Physics → EXCLUDED (no teacher)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754880" y="987552"/>
            <a:ext cx="4114800" cy="39319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754880" y="987552"/>
            <a:ext cx="4114800" cy="338328"/>
          </a:xfrm>
          <a:prstGeom prst="rect">
            <a:avLst/>
          </a:prstGeom>
          <a:solidFill>
            <a:srgbClr val="1665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12"/>
          <p:cNvSpPr/>
          <p:nvPr/>
        </p:nvSpPr>
        <p:spPr>
          <a:xfrm>
            <a:off x="4754880" y="987552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 — all from LEFT table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828032" y="1371600"/>
            <a:ext cx="3950208" cy="960120"/>
          </a:xfrm>
          <a:prstGeom prst="rect">
            <a:avLst/>
          </a:prstGeom>
          <a:solidFill>
            <a:srgbClr val="1E1B4B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965192" y="1463040"/>
            <a:ext cx="36758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t.teacher_name, s.subject_name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teachers 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subjects 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t.teacher_id = s.teacher_id;</a:t>
            </a:r>
            <a:endParaRPr lang="en-US" sz="11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28032" y="2395728"/>
          <a:ext cx="3950208" cy="1645920"/>
        </p:xfrm>
        <a:graphic>
          <a:graphicData uri="http://schemas.openxmlformats.org/drawingml/2006/table">
            <a:tbl>
              <a:tblPr/>
              <a:tblGrid>
                <a:gridCol w="1975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5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teacher_name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subject_name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Ramesh Shrestha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Mathematics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Sunita Tamang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Science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Sandesh Adhikari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Accountancy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Sandesh Adhikari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Anita Maharjan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 ← no subject!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4828032" y="4096512"/>
            <a:ext cx="395020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4892040" y="4114800"/>
            <a:ext cx="382219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5 rows returned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Anita → INCLUDED with NULL subject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Physics still excluded (it's on the right side)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JOIN  vs  FULL OUTER JOIN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Physics (no teacher) finally appear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4114800" cy="393192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4114800" cy="33832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987552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JOIN  — all from RIGHT table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" y="1371600"/>
            <a:ext cx="3950208" cy="960120"/>
          </a:xfrm>
          <a:prstGeom prst="rect">
            <a:avLst/>
          </a:prstGeom>
          <a:solidFill>
            <a:srgbClr val="1E1B4B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" y="1463040"/>
            <a:ext cx="36758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t.teacher_name, s.subject_name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teachers 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 JOIN subjects 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t.teacher_id = s.teacher_id;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2395728"/>
          <a:ext cx="3950208" cy="1645920"/>
        </p:xfrm>
        <a:graphic>
          <a:graphicData uri="http://schemas.openxmlformats.org/drawingml/2006/table">
            <a:tbl>
              <a:tblPr/>
              <a:tblGrid>
                <a:gridCol w="1975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5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teacher_name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subject_name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Ramesh Shrestha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Mathematics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Sunita Tamang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Science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Sandesh Adhikari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Accountancy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Sandesh Adhikari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 ← no teacher!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47472" y="4096512"/>
            <a:ext cx="395020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11480" y="4114800"/>
            <a:ext cx="382219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5 rows returned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Physics → INCLUDED with NULL teacher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Anita still excluded (she's on the left side)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54880" y="987552"/>
            <a:ext cx="4114800" cy="3931920"/>
          </a:xfrm>
          <a:prstGeom prst="rect">
            <a:avLst/>
          </a:prstGeom>
          <a:solidFill>
            <a:srgbClr val="FEF2F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754880" y="987552"/>
            <a:ext cx="4114800" cy="338328"/>
          </a:xfrm>
          <a:prstGeom prst="rect">
            <a:avLst/>
          </a:prstGeom>
          <a:solidFill>
            <a:srgbClr val="991B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754880" y="987552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OUTER JOIN  — all from BOTH</a:t>
            </a:r>
            <a:endParaRPr lang="en-US" sz="1300" dirty="0"/>
          </a:p>
        </p:txBody>
      </p:sp>
      <p:sp>
        <p:nvSpPr>
          <p:cNvPr id="10" name="Shape 13"/>
          <p:cNvSpPr/>
          <p:nvPr/>
        </p:nvSpPr>
        <p:spPr>
          <a:xfrm>
            <a:off x="4828032" y="1371600"/>
            <a:ext cx="3950208" cy="960120"/>
          </a:xfrm>
          <a:prstGeom prst="rect">
            <a:avLst/>
          </a:prstGeom>
          <a:solidFill>
            <a:srgbClr val="1E1B4B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965192" y="1463040"/>
            <a:ext cx="36758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t.teacher_name, s.subject_name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teachers 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OUTER JOIN subjects 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t.teacher_id = s.teacher_id;</a:t>
            </a:r>
            <a:endParaRPr lang="en-US" sz="11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28032" y="2395728"/>
          <a:ext cx="3950208" cy="1920240"/>
        </p:xfrm>
        <a:graphic>
          <a:graphicData uri="http://schemas.openxmlformats.org/drawingml/2006/table">
            <a:tbl>
              <a:tblPr/>
              <a:tblGrid>
                <a:gridCol w="1975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5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teacher_name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subject_name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Ramesh Shrestha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Mathematics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Sunita Tamang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Science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Sandesh Adhikari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Accountancy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Sandesh Adhikari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Anita Maharjan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← no subject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← no teacher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4828032" y="4370832"/>
            <a:ext cx="395020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4892040" y="4389120"/>
            <a:ext cx="38221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6 rows  |  ✅  Anita + Physics BOTH appear!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JOIN  &amp;  CROSS JOIN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common — but important to understand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4114800" cy="3977640"/>
          </a:xfrm>
          <a:prstGeom prst="rect">
            <a:avLst/>
          </a:prstGeom>
          <a:solidFill>
            <a:srgbClr val="EDE9FE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4114800" cy="338328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987552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JOIN  — table joined with itself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1389888"/>
            <a:ext cx="3950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pairs of students from the same city: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673352"/>
            <a:ext cx="3950208" cy="1143000"/>
          </a:xfrm>
          <a:prstGeom prst="rect">
            <a:avLst/>
          </a:prstGeom>
          <a:solidFill>
            <a:srgbClr val="1E1B4B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" y="1764792"/>
            <a:ext cx="367588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a.student_name AS student_1,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b.student_name AS student_2, a.city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students 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students b ON a.city = b.city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AND a.student_id &lt; b.student_id;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2880360"/>
          <a:ext cx="3950208" cy="566928"/>
        </p:xfrm>
        <a:graphic>
          <a:graphicData uri="http://schemas.openxmlformats.org/drawingml/2006/table">
            <a:tbl>
              <a:tblPr/>
              <a:tblGrid>
                <a:gridCol w="1316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1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1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1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Aarav Thapa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Kabita Shrestha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Kathmandu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347472" y="3493008"/>
            <a:ext cx="39502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   a.id &lt; b.id   prevents: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(Aarav, Aarav)  — a student paired with themselves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(Kabita, Aarav)  — seeing the same pair twice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47472" y="4224528"/>
            <a:ext cx="395020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11480" y="4242816"/>
            <a:ext cx="3822192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 pair found: Aarav + Kabita (both Kathmandu)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754880" y="987552"/>
            <a:ext cx="4114800" cy="3977640"/>
          </a:xfrm>
          <a:prstGeom prst="rect">
            <a:avLst/>
          </a:prstGeom>
          <a:solidFill>
            <a:srgbClr val="FEFCE8"/>
          </a:solidFill>
          <a:ln w="12700">
            <a:solidFill>
              <a:srgbClr val="854D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754880" y="987552"/>
            <a:ext cx="4114800" cy="338328"/>
          </a:xfrm>
          <a:prstGeom prst="rect">
            <a:avLst/>
          </a:prstGeom>
          <a:solidFill>
            <a:srgbClr val="854D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14"/>
          <p:cNvSpPr/>
          <p:nvPr/>
        </p:nvSpPr>
        <p:spPr>
          <a:xfrm>
            <a:off x="4754880" y="987552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JOIN  — every combination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828032" y="1389888"/>
            <a:ext cx="3950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paired with every subject: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828032" y="1673352"/>
            <a:ext cx="3950208" cy="1143000"/>
          </a:xfrm>
          <a:prstGeom prst="rect">
            <a:avLst/>
          </a:prstGeom>
          <a:solidFill>
            <a:srgbClr val="1E1B4B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965192" y="1764792"/>
            <a:ext cx="367588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st.student_name, su.subject_name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students 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 JOIN subjects su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st.student_name;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-- 5 students × 5 subjects = 25 rows!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828032" y="2880360"/>
            <a:ext cx="395020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54D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828032" y="288036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(5)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 (5)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25 pairs total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720840" y="2926080"/>
            <a:ext cx="0" cy="128016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784848" y="2926080"/>
            <a:ext cx="193852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JOIN → 25 rows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possible)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via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enrollments → 8 rows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real ones)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828032" y="4297680"/>
            <a:ext cx="3950208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854D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892040" y="4315968"/>
            <a:ext cx="38221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 to find what hasn't happened yet (gap analysis)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631</TotalTime>
  <Words>1924</Words>
  <Application>Microsoft Office PowerPoint</Application>
  <PresentationFormat>On-screen Show (16:9)</PresentationFormat>
  <Paragraphs>425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Sauhar Khanal</cp:lastModifiedBy>
  <cp:revision>3</cp:revision>
  <dcterms:created xsi:type="dcterms:W3CDTF">2026-03-26T15:20:49Z</dcterms:created>
  <dcterms:modified xsi:type="dcterms:W3CDTF">2026-03-27T02:17:24Z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b2248cf-7f03-4ea3-bc21-100a3e94dc1a_Enabled">
    <vt:lpwstr>true</vt:lpwstr>
  </property>
  <property fmtid="{D5CDD505-2E9C-101B-9397-08002B2CF9AE}" pid="3" name="MSIP_Label_0b2248cf-7f03-4ea3-bc21-100a3e94dc1a_SetDate">
    <vt:lpwstr>2026-03-26T15:45:58Z</vt:lpwstr>
  </property>
  <property fmtid="{D5CDD505-2E9C-101B-9397-08002B2CF9AE}" pid="4" name="MSIP_Label_0b2248cf-7f03-4ea3-bc21-100a3e94dc1a_Method">
    <vt:lpwstr>Standard</vt:lpwstr>
  </property>
  <property fmtid="{D5CDD505-2E9C-101B-9397-08002B2CF9AE}" pid="5" name="MSIP_Label_0b2248cf-7f03-4ea3-bc21-100a3e94dc1a_Name">
    <vt:lpwstr>defa4170-0d19-0005-0004-bc88714345d2</vt:lpwstr>
  </property>
  <property fmtid="{D5CDD505-2E9C-101B-9397-08002B2CF9AE}" pid="6" name="MSIP_Label_0b2248cf-7f03-4ea3-bc21-100a3e94dc1a_SiteId">
    <vt:lpwstr>8ccadef0-d125-45d2-82b6-d3a9d60db293</vt:lpwstr>
  </property>
  <property fmtid="{D5CDD505-2E9C-101B-9397-08002B2CF9AE}" pid="7" name="MSIP_Label_0b2248cf-7f03-4ea3-bc21-100a3e94dc1a_ActionId">
    <vt:lpwstr>f00835ce-00c3-4179-b14e-1109d6e24f1e</vt:lpwstr>
  </property>
  <property fmtid="{D5CDD505-2E9C-101B-9397-08002B2CF9AE}" pid="8" name="MSIP_Label_0b2248cf-7f03-4ea3-bc21-100a3e94dc1a_ContentBits">
    <vt:lpwstr>0</vt:lpwstr>
  </property>
  <property fmtid="{D5CDD505-2E9C-101B-9397-08002B2CF9AE}" pid="9" name="MSIP_Label_0b2248cf-7f03-4ea3-bc21-100a3e94dc1a_Tag">
    <vt:lpwstr>10, 3, 0, 1</vt:lpwstr>
  </property>
</Properties>
</file>