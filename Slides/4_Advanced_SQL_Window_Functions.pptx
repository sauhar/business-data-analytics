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8" r:id="rId21"/>
    <p:sldId id="281" r:id="rId22"/>
    <p:sldId id="279" r:id="rId23"/>
    <p:sldId id="280" r:id="rId24"/>
    <p:sldId id="275" r:id="rId25"/>
    <p:sldId id="276" r:id="rId26"/>
    <p:sldId id="277"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380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365760"/>
          </a:xfrm>
          <a:prstGeom prst="rect">
            <a:avLst/>
          </a:prstGeom>
          <a:noFill/>
          <a:ln/>
        </p:spPr>
        <p:txBody>
          <a:bodyPr wrap="square" rtlCol="0" anchor="ctr"/>
          <a:lstStyle/>
          <a:p>
            <a:pPr marL="0" indent="0">
              <a:buNone/>
            </a:pPr>
            <a:r>
              <a:rPr lang="en-US" sz="1400" b="1" dirty="0">
                <a:solidFill>
                  <a:srgbClr val="8B5CF6"/>
                </a:solidFill>
                <a:latin typeface="Calibri" pitchFamily="34" charset="0"/>
                <a:ea typeface="Calibri" pitchFamily="34" charset="-122"/>
                <a:cs typeface="Calibri" pitchFamily="34" charset="-120"/>
              </a:rPr>
              <a:t>MODULE 4</a:t>
            </a:r>
            <a:endParaRPr lang="en-US" sz="1400" dirty="0"/>
          </a:p>
        </p:txBody>
      </p:sp>
      <p:sp>
        <p:nvSpPr>
          <p:cNvPr id="3" name="Text 1"/>
          <p:cNvSpPr/>
          <p:nvPr/>
        </p:nvSpPr>
        <p:spPr>
          <a:xfrm>
            <a:off x="457200" y="2011680"/>
            <a:ext cx="8229600" cy="82296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Advanced SQL</a:t>
            </a:r>
            <a:endParaRPr lang="en-US" sz="4400" dirty="0"/>
          </a:p>
        </p:txBody>
      </p:sp>
      <p:sp>
        <p:nvSpPr>
          <p:cNvPr id="4" name="Text 2"/>
          <p:cNvSpPr/>
          <p:nvPr/>
        </p:nvSpPr>
        <p:spPr>
          <a:xfrm>
            <a:off x="457200" y="2743200"/>
            <a:ext cx="8229600" cy="548640"/>
          </a:xfrm>
          <a:prstGeom prst="rect">
            <a:avLst/>
          </a:prstGeom>
          <a:noFill/>
          <a:ln/>
        </p:spPr>
        <p:txBody>
          <a:bodyPr wrap="square" rtlCol="0" anchor="ctr"/>
          <a:lstStyle/>
          <a:p>
            <a:pPr marL="0" indent="0">
              <a:buNone/>
            </a:pPr>
            <a:r>
              <a:rPr lang="en-US" sz="2800" dirty="0">
                <a:solidFill>
                  <a:srgbClr val="64748B"/>
                </a:solidFill>
                <a:latin typeface="Calibri" pitchFamily="34" charset="0"/>
                <a:ea typeface="Calibri" pitchFamily="34" charset="-122"/>
                <a:cs typeface="Calibri" pitchFamily="34" charset="-120"/>
              </a:rPr>
              <a:t>&amp; Window Functions</a:t>
            </a:r>
            <a:endParaRPr lang="en-US" sz="2800" dirty="0"/>
          </a:p>
        </p:txBody>
      </p:sp>
      <p:sp>
        <p:nvSpPr>
          <p:cNvPr id="5" name="Text 3"/>
          <p:cNvSpPr/>
          <p:nvPr/>
        </p:nvSpPr>
        <p:spPr>
          <a:xfrm>
            <a:off x="457200" y="4389120"/>
            <a:ext cx="8229600" cy="36576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Business Data Analytics with 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 We'll Learn Today</a:t>
            </a:r>
            <a:endParaRPr lang="en-US" sz="3200" dirty="0"/>
          </a:p>
        </p:txBody>
      </p:sp>
      <p:sp>
        <p:nvSpPr>
          <p:cNvPr id="3" name="Text 1"/>
          <p:cNvSpPr/>
          <p:nvPr/>
        </p:nvSpPr>
        <p:spPr>
          <a:xfrm>
            <a:off x="457200" y="1097280"/>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1.</a:t>
            </a:r>
            <a:endParaRPr lang="en-US" sz="1600" dirty="0"/>
          </a:p>
        </p:txBody>
      </p:sp>
      <p:sp>
        <p:nvSpPr>
          <p:cNvPr id="4" name="Text 2"/>
          <p:cNvSpPr/>
          <p:nvPr/>
        </p:nvSpPr>
        <p:spPr>
          <a:xfrm>
            <a:off x="914400" y="1097280"/>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Advanced Joins &amp; Multi-Table Queries</a:t>
            </a:r>
            <a:endParaRPr lang="en-US" sz="1600" dirty="0"/>
          </a:p>
        </p:txBody>
      </p:sp>
      <p:sp>
        <p:nvSpPr>
          <p:cNvPr id="5" name="Text 3"/>
          <p:cNvSpPr/>
          <p:nvPr/>
        </p:nvSpPr>
        <p:spPr>
          <a:xfrm>
            <a:off x="457200" y="1627632"/>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2.</a:t>
            </a:r>
            <a:endParaRPr lang="en-US" sz="1600" dirty="0"/>
          </a:p>
        </p:txBody>
      </p:sp>
      <p:sp>
        <p:nvSpPr>
          <p:cNvPr id="6" name="Text 4"/>
          <p:cNvSpPr/>
          <p:nvPr/>
        </p:nvSpPr>
        <p:spPr>
          <a:xfrm>
            <a:off x="914400" y="1627632"/>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Subqueries vs Nested Queries</a:t>
            </a:r>
            <a:endParaRPr lang="en-US" sz="1600" dirty="0"/>
          </a:p>
        </p:txBody>
      </p:sp>
      <p:sp>
        <p:nvSpPr>
          <p:cNvPr id="7" name="Text 5"/>
          <p:cNvSpPr/>
          <p:nvPr/>
        </p:nvSpPr>
        <p:spPr>
          <a:xfrm>
            <a:off x="457200" y="2157984"/>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3.</a:t>
            </a:r>
            <a:endParaRPr lang="en-US" sz="1600" dirty="0"/>
          </a:p>
        </p:txBody>
      </p:sp>
      <p:sp>
        <p:nvSpPr>
          <p:cNvPr id="8" name="Text 6"/>
          <p:cNvSpPr/>
          <p:nvPr/>
        </p:nvSpPr>
        <p:spPr>
          <a:xfrm>
            <a:off x="914400" y="2157984"/>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CASE Statements &amp; PIVOT Tables</a:t>
            </a:r>
            <a:endParaRPr lang="en-US" sz="1600" dirty="0"/>
          </a:p>
        </p:txBody>
      </p:sp>
      <p:sp>
        <p:nvSpPr>
          <p:cNvPr id="9" name="Text 7"/>
          <p:cNvSpPr/>
          <p:nvPr/>
        </p:nvSpPr>
        <p:spPr>
          <a:xfrm>
            <a:off x="457200" y="2688336"/>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4.</a:t>
            </a:r>
            <a:endParaRPr lang="en-US" sz="1600" dirty="0"/>
          </a:p>
        </p:txBody>
      </p:sp>
      <p:sp>
        <p:nvSpPr>
          <p:cNvPr id="10" name="Text 8"/>
          <p:cNvSpPr/>
          <p:nvPr/>
        </p:nvSpPr>
        <p:spPr>
          <a:xfrm>
            <a:off x="914400" y="2688336"/>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Window Functions (ROW_NUMBER, RANK, LEAD, LAG)</a:t>
            </a:r>
            <a:endParaRPr lang="en-US" sz="1600" dirty="0"/>
          </a:p>
        </p:txBody>
      </p:sp>
      <p:sp>
        <p:nvSpPr>
          <p:cNvPr id="11" name="Text 9"/>
          <p:cNvSpPr/>
          <p:nvPr/>
        </p:nvSpPr>
        <p:spPr>
          <a:xfrm>
            <a:off x="457200" y="3218688"/>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5.</a:t>
            </a:r>
            <a:endParaRPr lang="en-US" sz="1600" dirty="0"/>
          </a:p>
        </p:txBody>
      </p:sp>
      <p:sp>
        <p:nvSpPr>
          <p:cNvPr id="12" name="Text 10"/>
          <p:cNvSpPr/>
          <p:nvPr/>
        </p:nvSpPr>
        <p:spPr>
          <a:xfrm>
            <a:off x="914400" y="3218688"/>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Running Totals &amp; Moving Averages</a:t>
            </a:r>
            <a:endParaRPr lang="en-US" sz="1600" dirty="0"/>
          </a:p>
        </p:txBody>
      </p:sp>
      <p:sp>
        <p:nvSpPr>
          <p:cNvPr id="13" name="Text 11"/>
          <p:cNvSpPr/>
          <p:nvPr/>
        </p:nvSpPr>
        <p:spPr>
          <a:xfrm>
            <a:off x="457200" y="3749040"/>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6.</a:t>
            </a:r>
            <a:endParaRPr lang="en-US" sz="1600" dirty="0"/>
          </a:p>
        </p:txBody>
      </p:sp>
      <p:sp>
        <p:nvSpPr>
          <p:cNvPr id="14" name="Text 12"/>
          <p:cNvSpPr/>
          <p:nvPr/>
        </p:nvSpPr>
        <p:spPr>
          <a:xfrm>
            <a:off x="914400" y="3749040"/>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Common Table Expressions (CTEs)</a:t>
            </a:r>
            <a:endParaRPr lang="en-US" sz="1600" dirty="0"/>
          </a:p>
        </p:txBody>
      </p:sp>
      <p:sp>
        <p:nvSpPr>
          <p:cNvPr id="15" name="Text 13"/>
          <p:cNvSpPr/>
          <p:nvPr/>
        </p:nvSpPr>
        <p:spPr>
          <a:xfrm>
            <a:off x="457200" y="4279392"/>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7.</a:t>
            </a:r>
            <a:endParaRPr lang="en-US" sz="1600" dirty="0"/>
          </a:p>
        </p:txBody>
      </p:sp>
      <p:sp>
        <p:nvSpPr>
          <p:cNvPr id="16" name="Text 14"/>
          <p:cNvSpPr/>
          <p:nvPr/>
        </p:nvSpPr>
        <p:spPr>
          <a:xfrm>
            <a:off x="914400" y="4279392"/>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Query Optimization Tips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Our Practice Database</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5 tables with Nepali sample data</a:t>
            </a:r>
            <a:endParaRPr lang="en-US" sz="1400" dirty="0"/>
          </a:p>
        </p:txBody>
      </p:sp>
      <p:sp>
        <p:nvSpPr>
          <p:cNvPr id="4" name="Text 2"/>
          <p:cNvSpPr/>
          <p:nvPr/>
        </p:nvSpPr>
        <p:spPr>
          <a:xfrm>
            <a:off x="27432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customers</a:t>
            </a:r>
            <a:endParaRPr lang="en-US" sz="1000" dirty="0"/>
          </a:p>
        </p:txBody>
      </p:sp>
      <p:sp>
        <p:nvSpPr>
          <p:cNvPr id="5" name="Shape 3"/>
          <p:cNvSpPr/>
          <p:nvPr/>
        </p:nvSpPr>
        <p:spPr>
          <a:xfrm>
            <a:off x="274320" y="1645920"/>
            <a:ext cx="1645920" cy="1005840"/>
          </a:xfrm>
          <a:prstGeom prst="rect">
            <a:avLst/>
          </a:prstGeom>
          <a:solidFill>
            <a:srgbClr val="F8FAFC"/>
          </a:solidFill>
          <a:ln/>
        </p:spPr>
        <p:txBody>
          <a:bodyPr/>
          <a:lstStyle/>
          <a:p>
            <a:endParaRPr lang="en-US"/>
          </a:p>
        </p:txBody>
      </p:sp>
      <p:sp>
        <p:nvSpPr>
          <p:cNvPr id="6" name="Text 4"/>
          <p:cNvSpPr/>
          <p:nvPr/>
        </p:nvSpPr>
        <p:spPr>
          <a:xfrm>
            <a:off x="36576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customer_id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name</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email</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city</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join_date</a:t>
            </a:r>
            <a:endParaRPr lang="en-US" sz="900" dirty="0"/>
          </a:p>
        </p:txBody>
      </p:sp>
      <p:sp>
        <p:nvSpPr>
          <p:cNvPr id="7" name="Text 5"/>
          <p:cNvSpPr/>
          <p:nvPr/>
        </p:nvSpPr>
        <p:spPr>
          <a:xfrm>
            <a:off x="201168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products</a:t>
            </a:r>
            <a:endParaRPr lang="en-US" sz="1000" dirty="0"/>
          </a:p>
        </p:txBody>
      </p:sp>
      <p:sp>
        <p:nvSpPr>
          <p:cNvPr id="8" name="Shape 6"/>
          <p:cNvSpPr/>
          <p:nvPr/>
        </p:nvSpPr>
        <p:spPr>
          <a:xfrm>
            <a:off x="2011680" y="1645920"/>
            <a:ext cx="1645920" cy="1005840"/>
          </a:xfrm>
          <a:prstGeom prst="rect">
            <a:avLst/>
          </a:prstGeom>
          <a:solidFill>
            <a:srgbClr val="F8FAFC"/>
          </a:solidFill>
          <a:ln/>
        </p:spPr>
        <p:txBody>
          <a:bodyPr/>
          <a:lstStyle/>
          <a:p>
            <a:endParaRPr lang="en-US"/>
          </a:p>
        </p:txBody>
      </p:sp>
      <p:sp>
        <p:nvSpPr>
          <p:cNvPr id="9" name="Text 7"/>
          <p:cNvSpPr/>
          <p:nvPr/>
        </p:nvSpPr>
        <p:spPr>
          <a:xfrm>
            <a:off x="210312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product_id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product_name</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category</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price</a:t>
            </a:r>
            <a:endParaRPr lang="en-US" sz="900" dirty="0"/>
          </a:p>
        </p:txBody>
      </p:sp>
      <p:sp>
        <p:nvSpPr>
          <p:cNvPr id="10" name="Text 8"/>
          <p:cNvSpPr/>
          <p:nvPr/>
        </p:nvSpPr>
        <p:spPr>
          <a:xfrm>
            <a:off x="374904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orders</a:t>
            </a:r>
            <a:endParaRPr lang="en-US" sz="1000" dirty="0"/>
          </a:p>
        </p:txBody>
      </p:sp>
      <p:sp>
        <p:nvSpPr>
          <p:cNvPr id="11" name="Shape 9"/>
          <p:cNvSpPr/>
          <p:nvPr/>
        </p:nvSpPr>
        <p:spPr>
          <a:xfrm>
            <a:off x="3749040" y="1645920"/>
            <a:ext cx="1645920" cy="1005840"/>
          </a:xfrm>
          <a:prstGeom prst="rect">
            <a:avLst/>
          </a:prstGeom>
          <a:solidFill>
            <a:srgbClr val="F8FAFC"/>
          </a:solidFill>
          <a:ln/>
        </p:spPr>
        <p:txBody>
          <a:bodyPr/>
          <a:lstStyle/>
          <a:p>
            <a:endParaRPr lang="en-US"/>
          </a:p>
        </p:txBody>
      </p:sp>
      <p:sp>
        <p:nvSpPr>
          <p:cNvPr id="12" name="Text 10"/>
          <p:cNvSpPr/>
          <p:nvPr/>
        </p:nvSpPr>
        <p:spPr>
          <a:xfrm>
            <a:off x="384048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order_id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customer_id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order_date</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status</a:t>
            </a:r>
            <a:endParaRPr lang="en-US" sz="900" dirty="0"/>
          </a:p>
        </p:txBody>
      </p:sp>
      <p:sp>
        <p:nvSpPr>
          <p:cNvPr id="13" name="Text 11"/>
          <p:cNvSpPr/>
          <p:nvPr/>
        </p:nvSpPr>
        <p:spPr>
          <a:xfrm>
            <a:off x="548640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order_items</a:t>
            </a:r>
            <a:endParaRPr lang="en-US" sz="1000" dirty="0"/>
          </a:p>
        </p:txBody>
      </p:sp>
      <p:sp>
        <p:nvSpPr>
          <p:cNvPr id="14" name="Shape 12"/>
          <p:cNvSpPr/>
          <p:nvPr/>
        </p:nvSpPr>
        <p:spPr>
          <a:xfrm>
            <a:off x="5486400" y="1645920"/>
            <a:ext cx="1645920" cy="1005840"/>
          </a:xfrm>
          <a:prstGeom prst="rect">
            <a:avLst/>
          </a:prstGeom>
          <a:solidFill>
            <a:srgbClr val="F8FAFC"/>
          </a:solidFill>
          <a:ln/>
        </p:spPr>
        <p:txBody>
          <a:bodyPr/>
          <a:lstStyle/>
          <a:p>
            <a:endParaRPr lang="en-US"/>
          </a:p>
        </p:txBody>
      </p:sp>
      <p:sp>
        <p:nvSpPr>
          <p:cNvPr id="15" name="Text 13"/>
          <p:cNvSpPr/>
          <p:nvPr/>
        </p:nvSpPr>
        <p:spPr>
          <a:xfrm>
            <a:off x="557784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item_id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order_id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product_id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quantity</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unit_price</a:t>
            </a:r>
            <a:endParaRPr lang="en-US" sz="900" dirty="0"/>
          </a:p>
        </p:txBody>
      </p:sp>
      <p:sp>
        <p:nvSpPr>
          <p:cNvPr id="16" name="Text 14"/>
          <p:cNvSpPr/>
          <p:nvPr/>
        </p:nvSpPr>
        <p:spPr>
          <a:xfrm>
            <a:off x="722376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daily_sales</a:t>
            </a:r>
            <a:endParaRPr lang="en-US" sz="1000" dirty="0"/>
          </a:p>
        </p:txBody>
      </p:sp>
      <p:sp>
        <p:nvSpPr>
          <p:cNvPr id="17" name="Shape 15"/>
          <p:cNvSpPr/>
          <p:nvPr/>
        </p:nvSpPr>
        <p:spPr>
          <a:xfrm>
            <a:off x="7223760" y="1645920"/>
            <a:ext cx="1645920" cy="1005840"/>
          </a:xfrm>
          <a:prstGeom prst="rect">
            <a:avLst/>
          </a:prstGeom>
          <a:solidFill>
            <a:srgbClr val="F8FAFC"/>
          </a:solidFill>
          <a:ln/>
        </p:spPr>
        <p:txBody>
          <a:bodyPr/>
          <a:lstStyle/>
          <a:p>
            <a:endParaRPr lang="en-US"/>
          </a:p>
        </p:txBody>
      </p:sp>
      <p:sp>
        <p:nvSpPr>
          <p:cNvPr id="18" name="Text 16"/>
          <p:cNvSpPr/>
          <p:nvPr/>
        </p:nvSpPr>
        <p:spPr>
          <a:xfrm>
            <a:off x="731520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sale_date</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total_orders</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total_revenue</a:t>
            </a:r>
            <a:endParaRPr lang="en-US" sz="900" dirty="0"/>
          </a:p>
        </p:txBody>
      </p:sp>
      <p:sp>
        <p:nvSpPr>
          <p:cNvPr id="19" name="Text 17"/>
          <p:cNvSpPr/>
          <p:nvPr/>
        </p:nvSpPr>
        <p:spPr>
          <a:xfrm>
            <a:off x="457200" y="2834640"/>
            <a:ext cx="8229600" cy="27432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Sample Data:</a:t>
            </a:r>
            <a:endParaRPr lang="en-US" sz="1200" dirty="0"/>
          </a:p>
        </p:txBody>
      </p:sp>
      <p:sp>
        <p:nvSpPr>
          <p:cNvPr id="20" name="Text 18"/>
          <p:cNvSpPr/>
          <p:nvPr/>
        </p:nvSpPr>
        <p:spPr>
          <a:xfrm>
            <a:off x="457200" y="3108960"/>
            <a:ext cx="8229600" cy="82296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 15 customers (Ram Sharma, Sita Thapa, Hari Gurung...)</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20 products in 5 categories (Electronics, Clothing, Accessories, Home, Stationery)</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25 orders with different statuses</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31 days of daily_sales data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Self Join: Table Joins Itself</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Find customers from the same city</a:t>
            </a:r>
            <a:endParaRPr lang="en-US" sz="1400" dirty="0"/>
          </a:p>
        </p:txBody>
      </p:sp>
      <p:sp>
        <p:nvSpPr>
          <p:cNvPr id="4" name="Shape 2"/>
          <p:cNvSpPr/>
          <p:nvPr/>
        </p:nvSpPr>
        <p:spPr>
          <a:xfrm>
            <a:off x="457200" y="1280160"/>
            <a:ext cx="8229600" cy="1280160"/>
          </a:xfrm>
          <a:prstGeom prst="rect">
            <a:avLst/>
          </a:prstGeom>
          <a:solidFill>
            <a:srgbClr val="1E293B"/>
          </a:solidFill>
          <a:ln/>
        </p:spPr>
        <p:txBody>
          <a:bodyPr/>
          <a:lstStyle/>
          <a:p>
            <a:endParaRPr lang="en-US"/>
          </a:p>
        </p:txBody>
      </p:sp>
      <p:sp>
        <p:nvSpPr>
          <p:cNvPr id="5" name="Text 3"/>
          <p:cNvSpPr/>
          <p:nvPr/>
        </p:nvSpPr>
        <p:spPr>
          <a:xfrm>
            <a:off x="640080" y="1371600"/>
            <a:ext cx="7863840" cy="109728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a.name AS customer1,</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b.name AS customer2,</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a.city</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customers a</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JOIN customers b ON a.city = b.city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AND a.customer_id &lt; b.customer_id;</a:t>
            </a:r>
            <a:endParaRPr lang="en-US" sz="1200" dirty="0"/>
          </a:p>
        </p:txBody>
      </p:sp>
      <p:sp>
        <p:nvSpPr>
          <p:cNvPr id="6" name="Text 4"/>
          <p:cNvSpPr/>
          <p:nvPr/>
        </p:nvSpPr>
        <p:spPr>
          <a:xfrm>
            <a:off x="457200" y="2697480"/>
            <a:ext cx="8229600" cy="2743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Result (from customers table):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5486400" cy="118872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37744">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customer1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customer2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city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37744">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Ram Sharma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Hari Gurung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Kathmandu</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Ram Sharma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Anita Tamang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Kathmandu</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Sita Thapa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Krishna Shrestha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Pokhara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Gita Rai</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Chandra Magar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Lalitpur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Joining 3+ Tables</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Get customer name, product, quantity for each order</a:t>
            </a:r>
            <a:endParaRPr lang="en-US" sz="1400" dirty="0"/>
          </a:p>
        </p:txBody>
      </p:sp>
      <p:sp>
        <p:nvSpPr>
          <p:cNvPr id="4" name="Shape 2"/>
          <p:cNvSpPr/>
          <p:nvPr/>
        </p:nvSpPr>
        <p:spPr>
          <a:xfrm>
            <a:off x="457200" y="1280160"/>
            <a:ext cx="8229600" cy="1645920"/>
          </a:xfrm>
          <a:prstGeom prst="rect">
            <a:avLst/>
          </a:prstGeom>
          <a:solidFill>
            <a:srgbClr val="1E293B"/>
          </a:solidFill>
          <a:ln/>
        </p:spPr>
        <p:txBody>
          <a:bodyPr/>
          <a:lstStyle/>
          <a:p>
            <a:endParaRPr lang="en-US"/>
          </a:p>
        </p:txBody>
      </p:sp>
      <p:sp>
        <p:nvSpPr>
          <p:cNvPr id="5" name="Text 3"/>
          <p:cNvSpPr/>
          <p:nvPr/>
        </p:nvSpPr>
        <p:spPr>
          <a:xfrm>
            <a:off x="640080" y="1371600"/>
            <a:ext cx="7863840" cy="146304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c.name,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p.product_name,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oi.quantity,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o.order_date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customers c</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JOIN orders o ON c.customer_id = o.customer_id</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JOIN order_items oi ON o.order_id = oi.order_id</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JOIN products p ON oi.product_id = p.product_id;</a:t>
            </a:r>
            <a:endParaRPr lang="en-US" sz="1100" dirty="0"/>
          </a:p>
        </p:txBody>
      </p:sp>
      <p:sp>
        <p:nvSpPr>
          <p:cNvPr id="6" name="Text 4"/>
          <p:cNvSpPr/>
          <p:nvPr/>
        </p:nvSpPr>
        <p:spPr>
          <a:xfrm>
            <a:off x="457200" y="3063240"/>
            <a:ext cx="8229600" cy="228600"/>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Result (first few rows):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6400800" cy="109728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219456">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order_date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Ram Sharma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Ram Sharma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Headphones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Sita Thapa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Smartphone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2024-01-08</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Sita Thapa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T-Shirt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2024-01-08</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Subquery: Query Inside a Query</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 subquery returns a single value or list — runs ONCE</a:t>
            </a:r>
            <a:endParaRPr lang="en-US" sz="1400" dirty="0"/>
          </a:p>
        </p:txBody>
      </p:sp>
      <p:sp>
        <p:nvSpPr>
          <p:cNvPr id="4" name="Text 2"/>
          <p:cNvSpPr/>
          <p:nvPr/>
        </p:nvSpPr>
        <p:spPr>
          <a:xfrm>
            <a:off x="457200" y="1280160"/>
            <a:ext cx="8229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Example: Products priced above average</a:t>
            </a:r>
            <a:endParaRPr lang="en-US" sz="1300" dirty="0"/>
          </a:p>
        </p:txBody>
      </p:sp>
      <p:sp>
        <p:nvSpPr>
          <p:cNvPr id="5" name="Shape 3"/>
          <p:cNvSpPr/>
          <p:nvPr/>
        </p:nvSpPr>
        <p:spPr>
          <a:xfrm>
            <a:off x="457200" y="1600200"/>
            <a:ext cx="8229600" cy="914400"/>
          </a:xfrm>
          <a:prstGeom prst="rect">
            <a:avLst/>
          </a:prstGeom>
          <a:solidFill>
            <a:srgbClr val="1E293B"/>
          </a:solidFill>
          <a:ln/>
        </p:spPr>
        <p:txBody>
          <a:bodyPr/>
          <a:lstStyle/>
          <a:p>
            <a:endParaRPr lang="en-US"/>
          </a:p>
        </p:txBody>
      </p:sp>
      <p:sp>
        <p:nvSpPr>
          <p:cNvPr id="6" name="Text 4"/>
          <p:cNvSpPr/>
          <p:nvPr/>
        </p:nvSpPr>
        <p:spPr>
          <a:xfrm>
            <a:off x="640080" y="1691640"/>
            <a:ext cx="7863840" cy="731520"/>
          </a:xfrm>
          <a:prstGeom prst="rect">
            <a:avLst/>
          </a:prstGeom>
          <a:noFill/>
          <a:ln/>
        </p:spPr>
        <p:txBody>
          <a:bodyPr wrap="square"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SELECT product_name, price</a:t>
            </a:r>
            <a:endParaRPr lang="en-US" sz="1300" dirty="0"/>
          </a:p>
          <a:p>
            <a:pPr marL="0" indent="0">
              <a:buNone/>
            </a:pPr>
            <a:r>
              <a:rPr lang="en-US" sz="1300" dirty="0">
                <a:solidFill>
                  <a:srgbClr val="FFFFFF"/>
                </a:solidFill>
                <a:latin typeface="Consolas" pitchFamily="34" charset="0"/>
                <a:ea typeface="Consolas" pitchFamily="34" charset="-122"/>
                <a:cs typeface="Consolas" pitchFamily="34" charset="-120"/>
              </a:rPr>
              <a:t>FROM products</a:t>
            </a:r>
            <a:endParaRPr lang="en-US" sz="1300" dirty="0"/>
          </a:p>
          <a:p>
            <a:pPr marL="0" indent="0">
              <a:buNone/>
            </a:pPr>
            <a:r>
              <a:rPr lang="en-US" sz="1300" dirty="0">
                <a:solidFill>
                  <a:srgbClr val="FFFFFF"/>
                </a:solidFill>
                <a:latin typeface="Consolas" pitchFamily="34" charset="0"/>
                <a:ea typeface="Consolas" pitchFamily="34" charset="-122"/>
                <a:cs typeface="Consolas" pitchFamily="34" charset="-120"/>
              </a:rPr>
              <a:t>WHERE price &gt; (SELECT AVG(price) FROM products);</a:t>
            </a:r>
            <a:endParaRPr lang="en-US" sz="1300" dirty="0"/>
          </a:p>
        </p:txBody>
      </p:sp>
      <p:sp>
        <p:nvSpPr>
          <p:cNvPr id="7" name="Text 5"/>
          <p:cNvSpPr/>
          <p:nvPr/>
        </p:nvSpPr>
        <p:spPr>
          <a:xfrm>
            <a:off x="5486400" y="2606040"/>
            <a:ext cx="3200400" cy="274320"/>
          </a:xfrm>
          <a:prstGeom prst="rect">
            <a:avLst/>
          </a:prstGeom>
          <a:noFill/>
          <a:ln/>
        </p:spPr>
        <p:txBody>
          <a:bodyPr wrap="square" rtlCol="0" anchor="ctr"/>
          <a:lstStyle/>
          <a:p>
            <a:pPr marL="0" indent="0">
              <a:buNone/>
            </a:pPr>
            <a:r>
              <a:rPr lang="en-US" sz="1100" b="1" dirty="0">
                <a:solidFill>
                  <a:srgbClr val="EA580C"/>
                </a:solidFill>
                <a:latin typeface="Calibri" pitchFamily="34" charset="0"/>
                <a:ea typeface="Calibri" pitchFamily="34" charset="-122"/>
                <a:cs typeface="Calibri" pitchFamily="34" charset="-120"/>
              </a:rPr>
              <a:t>AVG(price) = 10,739</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651760"/>
          <a:ext cx="3200400" cy="97536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2286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product_name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Laptop</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85,000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Smartphone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Tablet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35,000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6"/>
          <p:cNvSpPr/>
          <p:nvPr/>
        </p:nvSpPr>
        <p:spPr>
          <a:xfrm>
            <a:off x="457200" y="3749040"/>
            <a:ext cx="8229600" cy="457200"/>
          </a:xfrm>
          <a:prstGeom prst="rect">
            <a:avLst/>
          </a:prstGeom>
          <a:solidFill>
            <a:srgbClr val="F8FAFC"/>
          </a:solidFill>
          <a:ln/>
        </p:spPr>
        <p:txBody>
          <a:bodyPr/>
          <a:lstStyle/>
          <a:p>
            <a:endParaRPr lang="en-US"/>
          </a:p>
        </p:txBody>
      </p:sp>
      <p:sp>
        <p:nvSpPr>
          <p:cNvPr id="10" name="Text 7"/>
          <p:cNvSpPr/>
          <p:nvPr/>
        </p:nvSpPr>
        <p:spPr>
          <a:xfrm>
            <a:off x="640080" y="3840480"/>
            <a:ext cx="7863840" cy="2743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Subquery = Runs ONCE, returns fixed value (10,739). Independent of outer query.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Nested Query (Correlated Subquery)</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Inner query depends on outer query — runs for EACH row</a:t>
            </a:r>
            <a:endParaRPr lang="en-US" sz="1400" dirty="0"/>
          </a:p>
        </p:txBody>
      </p:sp>
      <p:sp>
        <p:nvSpPr>
          <p:cNvPr id="4" name="Text 2"/>
          <p:cNvSpPr/>
          <p:nvPr/>
        </p:nvSpPr>
        <p:spPr>
          <a:xfrm>
            <a:off x="457200" y="1280160"/>
            <a:ext cx="8229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Example: Most expensive product in EACH category</a:t>
            </a:r>
            <a:endParaRPr lang="en-US" sz="1300" dirty="0"/>
          </a:p>
        </p:txBody>
      </p:sp>
      <p:sp>
        <p:nvSpPr>
          <p:cNvPr id="5" name="Shape 3"/>
          <p:cNvSpPr/>
          <p:nvPr/>
        </p:nvSpPr>
        <p:spPr>
          <a:xfrm>
            <a:off x="457200" y="1600200"/>
            <a:ext cx="8229600" cy="1188720"/>
          </a:xfrm>
          <a:prstGeom prst="rect">
            <a:avLst/>
          </a:prstGeom>
          <a:solidFill>
            <a:srgbClr val="1E293B"/>
          </a:solidFill>
          <a:ln/>
        </p:spPr>
        <p:txBody>
          <a:bodyPr/>
          <a:lstStyle/>
          <a:p>
            <a:endParaRPr lang="en-US"/>
          </a:p>
        </p:txBody>
      </p:sp>
      <p:sp>
        <p:nvSpPr>
          <p:cNvPr id="6" name="Text 4"/>
          <p:cNvSpPr/>
          <p:nvPr/>
        </p:nvSpPr>
        <p:spPr>
          <a:xfrm>
            <a:off x="640080" y="1691640"/>
            <a:ext cx="7863840" cy="100584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product_name, category, price</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products p1</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WHERE price =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SELECT MAX(price) FROM products p2</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WHERE p2.category = p1.category   -- References outer query!</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4572000" cy="1371600"/>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21336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580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category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580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580C"/>
                    </a:solidFill>
                  </a:tcPr>
                </a:tc>
                <a:extLst>
                  <a:ext uri="{0D108BD9-81ED-4DB2-BD59-A6C34878D82A}">
                    <a16:rowId xmlns:a16="http://schemas.microsoft.com/office/drawing/2014/main" val="10000"/>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Electronics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Sneakers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Clothing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Watch</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Accessories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Coffee Maker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Home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Notebook Set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Stationery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350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5"/>
          <p:cNvSpPr/>
          <p:nvPr/>
        </p:nvSpPr>
        <p:spPr>
          <a:xfrm>
            <a:off x="5212080" y="3017520"/>
            <a:ext cx="3474720" cy="731520"/>
          </a:xfrm>
          <a:prstGeom prst="rect">
            <a:avLst/>
          </a:prstGeom>
          <a:solidFill>
            <a:srgbClr val="F8FAFC"/>
          </a:solidFill>
          <a:ln/>
        </p:spPr>
        <p:txBody>
          <a:bodyPr/>
          <a:lstStyle/>
          <a:p>
            <a:endParaRPr lang="en-US"/>
          </a:p>
        </p:txBody>
      </p:sp>
      <p:sp>
        <p:nvSpPr>
          <p:cNvPr id="9" name="Text 6"/>
          <p:cNvSpPr/>
          <p:nvPr/>
        </p:nvSpPr>
        <p:spPr>
          <a:xfrm>
            <a:off x="5303520" y="3108960"/>
            <a:ext cx="329184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For EACH product:</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Find MAX price in its category</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If price = MAX, include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Subquery vs Nested Query</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When to use which?</a:t>
            </a:r>
            <a:endParaRPr lang="en-US" sz="1400" dirty="0"/>
          </a:p>
        </p:txBody>
      </p:sp>
      <p:sp>
        <p:nvSpPr>
          <p:cNvPr id="4" name="Shape 2"/>
          <p:cNvSpPr/>
          <p:nvPr/>
        </p:nvSpPr>
        <p:spPr>
          <a:xfrm>
            <a:off x="457200" y="1325880"/>
            <a:ext cx="3840480" cy="2194560"/>
          </a:xfrm>
          <a:prstGeom prst="rect">
            <a:avLst/>
          </a:prstGeom>
          <a:solidFill>
            <a:srgbClr val="F8FAFC"/>
          </a:solidFill>
          <a:ln/>
        </p:spPr>
        <p:txBody>
          <a:bodyPr/>
          <a:lstStyle/>
          <a:p>
            <a:endParaRPr lang="en-US"/>
          </a:p>
        </p:txBody>
      </p:sp>
      <p:sp>
        <p:nvSpPr>
          <p:cNvPr id="5" name="Text 3"/>
          <p:cNvSpPr/>
          <p:nvPr/>
        </p:nvSpPr>
        <p:spPr>
          <a:xfrm>
            <a:off x="548640" y="1371600"/>
            <a:ext cx="3657600" cy="320040"/>
          </a:xfrm>
          <a:prstGeom prst="rect">
            <a:avLst/>
          </a:prstGeom>
          <a:noFill/>
          <a:ln/>
        </p:spPr>
        <p:txBody>
          <a:bodyPr wrap="square"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Subquery (Non-Correlated)</a:t>
            </a:r>
            <a:endParaRPr lang="en-US" sz="1400" dirty="0"/>
          </a:p>
        </p:txBody>
      </p:sp>
      <p:sp>
        <p:nvSpPr>
          <p:cNvPr id="6" name="Text 4"/>
          <p:cNvSpPr/>
          <p:nvPr/>
        </p:nvSpPr>
        <p:spPr>
          <a:xfrm>
            <a:off x="548640" y="1737360"/>
            <a:ext cx="3657600" cy="128016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 Runs ONCE</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Independent of outer query</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Returns fixed value/list</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Generally faster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Use for: comparisons with</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aggregates (AVG, MAX, etc.)</a:t>
            </a:r>
            <a:endParaRPr lang="en-US" sz="1100" dirty="0"/>
          </a:p>
        </p:txBody>
      </p:sp>
      <p:sp>
        <p:nvSpPr>
          <p:cNvPr id="7" name="Text 5"/>
          <p:cNvSpPr/>
          <p:nvPr/>
        </p:nvSpPr>
        <p:spPr>
          <a:xfrm>
            <a:off x="548640" y="3108960"/>
            <a:ext cx="3657600" cy="365760"/>
          </a:xfrm>
          <a:prstGeom prst="rect">
            <a:avLst/>
          </a:prstGeom>
          <a:noFill/>
          <a:ln/>
        </p:spPr>
        <p:txBody>
          <a:bodyPr wrap="square" rtlCol="0" anchor="ctr"/>
          <a:lstStyle/>
          <a:p>
            <a:pPr marL="0" indent="0">
              <a:buNone/>
            </a:pPr>
            <a:r>
              <a:rPr lang="en-US" sz="900" dirty="0">
                <a:solidFill>
                  <a:srgbClr val="64748B"/>
                </a:solidFill>
                <a:latin typeface="Consolas" pitchFamily="34" charset="0"/>
                <a:ea typeface="Consolas" pitchFamily="34" charset="-122"/>
                <a:cs typeface="Consolas" pitchFamily="34" charset="-120"/>
              </a:rPr>
              <a:t>WHERE price &gt;</a:t>
            </a:r>
            <a:endParaRPr lang="en-US" sz="900" dirty="0"/>
          </a:p>
          <a:p>
            <a:pPr marL="0" indent="0">
              <a:buNone/>
            </a:pPr>
            <a:r>
              <a:rPr lang="en-US" sz="900" dirty="0">
                <a:solidFill>
                  <a:srgbClr val="64748B"/>
                </a:solidFill>
                <a:latin typeface="Consolas" pitchFamily="34" charset="0"/>
                <a:ea typeface="Consolas" pitchFamily="34" charset="-122"/>
                <a:cs typeface="Consolas" pitchFamily="34" charset="-120"/>
              </a:rPr>
              <a:t>(SELECT AVG(price) FROM products)</a:t>
            </a:r>
            <a:endParaRPr lang="en-US" sz="900" dirty="0"/>
          </a:p>
        </p:txBody>
      </p:sp>
      <p:sp>
        <p:nvSpPr>
          <p:cNvPr id="8" name="Shape 6"/>
          <p:cNvSpPr/>
          <p:nvPr/>
        </p:nvSpPr>
        <p:spPr>
          <a:xfrm>
            <a:off x="4846320" y="1325880"/>
            <a:ext cx="3840480" cy="2194560"/>
          </a:xfrm>
          <a:prstGeom prst="rect">
            <a:avLst/>
          </a:prstGeom>
          <a:solidFill>
            <a:srgbClr val="F8FAFC"/>
          </a:solidFill>
          <a:ln/>
        </p:spPr>
        <p:txBody>
          <a:bodyPr/>
          <a:lstStyle/>
          <a:p>
            <a:endParaRPr lang="en-US"/>
          </a:p>
        </p:txBody>
      </p:sp>
      <p:sp>
        <p:nvSpPr>
          <p:cNvPr id="9" name="Text 7"/>
          <p:cNvSpPr/>
          <p:nvPr/>
        </p:nvSpPr>
        <p:spPr>
          <a:xfrm>
            <a:off x="4937760" y="1371600"/>
            <a:ext cx="3657600" cy="320040"/>
          </a:xfrm>
          <a:prstGeom prst="rect">
            <a:avLst/>
          </a:prstGeom>
          <a:noFill/>
          <a:ln/>
        </p:spPr>
        <p:txBody>
          <a:bodyPr wrap="square" rtlCol="0" anchor="ctr"/>
          <a:lstStyle/>
          <a:p>
            <a:pPr marL="0" indent="0">
              <a:buNone/>
            </a:pPr>
            <a:r>
              <a:rPr lang="en-US" sz="1400" b="1" dirty="0">
                <a:solidFill>
                  <a:srgbClr val="EA580C"/>
                </a:solidFill>
                <a:latin typeface="Calibri" pitchFamily="34" charset="0"/>
                <a:ea typeface="Calibri" pitchFamily="34" charset="-122"/>
                <a:cs typeface="Calibri" pitchFamily="34" charset="-120"/>
              </a:rPr>
              <a:t>Nested Query (Correlated)</a:t>
            </a:r>
            <a:endParaRPr lang="en-US" sz="1400" dirty="0"/>
          </a:p>
        </p:txBody>
      </p:sp>
      <p:sp>
        <p:nvSpPr>
          <p:cNvPr id="10" name="Text 8"/>
          <p:cNvSpPr/>
          <p:nvPr/>
        </p:nvSpPr>
        <p:spPr>
          <a:xfrm>
            <a:off x="4937760" y="1737360"/>
            <a:ext cx="3657600" cy="128016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 Runs for EACH row</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Depends on outer query</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Result changes per row</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Can be slower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Use for: row-by-row</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comparisons within groups</a:t>
            </a:r>
            <a:endParaRPr lang="en-US" sz="1100" dirty="0"/>
          </a:p>
        </p:txBody>
      </p:sp>
      <p:sp>
        <p:nvSpPr>
          <p:cNvPr id="11" name="Text 9"/>
          <p:cNvSpPr/>
          <p:nvPr/>
        </p:nvSpPr>
        <p:spPr>
          <a:xfrm>
            <a:off x="4937760" y="3108960"/>
            <a:ext cx="3657600" cy="320040"/>
          </a:xfrm>
          <a:prstGeom prst="rect">
            <a:avLst/>
          </a:prstGeom>
          <a:noFill/>
          <a:ln/>
        </p:spPr>
        <p:txBody>
          <a:bodyPr wrap="square" rtlCol="0" anchor="ctr"/>
          <a:lstStyle/>
          <a:p>
            <a:pPr marL="0" indent="0">
              <a:buNone/>
            </a:pPr>
            <a:r>
              <a:rPr lang="en-US" sz="900" dirty="0">
                <a:solidFill>
                  <a:srgbClr val="64748B"/>
                </a:solidFill>
                <a:latin typeface="Consolas" pitchFamily="34" charset="0"/>
                <a:ea typeface="Consolas" pitchFamily="34" charset="-122"/>
                <a:cs typeface="Consolas" pitchFamily="34" charset="-120"/>
              </a:rPr>
              <a:t>WHERE p2.category = p1.category</a:t>
            </a:r>
            <a:endParaRPr lang="en-US" sz="900" dirty="0"/>
          </a:p>
        </p:txBody>
      </p:sp>
      <p:sp>
        <p:nvSpPr>
          <p:cNvPr id="12" name="Text 10"/>
          <p:cNvSpPr/>
          <p:nvPr/>
        </p:nvSpPr>
        <p:spPr>
          <a:xfrm>
            <a:off x="457200" y="3749040"/>
            <a:ext cx="8229600" cy="320040"/>
          </a:xfrm>
          <a:prstGeom prst="rect">
            <a:avLst/>
          </a:prstGeom>
          <a:noFill/>
          <a:ln/>
        </p:spPr>
        <p:txBody>
          <a:bodyPr wrap="square"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Pro Tip: If you can use a JOIN or CTE instead of a correlated subquery, it's often faster!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CASE: If-Then-Else in SQL</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Create categories based on conditions</a:t>
            </a:r>
            <a:endParaRPr lang="en-US" sz="1400" dirty="0"/>
          </a:p>
        </p:txBody>
      </p:sp>
      <p:sp>
        <p:nvSpPr>
          <p:cNvPr id="4" name="Shape 2"/>
          <p:cNvSpPr/>
          <p:nvPr/>
        </p:nvSpPr>
        <p:spPr>
          <a:xfrm>
            <a:off x="457200" y="1280160"/>
            <a:ext cx="8229600" cy="1463040"/>
          </a:xfrm>
          <a:prstGeom prst="rect">
            <a:avLst/>
          </a:prstGeom>
          <a:solidFill>
            <a:srgbClr val="1E293B"/>
          </a:solidFill>
          <a:ln/>
        </p:spPr>
        <p:txBody>
          <a:bodyPr/>
          <a:lstStyle/>
          <a:p>
            <a:endParaRPr lang="en-US"/>
          </a:p>
        </p:txBody>
      </p:sp>
      <p:sp>
        <p:nvSpPr>
          <p:cNvPr id="5" name="Text 3"/>
          <p:cNvSpPr/>
          <p:nvPr/>
        </p:nvSpPr>
        <p:spPr>
          <a:xfrm>
            <a:off x="640080" y="1371600"/>
            <a:ext cx="7863840" cy="128016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product_name,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price,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CASE </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WHEN price &gt;= 50000 THEN 'Premium'</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WHEN price &gt;= 10000 THEN 'Standard'</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WHEN price &gt;= 1000 THEN 'Budget'</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ELSE 'Economy'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END AS price_tier</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products;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029200" cy="114300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2860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price_tier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2860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Premium</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Smartphone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Standard</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Winter Jacket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Budget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Pen Pack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Economy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PIVOT Tables Using CASE</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Turn rows into columns — like Excel Pivot Tables!</a:t>
            </a:r>
            <a:endParaRPr lang="en-US" sz="1400" dirty="0"/>
          </a:p>
        </p:txBody>
      </p:sp>
      <p:sp>
        <p:nvSpPr>
          <p:cNvPr id="4" name="Text 2"/>
          <p:cNvSpPr/>
          <p:nvPr/>
        </p:nvSpPr>
        <p:spPr>
          <a:xfrm>
            <a:off x="457200" y="1280160"/>
            <a:ext cx="8229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Order count by status for each city:</a:t>
            </a:r>
            <a:endParaRPr lang="en-US" sz="1300" dirty="0"/>
          </a:p>
        </p:txBody>
      </p:sp>
      <p:sp>
        <p:nvSpPr>
          <p:cNvPr id="5" name="Shape 3"/>
          <p:cNvSpPr/>
          <p:nvPr/>
        </p:nvSpPr>
        <p:spPr>
          <a:xfrm>
            <a:off x="457200" y="1600200"/>
            <a:ext cx="8229600" cy="1371600"/>
          </a:xfrm>
          <a:prstGeom prst="rect">
            <a:avLst/>
          </a:prstGeom>
          <a:solidFill>
            <a:srgbClr val="1E293B"/>
          </a:solidFill>
          <a:ln/>
        </p:spPr>
        <p:txBody>
          <a:bodyPr/>
          <a:lstStyle/>
          <a:p>
            <a:endParaRPr lang="en-US"/>
          </a:p>
        </p:txBody>
      </p:sp>
      <p:sp>
        <p:nvSpPr>
          <p:cNvPr id="6" name="Text 4"/>
          <p:cNvSpPr/>
          <p:nvPr/>
        </p:nvSpPr>
        <p:spPr>
          <a:xfrm>
            <a:off x="640080" y="1691640"/>
            <a:ext cx="7863840" cy="1188720"/>
          </a:xfrm>
          <a:prstGeom prst="rect">
            <a:avLst/>
          </a:prstGeom>
          <a:noFill/>
          <a:ln/>
        </p:spPr>
        <p:txBody>
          <a:bodyPr wrap="square"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SELECT </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c.city,</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COUNT(CASE WHEN o.status = 'Delivered' THEN 1 END) AS Delivered,</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COUNT(CASE WHEN o.status = 'Shipped' THEN 1 END) AS Shipped,</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COUNT(CASE WHEN o.status = 'Processing' THEN 1 END) AS Processing</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FROM customers c</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JOIN orders o ON c.customer_id = o.customer_id</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GROUP BY c.city;</a:t>
            </a:r>
            <a:endParaRPr lang="en-US" sz="1000" dirty="0"/>
          </a:p>
        </p:txBody>
      </p:sp>
      <p:sp>
        <p:nvSpPr>
          <p:cNvPr id="7" name="Text 5"/>
          <p:cNvSpPr/>
          <p:nvPr/>
        </p:nvSpPr>
        <p:spPr>
          <a:xfrm>
            <a:off x="457200" y="3108960"/>
            <a:ext cx="914400" cy="2743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Result:</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383280"/>
          <a:ext cx="5486400" cy="11430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1031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city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Delivered</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Shipped</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Processing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Kathmandu</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Pokhara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Lalitpur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Bhaktapur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6"/>
          <p:cNvSpPr/>
          <p:nvPr/>
        </p:nvSpPr>
        <p:spPr>
          <a:xfrm>
            <a:off x="6126480" y="3566160"/>
            <a:ext cx="2560320" cy="7315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Each CASE</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becomes a</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new column!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PIVOT: Sales by Category</a:t>
            </a:r>
            <a:endParaRPr lang="en-US" sz="32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Total sales per city, split by product category:</a:t>
            </a:r>
            <a:endParaRPr lang="en-US" sz="1300" dirty="0"/>
          </a:p>
        </p:txBody>
      </p:sp>
      <p:sp>
        <p:nvSpPr>
          <p:cNvPr id="4" name="Shape 2"/>
          <p:cNvSpPr/>
          <p:nvPr/>
        </p:nvSpPr>
        <p:spPr>
          <a:xfrm>
            <a:off x="457200" y="1234440"/>
            <a:ext cx="8229600" cy="1645920"/>
          </a:xfrm>
          <a:prstGeom prst="rect">
            <a:avLst/>
          </a:prstGeom>
          <a:solidFill>
            <a:srgbClr val="1E293B"/>
          </a:solidFill>
          <a:ln/>
        </p:spPr>
        <p:txBody>
          <a:bodyPr/>
          <a:lstStyle/>
          <a:p>
            <a:endParaRPr lang="en-US"/>
          </a:p>
        </p:txBody>
      </p:sp>
      <p:sp>
        <p:nvSpPr>
          <p:cNvPr id="5" name="Text 3"/>
          <p:cNvSpPr/>
          <p:nvPr/>
        </p:nvSpPr>
        <p:spPr>
          <a:xfrm>
            <a:off x="640080" y="1325880"/>
            <a:ext cx="7863840" cy="1463040"/>
          </a:xfrm>
          <a:prstGeom prst="rect">
            <a:avLst/>
          </a:prstGeom>
          <a:noFill/>
          <a:ln/>
        </p:spPr>
        <p:txBody>
          <a:bodyPr wrap="square" rtlCol="0" anchor="ctr"/>
          <a:lstStyle/>
          <a:p>
            <a:pPr marL="0" indent="0">
              <a:buNone/>
            </a:pPr>
            <a:r>
              <a:rPr lang="en-US" sz="900" dirty="0">
                <a:solidFill>
                  <a:srgbClr val="FFFFFF"/>
                </a:solidFill>
                <a:latin typeface="Consolas" pitchFamily="34" charset="0"/>
                <a:ea typeface="Consolas" pitchFamily="34" charset="-122"/>
                <a:cs typeface="Consolas" pitchFamily="34" charset="-120"/>
              </a:rPr>
              <a:t>SELECT </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c.city,</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SUM(CASE WHEN p.category = 'Electronics' </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THEN oi.quantity * oi.unit_price ELSE 0 END) AS Electronics,</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SUM(CASE WHEN p.category = 'Clothing' </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THEN oi.quantity * oi.unit_price ELSE 0 END) AS Clothing</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FROM customers c</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JOIN orders o ON c.customer_id = o.customer_id</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JOIN order_items oi ON o.order_id = oi.order_id</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JOIN products p ON oi.product_id = p.product_id</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GROUP BY c.city;</a:t>
            </a:r>
            <a:endParaRPr lang="en-US" sz="900" dirty="0"/>
          </a:p>
        </p:txBody>
      </p:sp>
      <p:sp>
        <p:nvSpPr>
          <p:cNvPr id="6" name="Shape 4"/>
          <p:cNvSpPr/>
          <p:nvPr/>
        </p:nvSpPr>
        <p:spPr>
          <a:xfrm>
            <a:off x="457200" y="3017520"/>
            <a:ext cx="8229600" cy="457200"/>
          </a:xfrm>
          <a:prstGeom prst="rect">
            <a:avLst/>
          </a:prstGeom>
          <a:solidFill>
            <a:srgbClr val="F8FAFC"/>
          </a:solidFill>
          <a:ln/>
        </p:spPr>
        <p:txBody>
          <a:bodyPr/>
          <a:lstStyle/>
          <a:p>
            <a:endParaRPr lang="en-US"/>
          </a:p>
        </p:txBody>
      </p:sp>
      <p:sp>
        <p:nvSpPr>
          <p:cNvPr id="7" name="Text 5"/>
          <p:cNvSpPr/>
          <p:nvPr/>
        </p:nvSpPr>
        <p:spPr>
          <a:xfrm>
            <a:off x="640080" y="3108960"/>
            <a:ext cx="7863840" cy="2743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PIVOT = GROUP BY + CASE. Each CASE becomes a new column!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Window Functions: The Game Changer</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Calculate across rows WITHOUT collapsing them</a:t>
            </a:r>
            <a:endParaRPr lang="en-US" sz="1400" dirty="0"/>
          </a:p>
        </p:txBody>
      </p:sp>
      <p:sp>
        <p:nvSpPr>
          <p:cNvPr id="4" name="Shape 2"/>
          <p:cNvSpPr/>
          <p:nvPr/>
        </p:nvSpPr>
        <p:spPr>
          <a:xfrm>
            <a:off x="457200" y="1371600"/>
            <a:ext cx="3840480" cy="1188720"/>
          </a:xfrm>
          <a:prstGeom prst="rect">
            <a:avLst/>
          </a:prstGeom>
          <a:solidFill>
            <a:srgbClr val="F8FAFC"/>
          </a:solidFill>
          <a:ln/>
        </p:spPr>
        <p:txBody>
          <a:bodyPr/>
          <a:lstStyle/>
          <a:p>
            <a:endParaRPr lang="en-US"/>
          </a:p>
        </p:txBody>
      </p:sp>
      <p:sp>
        <p:nvSpPr>
          <p:cNvPr id="5" name="Text 3"/>
          <p:cNvSpPr/>
          <p:nvPr/>
        </p:nvSpPr>
        <p:spPr>
          <a:xfrm>
            <a:off x="548640" y="1417320"/>
            <a:ext cx="3657600" cy="274320"/>
          </a:xfrm>
          <a:prstGeom prst="rect">
            <a:avLst/>
          </a:prstGeom>
          <a:noFill/>
          <a:ln/>
        </p:spPr>
        <p:txBody>
          <a:bodyPr wrap="square"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GROUP BY</a:t>
            </a:r>
            <a:endParaRPr lang="en-US" sz="1300" dirty="0"/>
          </a:p>
        </p:txBody>
      </p:sp>
      <p:sp>
        <p:nvSpPr>
          <p:cNvPr id="6" name="Text 4"/>
          <p:cNvSpPr/>
          <p:nvPr/>
        </p:nvSpPr>
        <p:spPr>
          <a:xfrm>
            <a:off x="548640" y="1737360"/>
            <a:ext cx="3657600" cy="7315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Collapses rows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5 rows → 2 rows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Loses individual details</a:t>
            </a:r>
            <a:endParaRPr lang="en-US" sz="1200" dirty="0"/>
          </a:p>
        </p:txBody>
      </p:sp>
      <p:sp>
        <p:nvSpPr>
          <p:cNvPr id="7" name="Shape 5"/>
          <p:cNvSpPr/>
          <p:nvPr/>
        </p:nvSpPr>
        <p:spPr>
          <a:xfrm>
            <a:off x="4846320" y="1371600"/>
            <a:ext cx="3840480" cy="1188720"/>
          </a:xfrm>
          <a:prstGeom prst="rect">
            <a:avLst/>
          </a:prstGeom>
          <a:solidFill>
            <a:srgbClr val="F8FAFC"/>
          </a:solidFill>
          <a:ln/>
        </p:spPr>
        <p:txBody>
          <a:bodyPr/>
          <a:lstStyle/>
          <a:p>
            <a:endParaRPr lang="en-US"/>
          </a:p>
        </p:txBody>
      </p:sp>
      <p:sp>
        <p:nvSpPr>
          <p:cNvPr id="8" name="Text 6"/>
          <p:cNvSpPr/>
          <p:nvPr/>
        </p:nvSpPr>
        <p:spPr>
          <a:xfrm>
            <a:off x="4937760" y="1417320"/>
            <a:ext cx="3657600" cy="274320"/>
          </a:xfrm>
          <a:prstGeom prst="rect">
            <a:avLst/>
          </a:prstGeom>
          <a:noFill/>
          <a:ln/>
        </p:spPr>
        <p:txBody>
          <a:bodyPr wrap="square"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Window Function</a:t>
            </a:r>
            <a:endParaRPr lang="en-US" sz="1300" dirty="0"/>
          </a:p>
        </p:txBody>
      </p:sp>
      <p:sp>
        <p:nvSpPr>
          <p:cNvPr id="9" name="Text 7"/>
          <p:cNvSpPr/>
          <p:nvPr/>
        </p:nvSpPr>
        <p:spPr>
          <a:xfrm>
            <a:off x="4937760" y="1737360"/>
            <a:ext cx="3657600" cy="7315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Keeps all rows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5 rows → 5 rows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Adds calculated column</a:t>
            </a:r>
            <a:endParaRPr lang="en-US" sz="1200" dirty="0"/>
          </a:p>
        </p:txBody>
      </p:sp>
      <p:sp>
        <p:nvSpPr>
          <p:cNvPr id="10" name="Text 8"/>
          <p:cNvSpPr/>
          <p:nvPr/>
        </p:nvSpPr>
        <p:spPr>
          <a:xfrm>
            <a:off x="457200" y="2743200"/>
            <a:ext cx="8229600" cy="27432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Syntax:</a:t>
            </a:r>
            <a:endParaRPr lang="en-US" sz="1400" dirty="0"/>
          </a:p>
        </p:txBody>
      </p:sp>
      <p:sp>
        <p:nvSpPr>
          <p:cNvPr id="11" name="Shape 9"/>
          <p:cNvSpPr/>
          <p:nvPr/>
        </p:nvSpPr>
        <p:spPr>
          <a:xfrm>
            <a:off x="457200" y="3063240"/>
            <a:ext cx="8229600" cy="548640"/>
          </a:xfrm>
          <a:prstGeom prst="rect">
            <a:avLst/>
          </a:prstGeom>
          <a:solidFill>
            <a:srgbClr val="1E293B"/>
          </a:solidFill>
          <a:ln/>
        </p:spPr>
        <p:txBody>
          <a:bodyPr/>
          <a:lstStyle/>
          <a:p>
            <a:endParaRPr lang="en-US"/>
          </a:p>
        </p:txBody>
      </p:sp>
      <p:sp>
        <p:nvSpPr>
          <p:cNvPr id="12" name="Text 10"/>
          <p:cNvSpPr/>
          <p:nvPr/>
        </p:nvSpPr>
        <p:spPr>
          <a:xfrm>
            <a:off x="640080" y="3200400"/>
            <a:ext cx="7863840" cy="320040"/>
          </a:xfrm>
          <a:prstGeom prst="rect">
            <a:avLst/>
          </a:prstGeom>
          <a:noFill/>
          <a:ln/>
        </p:spPr>
        <p:txBody>
          <a:bodyPr wrap="square"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function() OVER (PARTITION BY column ORDER BY column)</a:t>
            </a:r>
            <a:endParaRPr lang="en-US" sz="1400" dirty="0"/>
          </a:p>
        </p:txBody>
      </p:sp>
      <p:sp>
        <p:nvSpPr>
          <p:cNvPr id="13" name="Text 11"/>
          <p:cNvSpPr/>
          <p:nvPr/>
        </p:nvSpPr>
        <p:spPr>
          <a:xfrm>
            <a:off x="457200" y="3749040"/>
            <a:ext cx="822960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OVER() = "calculate over a window of related rows"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ROW_NUMBER: Number Each Row</a:t>
            </a:r>
            <a:endParaRPr lang="en-US" sz="3200" dirty="0"/>
          </a:p>
        </p:txBody>
      </p:sp>
      <p:sp>
        <p:nvSpPr>
          <p:cNvPr id="3" name="Shape 1"/>
          <p:cNvSpPr/>
          <p:nvPr/>
        </p:nvSpPr>
        <p:spPr>
          <a:xfrm>
            <a:off x="457200" y="914400"/>
            <a:ext cx="8229600" cy="822960"/>
          </a:xfrm>
          <a:prstGeom prst="rect">
            <a:avLst/>
          </a:prstGeom>
          <a:solidFill>
            <a:srgbClr val="1E293B"/>
          </a:solidFill>
          <a:ln/>
        </p:spPr>
        <p:txBody>
          <a:bodyPr/>
          <a:lstStyle/>
          <a:p>
            <a:endParaRPr lang="en-US"/>
          </a:p>
        </p:txBody>
      </p:sp>
      <p:sp>
        <p:nvSpPr>
          <p:cNvPr id="4" name="Text 2"/>
          <p:cNvSpPr/>
          <p:nvPr/>
        </p:nvSpPr>
        <p:spPr>
          <a:xfrm>
            <a:off x="640080" y="1005840"/>
            <a:ext cx="7863840" cy="64008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name, city,</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ROW_NUMBER() OVER (ORDER BY name) AS row_num</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customers;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4572000" cy="146304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286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city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row_num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Anita Tamang</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Kathmandu</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Binod Karki</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Bhaktapur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Chandra Magar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Lalitpur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Deepak Adhikari</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Kathmandu</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Elina Basnet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Pokhara</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457200" y="3383280"/>
            <a:ext cx="8229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With PARTITION BY (restart for each city):</a:t>
            </a:r>
            <a:endParaRPr lang="en-US" sz="1300" dirty="0"/>
          </a:p>
        </p:txBody>
      </p:sp>
      <p:sp>
        <p:nvSpPr>
          <p:cNvPr id="7" name="Shape 4"/>
          <p:cNvSpPr/>
          <p:nvPr/>
        </p:nvSpPr>
        <p:spPr>
          <a:xfrm>
            <a:off x="457200" y="3703320"/>
            <a:ext cx="8229600" cy="457200"/>
          </a:xfrm>
          <a:prstGeom prst="rect">
            <a:avLst/>
          </a:prstGeom>
          <a:solidFill>
            <a:srgbClr val="F8FAFC"/>
          </a:solidFill>
          <a:ln/>
        </p:spPr>
        <p:txBody>
          <a:bodyPr/>
          <a:lstStyle/>
          <a:p>
            <a:endParaRPr lang="en-US"/>
          </a:p>
        </p:txBody>
      </p:sp>
      <p:sp>
        <p:nvSpPr>
          <p:cNvPr id="8" name="Text 5"/>
          <p:cNvSpPr/>
          <p:nvPr/>
        </p:nvSpPr>
        <p:spPr>
          <a:xfrm>
            <a:off x="548640" y="3794760"/>
            <a:ext cx="8046720" cy="274320"/>
          </a:xfrm>
          <a:prstGeom prst="rect">
            <a:avLst/>
          </a:prstGeom>
          <a:noFill/>
          <a:ln/>
        </p:spPr>
        <p:txBody>
          <a:bodyPr wrap="square" rtlCol="0" anchor="ctr"/>
          <a:lstStyle/>
          <a:p>
            <a:pPr marL="0" indent="0">
              <a:buNone/>
            </a:pPr>
            <a:r>
              <a:rPr lang="en-US" sz="1200" dirty="0">
                <a:solidFill>
                  <a:srgbClr val="334155"/>
                </a:solidFill>
                <a:latin typeface="Consolas" pitchFamily="34" charset="0"/>
                <a:ea typeface="Consolas" pitchFamily="34" charset="-122"/>
                <a:cs typeface="Consolas" pitchFamily="34" charset="-120"/>
              </a:rPr>
              <a:t>ROW_NUMBER() OVER (PARTITION BY city ORDER BY name)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RANK vs DENSE_RANK</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Both rank rows, but handle ties differently</a:t>
            </a:r>
            <a:endParaRPr lang="en-US" sz="1400" dirty="0"/>
          </a:p>
        </p:txBody>
      </p:sp>
      <p:sp>
        <p:nvSpPr>
          <p:cNvPr id="4" name="Shape 2"/>
          <p:cNvSpPr/>
          <p:nvPr/>
        </p:nvSpPr>
        <p:spPr>
          <a:xfrm>
            <a:off x="457200" y="1280160"/>
            <a:ext cx="8229600" cy="822960"/>
          </a:xfrm>
          <a:prstGeom prst="rect">
            <a:avLst/>
          </a:prstGeom>
          <a:solidFill>
            <a:srgbClr val="1E293B"/>
          </a:solidFill>
          <a:ln/>
        </p:spPr>
        <p:txBody>
          <a:bodyPr/>
          <a:lstStyle/>
          <a:p>
            <a:endParaRPr lang="en-US"/>
          </a:p>
        </p:txBody>
      </p:sp>
      <p:sp>
        <p:nvSpPr>
          <p:cNvPr id="5" name="Text 3"/>
          <p:cNvSpPr/>
          <p:nvPr/>
        </p:nvSpPr>
        <p:spPr>
          <a:xfrm>
            <a:off x="640080" y="1371600"/>
            <a:ext cx="7863840" cy="64008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product_name, price,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RANK() OVER (ORDER BY price DESC) AS rank,</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DENSE_RANK() OVER (ORDER BY price DESC) AS dense_rank</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products;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5943600" cy="1371600"/>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22098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RANK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DENSE_RANK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Smartphone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Tablet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Watch</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Coffee Maker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457200" y="3703320"/>
            <a:ext cx="8229600" cy="274320"/>
          </a:xfrm>
          <a:prstGeom prst="rect">
            <a:avLst/>
          </a:prstGeom>
          <a:noFill/>
          <a:ln/>
        </p:spPr>
        <p:txBody>
          <a:bodyPr wrap="square" rtlCol="0" anchor="ctr"/>
          <a:lstStyle/>
          <a:p>
            <a:pPr marL="0" indent="0">
              <a:buNone/>
            </a:pPr>
            <a:r>
              <a:rPr lang="en-US" sz="1200" dirty="0">
                <a:solidFill>
                  <a:srgbClr val="EA580C"/>
                </a:solidFill>
                <a:latin typeface="Calibri" pitchFamily="34" charset="0"/>
                <a:ea typeface="Calibri" pitchFamily="34" charset="-122"/>
                <a:cs typeface="Calibri" pitchFamily="34" charset="-120"/>
              </a:rPr>
              <a:t>RANK: Skips numbers after ties (1, 2, 2, 4)</a:t>
            </a:r>
            <a:endParaRPr lang="en-US" sz="1200" dirty="0"/>
          </a:p>
        </p:txBody>
      </p:sp>
      <p:sp>
        <p:nvSpPr>
          <p:cNvPr id="8" name="Text 5"/>
          <p:cNvSpPr/>
          <p:nvPr/>
        </p:nvSpPr>
        <p:spPr>
          <a:xfrm>
            <a:off x="457200" y="3977640"/>
            <a:ext cx="8229600" cy="274320"/>
          </a:xfrm>
          <a:prstGeom prst="rect">
            <a:avLst/>
          </a:prstGeom>
          <a:noFill/>
          <a:ln/>
        </p:spPr>
        <p:txBody>
          <a:bodyPr wrap="square" rtlCol="0" anchor="ctr"/>
          <a:lstStyle/>
          <a:p>
            <a:pPr marL="0" indent="0">
              <a:buNone/>
            </a:pPr>
            <a:r>
              <a:rPr lang="en-US" sz="1200" dirty="0">
                <a:solidFill>
                  <a:srgbClr val="059669"/>
                </a:solidFill>
                <a:latin typeface="Calibri" pitchFamily="34" charset="0"/>
                <a:ea typeface="Calibri" pitchFamily="34" charset="-122"/>
                <a:cs typeface="Calibri" pitchFamily="34" charset="-120"/>
              </a:rPr>
              <a:t>DENSE_RANK: No gaps (1, 2, 2, 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LEAD &amp; LAG: Look Forward/Back</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Access previous or next row's data — perfect for time-series!</a:t>
            </a:r>
            <a:endParaRPr lang="en-US" sz="1400" dirty="0"/>
          </a:p>
        </p:txBody>
      </p:sp>
      <p:sp>
        <p:nvSpPr>
          <p:cNvPr id="4" name="Shape 2"/>
          <p:cNvSpPr/>
          <p:nvPr/>
        </p:nvSpPr>
        <p:spPr>
          <a:xfrm>
            <a:off x="457200" y="1280160"/>
            <a:ext cx="8229600" cy="914400"/>
          </a:xfrm>
          <a:prstGeom prst="rect">
            <a:avLst/>
          </a:prstGeom>
          <a:solidFill>
            <a:srgbClr val="1E293B"/>
          </a:solidFill>
          <a:ln/>
        </p:spPr>
        <p:txBody>
          <a:bodyPr/>
          <a:lstStyle/>
          <a:p>
            <a:endParaRPr lang="en-US"/>
          </a:p>
        </p:txBody>
      </p:sp>
      <p:sp>
        <p:nvSpPr>
          <p:cNvPr id="5" name="Text 3"/>
          <p:cNvSpPr/>
          <p:nvPr/>
        </p:nvSpPr>
        <p:spPr>
          <a:xfrm>
            <a:off x="640080" y="1371600"/>
            <a:ext cx="7863840" cy="73152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sale_date, total_revenue,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LAG(total_revenue, 1) OVER (ORDER BY sale_date) AS prev_day,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LEAD(total_revenue, 1) OVER (ORDER BY sale_date) AS next_day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daily_sales;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6400800" cy="1143000"/>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219456">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sale_date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total_revenue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prev_day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next_day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NULL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62,000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62,000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48,000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48,000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62,000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95,000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95,000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48,000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71,000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457200" y="3566160"/>
            <a:ext cx="8229600" cy="32004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Calculate day-over-day change: total_revenue - LAG(total_revenue, 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Running Total (Cumulative Sum)</a:t>
            </a:r>
            <a:endParaRPr lang="en-US" sz="3200" dirty="0"/>
          </a:p>
        </p:txBody>
      </p:sp>
      <p:sp>
        <p:nvSpPr>
          <p:cNvPr id="3" name="Shape 1"/>
          <p:cNvSpPr/>
          <p:nvPr/>
        </p:nvSpPr>
        <p:spPr>
          <a:xfrm>
            <a:off x="457200" y="914400"/>
            <a:ext cx="8229600" cy="822960"/>
          </a:xfrm>
          <a:prstGeom prst="rect">
            <a:avLst/>
          </a:prstGeom>
          <a:solidFill>
            <a:srgbClr val="1E293B"/>
          </a:solidFill>
          <a:ln/>
        </p:spPr>
        <p:txBody>
          <a:bodyPr/>
          <a:lstStyle/>
          <a:p>
            <a:endParaRPr lang="en-US"/>
          </a:p>
        </p:txBody>
      </p:sp>
      <p:sp>
        <p:nvSpPr>
          <p:cNvPr id="4" name="Text 2"/>
          <p:cNvSpPr/>
          <p:nvPr/>
        </p:nvSpPr>
        <p:spPr>
          <a:xfrm>
            <a:off x="640080" y="1005840"/>
            <a:ext cx="7863840" cy="64008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sale_date, total_revenue,</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SUM(total_revenue) OVER (ORDER BY sale_date) AS running_total</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daily_sales;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5029200" cy="1219200"/>
        </p:xfrm>
        <a:graphic>
          <a:graphicData uri="http://schemas.openxmlformats.org/drawingml/2006/table">
            <a:tbl>
              <a:tblPr/>
              <a:tblGrid>
                <a:gridCol w="16459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1945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sale_date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total_revenue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running_total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19456">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2024-01-01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2024-01-02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62,000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107,000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2024-01-03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48,000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155,000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2024-01-04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95,000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250,000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5669280" y="1920240"/>
            <a:ext cx="3017520" cy="91440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45,000</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+ 62,000 = 107,000</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+ 48,000 = 155,000</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+ 95,000 = 250,000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Moving Average</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Average over a sliding window — great for smoothing trends</a:t>
            </a:r>
            <a:endParaRPr lang="en-US" sz="1400" dirty="0"/>
          </a:p>
        </p:txBody>
      </p:sp>
      <p:sp>
        <p:nvSpPr>
          <p:cNvPr id="4" name="Shape 2"/>
          <p:cNvSpPr/>
          <p:nvPr/>
        </p:nvSpPr>
        <p:spPr>
          <a:xfrm>
            <a:off x="457200" y="1280160"/>
            <a:ext cx="8229600" cy="1280160"/>
          </a:xfrm>
          <a:prstGeom prst="rect">
            <a:avLst/>
          </a:prstGeom>
          <a:solidFill>
            <a:srgbClr val="1E293B"/>
          </a:solidFill>
          <a:ln/>
        </p:spPr>
        <p:txBody>
          <a:bodyPr/>
          <a:lstStyle/>
          <a:p>
            <a:endParaRPr lang="en-US"/>
          </a:p>
        </p:txBody>
      </p:sp>
      <p:sp>
        <p:nvSpPr>
          <p:cNvPr id="5" name="Text 3"/>
          <p:cNvSpPr/>
          <p:nvPr/>
        </p:nvSpPr>
        <p:spPr>
          <a:xfrm>
            <a:off x="640080" y="1371600"/>
            <a:ext cx="7863840" cy="109728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sale_date, total_revenue,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ROUND(AVG(total_revenue) OVER (</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ORDER BY sale_date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ROWS BETWEEN 2 PRECEDING AND CURRENT ROW</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 0) AS moving_avg_3day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daily_sales;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5029200" cy="1143000"/>
        </p:xfrm>
        <a:graphic>
          <a:graphicData uri="http://schemas.openxmlformats.org/drawingml/2006/table">
            <a:tbl>
              <a:tblPr/>
              <a:tblGrid>
                <a:gridCol w="16459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1031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sale_date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total_revenue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moving_avg_3day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62,000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53,500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48,000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51,667</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95,000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68,333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5669280" y="3474720"/>
            <a:ext cx="30175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(62+48+95)/3 = 68,333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PARTITION BY: Grouped Windows</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Restart calculations for each group</a:t>
            </a:r>
            <a:endParaRPr lang="en-US" sz="1400" dirty="0"/>
          </a:p>
        </p:txBody>
      </p:sp>
      <p:sp>
        <p:nvSpPr>
          <p:cNvPr id="4" name="Shape 2"/>
          <p:cNvSpPr/>
          <p:nvPr/>
        </p:nvSpPr>
        <p:spPr>
          <a:xfrm>
            <a:off x="457200" y="1280160"/>
            <a:ext cx="8229600" cy="1097280"/>
          </a:xfrm>
          <a:prstGeom prst="rect">
            <a:avLst/>
          </a:prstGeom>
          <a:solidFill>
            <a:srgbClr val="1E293B"/>
          </a:solidFill>
          <a:ln/>
        </p:spPr>
        <p:txBody>
          <a:bodyPr/>
          <a:lstStyle/>
          <a:p>
            <a:endParaRPr lang="en-US"/>
          </a:p>
        </p:txBody>
      </p:sp>
      <p:sp>
        <p:nvSpPr>
          <p:cNvPr id="5" name="Text 3"/>
          <p:cNvSpPr/>
          <p:nvPr/>
        </p:nvSpPr>
        <p:spPr>
          <a:xfrm>
            <a:off x="640080" y="1371600"/>
            <a:ext cx="7863840" cy="91440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category, product_name, price,</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RANK() OVER (PARTITION BY category ORDER BY price DESC)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AS rank_in_category</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products;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5943600" cy="1371600"/>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1336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category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rank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Electronics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Electronics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Smartphone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Clothing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Sneakers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Clothing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Winter Jacket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Home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Coffee Maker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6583680" y="2834640"/>
            <a:ext cx="2103120" cy="54864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Rank restarts at 1</a:t>
            </a:r>
            <a:endParaRPr lang="en-US" sz="1100" dirty="0"/>
          </a:p>
          <a:p>
            <a:pPr marL="0" indent="0">
              <a:buNone/>
            </a:pPr>
            <a:r>
              <a:rPr lang="en-US" sz="1100" dirty="0">
                <a:solidFill>
                  <a:srgbClr val="059669"/>
                </a:solidFill>
                <a:latin typeface="Calibri" pitchFamily="34" charset="0"/>
                <a:ea typeface="Calibri" pitchFamily="34" charset="-122"/>
                <a:cs typeface="Calibri" pitchFamily="34" charset="-120"/>
              </a:rPr>
              <a:t>for each category!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CTEs: Common Table Expressions</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Create a temporary named result set</a:t>
            </a:r>
            <a:endParaRPr lang="en-US" sz="1400" dirty="0"/>
          </a:p>
        </p:txBody>
      </p:sp>
      <p:sp>
        <p:nvSpPr>
          <p:cNvPr id="4" name="Shape 2"/>
          <p:cNvSpPr/>
          <p:nvPr/>
        </p:nvSpPr>
        <p:spPr>
          <a:xfrm>
            <a:off x="457200" y="1280160"/>
            <a:ext cx="8229600" cy="2011680"/>
          </a:xfrm>
          <a:prstGeom prst="rect">
            <a:avLst/>
          </a:prstGeom>
          <a:solidFill>
            <a:srgbClr val="1E293B"/>
          </a:solidFill>
          <a:ln/>
        </p:spPr>
        <p:txBody>
          <a:bodyPr/>
          <a:lstStyle/>
          <a:p>
            <a:endParaRPr lang="en-US"/>
          </a:p>
        </p:txBody>
      </p:sp>
      <p:sp>
        <p:nvSpPr>
          <p:cNvPr id="5" name="Text 3"/>
          <p:cNvSpPr/>
          <p:nvPr/>
        </p:nvSpPr>
        <p:spPr>
          <a:xfrm>
            <a:off x="640080" y="1371600"/>
            <a:ext cx="7863840" cy="1828800"/>
          </a:xfrm>
          <a:prstGeom prst="rect">
            <a:avLst/>
          </a:prstGeom>
          <a:noFill/>
          <a:ln/>
        </p:spPr>
        <p:txBody>
          <a:bodyPr wrap="square"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WITH customer_totals AS (</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SELECT </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c.customer_id, c.name, c.city,</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SUM(oi.quantity * oi.unit_price) AS total_spent</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FROM customers c</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JOIN orders o ON c.customer_id = o.customer_id</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JOIN order_items oi ON o.order_id = oi.order_id</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GROUP BY c.customer_id, c.name, c.city</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SELECT name, city, total_spent</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FROM customer_totals</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WHERE total_spent &gt; 50000</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ORDER BY total_spent DESC;</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0" y="3429000"/>
          <a:ext cx="4114800" cy="929640"/>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1717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city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total_spent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1717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Jeevan Bhandari</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Kathmandu</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130,000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717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Ram Sharma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Kathmandu</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140,000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717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Hari Gurung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Kathmandu</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95,000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Types of Indexes</a:t>
            </a:r>
            <a:endParaRPr lang="en-US" sz="3600" dirty="0"/>
          </a:p>
        </p:txBody>
      </p:sp>
      <p:sp>
        <p:nvSpPr>
          <p:cNvPr id="3" name="Text 1"/>
          <p:cNvSpPr/>
          <p:nvPr/>
        </p:nvSpPr>
        <p:spPr>
          <a:xfrm>
            <a:off x="457200" y="713232"/>
            <a:ext cx="8229600" cy="237744"/>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An index is like a book's index — lets PostgreSQL find rows instantly without scanning every row</a:t>
            </a:r>
            <a:endParaRPr lang="en-US" sz="1300" dirty="0"/>
          </a:p>
        </p:txBody>
      </p:sp>
      <p:sp>
        <p:nvSpPr>
          <p:cNvPr id="4" name="Shape 2"/>
          <p:cNvSpPr/>
          <p:nvPr/>
        </p:nvSpPr>
        <p:spPr>
          <a:xfrm>
            <a:off x="457200" y="1005840"/>
            <a:ext cx="2029968" cy="2304288"/>
          </a:xfrm>
          <a:prstGeom prst="rect">
            <a:avLst/>
          </a:prstGeom>
          <a:solidFill>
            <a:srgbClr val="F8FAFC"/>
          </a:solidFill>
          <a:ln w="12700">
            <a:solidFill>
              <a:srgbClr val="059669">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457200" y="1005840"/>
            <a:ext cx="2029968" cy="274320"/>
          </a:xfrm>
          <a:prstGeom prst="rect">
            <a:avLst/>
          </a:prstGeom>
          <a:solidFill>
            <a:srgbClr val="059669"/>
          </a:solidFill>
          <a:ln w="12700">
            <a:solidFill>
              <a:srgbClr val="059669"/>
            </a:solidFill>
            <a:prstDash val="solid"/>
          </a:ln>
        </p:spPr>
        <p:txBody>
          <a:bodyPr/>
          <a:lstStyle/>
          <a:p>
            <a:endParaRPr lang="en-US"/>
          </a:p>
        </p:txBody>
      </p:sp>
      <p:sp>
        <p:nvSpPr>
          <p:cNvPr id="6" name="Shape 4"/>
          <p:cNvSpPr/>
          <p:nvPr/>
        </p:nvSpPr>
        <p:spPr>
          <a:xfrm>
            <a:off x="548640" y="1042416"/>
            <a:ext cx="658368" cy="201168"/>
          </a:xfrm>
          <a:prstGeom prst="rect">
            <a:avLst/>
          </a:prstGeom>
          <a:solidFill>
            <a:srgbClr val="FFFFFF">
              <a:alpha val="20000"/>
            </a:srgbClr>
          </a:solidFill>
          <a:ln w="12700">
            <a:solidFill>
              <a:srgbClr val="FFFFFF">
                <a:alpha val="26000"/>
              </a:srgbClr>
            </a:solidFill>
            <a:prstDash val="solid"/>
          </a:ln>
        </p:spPr>
        <p:txBody>
          <a:bodyPr/>
          <a:lstStyle/>
          <a:p>
            <a:endParaRPr lang="en-US"/>
          </a:p>
        </p:txBody>
      </p:sp>
      <p:sp>
        <p:nvSpPr>
          <p:cNvPr id="7" name="Text 5"/>
          <p:cNvSpPr/>
          <p:nvPr/>
        </p:nvSpPr>
        <p:spPr>
          <a:xfrm>
            <a:off x="548640" y="1042416"/>
            <a:ext cx="658368"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DEFAULT</a:t>
            </a:r>
            <a:endParaRPr lang="en-US" sz="650" dirty="0"/>
          </a:p>
        </p:txBody>
      </p:sp>
      <p:sp>
        <p:nvSpPr>
          <p:cNvPr id="8" name="Text 6"/>
          <p:cNvSpPr/>
          <p:nvPr/>
        </p:nvSpPr>
        <p:spPr>
          <a:xfrm>
            <a:off x="1261872" y="1060704"/>
            <a:ext cx="1152144" cy="1828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B-Tree Index</a:t>
            </a:r>
            <a:endParaRPr lang="en-US" sz="1050" dirty="0"/>
          </a:p>
        </p:txBody>
      </p:sp>
      <p:sp>
        <p:nvSpPr>
          <p:cNvPr id="9" name="Text 7"/>
          <p:cNvSpPr/>
          <p:nvPr/>
        </p:nvSpPr>
        <p:spPr>
          <a:xfrm>
            <a:off x="548640" y="1353312"/>
            <a:ext cx="1865376" cy="164592"/>
          </a:xfrm>
          <a:prstGeom prst="rect">
            <a:avLst/>
          </a:prstGeom>
          <a:noFill/>
          <a:ln/>
        </p:spPr>
        <p:txBody>
          <a:bodyPr wrap="square" lIns="0" tIns="0" rIns="0" bIns="0" rtlCol="0" anchor="ctr"/>
          <a:lstStyle/>
          <a:p>
            <a:pPr marL="0" indent="0">
              <a:buNone/>
            </a:pPr>
            <a:r>
              <a:rPr lang="en-US" sz="800" b="1" dirty="0">
                <a:solidFill>
                  <a:srgbClr val="059669"/>
                </a:solidFill>
                <a:latin typeface="Calibri" pitchFamily="34" charset="0"/>
                <a:ea typeface="Calibri" pitchFamily="34" charset="-122"/>
                <a:cs typeface="Calibri" pitchFamily="34" charset="-120"/>
              </a:rPr>
              <a:t>What it does:</a:t>
            </a:r>
            <a:endParaRPr lang="en-US" sz="800" dirty="0"/>
          </a:p>
        </p:txBody>
      </p:sp>
      <p:sp>
        <p:nvSpPr>
          <p:cNvPr id="10" name="Text 8"/>
          <p:cNvSpPr/>
          <p:nvPr/>
        </p:nvSpPr>
        <p:spPr>
          <a:xfrm>
            <a:off x="548640" y="1517904"/>
            <a:ext cx="1865376" cy="402336"/>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The most common. Works for =, &lt;, &gt;, BETWEEN, LIKE 'abc%'. PostgreSQL uses this by default.</a:t>
            </a:r>
            <a:endParaRPr lang="en-US" sz="850" dirty="0"/>
          </a:p>
        </p:txBody>
      </p:sp>
      <p:sp>
        <p:nvSpPr>
          <p:cNvPr id="11" name="Text 9"/>
          <p:cNvSpPr/>
          <p:nvPr/>
        </p:nvSpPr>
        <p:spPr>
          <a:xfrm>
            <a:off x="548640" y="1956816"/>
            <a:ext cx="1865376" cy="164592"/>
          </a:xfrm>
          <a:prstGeom prst="rect">
            <a:avLst/>
          </a:prstGeom>
          <a:noFill/>
          <a:ln/>
        </p:spPr>
        <p:txBody>
          <a:bodyPr wrap="square" lIns="0" tIns="0" rIns="0" bIns="0" rtlCol="0" anchor="ctr"/>
          <a:lstStyle/>
          <a:p>
            <a:pPr marL="0" indent="0">
              <a:buNone/>
            </a:pPr>
            <a:r>
              <a:rPr lang="en-US" sz="800" b="1" dirty="0">
                <a:solidFill>
                  <a:srgbClr val="059669"/>
                </a:solidFill>
                <a:latin typeface="Calibri" pitchFamily="34" charset="0"/>
                <a:ea typeface="Calibri" pitchFamily="34" charset="-122"/>
                <a:cs typeface="Calibri" pitchFamily="34" charset="-120"/>
              </a:rPr>
              <a:t>Use when:</a:t>
            </a:r>
            <a:endParaRPr lang="en-US" sz="800" dirty="0"/>
          </a:p>
        </p:txBody>
      </p:sp>
      <p:sp>
        <p:nvSpPr>
          <p:cNvPr id="12" name="Text 10"/>
          <p:cNvSpPr/>
          <p:nvPr/>
        </p:nvSpPr>
        <p:spPr>
          <a:xfrm>
            <a:off x="548640" y="2121408"/>
            <a:ext cx="1865376" cy="29260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Any column used in WHERE, JOIN, ORDER BY.</a:t>
            </a:r>
            <a:endParaRPr lang="en-US" sz="850" dirty="0"/>
          </a:p>
        </p:txBody>
      </p:sp>
      <p:sp>
        <p:nvSpPr>
          <p:cNvPr id="13" name="Shape 11"/>
          <p:cNvSpPr/>
          <p:nvPr/>
        </p:nvSpPr>
        <p:spPr>
          <a:xfrm>
            <a:off x="548640" y="2670048"/>
            <a:ext cx="1865376" cy="566928"/>
          </a:xfrm>
          <a:prstGeom prst="rect">
            <a:avLst/>
          </a:prstGeom>
          <a:solidFill>
            <a:srgbClr val="1E293B"/>
          </a:solidFill>
          <a:ln w="12700">
            <a:solidFill>
              <a:srgbClr val="1E293B"/>
            </a:solidFill>
            <a:prstDash val="solid"/>
          </a:ln>
        </p:spPr>
        <p:txBody>
          <a:bodyPr/>
          <a:lstStyle/>
          <a:p>
            <a:endParaRPr lang="en-US"/>
          </a:p>
        </p:txBody>
      </p:sp>
      <p:sp>
        <p:nvSpPr>
          <p:cNvPr id="14" name="Text 12"/>
          <p:cNvSpPr/>
          <p:nvPr/>
        </p:nvSpPr>
        <p:spPr>
          <a:xfrm>
            <a:off x="621792" y="270662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CREATE INDEX idx_city</a:t>
            </a:r>
            <a:endParaRPr lang="en-US" sz="800" dirty="0"/>
          </a:p>
        </p:txBody>
      </p:sp>
      <p:sp>
        <p:nvSpPr>
          <p:cNvPr id="15" name="Text 13"/>
          <p:cNvSpPr/>
          <p:nvPr/>
        </p:nvSpPr>
        <p:spPr>
          <a:xfrm>
            <a:off x="621792" y="288950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customers (city);</a:t>
            </a:r>
            <a:endParaRPr lang="en-US" sz="800" dirty="0"/>
          </a:p>
        </p:txBody>
      </p:sp>
      <p:sp>
        <p:nvSpPr>
          <p:cNvPr id="16" name="Shape 14"/>
          <p:cNvSpPr/>
          <p:nvPr/>
        </p:nvSpPr>
        <p:spPr>
          <a:xfrm>
            <a:off x="2633472" y="1005840"/>
            <a:ext cx="2029968" cy="2304288"/>
          </a:xfrm>
          <a:prstGeom prst="rect">
            <a:avLst/>
          </a:prstGeom>
          <a:solidFill>
            <a:srgbClr val="F8FAFC"/>
          </a:solidFill>
          <a:ln w="12700">
            <a:solidFill>
              <a:srgbClr val="2563EB">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17" name="Shape 15"/>
          <p:cNvSpPr/>
          <p:nvPr/>
        </p:nvSpPr>
        <p:spPr>
          <a:xfrm>
            <a:off x="2633472" y="1005840"/>
            <a:ext cx="2029968" cy="274320"/>
          </a:xfrm>
          <a:prstGeom prst="rect">
            <a:avLst/>
          </a:prstGeom>
          <a:solidFill>
            <a:srgbClr val="2563EB"/>
          </a:solidFill>
          <a:ln w="12700">
            <a:solidFill>
              <a:srgbClr val="2563EB"/>
            </a:solidFill>
            <a:prstDash val="solid"/>
          </a:ln>
        </p:spPr>
        <p:txBody>
          <a:bodyPr/>
          <a:lstStyle/>
          <a:p>
            <a:endParaRPr lang="en-US"/>
          </a:p>
        </p:txBody>
      </p:sp>
      <p:sp>
        <p:nvSpPr>
          <p:cNvPr id="18" name="Shape 16"/>
          <p:cNvSpPr/>
          <p:nvPr/>
        </p:nvSpPr>
        <p:spPr>
          <a:xfrm>
            <a:off x="2724912" y="1042416"/>
            <a:ext cx="658368" cy="201168"/>
          </a:xfrm>
          <a:prstGeom prst="rect">
            <a:avLst/>
          </a:prstGeom>
          <a:solidFill>
            <a:srgbClr val="FFFFFF">
              <a:alpha val="20000"/>
            </a:srgbClr>
          </a:solidFill>
          <a:ln w="12700">
            <a:solidFill>
              <a:srgbClr val="FFFFFF">
                <a:alpha val="26000"/>
              </a:srgbClr>
            </a:solidFill>
            <a:prstDash val="solid"/>
          </a:ln>
        </p:spPr>
        <p:txBody>
          <a:bodyPr/>
          <a:lstStyle/>
          <a:p>
            <a:endParaRPr lang="en-US"/>
          </a:p>
        </p:txBody>
      </p:sp>
      <p:sp>
        <p:nvSpPr>
          <p:cNvPr id="19" name="Text 17"/>
          <p:cNvSpPr/>
          <p:nvPr/>
        </p:nvSpPr>
        <p:spPr>
          <a:xfrm>
            <a:off x="2724912" y="1042416"/>
            <a:ext cx="658368"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EQUALITY</a:t>
            </a:r>
            <a:endParaRPr lang="en-US" sz="650" dirty="0"/>
          </a:p>
        </p:txBody>
      </p:sp>
      <p:sp>
        <p:nvSpPr>
          <p:cNvPr id="20" name="Text 18"/>
          <p:cNvSpPr/>
          <p:nvPr/>
        </p:nvSpPr>
        <p:spPr>
          <a:xfrm>
            <a:off x="3438144" y="1060704"/>
            <a:ext cx="1152144" cy="1828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Hash Index</a:t>
            </a:r>
            <a:endParaRPr lang="en-US" sz="1050" dirty="0"/>
          </a:p>
        </p:txBody>
      </p:sp>
      <p:sp>
        <p:nvSpPr>
          <p:cNvPr id="21" name="Text 19"/>
          <p:cNvSpPr/>
          <p:nvPr/>
        </p:nvSpPr>
        <p:spPr>
          <a:xfrm>
            <a:off x="2724912" y="1353312"/>
            <a:ext cx="1865376" cy="164592"/>
          </a:xfrm>
          <a:prstGeom prst="rect">
            <a:avLst/>
          </a:prstGeom>
          <a:noFill/>
          <a:ln/>
        </p:spPr>
        <p:txBody>
          <a:bodyPr wrap="square" lIns="0" tIns="0" rIns="0" bIns="0" rtlCol="0" anchor="ctr"/>
          <a:lstStyle/>
          <a:p>
            <a:pPr marL="0" indent="0">
              <a:buNone/>
            </a:pPr>
            <a:r>
              <a:rPr lang="en-US" sz="800" b="1" dirty="0">
                <a:solidFill>
                  <a:srgbClr val="2563EB"/>
                </a:solidFill>
                <a:latin typeface="Calibri" pitchFamily="34" charset="0"/>
                <a:ea typeface="Calibri" pitchFamily="34" charset="-122"/>
                <a:cs typeface="Calibri" pitchFamily="34" charset="-120"/>
              </a:rPr>
              <a:t>What it does:</a:t>
            </a:r>
            <a:endParaRPr lang="en-US" sz="800" dirty="0"/>
          </a:p>
        </p:txBody>
      </p:sp>
      <p:sp>
        <p:nvSpPr>
          <p:cNvPr id="22" name="Text 20"/>
          <p:cNvSpPr/>
          <p:nvPr/>
        </p:nvSpPr>
        <p:spPr>
          <a:xfrm>
            <a:off x="2724912" y="1517904"/>
            <a:ext cx="1865376" cy="402336"/>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Only works for = (exact match). Faster than B-Tree for pure equality checks.</a:t>
            </a:r>
            <a:endParaRPr lang="en-US" sz="850" dirty="0"/>
          </a:p>
        </p:txBody>
      </p:sp>
      <p:sp>
        <p:nvSpPr>
          <p:cNvPr id="23" name="Text 21"/>
          <p:cNvSpPr/>
          <p:nvPr/>
        </p:nvSpPr>
        <p:spPr>
          <a:xfrm>
            <a:off x="2724912" y="1956816"/>
            <a:ext cx="1865376" cy="164592"/>
          </a:xfrm>
          <a:prstGeom prst="rect">
            <a:avLst/>
          </a:prstGeom>
          <a:noFill/>
          <a:ln/>
        </p:spPr>
        <p:txBody>
          <a:bodyPr wrap="square" lIns="0" tIns="0" rIns="0" bIns="0" rtlCol="0" anchor="ctr"/>
          <a:lstStyle/>
          <a:p>
            <a:pPr marL="0" indent="0">
              <a:buNone/>
            </a:pPr>
            <a:r>
              <a:rPr lang="en-US" sz="800" b="1" dirty="0">
                <a:solidFill>
                  <a:srgbClr val="2563EB"/>
                </a:solidFill>
                <a:latin typeface="Calibri" pitchFamily="34" charset="0"/>
                <a:ea typeface="Calibri" pitchFamily="34" charset="-122"/>
                <a:cs typeface="Calibri" pitchFamily="34" charset="-120"/>
              </a:rPr>
              <a:t>Use when:</a:t>
            </a:r>
            <a:endParaRPr lang="en-US" sz="800" dirty="0"/>
          </a:p>
        </p:txBody>
      </p:sp>
      <p:sp>
        <p:nvSpPr>
          <p:cNvPr id="24" name="Text 22"/>
          <p:cNvSpPr/>
          <p:nvPr/>
        </p:nvSpPr>
        <p:spPr>
          <a:xfrm>
            <a:off x="2724912" y="2121408"/>
            <a:ext cx="1865376" cy="29260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Only when you always filter by exact value — never ranges.</a:t>
            </a:r>
            <a:endParaRPr lang="en-US" sz="850" dirty="0"/>
          </a:p>
        </p:txBody>
      </p:sp>
      <p:sp>
        <p:nvSpPr>
          <p:cNvPr id="25" name="Shape 23"/>
          <p:cNvSpPr/>
          <p:nvPr/>
        </p:nvSpPr>
        <p:spPr>
          <a:xfrm>
            <a:off x="2724912" y="2670048"/>
            <a:ext cx="1865376" cy="566928"/>
          </a:xfrm>
          <a:prstGeom prst="rect">
            <a:avLst/>
          </a:prstGeom>
          <a:solidFill>
            <a:srgbClr val="1E293B"/>
          </a:solidFill>
          <a:ln w="12700">
            <a:solidFill>
              <a:srgbClr val="1E293B"/>
            </a:solidFill>
            <a:prstDash val="solid"/>
          </a:ln>
        </p:spPr>
        <p:txBody>
          <a:bodyPr/>
          <a:lstStyle/>
          <a:p>
            <a:endParaRPr lang="en-US"/>
          </a:p>
        </p:txBody>
      </p:sp>
      <p:sp>
        <p:nvSpPr>
          <p:cNvPr id="26" name="Text 24"/>
          <p:cNvSpPr/>
          <p:nvPr/>
        </p:nvSpPr>
        <p:spPr>
          <a:xfrm>
            <a:off x="2798064" y="270662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CREATE INDEX idx_email</a:t>
            </a:r>
            <a:endParaRPr lang="en-US" sz="800" dirty="0"/>
          </a:p>
        </p:txBody>
      </p:sp>
      <p:sp>
        <p:nvSpPr>
          <p:cNvPr id="27" name="Text 25"/>
          <p:cNvSpPr/>
          <p:nvPr/>
        </p:nvSpPr>
        <p:spPr>
          <a:xfrm>
            <a:off x="2798064" y="288950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customers</a:t>
            </a:r>
            <a:endParaRPr lang="en-US" sz="800" dirty="0"/>
          </a:p>
        </p:txBody>
      </p:sp>
      <p:sp>
        <p:nvSpPr>
          <p:cNvPr id="28" name="Text 26"/>
          <p:cNvSpPr/>
          <p:nvPr/>
        </p:nvSpPr>
        <p:spPr>
          <a:xfrm>
            <a:off x="2798064" y="307238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USING HASH (email);</a:t>
            </a:r>
            <a:endParaRPr lang="en-US" sz="800" dirty="0"/>
          </a:p>
        </p:txBody>
      </p:sp>
      <p:sp>
        <p:nvSpPr>
          <p:cNvPr id="29" name="Shape 27"/>
          <p:cNvSpPr/>
          <p:nvPr/>
        </p:nvSpPr>
        <p:spPr>
          <a:xfrm>
            <a:off x="4809744" y="1005840"/>
            <a:ext cx="2029968" cy="2304288"/>
          </a:xfrm>
          <a:prstGeom prst="rect">
            <a:avLst/>
          </a:prstGeom>
          <a:solidFill>
            <a:srgbClr val="F8FAFC"/>
          </a:solidFill>
          <a:ln w="12700">
            <a:solidFill>
              <a:srgbClr val="7C3AED">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30" name="Shape 28"/>
          <p:cNvSpPr/>
          <p:nvPr/>
        </p:nvSpPr>
        <p:spPr>
          <a:xfrm>
            <a:off x="4809744" y="1005840"/>
            <a:ext cx="2029968" cy="274320"/>
          </a:xfrm>
          <a:prstGeom prst="rect">
            <a:avLst/>
          </a:prstGeom>
          <a:solidFill>
            <a:srgbClr val="7C3AED"/>
          </a:solidFill>
          <a:ln w="12700">
            <a:solidFill>
              <a:srgbClr val="7C3AED"/>
            </a:solidFill>
            <a:prstDash val="solid"/>
          </a:ln>
        </p:spPr>
        <p:txBody>
          <a:bodyPr/>
          <a:lstStyle/>
          <a:p>
            <a:endParaRPr lang="en-US"/>
          </a:p>
        </p:txBody>
      </p:sp>
      <p:sp>
        <p:nvSpPr>
          <p:cNvPr id="31" name="Shape 29"/>
          <p:cNvSpPr/>
          <p:nvPr/>
        </p:nvSpPr>
        <p:spPr>
          <a:xfrm>
            <a:off x="4901184" y="1042416"/>
            <a:ext cx="658368" cy="201168"/>
          </a:xfrm>
          <a:prstGeom prst="rect">
            <a:avLst/>
          </a:prstGeom>
          <a:solidFill>
            <a:srgbClr val="FFFFFF">
              <a:alpha val="20000"/>
            </a:srgbClr>
          </a:solidFill>
          <a:ln w="12700">
            <a:solidFill>
              <a:srgbClr val="FFFFFF">
                <a:alpha val="26000"/>
              </a:srgbClr>
            </a:solidFill>
            <a:prstDash val="solid"/>
          </a:ln>
        </p:spPr>
        <p:txBody>
          <a:bodyPr/>
          <a:lstStyle/>
          <a:p>
            <a:endParaRPr lang="en-US"/>
          </a:p>
        </p:txBody>
      </p:sp>
      <p:sp>
        <p:nvSpPr>
          <p:cNvPr id="32" name="Text 30"/>
          <p:cNvSpPr/>
          <p:nvPr/>
        </p:nvSpPr>
        <p:spPr>
          <a:xfrm>
            <a:off x="4901184" y="1042416"/>
            <a:ext cx="658368"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MULTI-COL</a:t>
            </a:r>
            <a:endParaRPr lang="en-US" sz="650" dirty="0"/>
          </a:p>
        </p:txBody>
      </p:sp>
      <p:sp>
        <p:nvSpPr>
          <p:cNvPr id="33" name="Text 31"/>
          <p:cNvSpPr/>
          <p:nvPr/>
        </p:nvSpPr>
        <p:spPr>
          <a:xfrm>
            <a:off x="5614416" y="1060704"/>
            <a:ext cx="1152144" cy="1828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Composite Index</a:t>
            </a:r>
            <a:endParaRPr lang="en-US" sz="1050" dirty="0"/>
          </a:p>
        </p:txBody>
      </p:sp>
      <p:sp>
        <p:nvSpPr>
          <p:cNvPr id="34" name="Text 32"/>
          <p:cNvSpPr/>
          <p:nvPr/>
        </p:nvSpPr>
        <p:spPr>
          <a:xfrm>
            <a:off x="4901184" y="1353312"/>
            <a:ext cx="1865376" cy="164592"/>
          </a:xfrm>
          <a:prstGeom prst="rect">
            <a:avLst/>
          </a:prstGeom>
          <a:noFill/>
          <a:ln/>
        </p:spPr>
        <p:txBody>
          <a:bodyPr wrap="square" lIns="0" tIns="0" rIns="0" bIns="0" rtlCol="0" anchor="ctr"/>
          <a:lstStyle/>
          <a:p>
            <a:pPr marL="0" indent="0">
              <a:buNone/>
            </a:pPr>
            <a:r>
              <a:rPr lang="en-US" sz="800" b="1" dirty="0">
                <a:solidFill>
                  <a:srgbClr val="7C3AED"/>
                </a:solidFill>
                <a:latin typeface="Calibri" pitchFamily="34" charset="0"/>
                <a:ea typeface="Calibri" pitchFamily="34" charset="-122"/>
                <a:cs typeface="Calibri" pitchFamily="34" charset="-120"/>
              </a:rPr>
              <a:t>What it does:</a:t>
            </a:r>
            <a:endParaRPr lang="en-US" sz="800" dirty="0"/>
          </a:p>
        </p:txBody>
      </p:sp>
      <p:sp>
        <p:nvSpPr>
          <p:cNvPr id="35" name="Text 33"/>
          <p:cNvSpPr/>
          <p:nvPr/>
        </p:nvSpPr>
        <p:spPr>
          <a:xfrm>
            <a:off x="4901184" y="1517904"/>
            <a:ext cx="1865376" cy="402336"/>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Index on TWO OR MORE columns together. Column order matters — left-most column first.</a:t>
            </a:r>
            <a:endParaRPr lang="en-US" sz="850" dirty="0"/>
          </a:p>
        </p:txBody>
      </p:sp>
      <p:sp>
        <p:nvSpPr>
          <p:cNvPr id="36" name="Text 34"/>
          <p:cNvSpPr/>
          <p:nvPr/>
        </p:nvSpPr>
        <p:spPr>
          <a:xfrm>
            <a:off x="4901184" y="1956816"/>
            <a:ext cx="1865376" cy="164592"/>
          </a:xfrm>
          <a:prstGeom prst="rect">
            <a:avLst/>
          </a:prstGeom>
          <a:noFill/>
          <a:ln/>
        </p:spPr>
        <p:txBody>
          <a:bodyPr wrap="square" lIns="0" tIns="0" rIns="0" bIns="0" rtlCol="0" anchor="ctr"/>
          <a:lstStyle/>
          <a:p>
            <a:pPr marL="0" indent="0">
              <a:buNone/>
            </a:pPr>
            <a:r>
              <a:rPr lang="en-US" sz="800" b="1" dirty="0">
                <a:solidFill>
                  <a:srgbClr val="7C3AED"/>
                </a:solidFill>
                <a:latin typeface="Calibri" pitchFamily="34" charset="0"/>
                <a:ea typeface="Calibri" pitchFamily="34" charset="-122"/>
                <a:cs typeface="Calibri" pitchFamily="34" charset="-120"/>
              </a:rPr>
              <a:t>Use when:</a:t>
            </a:r>
            <a:endParaRPr lang="en-US" sz="800" dirty="0"/>
          </a:p>
        </p:txBody>
      </p:sp>
      <p:sp>
        <p:nvSpPr>
          <p:cNvPr id="37" name="Text 35"/>
          <p:cNvSpPr/>
          <p:nvPr/>
        </p:nvSpPr>
        <p:spPr>
          <a:xfrm>
            <a:off x="4901184" y="2121408"/>
            <a:ext cx="1865376" cy="29260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Queries that filter by multiple columns at once.</a:t>
            </a:r>
            <a:endParaRPr lang="en-US" sz="850" dirty="0"/>
          </a:p>
        </p:txBody>
      </p:sp>
      <p:sp>
        <p:nvSpPr>
          <p:cNvPr id="38" name="Shape 36"/>
          <p:cNvSpPr/>
          <p:nvPr/>
        </p:nvSpPr>
        <p:spPr>
          <a:xfrm>
            <a:off x="4901184" y="2670048"/>
            <a:ext cx="1865376" cy="566928"/>
          </a:xfrm>
          <a:prstGeom prst="rect">
            <a:avLst/>
          </a:prstGeom>
          <a:solidFill>
            <a:srgbClr val="1E293B"/>
          </a:solidFill>
          <a:ln w="12700">
            <a:solidFill>
              <a:srgbClr val="1E293B"/>
            </a:solidFill>
            <a:prstDash val="solid"/>
          </a:ln>
        </p:spPr>
        <p:txBody>
          <a:bodyPr/>
          <a:lstStyle/>
          <a:p>
            <a:endParaRPr lang="en-US"/>
          </a:p>
        </p:txBody>
      </p:sp>
      <p:sp>
        <p:nvSpPr>
          <p:cNvPr id="39" name="Text 37"/>
          <p:cNvSpPr/>
          <p:nvPr/>
        </p:nvSpPr>
        <p:spPr>
          <a:xfrm>
            <a:off x="4974336" y="270662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CREATE INDEX idx_city_date</a:t>
            </a:r>
            <a:endParaRPr lang="en-US" sz="800" dirty="0"/>
          </a:p>
        </p:txBody>
      </p:sp>
      <p:sp>
        <p:nvSpPr>
          <p:cNvPr id="40" name="Text 38"/>
          <p:cNvSpPr/>
          <p:nvPr/>
        </p:nvSpPr>
        <p:spPr>
          <a:xfrm>
            <a:off x="4974336" y="288950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orders (city, order_date);</a:t>
            </a:r>
            <a:endParaRPr lang="en-US" sz="800" dirty="0"/>
          </a:p>
        </p:txBody>
      </p:sp>
      <p:sp>
        <p:nvSpPr>
          <p:cNvPr id="41" name="Shape 39"/>
          <p:cNvSpPr/>
          <p:nvPr/>
        </p:nvSpPr>
        <p:spPr>
          <a:xfrm>
            <a:off x="6986016" y="1005840"/>
            <a:ext cx="2029968" cy="2304288"/>
          </a:xfrm>
          <a:prstGeom prst="rect">
            <a:avLst/>
          </a:prstGeom>
          <a:solidFill>
            <a:srgbClr val="F8FAFC"/>
          </a:solidFill>
          <a:ln w="12700">
            <a:solidFill>
              <a:srgbClr val="EA580C">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42" name="Shape 40"/>
          <p:cNvSpPr/>
          <p:nvPr/>
        </p:nvSpPr>
        <p:spPr>
          <a:xfrm>
            <a:off x="6986016" y="1005840"/>
            <a:ext cx="2029968" cy="274320"/>
          </a:xfrm>
          <a:prstGeom prst="rect">
            <a:avLst/>
          </a:prstGeom>
          <a:solidFill>
            <a:srgbClr val="EA580C"/>
          </a:solidFill>
          <a:ln w="12700">
            <a:solidFill>
              <a:srgbClr val="EA580C"/>
            </a:solidFill>
            <a:prstDash val="solid"/>
          </a:ln>
        </p:spPr>
        <p:txBody>
          <a:bodyPr/>
          <a:lstStyle/>
          <a:p>
            <a:endParaRPr lang="en-US"/>
          </a:p>
        </p:txBody>
      </p:sp>
      <p:sp>
        <p:nvSpPr>
          <p:cNvPr id="43" name="Shape 41"/>
          <p:cNvSpPr/>
          <p:nvPr/>
        </p:nvSpPr>
        <p:spPr>
          <a:xfrm>
            <a:off x="7077456" y="1042416"/>
            <a:ext cx="658368" cy="201168"/>
          </a:xfrm>
          <a:prstGeom prst="rect">
            <a:avLst/>
          </a:prstGeom>
          <a:solidFill>
            <a:srgbClr val="FFFFFF">
              <a:alpha val="20000"/>
            </a:srgbClr>
          </a:solidFill>
          <a:ln w="12700">
            <a:solidFill>
              <a:srgbClr val="FFFFFF">
                <a:alpha val="26000"/>
              </a:srgbClr>
            </a:solidFill>
            <a:prstDash val="solid"/>
          </a:ln>
        </p:spPr>
        <p:txBody>
          <a:bodyPr/>
          <a:lstStyle/>
          <a:p>
            <a:endParaRPr lang="en-US"/>
          </a:p>
        </p:txBody>
      </p:sp>
      <p:sp>
        <p:nvSpPr>
          <p:cNvPr id="44" name="Text 42"/>
          <p:cNvSpPr/>
          <p:nvPr/>
        </p:nvSpPr>
        <p:spPr>
          <a:xfrm>
            <a:off x="7077456" y="1042416"/>
            <a:ext cx="658368"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FILTERED</a:t>
            </a:r>
            <a:endParaRPr lang="en-US" sz="650" dirty="0"/>
          </a:p>
        </p:txBody>
      </p:sp>
      <p:sp>
        <p:nvSpPr>
          <p:cNvPr id="45" name="Text 43"/>
          <p:cNvSpPr/>
          <p:nvPr/>
        </p:nvSpPr>
        <p:spPr>
          <a:xfrm>
            <a:off x="7790688" y="1060704"/>
            <a:ext cx="1152144" cy="1828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Partial Index</a:t>
            </a:r>
            <a:endParaRPr lang="en-US" sz="1050" dirty="0"/>
          </a:p>
        </p:txBody>
      </p:sp>
      <p:sp>
        <p:nvSpPr>
          <p:cNvPr id="46" name="Text 44"/>
          <p:cNvSpPr/>
          <p:nvPr/>
        </p:nvSpPr>
        <p:spPr>
          <a:xfrm>
            <a:off x="7077456" y="1353312"/>
            <a:ext cx="1865376" cy="164592"/>
          </a:xfrm>
          <a:prstGeom prst="rect">
            <a:avLst/>
          </a:prstGeom>
          <a:noFill/>
          <a:ln/>
        </p:spPr>
        <p:txBody>
          <a:bodyPr wrap="square" lIns="0" tIns="0" rIns="0" bIns="0" rtlCol="0" anchor="ctr"/>
          <a:lstStyle/>
          <a:p>
            <a:pPr marL="0" indent="0">
              <a:buNone/>
            </a:pPr>
            <a:r>
              <a:rPr lang="en-US" sz="800" b="1" dirty="0">
                <a:solidFill>
                  <a:srgbClr val="EA580C"/>
                </a:solidFill>
                <a:latin typeface="Calibri" pitchFamily="34" charset="0"/>
                <a:ea typeface="Calibri" pitchFamily="34" charset="-122"/>
                <a:cs typeface="Calibri" pitchFamily="34" charset="-120"/>
              </a:rPr>
              <a:t>What it does:</a:t>
            </a:r>
            <a:endParaRPr lang="en-US" sz="800" dirty="0"/>
          </a:p>
        </p:txBody>
      </p:sp>
      <p:sp>
        <p:nvSpPr>
          <p:cNvPr id="47" name="Text 45"/>
          <p:cNvSpPr/>
          <p:nvPr/>
        </p:nvSpPr>
        <p:spPr>
          <a:xfrm>
            <a:off x="7077456" y="1517904"/>
            <a:ext cx="1865376" cy="402336"/>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Index only a SUBSET of rows matching a condition. Smaller, faster than full index.</a:t>
            </a:r>
            <a:endParaRPr lang="en-US" sz="850" dirty="0"/>
          </a:p>
        </p:txBody>
      </p:sp>
      <p:sp>
        <p:nvSpPr>
          <p:cNvPr id="48" name="Text 46"/>
          <p:cNvSpPr/>
          <p:nvPr/>
        </p:nvSpPr>
        <p:spPr>
          <a:xfrm>
            <a:off x="7077456" y="1956816"/>
            <a:ext cx="1865376" cy="164592"/>
          </a:xfrm>
          <a:prstGeom prst="rect">
            <a:avLst/>
          </a:prstGeom>
          <a:noFill/>
          <a:ln/>
        </p:spPr>
        <p:txBody>
          <a:bodyPr wrap="square" lIns="0" tIns="0" rIns="0" bIns="0" rtlCol="0" anchor="ctr"/>
          <a:lstStyle/>
          <a:p>
            <a:pPr marL="0" indent="0">
              <a:buNone/>
            </a:pPr>
            <a:r>
              <a:rPr lang="en-US" sz="800" b="1" dirty="0">
                <a:solidFill>
                  <a:srgbClr val="EA580C"/>
                </a:solidFill>
                <a:latin typeface="Calibri" pitchFamily="34" charset="0"/>
                <a:ea typeface="Calibri" pitchFamily="34" charset="-122"/>
                <a:cs typeface="Calibri" pitchFamily="34" charset="-120"/>
              </a:rPr>
              <a:t>Use when:</a:t>
            </a:r>
            <a:endParaRPr lang="en-US" sz="800" dirty="0"/>
          </a:p>
        </p:txBody>
      </p:sp>
      <p:sp>
        <p:nvSpPr>
          <p:cNvPr id="49" name="Text 47"/>
          <p:cNvSpPr/>
          <p:nvPr/>
        </p:nvSpPr>
        <p:spPr>
          <a:xfrm>
            <a:off x="7077456" y="2121408"/>
            <a:ext cx="1865376" cy="29260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When you always filter by the same condition.</a:t>
            </a:r>
            <a:endParaRPr lang="en-US" sz="850" dirty="0"/>
          </a:p>
        </p:txBody>
      </p:sp>
      <p:sp>
        <p:nvSpPr>
          <p:cNvPr id="50" name="Shape 48"/>
          <p:cNvSpPr/>
          <p:nvPr/>
        </p:nvSpPr>
        <p:spPr>
          <a:xfrm>
            <a:off x="7077456" y="2670048"/>
            <a:ext cx="1865376" cy="566928"/>
          </a:xfrm>
          <a:prstGeom prst="rect">
            <a:avLst/>
          </a:prstGeom>
          <a:solidFill>
            <a:srgbClr val="1E293B"/>
          </a:solidFill>
          <a:ln w="12700">
            <a:solidFill>
              <a:srgbClr val="1E293B"/>
            </a:solidFill>
            <a:prstDash val="solid"/>
          </a:ln>
        </p:spPr>
        <p:txBody>
          <a:bodyPr/>
          <a:lstStyle/>
          <a:p>
            <a:endParaRPr lang="en-US"/>
          </a:p>
        </p:txBody>
      </p:sp>
      <p:sp>
        <p:nvSpPr>
          <p:cNvPr id="51" name="Text 49"/>
          <p:cNvSpPr/>
          <p:nvPr/>
        </p:nvSpPr>
        <p:spPr>
          <a:xfrm>
            <a:off x="7150608" y="270662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CREATE INDEX idx_pending</a:t>
            </a:r>
            <a:endParaRPr lang="en-US" sz="800" dirty="0"/>
          </a:p>
        </p:txBody>
      </p:sp>
      <p:sp>
        <p:nvSpPr>
          <p:cNvPr id="52" name="Text 50"/>
          <p:cNvSpPr/>
          <p:nvPr/>
        </p:nvSpPr>
        <p:spPr>
          <a:xfrm>
            <a:off x="7150608" y="288950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orders (order_date)</a:t>
            </a:r>
            <a:endParaRPr lang="en-US" sz="800" dirty="0"/>
          </a:p>
        </p:txBody>
      </p:sp>
      <p:sp>
        <p:nvSpPr>
          <p:cNvPr id="53" name="Text 51"/>
          <p:cNvSpPr/>
          <p:nvPr/>
        </p:nvSpPr>
        <p:spPr>
          <a:xfrm>
            <a:off x="7150608" y="307238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WHERE status = 'Processing';</a:t>
            </a:r>
            <a:endParaRPr lang="en-US" sz="800" dirty="0"/>
          </a:p>
        </p:txBody>
      </p:sp>
      <p:sp>
        <p:nvSpPr>
          <p:cNvPr id="54" name="Shape 52"/>
          <p:cNvSpPr/>
          <p:nvPr/>
        </p:nvSpPr>
        <p:spPr>
          <a:xfrm>
            <a:off x="457200" y="3401568"/>
            <a:ext cx="8229600" cy="493776"/>
          </a:xfrm>
          <a:prstGeom prst="rect">
            <a:avLst/>
          </a:prstGeom>
          <a:solidFill>
            <a:srgbClr val="7C3AED">
              <a:alpha val="10000"/>
            </a:srgbClr>
          </a:solidFill>
          <a:ln w="12700">
            <a:solidFill>
              <a:srgbClr val="7C3AED">
                <a:alpha val="32000"/>
              </a:srgbClr>
            </a:solidFill>
            <a:prstDash val="solid"/>
          </a:ln>
        </p:spPr>
        <p:txBody>
          <a:bodyPr/>
          <a:lstStyle/>
          <a:p>
            <a:endParaRPr lang="en-US"/>
          </a:p>
        </p:txBody>
      </p:sp>
      <p:sp>
        <p:nvSpPr>
          <p:cNvPr id="55" name="Shape 53"/>
          <p:cNvSpPr/>
          <p:nvPr/>
        </p:nvSpPr>
        <p:spPr>
          <a:xfrm>
            <a:off x="457200" y="3401568"/>
            <a:ext cx="54864" cy="493776"/>
          </a:xfrm>
          <a:prstGeom prst="rect">
            <a:avLst/>
          </a:prstGeom>
          <a:solidFill>
            <a:srgbClr val="7C3AED"/>
          </a:solidFill>
          <a:ln w="12700">
            <a:solidFill>
              <a:srgbClr val="7C3AED"/>
            </a:solidFill>
            <a:prstDash val="solid"/>
          </a:ln>
        </p:spPr>
        <p:txBody>
          <a:bodyPr/>
          <a:lstStyle/>
          <a:p>
            <a:endParaRPr lang="en-US"/>
          </a:p>
        </p:txBody>
      </p:sp>
      <p:sp>
        <p:nvSpPr>
          <p:cNvPr id="56" name="Text 54"/>
          <p:cNvSpPr/>
          <p:nvPr/>
        </p:nvSpPr>
        <p:spPr>
          <a:xfrm>
            <a:off x="603504" y="3438144"/>
            <a:ext cx="731520" cy="182880"/>
          </a:xfrm>
          <a:prstGeom prst="rect">
            <a:avLst/>
          </a:prstGeom>
          <a:noFill/>
          <a:ln/>
        </p:spPr>
        <p:txBody>
          <a:bodyPr wrap="square" lIns="0" tIns="0" rIns="0" bIns="0" rtlCol="0" anchor="ctr"/>
          <a:lstStyle/>
          <a:p>
            <a:pPr marL="0" indent="0">
              <a:buNone/>
            </a:pPr>
            <a:r>
              <a:rPr lang="en-US" sz="900" b="1" dirty="0">
                <a:solidFill>
                  <a:srgbClr val="7C3AED"/>
                </a:solidFill>
                <a:latin typeface="Calibri" pitchFamily="34" charset="0"/>
                <a:ea typeface="Calibri" pitchFamily="34" charset="-122"/>
                <a:cs typeface="Calibri" pitchFamily="34" charset="-120"/>
              </a:rPr>
              <a:t>Analogy:</a:t>
            </a:r>
            <a:endParaRPr lang="en-US" sz="900" dirty="0"/>
          </a:p>
        </p:txBody>
      </p:sp>
      <p:sp>
        <p:nvSpPr>
          <p:cNvPr id="57" name="Text 55"/>
          <p:cNvSpPr/>
          <p:nvPr/>
        </p:nvSpPr>
        <p:spPr>
          <a:xfrm>
            <a:off x="603504" y="3602736"/>
            <a:ext cx="7955280" cy="23774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Without index: PostgreSQL reads EVERY row in the table to find matches (full table scan). With index: it jumps directly to the matching rows — like using an alphabetical index in a book instead of reading every page.</a:t>
            </a:r>
            <a:endParaRPr lang="en-US" sz="900" dirty="0"/>
          </a:p>
        </p:txBody>
      </p:sp>
      <p:sp>
        <p:nvSpPr>
          <p:cNvPr id="58" name="Shape 56"/>
          <p:cNvSpPr/>
          <p:nvPr/>
        </p:nvSpPr>
        <p:spPr>
          <a:xfrm>
            <a:off x="457200" y="3950208"/>
            <a:ext cx="8229600" cy="237744"/>
          </a:xfrm>
          <a:prstGeom prst="rect">
            <a:avLst/>
          </a:prstGeom>
          <a:solidFill>
            <a:srgbClr val="1E293B"/>
          </a:solidFill>
          <a:ln w="12700">
            <a:solidFill>
              <a:srgbClr val="1E293B"/>
            </a:solidFill>
            <a:prstDash val="solid"/>
          </a:ln>
        </p:spPr>
        <p:txBody>
          <a:bodyPr/>
          <a:lstStyle/>
          <a:p>
            <a:endParaRPr lang="en-US"/>
          </a:p>
        </p:txBody>
      </p:sp>
      <p:sp>
        <p:nvSpPr>
          <p:cNvPr id="59" name="Text 57"/>
          <p:cNvSpPr/>
          <p:nvPr/>
        </p:nvSpPr>
        <p:spPr>
          <a:xfrm>
            <a:off x="548640" y="3968496"/>
            <a:ext cx="80467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How to CHECK if PostgreSQL is using your index — using the same orders table from slide 5:</a:t>
            </a:r>
            <a:endParaRPr lang="en-US" sz="900" dirty="0"/>
          </a:p>
        </p:txBody>
      </p:sp>
      <p:sp>
        <p:nvSpPr>
          <p:cNvPr id="60" name="Shape 58"/>
          <p:cNvSpPr/>
          <p:nvPr/>
        </p:nvSpPr>
        <p:spPr>
          <a:xfrm>
            <a:off x="457200" y="4187952"/>
            <a:ext cx="3950208" cy="859536"/>
          </a:xfrm>
          <a:prstGeom prst="rect">
            <a:avLst/>
          </a:prstGeom>
          <a:solidFill>
            <a:srgbClr val="1E293B"/>
          </a:solidFill>
          <a:ln w="12700">
            <a:solidFill>
              <a:srgbClr val="1E293B"/>
            </a:solidFill>
            <a:prstDash val="solid"/>
          </a:ln>
        </p:spPr>
        <p:txBody>
          <a:bodyPr/>
          <a:lstStyle/>
          <a:p>
            <a:endParaRPr lang="en-US"/>
          </a:p>
        </p:txBody>
      </p:sp>
      <p:sp>
        <p:nvSpPr>
          <p:cNvPr id="61" name="Text 59"/>
          <p:cNvSpPr/>
          <p:nvPr/>
        </p:nvSpPr>
        <p:spPr>
          <a:xfrm>
            <a:off x="621792" y="4315968"/>
            <a:ext cx="3675888" cy="182880"/>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 Before index: full table scan</a:t>
            </a:r>
            <a:endParaRPr lang="en-US" sz="1000" dirty="0"/>
          </a:p>
        </p:txBody>
      </p:sp>
      <p:sp>
        <p:nvSpPr>
          <p:cNvPr id="62" name="Text 60"/>
          <p:cNvSpPr/>
          <p:nvPr/>
        </p:nvSpPr>
        <p:spPr>
          <a:xfrm>
            <a:off x="621792" y="4517136"/>
            <a:ext cx="3675888" cy="182880"/>
          </a:xfrm>
          <a:prstGeom prst="rect">
            <a:avLst/>
          </a:prstGeom>
          <a:noFill/>
          <a:ln/>
        </p:spPr>
        <p:txBody>
          <a:bodyPr wrap="square" lIns="0" tIns="0" rIns="0" bIns="0" rtlCol="0" anchor="ctr"/>
          <a:lstStyle/>
          <a:p>
            <a:pPr marL="0" indent="0">
              <a:buNone/>
            </a:pPr>
            <a:r>
              <a:rPr lang="en-US" sz="1000" dirty="0">
                <a:solidFill>
                  <a:srgbClr val="FCD34D"/>
                </a:solidFill>
                <a:latin typeface="Consolas" pitchFamily="34" charset="0"/>
                <a:ea typeface="Consolas" pitchFamily="34" charset="-122"/>
                <a:cs typeface="Consolas" pitchFamily="34" charset="-120"/>
              </a:rPr>
              <a:t>EXPLAIN ANALYZE</a:t>
            </a:r>
            <a:endParaRPr lang="en-US" sz="1000" dirty="0"/>
          </a:p>
        </p:txBody>
      </p:sp>
      <p:sp>
        <p:nvSpPr>
          <p:cNvPr id="63" name="Text 61"/>
          <p:cNvSpPr/>
          <p:nvPr/>
        </p:nvSpPr>
        <p:spPr>
          <a:xfrm>
            <a:off x="621792" y="4718304"/>
            <a:ext cx="3675888" cy="182880"/>
          </a:xfrm>
          <a:prstGeom prst="rect">
            <a:avLst/>
          </a:prstGeom>
          <a:noFill/>
          <a:ln/>
        </p:spPr>
        <p:txBody>
          <a:bodyPr wrap="square" lIns="0" tIns="0" rIns="0" bIns="0" rtlCol="0" anchor="ctr"/>
          <a:lstStyle/>
          <a:p>
            <a:pPr marL="0" indent="0">
              <a:buNone/>
            </a:pPr>
            <a:r>
              <a:rPr lang="en-US" sz="1000" dirty="0">
                <a:solidFill>
                  <a:srgbClr val="93C5FD"/>
                </a:solidFill>
                <a:latin typeface="Consolas" pitchFamily="34" charset="0"/>
                <a:ea typeface="Consolas" pitchFamily="34" charset="-122"/>
                <a:cs typeface="Consolas" pitchFamily="34" charset="-120"/>
              </a:rPr>
              <a:t>SELECT * FROM orders WHERE status = 'Processing';</a:t>
            </a:r>
            <a:endParaRPr lang="en-US" sz="1000" dirty="0"/>
          </a:p>
        </p:txBody>
      </p:sp>
      <p:sp>
        <p:nvSpPr>
          <p:cNvPr id="64" name="Text 62"/>
          <p:cNvSpPr/>
          <p:nvPr/>
        </p:nvSpPr>
        <p:spPr>
          <a:xfrm>
            <a:off x="621792" y="4919472"/>
            <a:ext cx="3675888" cy="182880"/>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 Seq Scan on orders  (cost=0..1.25 rows=25)  ← slow</a:t>
            </a:r>
            <a:endParaRPr lang="en-US" sz="1000" dirty="0"/>
          </a:p>
        </p:txBody>
      </p:sp>
      <p:sp>
        <p:nvSpPr>
          <p:cNvPr id="65" name="Shape 63"/>
          <p:cNvSpPr/>
          <p:nvPr/>
        </p:nvSpPr>
        <p:spPr>
          <a:xfrm>
            <a:off x="4517136" y="4187952"/>
            <a:ext cx="4169664" cy="859536"/>
          </a:xfrm>
          <a:prstGeom prst="rect">
            <a:avLst/>
          </a:prstGeom>
          <a:solidFill>
            <a:srgbClr val="1E293B"/>
          </a:solidFill>
          <a:ln w="12700">
            <a:solidFill>
              <a:srgbClr val="1E293B"/>
            </a:solidFill>
            <a:prstDash val="solid"/>
          </a:ln>
        </p:spPr>
        <p:txBody>
          <a:bodyPr/>
          <a:lstStyle/>
          <a:p>
            <a:endParaRPr lang="en-US"/>
          </a:p>
        </p:txBody>
      </p:sp>
      <p:sp>
        <p:nvSpPr>
          <p:cNvPr id="66" name="Text 64"/>
          <p:cNvSpPr/>
          <p:nvPr/>
        </p:nvSpPr>
        <p:spPr>
          <a:xfrm>
            <a:off x="4681728" y="4315968"/>
            <a:ext cx="3895344" cy="182880"/>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 Create index, then run again</a:t>
            </a:r>
            <a:endParaRPr lang="en-US" sz="1000" dirty="0"/>
          </a:p>
        </p:txBody>
      </p:sp>
      <p:sp>
        <p:nvSpPr>
          <p:cNvPr id="67" name="Text 65"/>
          <p:cNvSpPr/>
          <p:nvPr/>
        </p:nvSpPr>
        <p:spPr>
          <a:xfrm>
            <a:off x="4681728" y="4517136"/>
            <a:ext cx="3895344" cy="182880"/>
          </a:xfrm>
          <a:prstGeom prst="rect">
            <a:avLst/>
          </a:prstGeom>
          <a:noFill/>
          <a:ln/>
        </p:spPr>
        <p:txBody>
          <a:bodyPr wrap="square" lIns="0" tIns="0" rIns="0" bIns="0" rtlCol="0" anchor="ctr"/>
          <a:lstStyle/>
          <a:p>
            <a:pPr marL="0" indent="0">
              <a:buNone/>
            </a:pPr>
            <a:r>
              <a:rPr lang="en-US" sz="1000" dirty="0">
                <a:solidFill>
                  <a:srgbClr val="6EE7B7"/>
                </a:solidFill>
                <a:latin typeface="Consolas" pitchFamily="34" charset="0"/>
                <a:ea typeface="Consolas" pitchFamily="34" charset="-122"/>
                <a:cs typeface="Consolas" pitchFamily="34" charset="-120"/>
              </a:rPr>
              <a:t>CREATE INDEX idx_status ON orders (status);</a:t>
            </a:r>
            <a:endParaRPr lang="en-US" sz="1000" dirty="0"/>
          </a:p>
        </p:txBody>
      </p:sp>
      <p:sp>
        <p:nvSpPr>
          <p:cNvPr id="68" name="Text 66"/>
          <p:cNvSpPr/>
          <p:nvPr/>
        </p:nvSpPr>
        <p:spPr>
          <a:xfrm>
            <a:off x="4681728" y="4718304"/>
            <a:ext cx="3895344" cy="182880"/>
          </a:xfrm>
          <a:prstGeom prst="rect">
            <a:avLst/>
          </a:prstGeom>
          <a:noFill/>
          <a:ln/>
        </p:spPr>
        <p:txBody>
          <a:bodyPr wrap="square" lIns="0" tIns="0" rIns="0" bIns="0" rtlCol="0" anchor="ctr"/>
          <a:lstStyle/>
          <a:p>
            <a:pPr marL="0" indent="0">
              <a:buNone/>
            </a:pPr>
            <a:r>
              <a:rPr lang="en-US" sz="1000" dirty="0">
                <a:solidFill>
                  <a:srgbClr val="FCD34D"/>
                </a:solidFill>
                <a:latin typeface="Consolas" pitchFamily="34" charset="0"/>
                <a:ea typeface="Consolas" pitchFamily="34" charset="-122"/>
                <a:cs typeface="Consolas" pitchFamily="34" charset="-120"/>
              </a:rPr>
              <a:t>EXPLAIN ANALYZE</a:t>
            </a:r>
            <a:endParaRPr lang="en-US" sz="1000" dirty="0"/>
          </a:p>
        </p:txBody>
      </p:sp>
      <p:sp>
        <p:nvSpPr>
          <p:cNvPr id="69" name="Text 67"/>
          <p:cNvSpPr/>
          <p:nvPr/>
        </p:nvSpPr>
        <p:spPr>
          <a:xfrm>
            <a:off x="4681728" y="4919472"/>
            <a:ext cx="3895344" cy="182880"/>
          </a:xfrm>
          <a:prstGeom prst="rect">
            <a:avLst/>
          </a:prstGeom>
          <a:noFill/>
          <a:ln/>
        </p:spPr>
        <p:txBody>
          <a:bodyPr wrap="square" lIns="0" tIns="0" rIns="0" bIns="0" rtlCol="0" anchor="ctr"/>
          <a:lstStyle/>
          <a:p>
            <a:pPr marL="0" indent="0">
              <a:buNone/>
            </a:pPr>
            <a:r>
              <a:rPr lang="en-US" sz="1000" dirty="0">
                <a:solidFill>
                  <a:srgbClr val="93C5FD"/>
                </a:solidFill>
                <a:latin typeface="Consolas" pitchFamily="34" charset="0"/>
                <a:ea typeface="Consolas" pitchFamily="34" charset="-122"/>
                <a:cs typeface="Consolas" pitchFamily="34" charset="-120"/>
              </a:rPr>
              <a:t>SELECT * FROM orders WHERE status = 'Processing';</a:t>
            </a:r>
            <a:endParaRPr lang="en-US" sz="1000" dirty="0"/>
          </a:p>
        </p:txBody>
      </p:sp>
      <p:sp>
        <p:nvSpPr>
          <p:cNvPr id="70" name="Text 68"/>
          <p:cNvSpPr/>
          <p:nvPr/>
        </p:nvSpPr>
        <p:spPr>
          <a:xfrm>
            <a:off x="4517136" y="4919472"/>
            <a:ext cx="4169664" cy="182880"/>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Index Scan using idx_status  (cost=0..0.15)  ← fast</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64592"/>
            <a:ext cx="8229600" cy="420624"/>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B-Tree vs Hash Index — How Each One Works Inside</a:t>
            </a:r>
            <a:endParaRPr lang="en-US" sz="3000" dirty="0"/>
          </a:p>
        </p:txBody>
      </p:sp>
      <p:sp>
        <p:nvSpPr>
          <p:cNvPr id="3" name="Text 1"/>
          <p:cNvSpPr/>
          <p:nvPr/>
        </p:nvSpPr>
        <p:spPr>
          <a:xfrm>
            <a:off x="457200" y="621792"/>
            <a:ext cx="8229600" cy="21945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Same data. Same query. Completely different internal structure — and that difference determines what queries each can answer.</a:t>
            </a:r>
            <a:endParaRPr lang="en-US" sz="1150" dirty="0"/>
          </a:p>
        </p:txBody>
      </p:sp>
      <p:sp>
        <p:nvSpPr>
          <p:cNvPr id="4" name="Shape 2"/>
          <p:cNvSpPr/>
          <p:nvPr/>
        </p:nvSpPr>
        <p:spPr>
          <a:xfrm>
            <a:off x="457200" y="896112"/>
            <a:ext cx="8229600" cy="201168"/>
          </a:xfrm>
          <a:prstGeom prst="rect">
            <a:avLst/>
          </a:prstGeom>
          <a:solidFill>
            <a:srgbClr val="1E293B"/>
          </a:solidFill>
          <a:ln w="12700">
            <a:solidFill>
              <a:srgbClr val="1E293B"/>
            </a:solidFill>
            <a:prstDash val="solid"/>
          </a:ln>
        </p:spPr>
        <p:txBody>
          <a:bodyPr/>
          <a:lstStyle/>
          <a:p>
            <a:endParaRPr lang="en-US"/>
          </a:p>
        </p:txBody>
      </p:sp>
      <p:sp>
        <p:nvSpPr>
          <p:cNvPr id="5" name="Text 3"/>
          <p:cNvSpPr/>
          <p:nvPr/>
        </p:nvSpPr>
        <p:spPr>
          <a:xfrm>
            <a:off x="548640" y="914400"/>
            <a:ext cx="8046720" cy="16459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Sample data — products.price column from your products table (20 products, prices in NPR)</a:t>
            </a:r>
            <a:endParaRPr lang="en-US" sz="850" dirty="0"/>
          </a:p>
        </p:txBody>
      </p:sp>
      <p:sp>
        <p:nvSpPr>
          <p:cNvPr id="6" name="Shape 4"/>
          <p:cNvSpPr/>
          <p:nvPr/>
        </p:nvSpPr>
        <p:spPr>
          <a:xfrm>
            <a:off x="457200" y="1152144"/>
            <a:ext cx="4133088" cy="3858768"/>
          </a:xfrm>
          <a:prstGeom prst="rect">
            <a:avLst/>
          </a:prstGeom>
          <a:solidFill>
            <a:srgbClr val="F8FAFC"/>
          </a:solidFill>
          <a:ln w="12700">
            <a:solidFill>
              <a:srgbClr val="059669">
                <a:alpha val="60000"/>
              </a:srgbClr>
            </a:solidFill>
            <a:prstDash val="solid"/>
          </a:ln>
          <a:effectLst>
            <a:outerShdw blurRad="101600" dist="25400" dir="8100000" algn="bl" rotWithShape="0">
              <a:srgbClr val="000000">
                <a:alpha val="9000"/>
              </a:srgbClr>
            </a:outerShdw>
          </a:effectLst>
        </p:spPr>
        <p:txBody>
          <a:bodyPr/>
          <a:lstStyle/>
          <a:p>
            <a:endParaRPr lang="en-US"/>
          </a:p>
        </p:txBody>
      </p:sp>
      <p:sp>
        <p:nvSpPr>
          <p:cNvPr id="7" name="Shape 5"/>
          <p:cNvSpPr/>
          <p:nvPr/>
        </p:nvSpPr>
        <p:spPr>
          <a:xfrm>
            <a:off x="457200" y="1152144"/>
            <a:ext cx="4133088" cy="292608"/>
          </a:xfrm>
          <a:prstGeom prst="rect">
            <a:avLst/>
          </a:prstGeom>
          <a:solidFill>
            <a:srgbClr val="059669"/>
          </a:solidFill>
          <a:ln w="12700">
            <a:solidFill>
              <a:srgbClr val="059669"/>
            </a:solidFill>
            <a:prstDash val="solid"/>
          </a:ln>
        </p:spPr>
        <p:txBody>
          <a:bodyPr/>
          <a:lstStyle/>
          <a:p>
            <a:endParaRPr lang="en-US"/>
          </a:p>
        </p:txBody>
      </p:sp>
      <p:sp>
        <p:nvSpPr>
          <p:cNvPr id="8" name="Text 6"/>
          <p:cNvSpPr/>
          <p:nvPr/>
        </p:nvSpPr>
        <p:spPr>
          <a:xfrm>
            <a:off x="457200" y="1152144"/>
            <a:ext cx="41330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B-Tree Index  (Balanced Tree)</a:t>
            </a:r>
            <a:endParaRPr lang="en-US" sz="1300" dirty="0"/>
          </a:p>
        </p:txBody>
      </p:sp>
      <p:sp>
        <p:nvSpPr>
          <p:cNvPr id="9" name="Text 7"/>
          <p:cNvSpPr/>
          <p:nvPr/>
        </p:nvSpPr>
        <p:spPr>
          <a:xfrm>
            <a:off x="566928" y="1517904"/>
            <a:ext cx="3913632"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Stores values in SORTED ORDER inside a tree.</a:t>
            </a:r>
            <a:endParaRPr lang="en-US" sz="1000" dirty="0"/>
          </a:p>
        </p:txBody>
      </p:sp>
      <p:sp>
        <p:nvSpPr>
          <p:cNvPr id="10" name="Text 8"/>
          <p:cNvSpPr/>
          <p:nvPr/>
        </p:nvSpPr>
        <p:spPr>
          <a:xfrm>
            <a:off x="566928" y="1737360"/>
            <a:ext cx="3913632" cy="40233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PostgreSQL navigates the tree (left = smaller, right = larger)</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to find values. Because it is sorted, scanning a range</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is natural — just walk left to right.</a:t>
            </a:r>
            <a:endParaRPr lang="en-US" sz="900" dirty="0"/>
          </a:p>
        </p:txBody>
      </p:sp>
      <p:sp>
        <p:nvSpPr>
          <p:cNvPr id="11" name="Shape 9"/>
          <p:cNvSpPr/>
          <p:nvPr/>
        </p:nvSpPr>
        <p:spPr>
          <a:xfrm>
            <a:off x="566928" y="2212848"/>
            <a:ext cx="3913632" cy="969264"/>
          </a:xfrm>
          <a:prstGeom prst="rect">
            <a:avLst/>
          </a:prstGeom>
          <a:solidFill>
            <a:srgbClr val="059669">
              <a:alpha val="8000"/>
            </a:srgbClr>
          </a:solidFill>
          <a:ln w="12700">
            <a:solidFill>
              <a:srgbClr val="059669">
                <a:alpha val="28000"/>
              </a:srgbClr>
            </a:solidFill>
            <a:prstDash val="solid"/>
          </a:ln>
        </p:spPr>
        <p:txBody>
          <a:bodyPr/>
          <a:lstStyle/>
          <a:p>
            <a:endParaRPr lang="en-US"/>
          </a:p>
        </p:txBody>
      </p:sp>
      <p:sp>
        <p:nvSpPr>
          <p:cNvPr id="12" name="Text 10"/>
          <p:cNvSpPr/>
          <p:nvPr/>
        </p:nvSpPr>
        <p:spPr>
          <a:xfrm>
            <a:off x="658368" y="2249424"/>
            <a:ext cx="3730752" cy="164592"/>
          </a:xfrm>
          <a:prstGeom prst="rect">
            <a:avLst/>
          </a:prstGeom>
          <a:noFill/>
          <a:ln/>
        </p:spPr>
        <p:txBody>
          <a:bodyPr wrap="square" lIns="0" tIns="0" rIns="0" bIns="0"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How prices are stored in the B-Tree index:</a:t>
            </a:r>
            <a:endParaRPr lang="en-US" sz="850" dirty="0"/>
          </a:p>
        </p:txBody>
      </p:sp>
      <p:sp>
        <p:nvSpPr>
          <p:cNvPr id="13" name="Shape 11"/>
          <p:cNvSpPr/>
          <p:nvPr/>
        </p:nvSpPr>
        <p:spPr>
          <a:xfrm>
            <a:off x="621792"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14" name="Text 12"/>
          <p:cNvSpPr/>
          <p:nvPr/>
        </p:nvSpPr>
        <p:spPr>
          <a:xfrm>
            <a:off x="621792"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180</a:t>
            </a:r>
            <a:endParaRPr lang="en-US" sz="700" dirty="0"/>
          </a:p>
        </p:txBody>
      </p:sp>
      <p:sp>
        <p:nvSpPr>
          <p:cNvPr id="15" name="Shape 13"/>
          <p:cNvSpPr/>
          <p:nvPr/>
        </p:nvSpPr>
        <p:spPr>
          <a:xfrm>
            <a:off x="1152144"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16" name="Text 14"/>
          <p:cNvSpPr/>
          <p:nvPr/>
        </p:nvSpPr>
        <p:spPr>
          <a:xfrm>
            <a:off x="1152144"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4,500</a:t>
            </a:r>
            <a:endParaRPr lang="en-US" sz="700" dirty="0"/>
          </a:p>
        </p:txBody>
      </p:sp>
      <p:sp>
        <p:nvSpPr>
          <p:cNvPr id="17" name="Shape 15"/>
          <p:cNvSpPr/>
          <p:nvPr/>
        </p:nvSpPr>
        <p:spPr>
          <a:xfrm>
            <a:off x="1682496"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18" name="Text 16"/>
          <p:cNvSpPr/>
          <p:nvPr/>
        </p:nvSpPr>
        <p:spPr>
          <a:xfrm>
            <a:off x="1682496"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6,500</a:t>
            </a:r>
            <a:endParaRPr lang="en-US" sz="700" dirty="0"/>
          </a:p>
        </p:txBody>
      </p:sp>
      <p:sp>
        <p:nvSpPr>
          <p:cNvPr id="19" name="Shape 17"/>
          <p:cNvSpPr/>
          <p:nvPr/>
        </p:nvSpPr>
        <p:spPr>
          <a:xfrm>
            <a:off x="2212848"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20" name="Text 18"/>
          <p:cNvSpPr/>
          <p:nvPr/>
        </p:nvSpPr>
        <p:spPr>
          <a:xfrm>
            <a:off x="2212848"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8,500</a:t>
            </a:r>
            <a:endParaRPr lang="en-US" sz="700" dirty="0"/>
          </a:p>
        </p:txBody>
      </p:sp>
      <p:sp>
        <p:nvSpPr>
          <p:cNvPr id="21" name="Shape 19"/>
          <p:cNvSpPr/>
          <p:nvPr/>
        </p:nvSpPr>
        <p:spPr>
          <a:xfrm>
            <a:off x="2743200"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22" name="Text 20"/>
          <p:cNvSpPr/>
          <p:nvPr/>
        </p:nvSpPr>
        <p:spPr>
          <a:xfrm>
            <a:off x="2743200"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35,000</a:t>
            </a:r>
            <a:endParaRPr lang="en-US" sz="700" dirty="0"/>
          </a:p>
        </p:txBody>
      </p:sp>
      <p:sp>
        <p:nvSpPr>
          <p:cNvPr id="23" name="Shape 21"/>
          <p:cNvSpPr/>
          <p:nvPr/>
        </p:nvSpPr>
        <p:spPr>
          <a:xfrm>
            <a:off x="3273552"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24" name="Text 22"/>
          <p:cNvSpPr/>
          <p:nvPr/>
        </p:nvSpPr>
        <p:spPr>
          <a:xfrm>
            <a:off x="3273552"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45,000</a:t>
            </a:r>
            <a:endParaRPr lang="en-US" sz="700" dirty="0"/>
          </a:p>
        </p:txBody>
      </p:sp>
      <p:sp>
        <p:nvSpPr>
          <p:cNvPr id="25" name="Shape 23"/>
          <p:cNvSpPr/>
          <p:nvPr/>
        </p:nvSpPr>
        <p:spPr>
          <a:xfrm>
            <a:off x="3803904"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26" name="Text 24"/>
          <p:cNvSpPr/>
          <p:nvPr/>
        </p:nvSpPr>
        <p:spPr>
          <a:xfrm>
            <a:off x="3803904"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85,000</a:t>
            </a:r>
            <a:endParaRPr lang="en-US" sz="700" dirty="0"/>
          </a:p>
        </p:txBody>
      </p:sp>
      <p:sp>
        <p:nvSpPr>
          <p:cNvPr id="27" name="Text 25"/>
          <p:cNvSpPr/>
          <p:nvPr/>
        </p:nvSpPr>
        <p:spPr>
          <a:xfrm>
            <a:off x="621792" y="2743200"/>
            <a:ext cx="3767328" cy="164592"/>
          </a:xfrm>
          <a:prstGeom prst="rect">
            <a:avLst/>
          </a:prstGeom>
          <a:noFill/>
          <a:ln/>
        </p:spPr>
        <p:txBody>
          <a:bodyPr wrap="square" lIns="0" tIns="0" rIns="0" bIns="0" rtlCol="0" anchor="ctr"/>
          <a:lstStyle/>
          <a:p>
            <a:pPr marL="0" indent="0" algn="ctr">
              <a:buNone/>
            </a:pPr>
            <a:r>
              <a:rPr lang="en-US" sz="750" dirty="0">
                <a:solidFill>
                  <a:srgbClr val="059669"/>
                </a:solidFill>
                <a:latin typeface="Calibri" pitchFamily="34" charset="0"/>
                <a:ea typeface="Calibri" pitchFamily="34" charset="-122"/>
                <a:cs typeface="Calibri" pitchFamily="34" charset="-120"/>
              </a:rPr>
              <a:t>← ─────────── sorted smallest to largest ─────────── →</a:t>
            </a:r>
            <a:endParaRPr lang="en-US" sz="750" dirty="0"/>
          </a:p>
        </p:txBody>
      </p:sp>
      <p:sp>
        <p:nvSpPr>
          <p:cNvPr id="28" name="Text 26"/>
          <p:cNvSpPr/>
          <p:nvPr/>
        </p:nvSpPr>
        <p:spPr>
          <a:xfrm>
            <a:off x="621792" y="2907792"/>
            <a:ext cx="3767328" cy="219456"/>
          </a:xfrm>
          <a:prstGeom prst="rect">
            <a:avLst/>
          </a:prstGeom>
          <a:noFill/>
          <a:ln/>
        </p:spPr>
        <p:txBody>
          <a:bodyPr wrap="square" lIns="0" tIns="0" rIns="0" bIns="0" rtlCol="0" anchor="ctr"/>
          <a:lstStyle/>
          <a:p>
            <a:pPr marL="0" indent="0">
              <a:buNone/>
            </a:pPr>
            <a:r>
              <a:rPr lang="en-US" sz="800" b="1" dirty="0">
                <a:solidFill>
                  <a:srgbClr val="059669"/>
                </a:solidFill>
                <a:latin typeface="Calibri" pitchFamily="34" charset="0"/>
                <a:ea typeface="Calibri" pitchFamily="34" charset="-122"/>
                <a:cs typeface="Calibri" pitchFamily="34" charset="-120"/>
              </a:rPr>
              <a:t>To find price &gt; 8,500 → jump to 8,500 in tree → scan everything to the right</a:t>
            </a:r>
            <a:endParaRPr lang="en-US" sz="800" dirty="0"/>
          </a:p>
        </p:txBody>
      </p:sp>
      <p:sp>
        <p:nvSpPr>
          <p:cNvPr id="29" name="Text 27"/>
          <p:cNvSpPr/>
          <p:nvPr/>
        </p:nvSpPr>
        <p:spPr>
          <a:xfrm>
            <a:off x="566928" y="3255264"/>
            <a:ext cx="3913632" cy="182880"/>
          </a:xfrm>
          <a:prstGeom prst="rect">
            <a:avLst/>
          </a:prstGeom>
          <a:noFill/>
          <a:ln/>
        </p:spPr>
        <p:txBody>
          <a:bodyPr wrap="square" lIns="0" tIns="0" rIns="0" bIns="0" rtlCol="0" anchor="ctr"/>
          <a:lstStyle/>
          <a:p>
            <a:pPr marL="0" indent="0">
              <a:buNone/>
            </a:pPr>
            <a:r>
              <a:rPr lang="en-US" sz="950" b="1" dirty="0">
                <a:solidFill>
                  <a:srgbClr val="059669"/>
                </a:solidFill>
                <a:latin typeface="Calibri" pitchFamily="34" charset="0"/>
                <a:ea typeface="Calibri" pitchFamily="34" charset="-122"/>
                <a:cs typeface="Calibri" pitchFamily="34" charset="-120"/>
              </a:rPr>
              <a:t>Queries this index can answer:</a:t>
            </a:r>
            <a:endParaRPr lang="en-US" sz="950" dirty="0"/>
          </a:p>
        </p:txBody>
      </p:sp>
      <p:sp>
        <p:nvSpPr>
          <p:cNvPr id="30" name="Shape 28"/>
          <p:cNvSpPr/>
          <p:nvPr/>
        </p:nvSpPr>
        <p:spPr>
          <a:xfrm>
            <a:off x="566928" y="3474720"/>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31" name="Shape 29"/>
          <p:cNvSpPr/>
          <p:nvPr/>
        </p:nvSpPr>
        <p:spPr>
          <a:xfrm>
            <a:off x="566928" y="3474720"/>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32" name="Text 30"/>
          <p:cNvSpPr/>
          <p:nvPr/>
        </p:nvSpPr>
        <p:spPr>
          <a:xfrm>
            <a:off x="566928" y="3474720"/>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a:t>
            </a:r>
            <a:endParaRPr lang="en-US" sz="750" dirty="0"/>
          </a:p>
        </p:txBody>
      </p:sp>
      <p:sp>
        <p:nvSpPr>
          <p:cNvPr id="33" name="Text 31"/>
          <p:cNvSpPr/>
          <p:nvPr/>
        </p:nvSpPr>
        <p:spPr>
          <a:xfrm>
            <a:off x="1170432" y="3502152"/>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WHERE price = 8500</a:t>
            </a:r>
            <a:endParaRPr lang="en-US" sz="850" dirty="0"/>
          </a:p>
        </p:txBody>
      </p:sp>
      <p:sp>
        <p:nvSpPr>
          <p:cNvPr id="34" name="Text 32"/>
          <p:cNvSpPr/>
          <p:nvPr/>
        </p:nvSpPr>
        <p:spPr>
          <a:xfrm>
            <a:off x="3474720" y="3511296"/>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exact match</a:t>
            </a:r>
            <a:endParaRPr lang="en-US" sz="750" dirty="0"/>
          </a:p>
        </p:txBody>
      </p:sp>
      <p:sp>
        <p:nvSpPr>
          <p:cNvPr id="35" name="Shape 33"/>
          <p:cNvSpPr/>
          <p:nvPr/>
        </p:nvSpPr>
        <p:spPr>
          <a:xfrm>
            <a:off x="566928" y="3730752"/>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36" name="Shape 34"/>
          <p:cNvSpPr/>
          <p:nvPr/>
        </p:nvSpPr>
        <p:spPr>
          <a:xfrm>
            <a:off x="566928" y="3730752"/>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37" name="Text 35"/>
          <p:cNvSpPr/>
          <p:nvPr/>
        </p:nvSpPr>
        <p:spPr>
          <a:xfrm>
            <a:off x="566928" y="3730752"/>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&gt;  &lt;</a:t>
            </a:r>
            <a:endParaRPr lang="en-US" sz="750" dirty="0"/>
          </a:p>
        </p:txBody>
      </p:sp>
      <p:sp>
        <p:nvSpPr>
          <p:cNvPr id="38" name="Text 36"/>
          <p:cNvSpPr/>
          <p:nvPr/>
        </p:nvSpPr>
        <p:spPr>
          <a:xfrm>
            <a:off x="1170432" y="3758184"/>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WHERE price &gt; 10000</a:t>
            </a:r>
            <a:endParaRPr lang="en-US" sz="850" dirty="0"/>
          </a:p>
        </p:txBody>
      </p:sp>
      <p:sp>
        <p:nvSpPr>
          <p:cNvPr id="39" name="Text 37"/>
          <p:cNvSpPr/>
          <p:nvPr/>
        </p:nvSpPr>
        <p:spPr>
          <a:xfrm>
            <a:off x="3474720" y="3767328"/>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range scan</a:t>
            </a:r>
            <a:endParaRPr lang="en-US" sz="750" dirty="0"/>
          </a:p>
        </p:txBody>
      </p:sp>
      <p:sp>
        <p:nvSpPr>
          <p:cNvPr id="40" name="Shape 38"/>
          <p:cNvSpPr/>
          <p:nvPr/>
        </p:nvSpPr>
        <p:spPr>
          <a:xfrm>
            <a:off x="566928" y="3986784"/>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41" name="Shape 39"/>
          <p:cNvSpPr/>
          <p:nvPr/>
        </p:nvSpPr>
        <p:spPr>
          <a:xfrm>
            <a:off x="566928" y="3986784"/>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42" name="Text 40"/>
          <p:cNvSpPr/>
          <p:nvPr/>
        </p:nvSpPr>
        <p:spPr>
          <a:xfrm>
            <a:off x="566928" y="3986784"/>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BETWEEN</a:t>
            </a:r>
            <a:endParaRPr lang="en-US" sz="750" dirty="0"/>
          </a:p>
        </p:txBody>
      </p:sp>
      <p:sp>
        <p:nvSpPr>
          <p:cNvPr id="43" name="Text 41"/>
          <p:cNvSpPr/>
          <p:nvPr/>
        </p:nvSpPr>
        <p:spPr>
          <a:xfrm>
            <a:off x="1170432" y="4014216"/>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WHERE price BETWEEN 5000 AND 50000</a:t>
            </a:r>
            <a:endParaRPr lang="en-US" sz="850" dirty="0"/>
          </a:p>
        </p:txBody>
      </p:sp>
      <p:sp>
        <p:nvSpPr>
          <p:cNvPr id="44" name="Text 42"/>
          <p:cNvSpPr/>
          <p:nvPr/>
        </p:nvSpPr>
        <p:spPr>
          <a:xfrm>
            <a:off x="3474720" y="4023360"/>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range scan</a:t>
            </a:r>
            <a:endParaRPr lang="en-US" sz="750" dirty="0"/>
          </a:p>
        </p:txBody>
      </p:sp>
      <p:sp>
        <p:nvSpPr>
          <p:cNvPr id="45" name="Shape 43"/>
          <p:cNvSpPr/>
          <p:nvPr/>
        </p:nvSpPr>
        <p:spPr>
          <a:xfrm>
            <a:off x="566928" y="4242816"/>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46" name="Shape 44"/>
          <p:cNvSpPr/>
          <p:nvPr/>
        </p:nvSpPr>
        <p:spPr>
          <a:xfrm>
            <a:off x="566928" y="4242816"/>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47" name="Text 45"/>
          <p:cNvSpPr/>
          <p:nvPr/>
        </p:nvSpPr>
        <p:spPr>
          <a:xfrm>
            <a:off x="566928" y="4242816"/>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LIKE</a:t>
            </a:r>
            <a:endParaRPr lang="en-US" sz="750" dirty="0"/>
          </a:p>
        </p:txBody>
      </p:sp>
      <p:sp>
        <p:nvSpPr>
          <p:cNvPr id="48" name="Text 46"/>
          <p:cNvSpPr/>
          <p:nvPr/>
        </p:nvSpPr>
        <p:spPr>
          <a:xfrm>
            <a:off x="1170432" y="4270248"/>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WHERE name LIKE 'Ram%'</a:t>
            </a:r>
            <a:endParaRPr lang="en-US" sz="850" dirty="0"/>
          </a:p>
        </p:txBody>
      </p:sp>
      <p:sp>
        <p:nvSpPr>
          <p:cNvPr id="49" name="Text 47"/>
          <p:cNvSpPr/>
          <p:nvPr/>
        </p:nvSpPr>
        <p:spPr>
          <a:xfrm>
            <a:off x="3474720" y="4279392"/>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prefix scan</a:t>
            </a:r>
            <a:endParaRPr lang="en-US" sz="750" dirty="0"/>
          </a:p>
        </p:txBody>
      </p:sp>
      <p:sp>
        <p:nvSpPr>
          <p:cNvPr id="50" name="Shape 48"/>
          <p:cNvSpPr/>
          <p:nvPr/>
        </p:nvSpPr>
        <p:spPr>
          <a:xfrm>
            <a:off x="566928" y="4498848"/>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51" name="Shape 49"/>
          <p:cNvSpPr/>
          <p:nvPr/>
        </p:nvSpPr>
        <p:spPr>
          <a:xfrm>
            <a:off x="566928" y="4498848"/>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52" name="Text 50"/>
          <p:cNvSpPr/>
          <p:nvPr/>
        </p:nvSpPr>
        <p:spPr>
          <a:xfrm>
            <a:off x="566928" y="4498848"/>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ORDER</a:t>
            </a:r>
            <a:endParaRPr lang="en-US" sz="750" dirty="0"/>
          </a:p>
        </p:txBody>
      </p:sp>
      <p:sp>
        <p:nvSpPr>
          <p:cNvPr id="53" name="Text 51"/>
          <p:cNvSpPr/>
          <p:nvPr/>
        </p:nvSpPr>
        <p:spPr>
          <a:xfrm>
            <a:off x="1170432" y="4526280"/>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ORDER BY price DESC</a:t>
            </a:r>
            <a:endParaRPr lang="en-US" sz="850" dirty="0"/>
          </a:p>
        </p:txBody>
      </p:sp>
      <p:sp>
        <p:nvSpPr>
          <p:cNvPr id="54" name="Text 52"/>
          <p:cNvSpPr/>
          <p:nvPr/>
        </p:nvSpPr>
        <p:spPr>
          <a:xfrm>
            <a:off x="3474720" y="4535424"/>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already sorted</a:t>
            </a:r>
            <a:endParaRPr lang="en-US" sz="750" dirty="0"/>
          </a:p>
        </p:txBody>
      </p:sp>
      <p:sp>
        <p:nvSpPr>
          <p:cNvPr id="55" name="Shape 53"/>
          <p:cNvSpPr/>
          <p:nvPr/>
        </p:nvSpPr>
        <p:spPr>
          <a:xfrm>
            <a:off x="4828032" y="1152144"/>
            <a:ext cx="3858768" cy="3858768"/>
          </a:xfrm>
          <a:prstGeom prst="rect">
            <a:avLst/>
          </a:prstGeom>
          <a:solidFill>
            <a:srgbClr val="F8FAFC"/>
          </a:solidFill>
          <a:ln w="12700">
            <a:solidFill>
              <a:srgbClr val="2563EB">
                <a:alpha val="60000"/>
              </a:srgbClr>
            </a:solidFill>
            <a:prstDash val="solid"/>
          </a:ln>
          <a:effectLst>
            <a:outerShdw blurRad="101600" dist="25400" dir="8100000" algn="bl" rotWithShape="0">
              <a:srgbClr val="000000">
                <a:alpha val="9000"/>
              </a:srgbClr>
            </a:outerShdw>
          </a:effectLst>
        </p:spPr>
        <p:txBody>
          <a:bodyPr/>
          <a:lstStyle/>
          <a:p>
            <a:endParaRPr lang="en-US"/>
          </a:p>
        </p:txBody>
      </p:sp>
      <p:sp>
        <p:nvSpPr>
          <p:cNvPr id="56" name="Shape 54"/>
          <p:cNvSpPr/>
          <p:nvPr/>
        </p:nvSpPr>
        <p:spPr>
          <a:xfrm>
            <a:off x="4828032" y="1152144"/>
            <a:ext cx="3858768" cy="292608"/>
          </a:xfrm>
          <a:prstGeom prst="rect">
            <a:avLst/>
          </a:prstGeom>
          <a:solidFill>
            <a:srgbClr val="2563EB"/>
          </a:solidFill>
          <a:ln w="12700">
            <a:solidFill>
              <a:srgbClr val="2563EB"/>
            </a:solidFill>
            <a:prstDash val="solid"/>
          </a:ln>
        </p:spPr>
        <p:txBody>
          <a:bodyPr/>
          <a:lstStyle/>
          <a:p>
            <a:endParaRPr lang="en-US"/>
          </a:p>
        </p:txBody>
      </p:sp>
      <p:sp>
        <p:nvSpPr>
          <p:cNvPr id="57" name="Text 55"/>
          <p:cNvSpPr/>
          <p:nvPr/>
        </p:nvSpPr>
        <p:spPr>
          <a:xfrm>
            <a:off x="4828032" y="1152144"/>
            <a:ext cx="385876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Hash Index</a:t>
            </a:r>
            <a:endParaRPr lang="en-US" sz="1300" dirty="0"/>
          </a:p>
        </p:txBody>
      </p:sp>
      <p:sp>
        <p:nvSpPr>
          <p:cNvPr id="58" name="Text 56"/>
          <p:cNvSpPr/>
          <p:nvPr/>
        </p:nvSpPr>
        <p:spPr>
          <a:xfrm>
            <a:off x="4937760" y="1517904"/>
            <a:ext cx="3639312" cy="201168"/>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Converts each value into a HASH CODE (random number).</a:t>
            </a:r>
            <a:endParaRPr lang="en-US" sz="1000" dirty="0"/>
          </a:p>
        </p:txBody>
      </p:sp>
      <p:sp>
        <p:nvSpPr>
          <p:cNvPr id="59" name="Text 57"/>
          <p:cNvSpPr/>
          <p:nvPr/>
        </p:nvSpPr>
        <p:spPr>
          <a:xfrm>
            <a:off x="4937760" y="1737360"/>
            <a:ext cx="3639312" cy="40233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PostgreSQL runs a formula on the value to get a number,</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then jumps directly to that storage location.</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Values are NOT sorted — the hash codes are random.</a:t>
            </a:r>
            <a:endParaRPr lang="en-US" sz="900" dirty="0"/>
          </a:p>
        </p:txBody>
      </p:sp>
      <p:sp>
        <p:nvSpPr>
          <p:cNvPr id="60" name="Shape 58"/>
          <p:cNvSpPr/>
          <p:nvPr/>
        </p:nvSpPr>
        <p:spPr>
          <a:xfrm>
            <a:off x="4937760" y="2212848"/>
            <a:ext cx="3639312" cy="969264"/>
          </a:xfrm>
          <a:prstGeom prst="rect">
            <a:avLst/>
          </a:prstGeom>
          <a:solidFill>
            <a:srgbClr val="2563EB">
              <a:alpha val="8000"/>
            </a:srgbClr>
          </a:solidFill>
          <a:ln w="12700">
            <a:solidFill>
              <a:srgbClr val="2563EB">
                <a:alpha val="28000"/>
              </a:srgbClr>
            </a:solidFill>
            <a:prstDash val="solid"/>
          </a:ln>
        </p:spPr>
        <p:txBody>
          <a:bodyPr/>
          <a:lstStyle/>
          <a:p>
            <a:endParaRPr lang="en-US"/>
          </a:p>
        </p:txBody>
      </p:sp>
      <p:sp>
        <p:nvSpPr>
          <p:cNvPr id="61" name="Text 59"/>
          <p:cNvSpPr/>
          <p:nvPr/>
        </p:nvSpPr>
        <p:spPr>
          <a:xfrm>
            <a:off x="5029200" y="2249424"/>
            <a:ext cx="3456432" cy="164592"/>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How emails are stored in the Hash index:</a:t>
            </a:r>
            <a:endParaRPr lang="en-US" sz="850" dirty="0"/>
          </a:p>
        </p:txBody>
      </p:sp>
      <p:sp>
        <p:nvSpPr>
          <p:cNvPr id="62" name="Shape 60"/>
          <p:cNvSpPr/>
          <p:nvPr/>
        </p:nvSpPr>
        <p:spPr>
          <a:xfrm>
            <a:off x="5029200" y="2450592"/>
            <a:ext cx="3456432" cy="182880"/>
          </a:xfrm>
          <a:prstGeom prst="rect">
            <a:avLst/>
          </a:prstGeom>
          <a:solidFill>
            <a:srgbClr val="2563EB">
              <a:alpha val="15000"/>
            </a:srgbClr>
          </a:solidFill>
          <a:ln w="12700">
            <a:solidFill>
              <a:srgbClr val="2563EB">
                <a:alpha val="30000"/>
              </a:srgbClr>
            </a:solidFill>
            <a:prstDash val="solid"/>
          </a:ln>
        </p:spPr>
        <p:txBody>
          <a:bodyPr/>
          <a:lstStyle/>
          <a:p>
            <a:endParaRPr lang="en-US"/>
          </a:p>
        </p:txBody>
      </p:sp>
      <p:sp>
        <p:nvSpPr>
          <p:cNvPr id="63" name="Text 61"/>
          <p:cNvSpPr/>
          <p:nvPr/>
        </p:nvSpPr>
        <p:spPr>
          <a:xfrm>
            <a:off x="5102352" y="2468880"/>
            <a:ext cx="1645920" cy="146304"/>
          </a:xfrm>
          <a:prstGeom prst="rect">
            <a:avLst/>
          </a:prstGeom>
          <a:noFill/>
          <a:ln/>
        </p:spPr>
        <p:txBody>
          <a:bodyPr wrap="square" lIns="0" tIns="0" rIns="0" bIns="0" rtlCol="0" anchor="ctr"/>
          <a:lstStyle/>
          <a:p>
            <a:pPr marL="0" indent="0">
              <a:buNone/>
            </a:pPr>
            <a:r>
              <a:rPr lang="en-US" sz="800" dirty="0">
                <a:solidFill>
                  <a:srgbClr val="2563EB"/>
                </a:solidFill>
                <a:latin typeface="Consolas" pitchFamily="34" charset="0"/>
                <a:ea typeface="Consolas" pitchFamily="34" charset="-122"/>
                <a:cs typeface="Consolas" pitchFamily="34" charset="-120"/>
              </a:rPr>
              <a:t>ram@email.com</a:t>
            </a:r>
            <a:endParaRPr lang="en-US" sz="800" dirty="0"/>
          </a:p>
        </p:txBody>
      </p:sp>
      <p:sp>
        <p:nvSpPr>
          <p:cNvPr id="64" name="Text 62"/>
          <p:cNvSpPr/>
          <p:nvPr/>
        </p:nvSpPr>
        <p:spPr>
          <a:xfrm>
            <a:off x="6766560" y="2468880"/>
            <a:ext cx="1645920" cy="146304"/>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slot #4829</a:t>
            </a:r>
            <a:endParaRPr lang="en-US" sz="800" dirty="0"/>
          </a:p>
        </p:txBody>
      </p:sp>
      <p:sp>
        <p:nvSpPr>
          <p:cNvPr id="65" name="Shape 63"/>
          <p:cNvSpPr/>
          <p:nvPr/>
        </p:nvSpPr>
        <p:spPr>
          <a:xfrm>
            <a:off x="5029200" y="2651760"/>
            <a:ext cx="3456432" cy="182880"/>
          </a:xfrm>
          <a:prstGeom prst="rect">
            <a:avLst/>
          </a:prstGeom>
          <a:solidFill>
            <a:srgbClr val="2563EB">
              <a:alpha val="15000"/>
            </a:srgbClr>
          </a:solidFill>
          <a:ln w="12700">
            <a:solidFill>
              <a:srgbClr val="2563EB">
                <a:alpha val="30000"/>
              </a:srgbClr>
            </a:solidFill>
            <a:prstDash val="solid"/>
          </a:ln>
        </p:spPr>
        <p:txBody>
          <a:bodyPr/>
          <a:lstStyle/>
          <a:p>
            <a:endParaRPr lang="en-US"/>
          </a:p>
        </p:txBody>
      </p:sp>
      <p:sp>
        <p:nvSpPr>
          <p:cNvPr id="66" name="Text 64"/>
          <p:cNvSpPr/>
          <p:nvPr/>
        </p:nvSpPr>
        <p:spPr>
          <a:xfrm>
            <a:off x="5102352" y="2670048"/>
            <a:ext cx="1645920" cy="146304"/>
          </a:xfrm>
          <a:prstGeom prst="rect">
            <a:avLst/>
          </a:prstGeom>
          <a:noFill/>
          <a:ln/>
        </p:spPr>
        <p:txBody>
          <a:bodyPr wrap="square" lIns="0" tIns="0" rIns="0" bIns="0" rtlCol="0" anchor="ctr"/>
          <a:lstStyle/>
          <a:p>
            <a:pPr marL="0" indent="0">
              <a:buNone/>
            </a:pPr>
            <a:r>
              <a:rPr lang="en-US" sz="800" dirty="0">
                <a:solidFill>
                  <a:srgbClr val="2563EB"/>
                </a:solidFill>
                <a:latin typeface="Consolas" pitchFamily="34" charset="0"/>
                <a:ea typeface="Consolas" pitchFamily="34" charset="-122"/>
                <a:cs typeface="Consolas" pitchFamily="34" charset="-120"/>
              </a:rPr>
              <a:t>sita@email.com</a:t>
            </a:r>
            <a:endParaRPr lang="en-US" sz="800" dirty="0"/>
          </a:p>
        </p:txBody>
      </p:sp>
      <p:sp>
        <p:nvSpPr>
          <p:cNvPr id="67" name="Text 65"/>
          <p:cNvSpPr/>
          <p:nvPr/>
        </p:nvSpPr>
        <p:spPr>
          <a:xfrm>
            <a:off x="6766560" y="2670048"/>
            <a:ext cx="1645920" cy="146304"/>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slot #1103</a:t>
            </a:r>
            <a:endParaRPr lang="en-US" sz="800" dirty="0"/>
          </a:p>
        </p:txBody>
      </p:sp>
      <p:sp>
        <p:nvSpPr>
          <p:cNvPr id="68" name="Shape 66"/>
          <p:cNvSpPr/>
          <p:nvPr/>
        </p:nvSpPr>
        <p:spPr>
          <a:xfrm>
            <a:off x="5029200" y="2852928"/>
            <a:ext cx="3456432" cy="182880"/>
          </a:xfrm>
          <a:prstGeom prst="rect">
            <a:avLst/>
          </a:prstGeom>
          <a:solidFill>
            <a:srgbClr val="2563EB">
              <a:alpha val="15000"/>
            </a:srgbClr>
          </a:solidFill>
          <a:ln w="12700">
            <a:solidFill>
              <a:srgbClr val="2563EB">
                <a:alpha val="30000"/>
              </a:srgbClr>
            </a:solidFill>
            <a:prstDash val="solid"/>
          </a:ln>
        </p:spPr>
        <p:txBody>
          <a:bodyPr/>
          <a:lstStyle/>
          <a:p>
            <a:endParaRPr lang="en-US"/>
          </a:p>
        </p:txBody>
      </p:sp>
      <p:sp>
        <p:nvSpPr>
          <p:cNvPr id="69" name="Text 67"/>
          <p:cNvSpPr/>
          <p:nvPr/>
        </p:nvSpPr>
        <p:spPr>
          <a:xfrm>
            <a:off x="5102352" y="2871216"/>
            <a:ext cx="1645920" cy="146304"/>
          </a:xfrm>
          <a:prstGeom prst="rect">
            <a:avLst/>
          </a:prstGeom>
          <a:noFill/>
          <a:ln/>
        </p:spPr>
        <p:txBody>
          <a:bodyPr wrap="square" lIns="0" tIns="0" rIns="0" bIns="0" rtlCol="0" anchor="ctr"/>
          <a:lstStyle/>
          <a:p>
            <a:pPr marL="0" indent="0">
              <a:buNone/>
            </a:pPr>
            <a:r>
              <a:rPr lang="en-US" sz="800" dirty="0">
                <a:solidFill>
                  <a:srgbClr val="2563EB"/>
                </a:solidFill>
                <a:latin typeface="Consolas" pitchFamily="34" charset="0"/>
                <a:ea typeface="Consolas" pitchFamily="34" charset="-122"/>
                <a:cs typeface="Consolas" pitchFamily="34" charset="-120"/>
              </a:rPr>
              <a:t>hari@email.com</a:t>
            </a:r>
            <a:endParaRPr lang="en-US" sz="800" dirty="0"/>
          </a:p>
        </p:txBody>
      </p:sp>
      <p:sp>
        <p:nvSpPr>
          <p:cNvPr id="70" name="Text 68"/>
          <p:cNvSpPr/>
          <p:nvPr/>
        </p:nvSpPr>
        <p:spPr>
          <a:xfrm>
            <a:off x="6766560" y="2871216"/>
            <a:ext cx="1645920" cy="146304"/>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slot #7741</a:t>
            </a:r>
            <a:endParaRPr lang="en-US" sz="800" dirty="0"/>
          </a:p>
        </p:txBody>
      </p:sp>
      <p:sp>
        <p:nvSpPr>
          <p:cNvPr id="71" name="Text 69"/>
          <p:cNvSpPr/>
          <p:nvPr/>
        </p:nvSpPr>
        <p:spPr>
          <a:xfrm>
            <a:off x="5029200" y="2907792"/>
            <a:ext cx="3456432" cy="219456"/>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slot #4829 has no relation to #4828 or #4830 — completely random</a:t>
            </a:r>
            <a:endParaRPr lang="en-US" sz="750" dirty="0"/>
          </a:p>
        </p:txBody>
      </p:sp>
      <p:sp>
        <p:nvSpPr>
          <p:cNvPr id="72" name="Text 70"/>
          <p:cNvSpPr/>
          <p:nvPr/>
        </p:nvSpPr>
        <p:spPr>
          <a:xfrm>
            <a:off x="4937760" y="3255264"/>
            <a:ext cx="3639312" cy="182880"/>
          </a:xfrm>
          <a:prstGeom prst="rect">
            <a:avLst/>
          </a:prstGeom>
          <a:noFill/>
          <a:ln/>
        </p:spPr>
        <p:txBody>
          <a:bodyPr wrap="square" lIns="0" tIns="0" rIns="0" bIns="0" rtlCol="0" anchor="ctr"/>
          <a:lstStyle/>
          <a:p>
            <a:pPr marL="0" indent="0">
              <a:buNone/>
            </a:pPr>
            <a:r>
              <a:rPr lang="en-US" sz="950" b="1" dirty="0">
                <a:solidFill>
                  <a:srgbClr val="2563EB"/>
                </a:solidFill>
                <a:latin typeface="Calibri" pitchFamily="34" charset="0"/>
                <a:ea typeface="Calibri" pitchFamily="34" charset="-122"/>
                <a:cs typeface="Calibri" pitchFamily="34" charset="-120"/>
              </a:rPr>
              <a:t>Works ONLY for exact match:</a:t>
            </a:r>
            <a:endParaRPr lang="en-US" sz="950" dirty="0"/>
          </a:p>
        </p:txBody>
      </p:sp>
      <p:sp>
        <p:nvSpPr>
          <p:cNvPr id="73" name="Shape 71"/>
          <p:cNvSpPr/>
          <p:nvPr/>
        </p:nvSpPr>
        <p:spPr>
          <a:xfrm>
            <a:off x="4937760" y="3474720"/>
            <a:ext cx="3639312" cy="347472"/>
          </a:xfrm>
          <a:prstGeom prst="rect">
            <a:avLst/>
          </a:prstGeom>
          <a:solidFill>
            <a:srgbClr val="059669">
              <a:alpha val="12000"/>
            </a:srgbClr>
          </a:solidFill>
          <a:ln w="12700">
            <a:solidFill>
              <a:srgbClr val="059669">
                <a:alpha val="30000"/>
              </a:srgbClr>
            </a:solidFill>
            <a:prstDash val="solid"/>
          </a:ln>
        </p:spPr>
        <p:txBody>
          <a:bodyPr/>
          <a:lstStyle/>
          <a:p>
            <a:endParaRPr lang="en-US"/>
          </a:p>
        </p:txBody>
      </p:sp>
      <p:sp>
        <p:nvSpPr>
          <p:cNvPr id="74" name="Text 72"/>
          <p:cNvSpPr/>
          <p:nvPr/>
        </p:nvSpPr>
        <p:spPr>
          <a:xfrm>
            <a:off x="5029200" y="3493008"/>
            <a:ext cx="3474720" cy="164592"/>
          </a:xfrm>
          <a:prstGeom prst="rect">
            <a:avLst/>
          </a:prstGeom>
          <a:noFill/>
          <a:ln/>
        </p:spPr>
        <p:txBody>
          <a:bodyPr wrap="square" lIns="0" tIns="0" rIns="0" bIns="0" rtlCol="0" anchor="ctr"/>
          <a:lstStyle/>
          <a:p>
            <a:pPr marL="0" indent="0">
              <a:buNone/>
            </a:pPr>
            <a:r>
              <a:rPr lang="en-US" sz="900" dirty="0">
                <a:solidFill>
                  <a:srgbClr val="059669"/>
                </a:solidFill>
                <a:latin typeface="Consolas" pitchFamily="34" charset="0"/>
                <a:ea typeface="Consolas" pitchFamily="34" charset="-122"/>
                <a:cs typeface="Consolas" pitchFamily="34" charset="-120"/>
              </a:rPr>
              <a:t>✓  WHERE email = 'ram@email.com'</a:t>
            </a:r>
            <a:endParaRPr lang="en-US" sz="900" dirty="0"/>
          </a:p>
        </p:txBody>
      </p:sp>
      <p:sp>
        <p:nvSpPr>
          <p:cNvPr id="75" name="Text 73"/>
          <p:cNvSpPr/>
          <p:nvPr/>
        </p:nvSpPr>
        <p:spPr>
          <a:xfrm>
            <a:off x="5029200" y="3657600"/>
            <a:ext cx="3474720" cy="146304"/>
          </a:xfrm>
          <a:prstGeom prst="rect">
            <a:avLst/>
          </a:prstGeom>
          <a:noFill/>
          <a:ln/>
        </p:spPr>
        <p:txBody>
          <a:bodyPr wrap="square" lIns="0" tIns="0" rIns="0" bIns="0" rtlCol="0" anchor="ctr"/>
          <a:lstStyle/>
          <a:p>
            <a:pPr marL="0" indent="0">
              <a:buNone/>
            </a:pPr>
            <a:r>
              <a:rPr lang="en-US" sz="850" dirty="0">
                <a:solidFill>
                  <a:srgbClr val="059669"/>
                </a:solidFill>
                <a:latin typeface="Calibri" pitchFamily="34" charset="0"/>
                <a:ea typeface="Calibri" pitchFamily="34" charset="-122"/>
                <a:cs typeface="Calibri" pitchFamily="34" charset="-120"/>
              </a:rPr>
              <a:t>→  hash code computed, jumps to slot instantly</a:t>
            </a:r>
            <a:endParaRPr lang="en-US" sz="850" dirty="0"/>
          </a:p>
        </p:txBody>
      </p:sp>
      <p:sp>
        <p:nvSpPr>
          <p:cNvPr id="76" name="Text 74"/>
          <p:cNvSpPr/>
          <p:nvPr/>
        </p:nvSpPr>
        <p:spPr>
          <a:xfrm>
            <a:off x="4937760" y="3840480"/>
            <a:ext cx="3639312" cy="18288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FAILS for range queries (falls back to full scan):</a:t>
            </a:r>
            <a:endParaRPr lang="en-US" sz="950" dirty="0"/>
          </a:p>
        </p:txBody>
      </p:sp>
      <p:sp>
        <p:nvSpPr>
          <p:cNvPr id="77" name="Shape 75"/>
          <p:cNvSpPr/>
          <p:nvPr/>
        </p:nvSpPr>
        <p:spPr>
          <a:xfrm>
            <a:off x="4937760" y="4041648"/>
            <a:ext cx="3639312" cy="201168"/>
          </a:xfrm>
          <a:prstGeom prst="rect">
            <a:avLst/>
          </a:prstGeom>
          <a:solidFill>
            <a:srgbClr val="DC2626">
              <a:alpha val="9000"/>
            </a:srgbClr>
          </a:solidFill>
          <a:ln w="12700">
            <a:solidFill>
              <a:srgbClr val="DC2626">
                <a:alpha val="26000"/>
              </a:srgbClr>
            </a:solidFill>
            <a:prstDash val="solid"/>
          </a:ln>
        </p:spPr>
        <p:txBody>
          <a:bodyPr/>
          <a:lstStyle/>
          <a:p>
            <a:endParaRPr lang="en-US"/>
          </a:p>
        </p:txBody>
      </p:sp>
      <p:sp>
        <p:nvSpPr>
          <p:cNvPr id="78" name="Shape 76"/>
          <p:cNvSpPr/>
          <p:nvPr/>
        </p:nvSpPr>
        <p:spPr>
          <a:xfrm>
            <a:off x="4937760" y="4041648"/>
            <a:ext cx="548640" cy="201168"/>
          </a:xfrm>
          <a:prstGeom prst="rect">
            <a:avLst/>
          </a:prstGeom>
          <a:solidFill>
            <a:srgbClr val="DC2626">
              <a:alpha val="30000"/>
            </a:srgbClr>
          </a:solidFill>
          <a:ln w="12700">
            <a:solidFill>
              <a:srgbClr val="DC2626">
                <a:alpha val="40000"/>
              </a:srgbClr>
            </a:solidFill>
            <a:prstDash val="solid"/>
          </a:ln>
        </p:spPr>
        <p:txBody>
          <a:bodyPr/>
          <a:lstStyle/>
          <a:p>
            <a:endParaRPr lang="en-US"/>
          </a:p>
        </p:txBody>
      </p:sp>
      <p:sp>
        <p:nvSpPr>
          <p:cNvPr id="79" name="Text 77"/>
          <p:cNvSpPr/>
          <p:nvPr/>
        </p:nvSpPr>
        <p:spPr>
          <a:xfrm>
            <a:off x="4937760" y="4041648"/>
            <a:ext cx="5486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&gt;  &lt;</a:t>
            </a:r>
            <a:endParaRPr lang="en-US" sz="750" dirty="0"/>
          </a:p>
        </p:txBody>
      </p:sp>
      <p:sp>
        <p:nvSpPr>
          <p:cNvPr id="80" name="Text 78"/>
          <p:cNvSpPr/>
          <p:nvPr/>
        </p:nvSpPr>
        <p:spPr>
          <a:xfrm>
            <a:off x="5522976" y="4059936"/>
            <a:ext cx="2999232" cy="164592"/>
          </a:xfrm>
          <a:prstGeom prst="rect">
            <a:avLst/>
          </a:prstGeom>
          <a:noFill/>
          <a:ln/>
        </p:spPr>
        <p:txBody>
          <a:bodyPr wrap="square" lIns="0" tIns="0" rIns="0" bIns="0" rtlCol="0" anchor="ctr"/>
          <a:lstStyle/>
          <a:p>
            <a:pPr marL="0" indent="0">
              <a:buNone/>
            </a:pPr>
            <a:r>
              <a:rPr lang="en-US" sz="800" dirty="0">
                <a:solidFill>
                  <a:srgbClr val="DC2626"/>
                </a:solidFill>
                <a:latin typeface="Consolas" pitchFamily="34" charset="0"/>
                <a:ea typeface="Consolas" pitchFamily="34" charset="-122"/>
                <a:cs typeface="Consolas" pitchFamily="34" charset="-120"/>
              </a:rPr>
              <a:t>✗  WHERE price &gt; 10000</a:t>
            </a:r>
            <a:endParaRPr lang="en-US" sz="800" dirty="0"/>
          </a:p>
        </p:txBody>
      </p:sp>
      <p:sp>
        <p:nvSpPr>
          <p:cNvPr id="81" name="Shape 79"/>
          <p:cNvSpPr/>
          <p:nvPr/>
        </p:nvSpPr>
        <p:spPr>
          <a:xfrm>
            <a:off x="4937760" y="4251960"/>
            <a:ext cx="3639312" cy="201168"/>
          </a:xfrm>
          <a:prstGeom prst="rect">
            <a:avLst/>
          </a:prstGeom>
          <a:solidFill>
            <a:srgbClr val="DC2626">
              <a:alpha val="9000"/>
            </a:srgbClr>
          </a:solidFill>
          <a:ln w="12700">
            <a:solidFill>
              <a:srgbClr val="DC2626">
                <a:alpha val="26000"/>
              </a:srgbClr>
            </a:solidFill>
            <a:prstDash val="solid"/>
          </a:ln>
        </p:spPr>
        <p:txBody>
          <a:bodyPr/>
          <a:lstStyle/>
          <a:p>
            <a:endParaRPr lang="en-US"/>
          </a:p>
        </p:txBody>
      </p:sp>
      <p:sp>
        <p:nvSpPr>
          <p:cNvPr id="82" name="Shape 80"/>
          <p:cNvSpPr/>
          <p:nvPr/>
        </p:nvSpPr>
        <p:spPr>
          <a:xfrm>
            <a:off x="4937760" y="4251960"/>
            <a:ext cx="548640" cy="201168"/>
          </a:xfrm>
          <a:prstGeom prst="rect">
            <a:avLst/>
          </a:prstGeom>
          <a:solidFill>
            <a:srgbClr val="DC2626">
              <a:alpha val="30000"/>
            </a:srgbClr>
          </a:solidFill>
          <a:ln w="12700">
            <a:solidFill>
              <a:srgbClr val="DC2626">
                <a:alpha val="40000"/>
              </a:srgbClr>
            </a:solidFill>
            <a:prstDash val="solid"/>
          </a:ln>
        </p:spPr>
        <p:txBody>
          <a:bodyPr/>
          <a:lstStyle/>
          <a:p>
            <a:endParaRPr lang="en-US"/>
          </a:p>
        </p:txBody>
      </p:sp>
      <p:sp>
        <p:nvSpPr>
          <p:cNvPr id="83" name="Text 81"/>
          <p:cNvSpPr/>
          <p:nvPr/>
        </p:nvSpPr>
        <p:spPr>
          <a:xfrm>
            <a:off x="4937760" y="4251960"/>
            <a:ext cx="5486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BETWEEN</a:t>
            </a:r>
            <a:endParaRPr lang="en-US" sz="750" dirty="0"/>
          </a:p>
        </p:txBody>
      </p:sp>
      <p:sp>
        <p:nvSpPr>
          <p:cNvPr id="84" name="Text 82"/>
          <p:cNvSpPr/>
          <p:nvPr/>
        </p:nvSpPr>
        <p:spPr>
          <a:xfrm>
            <a:off x="5522976" y="4270248"/>
            <a:ext cx="2999232" cy="164592"/>
          </a:xfrm>
          <a:prstGeom prst="rect">
            <a:avLst/>
          </a:prstGeom>
          <a:noFill/>
          <a:ln/>
        </p:spPr>
        <p:txBody>
          <a:bodyPr wrap="square" lIns="0" tIns="0" rIns="0" bIns="0" rtlCol="0" anchor="ctr"/>
          <a:lstStyle/>
          <a:p>
            <a:pPr marL="0" indent="0">
              <a:buNone/>
            </a:pPr>
            <a:r>
              <a:rPr lang="en-US" sz="800" dirty="0">
                <a:solidFill>
                  <a:srgbClr val="DC2626"/>
                </a:solidFill>
                <a:latin typeface="Consolas" pitchFamily="34" charset="0"/>
                <a:ea typeface="Consolas" pitchFamily="34" charset="-122"/>
                <a:cs typeface="Consolas" pitchFamily="34" charset="-120"/>
              </a:rPr>
              <a:t>✗  WHERE price BETWEEN 5000 AND 50000</a:t>
            </a:r>
            <a:endParaRPr lang="en-US" sz="800" dirty="0"/>
          </a:p>
        </p:txBody>
      </p:sp>
      <p:sp>
        <p:nvSpPr>
          <p:cNvPr id="85" name="Shape 83"/>
          <p:cNvSpPr/>
          <p:nvPr/>
        </p:nvSpPr>
        <p:spPr>
          <a:xfrm>
            <a:off x="4937760" y="4462272"/>
            <a:ext cx="3639312" cy="201168"/>
          </a:xfrm>
          <a:prstGeom prst="rect">
            <a:avLst/>
          </a:prstGeom>
          <a:solidFill>
            <a:srgbClr val="DC2626">
              <a:alpha val="9000"/>
            </a:srgbClr>
          </a:solidFill>
          <a:ln w="12700">
            <a:solidFill>
              <a:srgbClr val="DC2626">
                <a:alpha val="26000"/>
              </a:srgbClr>
            </a:solidFill>
            <a:prstDash val="solid"/>
          </a:ln>
        </p:spPr>
        <p:txBody>
          <a:bodyPr/>
          <a:lstStyle/>
          <a:p>
            <a:endParaRPr lang="en-US"/>
          </a:p>
        </p:txBody>
      </p:sp>
      <p:sp>
        <p:nvSpPr>
          <p:cNvPr id="86" name="Shape 84"/>
          <p:cNvSpPr/>
          <p:nvPr/>
        </p:nvSpPr>
        <p:spPr>
          <a:xfrm>
            <a:off x="4937760" y="4462272"/>
            <a:ext cx="548640" cy="201168"/>
          </a:xfrm>
          <a:prstGeom prst="rect">
            <a:avLst/>
          </a:prstGeom>
          <a:solidFill>
            <a:srgbClr val="DC2626">
              <a:alpha val="30000"/>
            </a:srgbClr>
          </a:solidFill>
          <a:ln w="12700">
            <a:solidFill>
              <a:srgbClr val="DC2626">
                <a:alpha val="40000"/>
              </a:srgbClr>
            </a:solidFill>
            <a:prstDash val="solid"/>
          </a:ln>
        </p:spPr>
        <p:txBody>
          <a:bodyPr/>
          <a:lstStyle/>
          <a:p>
            <a:endParaRPr lang="en-US"/>
          </a:p>
        </p:txBody>
      </p:sp>
      <p:sp>
        <p:nvSpPr>
          <p:cNvPr id="87" name="Text 85"/>
          <p:cNvSpPr/>
          <p:nvPr/>
        </p:nvSpPr>
        <p:spPr>
          <a:xfrm>
            <a:off x="4937760" y="4462272"/>
            <a:ext cx="5486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LIKE</a:t>
            </a:r>
            <a:endParaRPr lang="en-US" sz="750" dirty="0"/>
          </a:p>
        </p:txBody>
      </p:sp>
      <p:sp>
        <p:nvSpPr>
          <p:cNvPr id="88" name="Text 86"/>
          <p:cNvSpPr/>
          <p:nvPr/>
        </p:nvSpPr>
        <p:spPr>
          <a:xfrm>
            <a:off x="5522976" y="4480560"/>
            <a:ext cx="2999232" cy="164592"/>
          </a:xfrm>
          <a:prstGeom prst="rect">
            <a:avLst/>
          </a:prstGeom>
          <a:noFill/>
          <a:ln/>
        </p:spPr>
        <p:txBody>
          <a:bodyPr wrap="square" lIns="0" tIns="0" rIns="0" bIns="0" rtlCol="0" anchor="ctr"/>
          <a:lstStyle/>
          <a:p>
            <a:pPr marL="0" indent="0">
              <a:buNone/>
            </a:pPr>
            <a:r>
              <a:rPr lang="en-US" sz="800" dirty="0">
                <a:solidFill>
                  <a:srgbClr val="DC2626"/>
                </a:solidFill>
                <a:latin typeface="Consolas" pitchFamily="34" charset="0"/>
                <a:ea typeface="Consolas" pitchFamily="34" charset="-122"/>
                <a:cs typeface="Consolas" pitchFamily="34" charset="-120"/>
              </a:rPr>
              <a:t>✗  WHERE name LIKE 'Ram%'</a:t>
            </a:r>
            <a:endParaRPr lang="en-US" sz="800" dirty="0"/>
          </a:p>
        </p:txBody>
      </p:sp>
      <p:sp>
        <p:nvSpPr>
          <p:cNvPr id="89" name="Shape 87"/>
          <p:cNvSpPr/>
          <p:nvPr/>
        </p:nvSpPr>
        <p:spPr>
          <a:xfrm>
            <a:off x="4937760" y="4672584"/>
            <a:ext cx="3639312" cy="201168"/>
          </a:xfrm>
          <a:prstGeom prst="rect">
            <a:avLst/>
          </a:prstGeom>
          <a:solidFill>
            <a:srgbClr val="DC2626">
              <a:alpha val="9000"/>
            </a:srgbClr>
          </a:solidFill>
          <a:ln w="12700">
            <a:solidFill>
              <a:srgbClr val="DC2626">
                <a:alpha val="26000"/>
              </a:srgbClr>
            </a:solidFill>
            <a:prstDash val="solid"/>
          </a:ln>
        </p:spPr>
        <p:txBody>
          <a:bodyPr/>
          <a:lstStyle/>
          <a:p>
            <a:endParaRPr lang="en-US"/>
          </a:p>
        </p:txBody>
      </p:sp>
      <p:sp>
        <p:nvSpPr>
          <p:cNvPr id="90" name="Shape 88"/>
          <p:cNvSpPr/>
          <p:nvPr/>
        </p:nvSpPr>
        <p:spPr>
          <a:xfrm>
            <a:off x="4937760" y="4672584"/>
            <a:ext cx="548640" cy="201168"/>
          </a:xfrm>
          <a:prstGeom prst="rect">
            <a:avLst/>
          </a:prstGeom>
          <a:solidFill>
            <a:srgbClr val="DC2626">
              <a:alpha val="30000"/>
            </a:srgbClr>
          </a:solidFill>
          <a:ln w="12700">
            <a:solidFill>
              <a:srgbClr val="DC2626">
                <a:alpha val="40000"/>
              </a:srgbClr>
            </a:solidFill>
            <a:prstDash val="solid"/>
          </a:ln>
        </p:spPr>
        <p:txBody>
          <a:bodyPr/>
          <a:lstStyle/>
          <a:p>
            <a:endParaRPr lang="en-US"/>
          </a:p>
        </p:txBody>
      </p:sp>
      <p:sp>
        <p:nvSpPr>
          <p:cNvPr id="91" name="Text 89"/>
          <p:cNvSpPr/>
          <p:nvPr/>
        </p:nvSpPr>
        <p:spPr>
          <a:xfrm>
            <a:off x="4937760" y="4672584"/>
            <a:ext cx="5486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ORDER</a:t>
            </a:r>
            <a:endParaRPr lang="en-US" sz="750" dirty="0"/>
          </a:p>
        </p:txBody>
      </p:sp>
      <p:sp>
        <p:nvSpPr>
          <p:cNvPr id="92" name="Text 90"/>
          <p:cNvSpPr/>
          <p:nvPr/>
        </p:nvSpPr>
        <p:spPr>
          <a:xfrm>
            <a:off x="5522976" y="4690872"/>
            <a:ext cx="2999232" cy="164592"/>
          </a:xfrm>
          <a:prstGeom prst="rect">
            <a:avLst/>
          </a:prstGeom>
          <a:noFill/>
          <a:ln/>
        </p:spPr>
        <p:txBody>
          <a:bodyPr wrap="square" lIns="0" tIns="0" rIns="0" bIns="0" rtlCol="0" anchor="ctr"/>
          <a:lstStyle/>
          <a:p>
            <a:pPr marL="0" indent="0">
              <a:buNone/>
            </a:pPr>
            <a:r>
              <a:rPr lang="en-US" sz="800" dirty="0">
                <a:solidFill>
                  <a:srgbClr val="DC2626"/>
                </a:solidFill>
                <a:latin typeface="Consolas" pitchFamily="34" charset="0"/>
                <a:ea typeface="Consolas" pitchFamily="34" charset="-122"/>
                <a:cs typeface="Consolas" pitchFamily="34" charset="-120"/>
              </a:rPr>
              <a:t>✗  ORDER BY price DESC</a:t>
            </a:r>
            <a:endParaRPr lang="en-US" sz="800" dirty="0"/>
          </a:p>
        </p:txBody>
      </p:sp>
      <p:sp>
        <p:nvSpPr>
          <p:cNvPr id="93" name="Shape 91"/>
          <p:cNvSpPr/>
          <p:nvPr/>
        </p:nvSpPr>
        <p:spPr>
          <a:xfrm>
            <a:off x="4937760" y="4956048"/>
            <a:ext cx="3639312" cy="0"/>
          </a:xfrm>
          <a:prstGeom prst="rect">
            <a:avLst/>
          </a:prstGeom>
          <a:solidFill>
            <a:srgbClr val="FFFFFF"/>
          </a:solidFill>
          <a:ln w="12700">
            <a:solidFill>
              <a:srgbClr val="FFFFFF"/>
            </a:solidFill>
            <a:prstDash val="solid"/>
          </a:ln>
        </p:spPr>
        <p:txBody>
          <a:bodyPr/>
          <a:lstStyle/>
          <a:p>
            <a:endParaRPr lang="en-US"/>
          </a:p>
        </p:txBody>
      </p:sp>
      <p:sp>
        <p:nvSpPr>
          <p:cNvPr id="94" name="Shape 92"/>
          <p:cNvSpPr/>
          <p:nvPr/>
        </p:nvSpPr>
        <p:spPr>
          <a:xfrm>
            <a:off x="457200" y="4901184"/>
            <a:ext cx="8229600" cy="219456"/>
          </a:xfrm>
          <a:prstGeom prst="rect">
            <a:avLst/>
          </a:prstGeom>
          <a:solidFill>
            <a:srgbClr val="1E293B"/>
          </a:solidFill>
          <a:ln w="12700">
            <a:solidFill>
              <a:srgbClr val="1E293B"/>
            </a:solidFill>
            <a:prstDash val="solid"/>
          </a:ln>
        </p:spPr>
        <p:txBody>
          <a:bodyPr/>
          <a:lstStyle/>
          <a:p>
            <a:endParaRPr lang="en-US"/>
          </a:p>
        </p:txBody>
      </p:sp>
      <p:sp>
        <p:nvSpPr>
          <p:cNvPr id="95" name="Text 93"/>
          <p:cNvSpPr/>
          <p:nvPr/>
        </p:nvSpPr>
        <p:spPr>
          <a:xfrm>
            <a:off x="603504" y="4919472"/>
            <a:ext cx="7955280" cy="182880"/>
          </a:xfrm>
          <a:prstGeom prst="rect">
            <a:avLst/>
          </a:prstGeom>
          <a:noFill/>
          <a:ln/>
        </p:spPr>
        <p:txBody>
          <a:bodyPr wrap="square" lIns="0" tIns="0" rIns="0" bIns="0" rtlCol="0" anchor="ctr"/>
          <a:lstStyle/>
          <a:p>
            <a:pPr marL="0" indent="0">
              <a:buNone/>
            </a:pPr>
            <a:r>
              <a:rPr lang="en-US" sz="850" b="1" dirty="0">
                <a:solidFill>
                  <a:srgbClr val="FCD34D"/>
                </a:solidFill>
                <a:latin typeface="Calibri" pitchFamily="34" charset="0"/>
                <a:ea typeface="Calibri" pitchFamily="34" charset="-122"/>
                <a:cs typeface="Calibri" pitchFamily="34" charset="-120"/>
              </a:rPr>
              <a:t>Why Hash fails on ranges: </a:t>
            </a:r>
            <a:r>
              <a:rPr lang="en-US" sz="850" dirty="0">
                <a:solidFill>
                  <a:srgbClr val="FFFFFF"/>
                </a:solidFill>
                <a:latin typeface="Calibri" pitchFamily="34" charset="0"/>
                <a:ea typeface="Calibri" pitchFamily="34" charset="-122"/>
                <a:cs typeface="Calibri" pitchFamily="34" charset="-120"/>
              </a:rPr>
              <a:t>hash(8500)=3341 and hash(9000)=7829 — the numbers are random. There is no way to scan 'everything above 8500' because the hash codes have no order.</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Index Rules &amp; Best Practices</a:t>
            </a:r>
            <a:endParaRPr lang="en-US" sz="3600" dirty="0"/>
          </a:p>
        </p:txBody>
      </p:sp>
      <p:sp>
        <p:nvSpPr>
          <p:cNvPr id="3" name="Text 1"/>
          <p:cNvSpPr/>
          <p:nvPr/>
        </p:nvSpPr>
        <p:spPr>
          <a:xfrm>
            <a:off x="457200" y="713232"/>
            <a:ext cx="8229600" cy="237744"/>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Using the same 5-table database — customers, orders, products, order_items, daily_sales</a:t>
            </a:r>
            <a:endParaRPr lang="en-US" sz="1300" dirty="0"/>
          </a:p>
        </p:txBody>
      </p:sp>
      <p:sp>
        <p:nvSpPr>
          <p:cNvPr id="4" name="Shape 2"/>
          <p:cNvSpPr/>
          <p:nvPr/>
        </p:nvSpPr>
        <p:spPr>
          <a:xfrm>
            <a:off x="457200" y="969264"/>
            <a:ext cx="3931920" cy="4023360"/>
          </a:xfrm>
          <a:prstGeom prst="rect">
            <a:avLst/>
          </a:prstGeom>
          <a:solidFill>
            <a:srgbClr val="F8FAFC"/>
          </a:solidFill>
          <a:ln w="12700">
            <a:solidFill>
              <a:srgbClr val="059669">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457200" y="969264"/>
            <a:ext cx="3931920" cy="274320"/>
          </a:xfrm>
          <a:prstGeom prst="rect">
            <a:avLst/>
          </a:prstGeom>
          <a:solidFill>
            <a:srgbClr val="059669"/>
          </a:solidFill>
          <a:ln w="12700">
            <a:solidFill>
              <a:srgbClr val="059669"/>
            </a:solidFill>
            <a:prstDash val="solid"/>
          </a:ln>
        </p:spPr>
        <p:txBody>
          <a:bodyPr/>
          <a:lstStyle/>
          <a:p>
            <a:endParaRPr lang="en-US"/>
          </a:p>
        </p:txBody>
      </p:sp>
      <p:sp>
        <p:nvSpPr>
          <p:cNvPr id="6" name="Text 4"/>
          <p:cNvSpPr/>
          <p:nvPr/>
        </p:nvSpPr>
        <p:spPr>
          <a:xfrm>
            <a:off x="566928" y="969264"/>
            <a:ext cx="3712464"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When TO create an index</a:t>
            </a:r>
            <a:endParaRPr lang="en-US" sz="1200" dirty="0"/>
          </a:p>
        </p:txBody>
      </p:sp>
      <p:sp>
        <p:nvSpPr>
          <p:cNvPr id="7" name="Shape 5"/>
          <p:cNvSpPr/>
          <p:nvPr/>
        </p:nvSpPr>
        <p:spPr>
          <a:xfrm>
            <a:off x="566928" y="1335024"/>
            <a:ext cx="3712464" cy="566928"/>
          </a:xfrm>
          <a:prstGeom prst="rect">
            <a:avLst/>
          </a:prstGeom>
          <a:solidFill>
            <a:srgbClr val="059669">
              <a:alpha val="9000"/>
            </a:srgbClr>
          </a:solidFill>
          <a:ln w="12700">
            <a:solidFill>
              <a:srgbClr val="059669">
                <a:alpha val="30000"/>
              </a:srgbClr>
            </a:solidFill>
            <a:prstDash val="solid"/>
          </a:ln>
        </p:spPr>
        <p:txBody>
          <a:bodyPr/>
          <a:lstStyle/>
          <a:p>
            <a:endParaRPr lang="en-US"/>
          </a:p>
        </p:txBody>
      </p:sp>
      <p:sp>
        <p:nvSpPr>
          <p:cNvPr id="8" name="Shape 6"/>
          <p:cNvSpPr/>
          <p:nvPr/>
        </p:nvSpPr>
        <p:spPr>
          <a:xfrm>
            <a:off x="566928" y="1335024"/>
            <a:ext cx="54864" cy="566928"/>
          </a:xfrm>
          <a:prstGeom prst="rect">
            <a:avLst/>
          </a:prstGeom>
          <a:solidFill>
            <a:srgbClr val="059669"/>
          </a:solidFill>
          <a:ln w="12700">
            <a:solidFill>
              <a:srgbClr val="059669"/>
            </a:solidFill>
            <a:prstDash val="solid"/>
          </a:ln>
        </p:spPr>
        <p:txBody>
          <a:bodyPr/>
          <a:lstStyle/>
          <a:p>
            <a:endParaRPr lang="en-US"/>
          </a:p>
        </p:txBody>
      </p:sp>
      <p:sp>
        <p:nvSpPr>
          <p:cNvPr id="9" name="Text 7"/>
          <p:cNvSpPr/>
          <p:nvPr/>
        </p:nvSpPr>
        <p:spPr>
          <a:xfrm>
            <a:off x="694944" y="1371600"/>
            <a:ext cx="3474720"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Columns used in WHERE</a:t>
            </a:r>
            <a:endParaRPr lang="en-US" sz="1000" dirty="0"/>
          </a:p>
        </p:txBody>
      </p:sp>
      <p:sp>
        <p:nvSpPr>
          <p:cNvPr id="10" name="Text 8"/>
          <p:cNvSpPr/>
          <p:nvPr/>
        </p:nvSpPr>
        <p:spPr>
          <a:xfrm>
            <a:off x="694944" y="1591056"/>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onsolas" pitchFamily="34" charset="0"/>
                <a:ea typeface="Consolas" pitchFamily="34" charset="-122"/>
                <a:cs typeface="Consolas" pitchFamily="34" charset="-120"/>
              </a:rPr>
              <a:t>WHERE status = 'Processing'  →  CREATE INDEX ON orders(status)</a:t>
            </a:r>
            <a:endParaRPr lang="en-US" sz="850" dirty="0"/>
          </a:p>
        </p:txBody>
      </p:sp>
      <p:sp>
        <p:nvSpPr>
          <p:cNvPr id="11" name="Shape 9"/>
          <p:cNvSpPr/>
          <p:nvPr/>
        </p:nvSpPr>
        <p:spPr>
          <a:xfrm>
            <a:off x="566928" y="1993392"/>
            <a:ext cx="3712464" cy="566928"/>
          </a:xfrm>
          <a:prstGeom prst="rect">
            <a:avLst/>
          </a:prstGeom>
          <a:solidFill>
            <a:srgbClr val="059669">
              <a:alpha val="9000"/>
            </a:srgbClr>
          </a:solidFill>
          <a:ln w="12700">
            <a:solidFill>
              <a:srgbClr val="059669">
                <a:alpha val="30000"/>
              </a:srgbClr>
            </a:solidFill>
            <a:prstDash val="solid"/>
          </a:ln>
        </p:spPr>
        <p:txBody>
          <a:bodyPr/>
          <a:lstStyle/>
          <a:p>
            <a:endParaRPr lang="en-US"/>
          </a:p>
        </p:txBody>
      </p:sp>
      <p:sp>
        <p:nvSpPr>
          <p:cNvPr id="12" name="Shape 10"/>
          <p:cNvSpPr/>
          <p:nvPr/>
        </p:nvSpPr>
        <p:spPr>
          <a:xfrm>
            <a:off x="566928" y="1993392"/>
            <a:ext cx="54864" cy="566928"/>
          </a:xfrm>
          <a:prstGeom prst="rect">
            <a:avLst/>
          </a:prstGeom>
          <a:solidFill>
            <a:srgbClr val="059669"/>
          </a:solidFill>
          <a:ln w="12700">
            <a:solidFill>
              <a:srgbClr val="059669"/>
            </a:solidFill>
            <a:prstDash val="solid"/>
          </a:ln>
        </p:spPr>
        <p:txBody>
          <a:bodyPr/>
          <a:lstStyle/>
          <a:p>
            <a:endParaRPr lang="en-US"/>
          </a:p>
        </p:txBody>
      </p:sp>
      <p:sp>
        <p:nvSpPr>
          <p:cNvPr id="13" name="Text 11"/>
          <p:cNvSpPr/>
          <p:nvPr/>
        </p:nvSpPr>
        <p:spPr>
          <a:xfrm>
            <a:off x="694944" y="2029968"/>
            <a:ext cx="3474720"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JOIN columns</a:t>
            </a:r>
            <a:endParaRPr lang="en-US" sz="1000" dirty="0"/>
          </a:p>
        </p:txBody>
      </p:sp>
      <p:sp>
        <p:nvSpPr>
          <p:cNvPr id="14" name="Text 12"/>
          <p:cNvSpPr/>
          <p:nvPr/>
        </p:nvSpPr>
        <p:spPr>
          <a:xfrm>
            <a:off x="694944" y="2249424"/>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onsolas" pitchFamily="34" charset="0"/>
                <a:ea typeface="Consolas" pitchFamily="34" charset="-122"/>
                <a:cs typeface="Consolas" pitchFamily="34" charset="-120"/>
              </a:rPr>
              <a:t>JOIN orders o ON c.customer_id = o.customer_id  →  INDEX on customer_id</a:t>
            </a:r>
            <a:endParaRPr lang="en-US" sz="850" dirty="0"/>
          </a:p>
        </p:txBody>
      </p:sp>
      <p:sp>
        <p:nvSpPr>
          <p:cNvPr id="15" name="Shape 13"/>
          <p:cNvSpPr/>
          <p:nvPr/>
        </p:nvSpPr>
        <p:spPr>
          <a:xfrm>
            <a:off x="566928" y="2651760"/>
            <a:ext cx="3712464" cy="566928"/>
          </a:xfrm>
          <a:prstGeom prst="rect">
            <a:avLst/>
          </a:prstGeom>
          <a:solidFill>
            <a:srgbClr val="059669">
              <a:alpha val="9000"/>
            </a:srgbClr>
          </a:solidFill>
          <a:ln w="12700">
            <a:solidFill>
              <a:srgbClr val="059669">
                <a:alpha val="30000"/>
              </a:srgbClr>
            </a:solidFill>
            <a:prstDash val="solid"/>
          </a:ln>
        </p:spPr>
        <p:txBody>
          <a:bodyPr/>
          <a:lstStyle/>
          <a:p>
            <a:endParaRPr lang="en-US"/>
          </a:p>
        </p:txBody>
      </p:sp>
      <p:sp>
        <p:nvSpPr>
          <p:cNvPr id="16" name="Shape 14"/>
          <p:cNvSpPr/>
          <p:nvPr/>
        </p:nvSpPr>
        <p:spPr>
          <a:xfrm>
            <a:off x="566928" y="2651760"/>
            <a:ext cx="54864" cy="566928"/>
          </a:xfrm>
          <a:prstGeom prst="rect">
            <a:avLst/>
          </a:prstGeom>
          <a:solidFill>
            <a:srgbClr val="059669"/>
          </a:solidFill>
          <a:ln w="12700">
            <a:solidFill>
              <a:srgbClr val="059669"/>
            </a:solidFill>
            <a:prstDash val="solid"/>
          </a:ln>
        </p:spPr>
        <p:txBody>
          <a:bodyPr/>
          <a:lstStyle/>
          <a:p>
            <a:endParaRPr lang="en-US"/>
          </a:p>
        </p:txBody>
      </p:sp>
      <p:sp>
        <p:nvSpPr>
          <p:cNvPr id="17" name="Text 15"/>
          <p:cNvSpPr/>
          <p:nvPr/>
        </p:nvSpPr>
        <p:spPr>
          <a:xfrm>
            <a:off x="694944" y="2688336"/>
            <a:ext cx="3474720"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ORDER BY columns</a:t>
            </a:r>
            <a:endParaRPr lang="en-US" sz="1000" dirty="0"/>
          </a:p>
        </p:txBody>
      </p:sp>
      <p:sp>
        <p:nvSpPr>
          <p:cNvPr id="18" name="Text 16"/>
          <p:cNvSpPr/>
          <p:nvPr/>
        </p:nvSpPr>
        <p:spPr>
          <a:xfrm>
            <a:off x="694944" y="2907792"/>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onsolas" pitchFamily="34" charset="0"/>
                <a:ea typeface="Consolas" pitchFamily="34" charset="-122"/>
                <a:cs typeface="Consolas" pitchFamily="34" charset="-120"/>
              </a:rPr>
              <a:t>ORDER BY order_date DESC  →  CREATE INDEX ON orders(order_date)</a:t>
            </a:r>
            <a:endParaRPr lang="en-US" sz="850" dirty="0"/>
          </a:p>
        </p:txBody>
      </p:sp>
      <p:sp>
        <p:nvSpPr>
          <p:cNvPr id="19" name="Shape 17"/>
          <p:cNvSpPr/>
          <p:nvPr/>
        </p:nvSpPr>
        <p:spPr>
          <a:xfrm>
            <a:off x="566928" y="3310128"/>
            <a:ext cx="3712464" cy="566928"/>
          </a:xfrm>
          <a:prstGeom prst="rect">
            <a:avLst/>
          </a:prstGeom>
          <a:solidFill>
            <a:srgbClr val="059669">
              <a:alpha val="9000"/>
            </a:srgbClr>
          </a:solidFill>
          <a:ln w="12700">
            <a:solidFill>
              <a:srgbClr val="059669">
                <a:alpha val="30000"/>
              </a:srgbClr>
            </a:solidFill>
            <a:prstDash val="solid"/>
          </a:ln>
        </p:spPr>
        <p:txBody>
          <a:bodyPr/>
          <a:lstStyle/>
          <a:p>
            <a:endParaRPr lang="en-US"/>
          </a:p>
        </p:txBody>
      </p:sp>
      <p:sp>
        <p:nvSpPr>
          <p:cNvPr id="20" name="Shape 18"/>
          <p:cNvSpPr/>
          <p:nvPr/>
        </p:nvSpPr>
        <p:spPr>
          <a:xfrm>
            <a:off x="566928" y="3310128"/>
            <a:ext cx="54864" cy="566928"/>
          </a:xfrm>
          <a:prstGeom prst="rect">
            <a:avLst/>
          </a:prstGeom>
          <a:solidFill>
            <a:srgbClr val="059669"/>
          </a:solidFill>
          <a:ln w="12700">
            <a:solidFill>
              <a:srgbClr val="059669"/>
            </a:solidFill>
            <a:prstDash val="solid"/>
          </a:ln>
        </p:spPr>
        <p:txBody>
          <a:bodyPr/>
          <a:lstStyle/>
          <a:p>
            <a:endParaRPr lang="en-US"/>
          </a:p>
        </p:txBody>
      </p:sp>
      <p:sp>
        <p:nvSpPr>
          <p:cNvPr id="21" name="Text 19"/>
          <p:cNvSpPr/>
          <p:nvPr/>
        </p:nvSpPr>
        <p:spPr>
          <a:xfrm>
            <a:off x="694944" y="3346704"/>
            <a:ext cx="3474720"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Frequently searched FKs</a:t>
            </a:r>
            <a:endParaRPr lang="en-US" sz="1000" dirty="0"/>
          </a:p>
        </p:txBody>
      </p:sp>
      <p:sp>
        <p:nvSpPr>
          <p:cNvPr id="22" name="Text 20"/>
          <p:cNvSpPr/>
          <p:nvPr/>
        </p:nvSpPr>
        <p:spPr>
          <a:xfrm>
            <a:off x="694944" y="3566160"/>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onsolas" pitchFamily="34" charset="0"/>
                <a:ea typeface="Consolas" pitchFamily="34" charset="-122"/>
                <a:cs typeface="Consolas" pitchFamily="34" charset="-120"/>
              </a:rPr>
              <a:t>order_items.order_id → INDEX because every JOIN hits it</a:t>
            </a:r>
            <a:endParaRPr lang="en-US" sz="850" dirty="0"/>
          </a:p>
        </p:txBody>
      </p:sp>
      <p:sp>
        <p:nvSpPr>
          <p:cNvPr id="23" name="Shape 21"/>
          <p:cNvSpPr/>
          <p:nvPr/>
        </p:nvSpPr>
        <p:spPr>
          <a:xfrm>
            <a:off x="566928" y="4005072"/>
            <a:ext cx="3712464" cy="877824"/>
          </a:xfrm>
          <a:prstGeom prst="rect">
            <a:avLst/>
          </a:prstGeom>
          <a:solidFill>
            <a:srgbClr val="1E293B"/>
          </a:solidFill>
          <a:ln w="12700">
            <a:solidFill>
              <a:srgbClr val="1E293B"/>
            </a:solidFill>
            <a:prstDash val="solid"/>
          </a:ln>
        </p:spPr>
        <p:txBody>
          <a:bodyPr/>
          <a:lstStyle/>
          <a:p>
            <a:endParaRPr lang="en-US"/>
          </a:p>
        </p:txBody>
      </p:sp>
      <p:sp>
        <p:nvSpPr>
          <p:cNvPr id="24" name="Text 22"/>
          <p:cNvSpPr/>
          <p:nvPr/>
        </p:nvSpPr>
        <p:spPr>
          <a:xfrm>
            <a:off x="713232" y="4133088"/>
            <a:ext cx="3419856" cy="164592"/>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Index the most-queried column in orders table</a:t>
            </a:r>
            <a:endParaRPr lang="en-US" sz="800" dirty="0"/>
          </a:p>
        </p:txBody>
      </p:sp>
      <p:sp>
        <p:nvSpPr>
          <p:cNvPr id="25" name="Text 23"/>
          <p:cNvSpPr/>
          <p:nvPr/>
        </p:nvSpPr>
        <p:spPr>
          <a:xfrm>
            <a:off x="713232" y="4315968"/>
            <a:ext cx="3419856" cy="164592"/>
          </a:xfrm>
          <a:prstGeom prst="rect">
            <a:avLst/>
          </a:prstGeom>
          <a:noFill/>
          <a:ln/>
        </p:spPr>
        <p:txBody>
          <a:bodyPr wrap="square" lIns="0" tIns="0" rIns="0" bIns="0" rtlCol="0" anchor="ctr"/>
          <a:lstStyle/>
          <a:p>
            <a:pPr marL="0" indent="0">
              <a:buNone/>
            </a:pPr>
            <a:r>
              <a:rPr lang="en-US" sz="800" dirty="0">
                <a:solidFill>
                  <a:srgbClr val="6EE7B7"/>
                </a:solidFill>
                <a:latin typeface="Consolas" pitchFamily="34" charset="0"/>
                <a:ea typeface="Consolas" pitchFamily="34" charset="-122"/>
                <a:cs typeface="Consolas" pitchFamily="34" charset="-120"/>
              </a:rPr>
              <a:t>CREATE INDEX idx_order_status</a:t>
            </a:r>
            <a:endParaRPr lang="en-US" sz="800" dirty="0"/>
          </a:p>
        </p:txBody>
      </p:sp>
      <p:sp>
        <p:nvSpPr>
          <p:cNvPr id="26" name="Text 24"/>
          <p:cNvSpPr/>
          <p:nvPr/>
        </p:nvSpPr>
        <p:spPr>
          <a:xfrm>
            <a:off x="713232" y="4498848"/>
            <a:ext cx="3419856"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orders (status);</a:t>
            </a:r>
            <a:endParaRPr lang="en-US" sz="800" dirty="0"/>
          </a:p>
        </p:txBody>
      </p:sp>
      <p:sp>
        <p:nvSpPr>
          <p:cNvPr id="27" name="Text 25"/>
          <p:cNvSpPr/>
          <p:nvPr/>
        </p:nvSpPr>
        <p:spPr>
          <a:xfrm>
            <a:off x="713232" y="4681728"/>
            <a:ext cx="3419856" cy="164592"/>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Composite: city lookup + date range together</a:t>
            </a:r>
            <a:endParaRPr lang="en-US" sz="800" dirty="0"/>
          </a:p>
        </p:txBody>
      </p:sp>
      <p:sp>
        <p:nvSpPr>
          <p:cNvPr id="28" name="Shape 26"/>
          <p:cNvSpPr/>
          <p:nvPr/>
        </p:nvSpPr>
        <p:spPr>
          <a:xfrm>
            <a:off x="4754880" y="969264"/>
            <a:ext cx="3931920" cy="4023360"/>
          </a:xfrm>
          <a:prstGeom prst="rect">
            <a:avLst/>
          </a:prstGeom>
          <a:solidFill>
            <a:srgbClr val="F8FAFC"/>
          </a:solidFill>
          <a:ln w="12700">
            <a:solidFill>
              <a:srgbClr val="DC2626">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29" name="Shape 27"/>
          <p:cNvSpPr/>
          <p:nvPr/>
        </p:nvSpPr>
        <p:spPr>
          <a:xfrm>
            <a:off x="4754880" y="969264"/>
            <a:ext cx="3931920" cy="274320"/>
          </a:xfrm>
          <a:prstGeom prst="rect">
            <a:avLst/>
          </a:prstGeom>
          <a:solidFill>
            <a:srgbClr val="DC2626"/>
          </a:solidFill>
          <a:ln w="12700">
            <a:solidFill>
              <a:srgbClr val="DC2626"/>
            </a:solidFill>
            <a:prstDash val="solid"/>
          </a:ln>
        </p:spPr>
        <p:txBody>
          <a:bodyPr/>
          <a:lstStyle/>
          <a:p>
            <a:endParaRPr lang="en-US"/>
          </a:p>
        </p:txBody>
      </p:sp>
      <p:sp>
        <p:nvSpPr>
          <p:cNvPr id="30" name="Text 28"/>
          <p:cNvSpPr/>
          <p:nvPr/>
        </p:nvSpPr>
        <p:spPr>
          <a:xfrm>
            <a:off x="4864608" y="969264"/>
            <a:ext cx="3712464"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When NOT to create an index</a:t>
            </a:r>
            <a:endParaRPr lang="en-US" sz="1200" dirty="0"/>
          </a:p>
        </p:txBody>
      </p:sp>
      <p:sp>
        <p:nvSpPr>
          <p:cNvPr id="31" name="Shape 29"/>
          <p:cNvSpPr/>
          <p:nvPr/>
        </p:nvSpPr>
        <p:spPr>
          <a:xfrm>
            <a:off x="4864608" y="1335024"/>
            <a:ext cx="3712464" cy="566928"/>
          </a:xfrm>
          <a:prstGeom prst="rect">
            <a:avLst/>
          </a:prstGeom>
          <a:solidFill>
            <a:srgbClr val="DC2626">
              <a:alpha val="8000"/>
            </a:srgbClr>
          </a:solidFill>
          <a:ln w="12700">
            <a:solidFill>
              <a:srgbClr val="DC2626">
                <a:alpha val="28000"/>
              </a:srgbClr>
            </a:solidFill>
            <a:prstDash val="solid"/>
          </a:ln>
        </p:spPr>
        <p:txBody>
          <a:bodyPr/>
          <a:lstStyle/>
          <a:p>
            <a:endParaRPr lang="en-US"/>
          </a:p>
        </p:txBody>
      </p:sp>
      <p:sp>
        <p:nvSpPr>
          <p:cNvPr id="32" name="Shape 30"/>
          <p:cNvSpPr/>
          <p:nvPr/>
        </p:nvSpPr>
        <p:spPr>
          <a:xfrm>
            <a:off x="4864608" y="1335024"/>
            <a:ext cx="54864" cy="566928"/>
          </a:xfrm>
          <a:prstGeom prst="rect">
            <a:avLst/>
          </a:prstGeom>
          <a:solidFill>
            <a:srgbClr val="DC2626"/>
          </a:solidFill>
          <a:ln w="12700">
            <a:solidFill>
              <a:srgbClr val="DC2626"/>
            </a:solidFill>
            <a:prstDash val="solid"/>
          </a:ln>
        </p:spPr>
        <p:txBody>
          <a:bodyPr/>
          <a:lstStyle/>
          <a:p>
            <a:endParaRPr lang="en-US"/>
          </a:p>
        </p:txBody>
      </p:sp>
      <p:sp>
        <p:nvSpPr>
          <p:cNvPr id="33" name="Text 31"/>
          <p:cNvSpPr/>
          <p:nvPr/>
        </p:nvSpPr>
        <p:spPr>
          <a:xfrm>
            <a:off x="4992624" y="1371600"/>
            <a:ext cx="3474720" cy="201168"/>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  Small tables</a:t>
            </a:r>
            <a:endParaRPr lang="en-US" sz="1000" dirty="0"/>
          </a:p>
        </p:txBody>
      </p:sp>
      <p:sp>
        <p:nvSpPr>
          <p:cNvPr id="34" name="Text 32"/>
          <p:cNvSpPr/>
          <p:nvPr/>
        </p:nvSpPr>
        <p:spPr>
          <a:xfrm>
            <a:off x="4992624" y="1591056"/>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daily_sales has 31 rows — full scan is faster than using an index</a:t>
            </a:r>
            <a:endParaRPr lang="en-US" sz="850" dirty="0"/>
          </a:p>
        </p:txBody>
      </p:sp>
      <p:sp>
        <p:nvSpPr>
          <p:cNvPr id="35" name="Shape 33"/>
          <p:cNvSpPr/>
          <p:nvPr/>
        </p:nvSpPr>
        <p:spPr>
          <a:xfrm>
            <a:off x="4864608" y="1993392"/>
            <a:ext cx="3712464" cy="566928"/>
          </a:xfrm>
          <a:prstGeom prst="rect">
            <a:avLst/>
          </a:prstGeom>
          <a:solidFill>
            <a:srgbClr val="DC2626">
              <a:alpha val="8000"/>
            </a:srgbClr>
          </a:solidFill>
          <a:ln w="12700">
            <a:solidFill>
              <a:srgbClr val="DC2626">
                <a:alpha val="28000"/>
              </a:srgbClr>
            </a:solidFill>
            <a:prstDash val="solid"/>
          </a:ln>
        </p:spPr>
        <p:txBody>
          <a:bodyPr/>
          <a:lstStyle/>
          <a:p>
            <a:endParaRPr lang="en-US"/>
          </a:p>
        </p:txBody>
      </p:sp>
      <p:sp>
        <p:nvSpPr>
          <p:cNvPr id="36" name="Shape 34"/>
          <p:cNvSpPr/>
          <p:nvPr/>
        </p:nvSpPr>
        <p:spPr>
          <a:xfrm>
            <a:off x="4864608" y="1993392"/>
            <a:ext cx="54864" cy="566928"/>
          </a:xfrm>
          <a:prstGeom prst="rect">
            <a:avLst/>
          </a:prstGeom>
          <a:solidFill>
            <a:srgbClr val="DC2626"/>
          </a:solidFill>
          <a:ln w="12700">
            <a:solidFill>
              <a:srgbClr val="DC2626"/>
            </a:solidFill>
            <a:prstDash val="solid"/>
          </a:ln>
        </p:spPr>
        <p:txBody>
          <a:bodyPr/>
          <a:lstStyle/>
          <a:p>
            <a:endParaRPr lang="en-US"/>
          </a:p>
        </p:txBody>
      </p:sp>
      <p:sp>
        <p:nvSpPr>
          <p:cNvPr id="37" name="Text 35"/>
          <p:cNvSpPr/>
          <p:nvPr/>
        </p:nvSpPr>
        <p:spPr>
          <a:xfrm>
            <a:off x="4992624" y="2029968"/>
            <a:ext cx="3474720" cy="201168"/>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  Rarely queried cols</a:t>
            </a:r>
            <a:endParaRPr lang="en-US" sz="1000" dirty="0"/>
          </a:p>
        </p:txBody>
      </p:sp>
      <p:sp>
        <p:nvSpPr>
          <p:cNvPr id="38" name="Text 36"/>
          <p:cNvSpPr/>
          <p:nvPr/>
        </p:nvSpPr>
        <p:spPr>
          <a:xfrm>
            <a:off x="4992624" y="2249424"/>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customer.join_date — only queried once per year, not worth it</a:t>
            </a:r>
            <a:endParaRPr lang="en-US" sz="850" dirty="0"/>
          </a:p>
        </p:txBody>
      </p:sp>
      <p:sp>
        <p:nvSpPr>
          <p:cNvPr id="39" name="Shape 37"/>
          <p:cNvSpPr/>
          <p:nvPr/>
        </p:nvSpPr>
        <p:spPr>
          <a:xfrm>
            <a:off x="4864608" y="2651760"/>
            <a:ext cx="3712464" cy="566928"/>
          </a:xfrm>
          <a:prstGeom prst="rect">
            <a:avLst/>
          </a:prstGeom>
          <a:solidFill>
            <a:srgbClr val="DC2626">
              <a:alpha val="8000"/>
            </a:srgbClr>
          </a:solidFill>
          <a:ln w="12700">
            <a:solidFill>
              <a:srgbClr val="DC2626">
                <a:alpha val="28000"/>
              </a:srgbClr>
            </a:solidFill>
            <a:prstDash val="solid"/>
          </a:ln>
        </p:spPr>
        <p:txBody>
          <a:bodyPr/>
          <a:lstStyle/>
          <a:p>
            <a:endParaRPr lang="en-US"/>
          </a:p>
        </p:txBody>
      </p:sp>
      <p:sp>
        <p:nvSpPr>
          <p:cNvPr id="40" name="Shape 38"/>
          <p:cNvSpPr/>
          <p:nvPr/>
        </p:nvSpPr>
        <p:spPr>
          <a:xfrm>
            <a:off x="4864608" y="2651760"/>
            <a:ext cx="54864" cy="566928"/>
          </a:xfrm>
          <a:prstGeom prst="rect">
            <a:avLst/>
          </a:prstGeom>
          <a:solidFill>
            <a:srgbClr val="DC2626"/>
          </a:solidFill>
          <a:ln w="12700">
            <a:solidFill>
              <a:srgbClr val="DC2626"/>
            </a:solidFill>
            <a:prstDash val="solid"/>
          </a:ln>
        </p:spPr>
        <p:txBody>
          <a:bodyPr/>
          <a:lstStyle/>
          <a:p>
            <a:endParaRPr lang="en-US"/>
          </a:p>
        </p:txBody>
      </p:sp>
      <p:sp>
        <p:nvSpPr>
          <p:cNvPr id="41" name="Text 39"/>
          <p:cNvSpPr/>
          <p:nvPr/>
        </p:nvSpPr>
        <p:spPr>
          <a:xfrm>
            <a:off x="4992624" y="2688336"/>
            <a:ext cx="3474720" cy="201168"/>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  High-update columns</a:t>
            </a:r>
            <a:endParaRPr lang="en-US" sz="1000" dirty="0"/>
          </a:p>
        </p:txBody>
      </p:sp>
      <p:sp>
        <p:nvSpPr>
          <p:cNvPr id="42" name="Text 40"/>
          <p:cNvSpPr/>
          <p:nvPr/>
        </p:nvSpPr>
        <p:spPr>
          <a:xfrm>
            <a:off x="4992624" y="2907792"/>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orders.status changes often — index must rebuild on every update</a:t>
            </a:r>
            <a:endParaRPr lang="en-US" sz="850" dirty="0"/>
          </a:p>
        </p:txBody>
      </p:sp>
      <p:sp>
        <p:nvSpPr>
          <p:cNvPr id="43" name="Shape 41"/>
          <p:cNvSpPr/>
          <p:nvPr/>
        </p:nvSpPr>
        <p:spPr>
          <a:xfrm>
            <a:off x="4864608" y="3310128"/>
            <a:ext cx="3712464" cy="566928"/>
          </a:xfrm>
          <a:prstGeom prst="rect">
            <a:avLst/>
          </a:prstGeom>
          <a:solidFill>
            <a:srgbClr val="DC2626">
              <a:alpha val="8000"/>
            </a:srgbClr>
          </a:solidFill>
          <a:ln w="12700">
            <a:solidFill>
              <a:srgbClr val="DC2626">
                <a:alpha val="28000"/>
              </a:srgbClr>
            </a:solidFill>
            <a:prstDash val="solid"/>
          </a:ln>
        </p:spPr>
        <p:txBody>
          <a:bodyPr/>
          <a:lstStyle/>
          <a:p>
            <a:endParaRPr lang="en-US"/>
          </a:p>
        </p:txBody>
      </p:sp>
      <p:sp>
        <p:nvSpPr>
          <p:cNvPr id="44" name="Shape 42"/>
          <p:cNvSpPr/>
          <p:nvPr/>
        </p:nvSpPr>
        <p:spPr>
          <a:xfrm>
            <a:off x="4864608" y="3310128"/>
            <a:ext cx="54864" cy="566928"/>
          </a:xfrm>
          <a:prstGeom prst="rect">
            <a:avLst/>
          </a:prstGeom>
          <a:solidFill>
            <a:srgbClr val="DC2626"/>
          </a:solidFill>
          <a:ln w="12700">
            <a:solidFill>
              <a:srgbClr val="DC2626"/>
            </a:solidFill>
            <a:prstDash val="solid"/>
          </a:ln>
        </p:spPr>
        <p:txBody>
          <a:bodyPr/>
          <a:lstStyle/>
          <a:p>
            <a:endParaRPr lang="en-US"/>
          </a:p>
        </p:txBody>
      </p:sp>
      <p:sp>
        <p:nvSpPr>
          <p:cNvPr id="45" name="Text 43"/>
          <p:cNvSpPr/>
          <p:nvPr/>
        </p:nvSpPr>
        <p:spPr>
          <a:xfrm>
            <a:off x="4992624" y="3346704"/>
            <a:ext cx="3474720" cy="201168"/>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  Low cardinality</a:t>
            </a:r>
            <a:endParaRPr lang="en-US" sz="1000" dirty="0"/>
          </a:p>
        </p:txBody>
      </p:sp>
      <p:sp>
        <p:nvSpPr>
          <p:cNvPr id="46" name="Text 44"/>
          <p:cNvSpPr/>
          <p:nvPr/>
        </p:nvSpPr>
        <p:spPr>
          <a:xfrm>
            <a:off x="4992624" y="3566160"/>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gender column with only M/F — index barely narrows results down</a:t>
            </a:r>
            <a:endParaRPr lang="en-US" sz="850" dirty="0"/>
          </a:p>
        </p:txBody>
      </p:sp>
      <p:sp>
        <p:nvSpPr>
          <p:cNvPr id="47" name="Shape 45"/>
          <p:cNvSpPr/>
          <p:nvPr/>
        </p:nvSpPr>
        <p:spPr>
          <a:xfrm>
            <a:off x="4864608" y="4005072"/>
            <a:ext cx="3712464" cy="914400"/>
          </a:xfrm>
          <a:prstGeom prst="rect">
            <a:avLst/>
          </a:prstGeom>
          <a:solidFill>
            <a:srgbClr val="7C3AED">
              <a:alpha val="10000"/>
            </a:srgbClr>
          </a:solidFill>
          <a:ln w="12700">
            <a:solidFill>
              <a:srgbClr val="7C3AED">
                <a:alpha val="32000"/>
              </a:srgbClr>
            </a:solidFill>
            <a:prstDash val="solid"/>
          </a:ln>
        </p:spPr>
        <p:txBody>
          <a:bodyPr/>
          <a:lstStyle/>
          <a:p>
            <a:endParaRPr lang="en-US"/>
          </a:p>
        </p:txBody>
      </p:sp>
      <p:sp>
        <p:nvSpPr>
          <p:cNvPr id="48" name="Shape 46"/>
          <p:cNvSpPr/>
          <p:nvPr/>
        </p:nvSpPr>
        <p:spPr>
          <a:xfrm>
            <a:off x="4864608" y="4005072"/>
            <a:ext cx="54864" cy="914400"/>
          </a:xfrm>
          <a:prstGeom prst="rect">
            <a:avLst/>
          </a:prstGeom>
          <a:solidFill>
            <a:srgbClr val="7C3AED"/>
          </a:solidFill>
          <a:ln w="12700">
            <a:solidFill>
              <a:srgbClr val="7C3AED"/>
            </a:solidFill>
            <a:prstDash val="solid"/>
          </a:ln>
        </p:spPr>
        <p:txBody>
          <a:bodyPr/>
          <a:lstStyle/>
          <a:p>
            <a:endParaRPr lang="en-US"/>
          </a:p>
        </p:txBody>
      </p:sp>
      <p:sp>
        <p:nvSpPr>
          <p:cNvPr id="49" name="Text 47"/>
          <p:cNvSpPr/>
          <p:nvPr/>
        </p:nvSpPr>
        <p:spPr>
          <a:xfrm>
            <a:off x="4992624" y="4041648"/>
            <a:ext cx="3493008" cy="201168"/>
          </a:xfrm>
          <a:prstGeom prst="rect">
            <a:avLst/>
          </a:prstGeom>
          <a:noFill/>
          <a:ln/>
        </p:spPr>
        <p:txBody>
          <a:bodyPr wrap="square" lIns="0" tIns="0" rIns="0" bIns="0" rtlCol="0" anchor="ctr"/>
          <a:lstStyle/>
          <a:p>
            <a:pPr marL="0" indent="0">
              <a:buNone/>
            </a:pPr>
            <a:r>
              <a:rPr lang="en-US" sz="900" b="1" dirty="0">
                <a:solidFill>
                  <a:srgbClr val="7C3AED"/>
                </a:solidFill>
                <a:latin typeface="Calibri" pitchFamily="34" charset="0"/>
                <a:ea typeface="Calibri" pitchFamily="34" charset="-122"/>
                <a:cs typeface="Calibri" pitchFamily="34" charset="-120"/>
              </a:rPr>
              <a:t>Pro Tip:</a:t>
            </a:r>
            <a:endParaRPr lang="en-US" sz="900" dirty="0"/>
          </a:p>
        </p:txBody>
      </p:sp>
      <p:sp>
        <p:nvSpPr>
          <p:cNvPr id="50" name="Text 48"/>
          <p:cNvSpPr/>
          <p:nvPr/>
        </p:nvSpPr>
        <p:spPr>
          <a:xfrm>
            <a:off x="4992624" y="4242816"/>
            <a:ext cx="3493008" cy="62179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Every index SLOWS DOWN inserts and updates because PostgreSQL must update the index too. Only index columns you actually query frequently. Use EXPLAIN ANALYZE to confirm the index is being used.</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Query Optimization — Complete Guide</a:t>
            </a:r>
            <a:endParaRPr lang="en-US" sz="3600" dirty="0"/>
          </a:p>
        </p:txBody>
      </p:sp>
      <p:sp>
        <p:nvSpPr>
          <p:cNvPr id="3" name="Text 1"/>
          <p:cNvSpPr/>
          <p:nvPr/>
        </p:nvSpPr>
        <p:spPr>
          <a:xfrm>
            <a:off x="457200" y="713232"/>
            <a:ext cx="8229600" cy="237744"/>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All techniques using the same database: customers · orders · order_items · products · daily_sales</a:t>
            </a:r>
            <a:endParaRPr lang="en-US" sz="1300" dirty="0"/>
          </a:p>
        </p:txBody>
      </p:sp>
      <p:sp>
        <p:nvSpPr>
          <p:cNvPr id="4" name="Shape 2"/>
          <p:cNvSpPr/>
          <p:nvPr/>
        </p:nvSpPr>
        <p:spPr>
          <a:xfrm>
            <a:off x="457200" y="969264"/>
            <a:ext cx="4160520" cy="804672"/>
          </a:xfrm>
          <a:prstGeom prst="rect">
            <a:avLst/>
          </a:prstGeom>
          <a:solidFill>
            <a:srgbClr val="F8FAFC"/>
          </a:solidFill>
          <a:ln w="12700">
            <a:solidFill>
              <a:srgbClr val="059669">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457200" y="969264"/>
            <a:ext cx="54864" cy="804672"/>
          </a:xfrm>
          <a:prstGeom prst="rect">
            <a:avLst/>
          </a:prstGeom>
          <a:solidFill>
            <a:srgbClr val="059669"/>
          </a:solidFill>
          <a:ln w="12700">
            <a:solidFill>
              <a:srgbClr val="059669"/>
            </a:solidFill>
            <a:prstDash val="solid"/>
          </a:ln>
        </p:spPr>
        <p:txBody>
          <a:bodyPr/>
          <a:lstStyle/>
          <a:p>
            <a:endParaRPr lang="en-US"/>
          </a:p>
        </p:txBody>
      </p:sp>
      <p:sp>
        <p:nvSpPr>
          <p:cNvPr id="6" name="Shape 4"/>
          <p:cNvSpPr/>
          <p:nvPr/>
        </p:nvSpPr>
        <p:spPr>
          <a:xfrm>
            <a:off x="566928" y="1024128"/>
            <a:ext cx="219456" cy="219456"/>
          </a:xfrm>
          <a:prstGeom prst="ellipse">
            <a:avLst/>
          </a:prstGeom>
          <a:solidFill>
            <a:srgbClr val="059669"/>
          </a:solidFill>
          <a:ln w="12700">
            <a:solidFill>
              <a:srgbClr val="059669"/>
            </a:solidFill>
            <a:prstDash val="solid"/>
          </a:ln>
        </p:spPr>
        <p:txBody>
          <a:bodyPr/>
          <a:lstStyle/>
          <a:p>
            <a:endParaRPr lang="en-US"/>
          </a:p>
        </p:txBody>
      </p:sp>
      <p:sp>
        <p:nvSpPr>
          <p:cNvPr id="7" name="Text 5"/>
          <p:cNvSpPr/>
          <p:nvPr/>
        </p:nvSpPr>
        <p:spPr>
          <a:xfrm>
            <a:off x="566928" y="1024128"/>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8" name="Text 6"/>
          <p:cNvSpPr/>
          <p:nvPr/>
        </p:nvSpPr>
        <p:spPr>
          <a:xfrm>
            <a:off x="859536" y="1033272"/>
            <a:ext cx="3666744"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SELECT only the columns you need</a:t>
            </a:r>
            <a:endParaRPr lang="en-US" sz="900" dirty="0"/>
          </a:p>
        </p:txBody>
      </p:sp>
      <p:sp>
        <p:nvSpPr>
          <p:cNvPr id="9" name="Text 7"/>
          <p:cNvSpPr/>
          <p:nvPr/>
        </p:nvSpPr>
        <p:spPr>
          <a:xfrm>
            <a:off x="585216" y="1243584"/>
            <a:ext cx="3959352"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SELECT * FROM orders</a:t>
            </a:r>
            <a:endParaRPr lang="en-US" sz="750" dirty="0"/>
          </a:p>
        </p:txBody>
      </p:sp>
      <p:sp>
        <p:nvSpPr>
          <p:cNvPr id="10" name="Text 8"/>
          <p:cNvSpPr/>
          <p:nvPr/>
        </p:nvSpPr>
        <p:spPr>
          <a:xfrm>
            <a:off x="585216" y="1389888"/>
            <a:ext cx="3959352"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SELECT order_id, status, order_date FROM orders</a:t>
            </a:r>
            <a:endParaRPr lang="en-US" sz="750" dirty="0"/>
          </a:p>
        </p:txBody>
      </p:sp>
      <p:sp>
        <p:nvSpPr>
          <p:cNvPr id="11" name="Text 9"/>
          <p:cNvSpPr/>
          <p:nvPr/>
        </p:nvSpPr>
        <p:spPr>
          <a:xfrm>
            <a:off x="585216" y="1554480"/>
            <a:ext cx="3959352"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SELECT * transfers ALL columns across the network. On a table with 20 columns, you may only need 3.</a:t>
            </a:r>
            <a:endParaRPr lang="en-US" sz="800" dirty="0"/>
          </a:p>
        </p:txBody>
      </p:sp>
      <p:sp>
        <p:nvSpPr>
          <p:cNvPr id="12" name="Shape 10"/>
          <p:cNvSpPr/>
          <p:nvPr/>
        </p:nvSpPr>
        <p:spPr>
          <a:xfrm>
            <a:off x="457200" y="1828800"/>
            <a:ext cx="4160520" cy="804672"/>
          </a:xfrm>
          <a:prstGeom prst="rect">
            <a:avLst/>
          </a:prstGeom>
          <a:solidFill>
            <a:srgbClr val="F8FAFC"/>
          </a:solidFill>
          <a:ln w="12700">
            <a:solidFill>
              <a:srgbClr val="2563EB">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457200" y="1828800"/>
            <a:ext cx="54864" cy="804672"/>
          </a:xfrm>
          <a:prstGeom prst="rect">
            <a:avLst/>
          </a:prstGeom>
          <a:solidFill>
            <a:srgbClr val="2563EB"/>
          </a:solidFill>
          <a:ln w="12700">
            <a:solidFill>
              <a:srgbClr val="2563EB"/>
            </a:solidFill>
            <a:prstDash val="solid"/>
          </a:ln>
        </p:spPr>
        <p:txBody>
          <a:bodyPr/>
          <a:lstStyle/>
          <a:p>
            <a:endParaRPr lang="en-US"/>
          </a:p>
        </p:txBody>
      </p:sp>
      <p:sp>
        <p:nvSpPr>
          <p:cNvPr id="14" name="Shape 12"/>
          <p:cNvSpPr/>
          <p:nvPr/>
        </p:nvSpPr>
        <p:spPr>
          <a:xfrm>
            <a:off x="566928" y="1883664"/>
            <a:ext cx="219456" cy="219456"/>
          </a:xfrm>
          <a:prstGeom prst="ellipse">
            <a:avLst/>
          </a:prstGeom>
          <a:solidFill>
            <a:srgbClr val="2563EB"/>
          </a:solidFill>
          <a:ln w="12700">
            <a:solidFill>
              <a:srgbClr val="2563EB"/>
            </a:solidFill>
            <a:prstDash val="solid"/>
          </a:ln>
        </p:spPr>
        <p:txBody>
          <a:bodyPr/>
          <a:lstStyle/>
          <a:p>
            <a:endParaRPr lang="en-US"/>
          </a:p>
        </p:txBody>
      </p:sp>
      <p:sp>
        <p:nvSpPr>
          <p:cNvPr id="15" name="Text 13"/>
          <p:cNvSpPr/>
          <p:nvPr/>
        </p:nvSpPr>
        <p:spPr>
          <a:xfrm>
            <a:off x="566928" y="1883664"/>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6" name="Text 14"/>
          <p:cNvSpPr/>
          <p:nvPr/>
        </p:nvSpPr>
        <p:spPr>
          <a:xfrm>
            <a:off x="859536" y="1892808"/>
            <a:ext cx="3666744" cy="182880"/>
          </a:xfrm>
          <a:prstGeom prst="rect">
            <a:avLst/>
          </a:prstGeom>
          <a:noFill/>
          <a:ln/>
        </p:spPr>
        <p:txBody>
          <a:bodyPr wrap="square" lIns="0" tIns="0" rIns="0" bIns="0" rtlCol="0" anchor="ctr"/>
          <a:lstStyle/>
          <a:p>
            <a:pPr marL="0" indent="0">
              <a:buNone/>
            </a:pPr>
            <a:r>
              <a:rPr lang="en-US" sz="900" b="1" dirty="0">
                <a:solidFill>
                  <a:srgbClr val="2563EB"/>
                </a:solidFill>
                <a:latin typeface="Calibri" pitchFamily="34" charset="0"/>
                <a:ea typeface="Calibri" pitchFamily="34" charset="-122"/>
                <a:cs typeface="Calibri" pitchFamily="34" charset="-120"/>
              </a:rPr>
              <a:t>Filter early with WHERE — before JOIN</a:t>
            </a:r>
            <a:endParaRPr lang="en-US" sz="900" dirty="0"/>
          </a:p>
        </p:txBody>
      </p:sp>
      <p:sp>
        <p:nvSpPr>
          <p:cNvPr id="17" name="Text 15"/>
          <p:cNvSpPr/>
          <p:nvPr/>
        </p:nvSpPr>
        <p:spPr>
          <a:xfrm>
            <a:off x="585216" y="2103120"/>
            <a:ext cx="3959352"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FROM customers c JOIN orders o ON c.customer_id=o.custom...</a:t>
            </a:r>
            <a:endParaRPr lang="en-US" sz="750" dirty="0"/>
          </a:p>
        </p:txBody>
      </p:sp>
      <p:sp>
        <p:nvSpPr>
          <p:cNvPr id="18" name="Text 16"/>
          <p:cNvSpPr/>
          <p:nvPr/>
        </p:nvSpPr>
        <p:spPr>
          <a:xfrm>
            <a:off x="585216" y="2249424"/>
            <a:ext cx="3959352"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FROM orders o WHERE o.status='Delivered' JOIN customers ...</a:t>
            </a:r>
            <a:endParaRPr lang="en-US" sz="750" dirty="0"/>
          </a:p>
        </p:txBody>
      </p:sp>
      <p:sp>
        <p:nvSpPr>
          <p:cNvPr id="19" name="Text 17"/>
          <p:cNvSpPr/>
          <p:nvPr/>
        </p:nvSpPr>
        <p:spPr>
          <a:xfrm>
            <a:off x="585216" y="2414016"/>
            <a:ext cx="3959352"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Filter first, then join. The smaller the table going into the JOIN, the faster the JOIN runs.</a:t>
            </a:r>
            <a:endParaRPr lang="en-US" sz="800" dirty="0"/>
          </a:p>
        </p:txBody>
      </p:sp>
      <p:sp>
        <p:nvSpPr>
          <p:cNvPr id="20" name="Shape 18"/>
          <p:cNvSpPr/>
          <p:nvPr/>
        </p:nvSpPr>
        <p:spPr>
          <a:xfrm>
            <a:off x="457200" y="2688336"/>
            <a:ext cx="4160520" cy="804672"/>
          </a:xfrm>
          <a:prstGeom prst="rect">
            <a:avLst/>
          </a:prstGeom>
          <a:solidFill>
            <a:srgbClr val="F8FAFC"/>
          </a:solidFill>
          <a:ln w="12700">
            <a:solidFill>
              <a:srgbClr val="7C3AED">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21" name="Shape 19"/>
          <p:cNvSpPr/>
          <p:nvPr/>
        </p:nvSpPr>
        <p:spPr>
          <a:xfrm>
            <a:off x="457200" y="2688336"/>
            <a:ext cx="54864" cy="804672"/>
          </a:xfrm>
          <a:prstGeom prst="rect">
            <a:avLst/>
          </a:prstGeom>
          <a:solidFill>
            <a:srgbClr val="7C3AED"/>
          </a:solidFill>
          <a:ln w="12700">
            <a:solidFill>
              <a:srgbClr val="7C3AED"/>
            </a:solidFill>
            <a:prstDash val="solid"/>
          </a:ln>
        </p:spPr>
        <p:txBody>
          <a:bodyPr/>
          <a:lstStyle/>
          <a:p>
            <a:endParaRPr lang="en-US"/>
          </a:p>
        </p:txBody>
      </p:sp>
      <p:sp>
        <p:nvSpPr>
          <p:cNvPr id="22" name="Shape 20"/>
          <p:cNvSpPr/>
          <p:nvPr/>
        </p:nvSpPr>
        <p:spPr>
          <a:xfrm>
            <a:off x="566928" y="2743200"/>
            <a:ext cx="219456" cy="219456"/>
          </a:xfrm>
          <a:prstGeom prst="ellipse">
            <a:avLst/>
          </a:prstGeom>
          <a:solidFill>
            <a:srgbClr val="7C3AED"/>
          </a:solidFill>
          <a:ln w="12700">
            <a:solidFill>
              <a:srgbClr val="7C3AED"/>
            </a:solidFill>
            <a:prstDash val="solid"/>
          </a:ln>
        </p:spPr>
        <p:txBody>
          <a:bodyPr/>
          <a:lstStyle/>
          <a:p>
            <a:endParaRPr lang="en-US"/>
          </a:p>
        </p:txBody>
      </p:sp>
      <p:sp>
        <p:nvSpPr>
          <p:cNvPr id="23" name="Text 21"/>
          <p:cNvSpPr/>
          <p:nvPr/>
        </p:nvSpPr>
        <p:spPr>
          <a:xfrm>
            <a:off x="566928" y="2743200"/>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24" name="Text 22"/>
          <p:cNvSpPr/>
          <p:nvPr/>
        </p:nvSpPr>
        <p:spPr>
          <a:xfrm>
            <a:off x="859536" y="2752344"/>
            <a:ext cx="3666744" cy="182880"/>
          </a:xfrm>
          <a:prstGeom prst="rect">
            <a:avLst/>
          </a:prstGeom>
          <a:noFill/>
          <a:ln/>
        </p:spPr>
        <p:txBody>
          <a:bodyPr wrap="square" lIns="0" tIns="0" rIns="0" bIns="0" rtlCol="0" anchor="ctr"/>
          <a:lstStyle/>
          <a:p>
            <a:pPr marL="0" indent="0">
              <a:buNone/>
            </a:pPr>
            <a:r>
              <a:rPr lang="en-US" sz="900" b="1" dirty="0">
                <a:solidFill>
                  <a:srgbClr val="7C3AED"/>
                </a:solidFill>
                <a:latin typeface="Calibri" pitchFamily="34" charset="0"/>
                <a:ea typeface="Calibri" pitchFamily="34" charset="-122"/>
                <a:cs typeface="Calibri" pitchFamily="34" charset="-120"/>
              </a:rPr>
              <a:t>Use indexes on WHERE and JOIN columns</a:t>
            </a:r>
            <a:endParaRPr lang="en-US" sz="900" dirty="0"/>
          </a:p>
        </p:txBody>
      </p:sp>
      <p:sp>
        <p:nvSpPr>
          <p:cNvPr id="25" name="Text 23"/>
          <p:cNvSpPr/>
          <p:nvPr/>
        </p:nvSpPr>
        <p:spPr>
          <a:xfrm>
            <a:off x="585216" y="2962656"/>
            <a:ext cx="3959352"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 no index: Seq Scan 25 rows checked one by one</a:t>
            </a:r>
            <a:endParaRPr lang="en-US" sz="750" dirty="0"/>
          </a:p>
        </p:txBody>
      </p:sp>
      <p:sp>
        <p:nvSpPr>
          <p:cNvPr id="26" name="Text 24"/>
          <p:cNvSpPr/>
          <p:nvPr/>
        </p:nvSpPr>
        <p:spPr>
          <a:xfrm>
            <a:off x="585216" y="3108960"/>
            <a:ext cx="3959352"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CREATE INDEX idx_status ON orders(status);  -- Index Sca...</a:t>
            </a:r>
            <a:endParaRPr lang="en-US" sz="750" dirty="0"/>
          </a:p>
        </p:txBody>
      </p:sp>
      <p:sp>
        <p:nvSpPr>
          <p:cNvPr id="27" name="Text 25"/>
          <p:cNvSpPr/>
          <p:nvPr/>
        </p:nvSpPr>
        <p:spPr>
          <a:xfrm>
            <a:off x="585216" y="3273552"/>
            <a:ext cx="3959352"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Already covered in detail on the previous two slides.</a:t>
            </a:r>
            <a:endParaRPr lang="en-US" sz="800" dirty="0"/>
          </a:p>
        </p:txBody>
      </p:sp>
      <p:sp>
        <p:nvSpPr>
          <p:cNvPr id="28" name="Shape 26"/>
          <p:cNvSpPr/>
          <p:nvPr/>
        </p:nvSpPr>
        <p:spPr>
          <a:xfrm>
            <a:off x="457200" y="3547872"/>
            <a:ext cx="4160520" cy="804672"/>
          </a:xfrm>
          <a:prstGeom prst="rect">
            <a:avLst/>
          </a:prstGeom>
          <a:solidFill>
            <a:srgbClr val="F8FAFC"/>
          </a:solidFill>
          <a:ln w="12700">
            <a:solidFill>
              <a:srgbClr val="EA580C">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29" name="Shape 27"/>
          <p:cNvSpPr/>
          <p:nvPr/>
        </p:nvSpPr>
        <p:spPr>
          <a:xfrm>
            <a:off x="457200" y="3547872"/>
            <a:ext cx="54864" cy="804672"/>
          </a:xfrm>
          <a:prstGeom prst="rect">
            <a:avLst/>
          </a:prstGeom>
          <a:solidFill>
            <a:srgbClr val="EA580C"/>
          </a:solidFill>
          <a:ln w="12700">
            <a:solidFill>
              <a:srgbClr val="EA580C"/>
            </a:solidFill>
            <a:prstDash val="solid"/>
          </a:ln>
        </p:spPr>
        <p:txBody>
          <a:bodyPr/>
          <a:lstStyle/>
          <a:p>
            <a:endParaRPr lang="en-US"/>
          </a:p>
        </p:txBody>
      </p:sp>
      <p:sp>
        <p:nvSpPr>
          <p:cNvPr id="30" name="Shape 28"/>
          <p:cNvSpPr/>
          <p:nvPr/>
        </p:nvSpPr>
        <p:spPr>
          <a:xfrm>
            <a:off x="566928" y="3602736"/>
            <a:ext cx="219456" cy="219456"/>
          </a:xfrm>
          <a:prstGeom prst="ellipse">
            <a:avLst/>
          </a:prstGeom>
          <a:solidFill>
            <a:srgbClr val="EA580C"/>
          </a:solidFill>
          <a:ln w="12700">
            <a:solidFill>
              <a:srgbClr val="EA580C"/>
            </a:solidFill>
            <a:prstDash val="solid"/>
          </a:ln>
        </p:spPr>
        <p:txBody>
          <a:bodyPr/>
          <a:lstStyle/>
          <a:p>
            <a:endParaRPr lang="en-US"/>
          </a:p>
        </p:txBody>
      </p:sp>
      <p:sp>
        <p:nvSpPr>
          <p:cNvPr id="31" name="Text 29"/>
          <p:cNvSpPr/>
          <p:nvPr/>
        </p:nvSpPr>
        <p:spPr>
          <a:xfrm>
            <a:off x="566928" y="3602736"/>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32" name="Text 30"/>
          <p:cNvSpPr/>
          <p:nvPr/>
        </p:nvSpPr>
        <p:spPr>
          <a:xfrm>
            <a:off x="859536" y="3611880"/>
            <a:ext cx="3666744" cy="182880"/>
          </a:xfrm>
          <a:prstGeom prst="rect">
            <a:avLst/>
          </a:prstGeom>
          <a:noFill/>
          <a:ln/>
        </p:spPr>
        <p:txBody>
          <a:bodyPr wrap="square" lIns="0" tIns="0" rIns="0" bIns="0" rtlCol="0" anchor="ctr"/>
          <a:lstStyle/>
          <a:p>
            <a:pPr marL="0" indent="0">
              <a:buNone/>
            </a:pPr>
            <a:r>
              <a:rPr lang="en-US" sz="900" b="1" dirty="0">
                <a:solidFill>
                  <a:srgbClr val="EA580C"/>
                </a:solidFill>
                <a:latin typeface="Calibri" pitchFamily="34" charset="0"/>
                <a:ea typeface="Calibri" pitchFamily="34" charset="-122"/>
                <a:cs typeface="Calibri" pitchFamily="34" charset="-120"/>
              </a:rPr>
              <a:t>Use CTE or subquery instead of correlated nested query</a:t>
            </a:r>
            <a:endParaRPr lang="en-US" sz="900" dirty="0"/>
          </a:p>
        </p:txBody>
      </p:sp>
      <p:sp>
        <p:nvSpPr>
          <p:cNvPr id="33" name="Text 31"/>
          <p:cNvSpPr/>
          <p:nvPr/>
        </p:nvSpPr>
        <p:spPr>
          <a:xfrm>
            <a:off x="585216" y="3822192"/>
            <a:ext cx="3959352"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WHERE price=(SELECT MAX(p2.price) FROM products p2 WHERE...</a:t>
            </a:r>
            <a:endParaRPr lang="en-US" sz="750" dirty="0"/>
          </a:p>
        </p:txBody>
      </p:sp>
      <p:sp>
        <p:nvSpPr>
          <p:cNvPr id="34" name="Text 32"/>
          <p:cNvSpPr/>
          <p:nvPr/>
        </p:nvSpPr>
        <p:spPr>
          <a:xfrm>
            <a:off x="585216" y="3968496"/>
            <a:ext cx="3959352"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WITH cat_max AS (SELECT category, MAX(price) AS max_p FR...</a:t>
            </a:r>
            <a:endParaRPr lang="en-US" sz="750" dirty="0"/>
          </a:p>
        </p:txBody>
      </p:sp>
      <p:sp>
        <p:nvSpPr>
          <p:cNvPr id="35" name="Text 33"/>
          <p:cNvSpPr/>
          <p:nvPr/>
        </p:nvSpPr>
        <p:spPr>
          <a:xfrm>
            <a:off x="585216" y="4133088"/>
            <a:ext cx="3959352"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Correlated subquery runs once per row. CTE runs ONCE, result is cached. See slide 8.</a:t>
            </a:r>
            <a:endParaRPr lang="en-US" sz="800" dirty="0"/>
          </a:p>
        </p:txBody>
      </p:sp>
      <p:sp>
        <p:nvSpPr>
          <p:cNvPr id="36" name="Shape 34"/>
          <p:cNvSpPr/>
          <p:nvPr/>
        </p:nvSpPr>
        <p:spPr>
          <a:xfrm>
            <a:off x="4828032" y="969264"/>
            <a:ext cx="3858768" cy="804672"/>
          </a:xfrm>
          <a:prstGeom prst="rect">
            <a:avLst/>
          </a:prstGeom>
          <a:solidFill>
            <a:srgbClr val="F8FAFC"/>
          </a:solidFill>
          <a:ln w="12700">
            <a:solidFill>
              <a:srgbClr val="0D9488">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37" name="Shape 35"/>
          <p:cNvSpPr/>
          <p:nvPr/>
        </p:nvSpPr>
        <p:spPr>
          <a:xfrm>
            <a:off x="4828032" y="969264"/>
            <a:ext cx="54864" cy="804672"/>
          </a:xfrm>
          <a:prstGeom prst="rect">
            <a:avLst/>
          </a:prstGeom>
          <a:solidFill>
            <a:srgbClr val="0D9488"/>
          </a:solidFill>
          <a:ln w="12700">
            <a:solidFill>
              <a:srgbClr val="0D9488"/>
            </a:solidFill>
            <a:prstDash val="solid"/>
          </a:ln>
        </p:spPr>
        <p:txBody>
          <a:bodyPr/>
          <a:lstStyle/>
          <a:p>
            <a:endParaRPr lang="en-US"/>
          </a:p>
        </p:txBody>
      </p:sp>
      <p:sp>
        <p:nvSpPr>
          <p:cNvPr id="38" name="Shape 36"/>
          <p:cNvSpPr/>
          <p:nvPr/>
        </p:nvSpPr>
        <p:spPr>
          <a:xfrm>
            <a:off x="4937760" y="1024128"/>
            <a:ext cx="219456" cy="219456"/>
          </a:xfrm>
          <a:prstGeom prst="ellipse">
            <a:avLst/>
          </a:prstGeom>
          <a:solidFill>
            <a:srgbClr val="0D9488"/>
          </a:solidFill>
          <a:ln w="12700">
            <a:solidFill>
              <a:srgbClr val="0D9488"/>
            </a:solidFill>
            <a:prstDash val="solid"/>
          </a:ln>
        </p:spPr>
        <p:txBody>
          <a:bodyPr/>
          <a:lstStyle/>
          <a:p>
            <a:endParaRPr lang="en-US"/>
          </a:p>
        </p:txBody>
      </p:sp>
      <p:sp>
        <p:nvSpPr>
          <p:cNvPr id="39" name="Text 37"/>
          <p:cNvSpPr/>
          <p:nvPr/>
        </p:nvSpPr>
        <p:spPr>
          <a:xfrm>
            <a:off x="4937760" y="1024128"/>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40" name="Text 38"/>
          <p:cNvSpPr/>
          <p:nvPr/>
        </p:nvSpPr>
        <p:spPr>
          <a:xfrm>
            <a:off x="5230368" y="1033272"/>
            <a:ext cx="3364992" cy="182880"/>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Avoid functions on indexed columns in WHERE</a:t>
            </a:r>
            <a:endParaRPr lang="en-US" sz="900" dirty="0"/>
          </a:p>
        </p:txBody>
      </p:sp>
      <p:sp>
        <p:nvSpPr>
          <p:cNvPr id="41" name="Text 39"/>
          <p:cNvSpPr/>
          <p:nvPr/>
        </p:nvSpPr>
        <p:spPr>
          <a:xfrm>
            <a:off x="4956048" y="1243584"/>
            <a:ext cx="3657600"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WHERE EXTRACT(YEAR FROM order_date) = 2024   ← index on ...</a:t>
            </a:r>
            <a:endParaRPr lang="en-US" sz="750" dirty="0"/>
          </a:p>
        </p:txBody>
      </p:sp>
      <p:sp>
        <p:nvSpPr>
          <p:cNvPr id="42" name="Text 40"/>
          <p:cNvSpPr/>
          <p:nvPr/>
        </p:nvSpPr>
        <p:spPr>
          <a:xfrm>
            <a:off x="4956048" y="1389888"/>
            <a:ext cx="3657600"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WHERE order_date BETWEEN '2024-01-01' AND '2024-12-31'  ...</a:t>
            </a:r>
            <a:endParaRPr lang="en-US" sz="750" dirty="0"/>
          </a:p>
        </p:txBody>
      </p:sp>
      <p:sp>
        <p:nvSpPr>
          <p:cNvPr id="43" name="Text 41"/>
          <p:cNvSpPr/>
          <p:nvPr/>
        </p:nvSpPr>
        <p:spPr>
          <a:xfrm>
            <a:off x="4956048" y="1554480"/>
            <a:ext cx="365760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Wrapping a column in a function prevents PostgreSQL from using the index on it.</a:t>
            </a:r>
            <a:endParaRPr lang="en-US" sz="800" dirty="0"/>
          </a:p>
        </p:txBody>
      </p:sp>
      <p:sp>
        <p:nvSpPr>
          <p:cNvPr id="44" name="Shape 42"/>
          <p:cNvSpPr/>
          <p:nvPr/>
        </p:nvSpPr>
        <p:spPr>
          <a:xfrm>
            <a:off x="4828032" y="1828800"/>
            <a:ext cx="3858768" cy="804672"/>
          </a:xfrm>
          <a:prstGeom prst="rect">
            <a:avLst/>
          </a:prstGeom>
          <a:solidFill>
            <a:srgbClr val="F8FAFC"/>
          </a:solidFill>
          <a:ln w="12700">
            <a:solidFill>
              <a:srgbClr val="D97706">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45" name="Shape 43"/>
          <p:cNvSpPr/>
          <p:nvPr/>
        </p:nvSpPr>
        <p:spPr>
          <a:xfrm>
            <a:off x="4828032" y="1828800"/>
            <a:ext cx="54864" cy="804672"/>
          </a:xfrm>
          <a:prstGeom prst="rect">
            <a:avLst/>
          </a:prstGeom>
          <a:solidFill>
            <a:srgbClr val="D97706"/>
          </a:solidFill>
          <a:ln w="12700">
            <a:solidFill>
              <a:srgbClr val="D97706"/>
            </a:solidFill>
            <a:prstDash val="solid"/>
          </a:ln>
        </p:spPr>
        <p:txBody>
          <a:bodyPr/>
          <a:lstStyle/>
          <a:p>
            <a:endParaRPr lang="en-US"/>
          </a:p>
        </p:txBody>
      </p:sp>
      <p:sp>
        <p:nvSpPr>
          <p:cNvPr id="46" name="Shape 44"/>
          <p:cNvSpPr/>
          <p:nvPr/>
        </p:nvSpPr>
        <p:spPr>
          <a:xfrm>
            <a:off x="4937760" y="1883664"/>
            <a:ext cx="219456" cy="219456"/>
          </a:xfrm>
          <a:prstGeom prst="ellipse">
            <a:avLst/>
          </a:prstGeom>
          <a:solidFill>
            <a:srgbClr val="D97706"/>
          </a:solidFill>
          <a:ln w="12700">
            <a:solidFill>
              <a:srgbClr val="D97706"/>
            </a:solidFill>
            <a:prstDash val="solid"/>
          </a:ln>
        </p:spPr>
        <p:txBody>
          <a:bodyPr/>
          <a:lstStyle/>
          <a:p>
            <a:endParaRPr lang="en-US"/>
          </a:p>
        </p:txBody>
      </p:sp>
      <p:sp>
        <p:nvSpPr>
          <p:cNvPr id="47" name="Text 45"/>
          <p:cNvSpPr/>
          <p:nvPr/>
        </p:nvSpPr>
        <p:spPr>
          <a:xfrm>
            <a:off x="4937760" y="1883664"/>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a:t>
            </a:r>
            <a:endParaRPr lang="en-US" sz="850" dirty="0"/>
          </a:p>
        </p:txBody>
      </p:sp>
      <p:sp>
        <p:nvSpPr>
          <p:cNvPr id="48" name="Text 46"/>
          <p:cNvSpPr/>
          <p:nvPr/>
        </p:nvSpPr>
        <p:spPr>
          <a:xfrm>
            <a:off x="5230368" y="1892808"/>
            <a:ext cx="3364992" cy="182880"/>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Use LIMIT when you only need the top N rows</a:t>
            </a:r>
            <a:endParaRPr lang="en-US" sz="900" dirty="0"/>
          </a:p>
        </p:txBody>
      </p:sp>
      <p:sp>
        <p:nvSpPr>
          <p:cNvPr id="49" name="Text 47"/>
          <p:cNvSpPr/>
          <p:nvPr/>
        </p:nvSpPr>
        <p:spPr>
          <a:xfrm>
            <a:off x="4956048" y="2103120"/>
            <a:ext cx="3657600"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SELECT * FROM daily_sales ORDER BY total_revenue DESC</a:t>
            </a:r>
            <a:endParaRPr lang="en-US" sz="750" dirty="0"/>
          </a:p>
        </p:txBody>
      </p:sp>
      <p:sp>
        <p:nvSpPr>
          <p:cNvPr id="50" name="Text 48"/>
          <p:cNvSpPr/>
          <p:nvPr/>
        </p:nvSpPr>
        <p:spPr>
          <a:xfrm>
            <a:off x="4956048" y="2249424"/>
            <a:ext cx="3657600"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SELECT * FROM daily_sales ORDER BY total_revenue DESC LI...</a:t>
            </a:r>
            <a:endParaRPr lang="en-US" sz="750" dirty="0"/>
          </a:p>
        </p:txBody>
      </p:sp>
      <p:sp>
        <p:nvSpPr>
          <p:cNvPr id="51" name="Text 49"/>
          <p:cNvSpPr/>
          <p:nvPr/>
        </p:nvSpPr>
        <p:spPr>
          <a:xfrm>
            <a:off x="4956048" y="2414016"/>
            <a:ext cx="365760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Without LIMIT, PostgreSQL sorts all 31 rows. With LIMIT 5, it stops as soon as it has enough.</a:t>
            </a:r>
            <a:endParaRPr lang="en-US" sz="800" dirty="0"/>
          </a:p>
        </p:txBody>
      </p:sp>
      <p:sp>
        <p:nvSpPr>
          <p:cNvPr id="52" name="Shape 50"/>
          <p:cNvSpPr/>
          <p:nvPr/>
        </p:nvSpPr>
        <p:spPr>
          <a:xfrm>
            <a:off x="4828032" y="2688336"/>
            <a:ext cx="3858768" cy="804672"/>
          </a:xfrm>
          <a:prstGeom prst="rect">
            <a:avLst/>
          </a:prstGeom>
          <a:solidFill>
            <a:srgbClr val="F8FAFC"/>
          </a:solidFill>
          <a:ln w="12700">
            <a:solidFill>
              <a:srgbClr val="1E293B">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53" name="Shape 51"/>
          <p:cNvSpPr/>
          <p:nvPr/>
        </p:nvSpPr>
        <p:spPr>
          <a:xfrm>
            <a:off x="4828032" y="2688336"/>
            <a:ext cx="54864" cy="804672"/>
          </a:xfrm>
          <a:prstGeom prst="rect">
            <a:avLst/>
          </a:prstGeom>
          <a:solidFill>
            <a:srgbClr val="1E293B"/>
          </a:solidFill>
          <a:ln w="12700">
            <a:solidFill>
              <a:srgbClr val="1E293B"/>
            </a:solidFill>
            <a:prstDash val="solid"/>
          </a:ln>
        </p:spPr>
        <p:txBody>
          <a:bodyPr/>
          <a:lstStyle/>
          <a:p>
            <a:endParaRPr lang="en-US"/>
          </a:p>
        </p:txBody>
      </p:sp>
      <p:sp>
        <p:nvSpPr>
          <p:cNvPr id="54" name="Shape 52"/>
          <p:cNvSpPr/>
          <p:nvPr/>
        </p:nvSpPr>
        <p:spPr>
          <a:xfrm>
            <a:off x="4937760" y="2743200"/>
            <a:ext cx="219456" cy="219456"/>
          </a:xfrm>
          <a:prstGeom prst="ellipse">
            <a:avLst/>
          </a:prstGeom>
          <a:solidFill>
            <a:srgbClr val="1E293B"/>
          </a:solidFill>
          <a:ln w="12700">
            <a:solidFill>
              <a:srgbClr val="1E293B"/>
            </a:solidFill>
            <a:prstDash val="solid"/>
          </a:ln>
        </p:spPr>
        <p:txBody>
          <a:bodyPr/>
          <a:lstStyle/>
          <a:p>
            <a:endParaRPr lang="en-US"/>
          </a:p>
        </p:txBody>
      </p:sp>
      <p:sp>
        <p:nvSpPr>
          <p:cNvPr id="55" name="Text 53"/>
          <p:cNvSpPr/>
          <p:nvPr/>
        </p:nvSpPr>
        <p:spPr>
          <a:xfrm>
            <a:off x="4937760" y="2743200"/>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a:t>
            </a:r>
            <a:endParaRPr lang="en-US" sz="850" dirty="0"/>
          </a:p>
        </p:txBody>
      </p:sp>
      <p:sp>
        <p:nvSpPr>
          <p:cNvPr id="56" name="Text 54"/>
          <p:cNvSpPr/>
          <p:nvPr/>
        </p:nvSpPr>
        <p:spPr>
          <a:xfrm>
            <a:off x="5230368" y="2752344"/>
            <a:ext cx="3364992" cy="182880"/>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EXPLAIN ANALYZE — diagnose before you optimize</a:t>
            </a:r>
            <a:endParaRPr lang="en-US" sz="900" dirty="0"/>
          </a:p>
        </p:txBody>
      </p:sp>
      <p:sp>
        <p:nvSpPr>
          <p:cNvPr id="57" name="Text 55"/>
          <p:cNvSpPr/>
          <p:nvPr/>
        </p:nvSpPr>
        <p:spPr>
          <a:xfrm>
            <a:off x="4956048" y="2962656"/>
            <a:ext cx="3657600"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 Running queries blind without checking the plan</a:t>
            </a:r>
            <a:endParaRPr lang="en-US" sz="750" dirty="0"/>
          </a:p>
        </p:txBody>
      </p:sp>
      <p:sp>
        <p:nvSpPr>
          <p:cNvPr id="58" name="Text 56"/>
          <p:cNvSpPr/>
          <p:nvPr/>
        </p:nvSpPr>
        <p:spPr>
          <a:xfrm>
            <a:off x="4956048" y="3108960"/>
            <a:ext cx="3657600"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EXPLAIN ANALYZE SELECT c.name, SUM(oi.unit_price) FROM c...</a:t>
            </a:r>
            <a:endParaRPr lang="en-US" sz="750" dirty="0"/>
          </a:p>
        </p:txBody>
      </p:sp>
      <p:sp>
        <p:nvSpPr>
          <p:cNvPr id="59" name="Text 57"/>
          <p:cNvSpPr/>
          <p:nvPr/>
        </p:nvSpPr>
        <p:spPr>
          <a:xfrm>
            <a:off x="4956048" y="3273552"/>
            <a:ext cx="365760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Shows Seq Scan vs Index Scan, actual rows, actual time. Always run this first before adding indexes.</a:t>
            </a:r>
            <a:endParaRPr lang="en-US" sz="800" dirty="0"/>
          </a:p>
        </p:txBody>
      </p:sp>
      <p:sp>
        <p:nvSpPr>
          <p:cNvPr id="60" name="Shape 58"/>
          <p:cNvSpPr/>
          <p:nvPr/>
        </p:nvSpPr>
        <p:spPr>
          <a:xfrm>
            <a:off x="457200" y="4443984"/>
            <a:ext cx="4160520" cy="658368"/>
          </a:xfrm>
          <a:prstGeom prst="rect">
            <a:avLst/>
          </a:prstGeom>
          <a:solidFill>
            <a:srgbClr val="7C3AED">
              <a:alpha val="10000"/>
            </a:srgbClr>
          </a:solidFill>
          <a:ln w="12700">
            <a:solidFill>
              <a:srgbClr val="7C3AED">
                <a:alpha val="32000"/>
              </a:srgbClr>
            </a:solidFill>
            <a:prstDash val="solid"/>
          </a:ln>
        </p:spPr>
        <p:txBody>
          <a:bodyPr/>
          <a:lstStyle/>
          <a:p>
            <a:endParaRPr lang="en-US"/>
          </a:p>
        </p:txBody>
      </p:sp>
      <p:sp>
        <p:nvSpPr>
          <p:cNvPr id="61" name="Shape 59"/>
          <p:cNvSpPr/>
          <p:nvPr/>
        </p:nvSpPr>
        <p:spPr>
          <a:xfrm>
            <a:off x="457200" y="4443984"/>
            <a:ext cx="54864" cy="658368"/>
          </a:xfrm>
          <a:prstGeom prst="rect">
            <a:avLst/>
          </a:prstGeom>
          <a:solidFill>
            <a:srgbClr val="7C3AED"/>
          </a:solidFill>
          <a:ln w="12700">
            <a:solidFill>
              <a:srgbClr val="7C3AED"/>
            </a:solidFill>
            <a:prstDash val="solid"/>
          </a:ln>
        </p:spPr>
        <p:txBody>
          <a:bodyPr/>
          <a:lstStyle/>
          <a:p>
            <a:endParaRPr lang="en-US"/>
          </a:p>
        </p:txBody>
      </p:sp>
      <p:sp>
        <p:nvSpPr>
          <p:cNvPr id="62" name="Text 60"/>
          <p:cNvSpPr/>
          <p:nvPr/>
        </p:nvSpPr>
        <p:spPr>
          <a:xfrm>
            <a:off x="603504" y="4480560"/>
            <a:ext cx="3877056" cy="201168"/>
          </a:xfrm>
          <a:prstGeom prst="rect">
            <a:avLst/>
          </a:prstGeom>
          <a:noFill/>
          <a:ln/>
        </p:spPr>
        <p:txBody>
          <a:bodyPr wrap="square" lIns="0" tIns="0" rIns="0" bIns="0" rtlCol="0" anchor="ctr"/>
          <a:lstStyle/>
          <a:p>
            <a:pPr marL="0" indent="0">
              <a:buNone/>
            </a:pPr>
            <a:r>
              <a:rPr lang="en-US" sz="900" b="1" dirty="0">
                <a:solidFill>
                  <a:srgbClr val="7C3AED"/>
                </a:solidFill>
                <a:latin typeface="Calibri" pitchFamily="34" charset="0"/>
                <a:ea typeface="Calibri" pitchFamily="34" charset="-122"/>
                <a:cs typeface="Calibri" pitchFamily="34" charset="-120"/>
              </a:rPr>
              <a:t>Pro Tip — optimization order:</a:t>
            </a:r>
            <a:endParaRPr lang="en-US" sz="900" dirty="0"/>
          </a:p>
        </p:txBody>
      </p:sp>
      <p:sp>
        <p:nvSpPr>
          <p:cNvPr id="63" name="Text 61"/>
          <p:cNvSpPr/>
          <p:nvPr/>
        </p:nvSpPr>
        <p:spPr>
          <a:xfrm>
            <a:off x="603504" y="4645152"/>
            <a:ext cx="3877056" cy="18288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1. Run EXPLAIN ANALYZE first — identify the bottleneck</a:t>
            </a:r>
            <a:endParaRPr lang="en-US" sz="850" dirty="0"/>
          </a:p>
        </p:txBody>
      </p:sp>
      <p:sp>
        <p:nvSpPr>
          <p:cNvPr id="64" name="Text 62"/>
          <p:cNvSpPr/>
          <p:nvPr/>
        </p:nvSpPr>
        <p:spPr>
          <a:xfrm>
            <a:off x="603504" y="4809744"/>
            <a:ext cx="3877056" cy="18288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2. Add WHERE filter / fix SELECT * first (free gains)</a:t>
            </a:r>
            <a:endParaRPr lang="en-US" sz="850" dirty="0"/>
          </a:p>
        </p:txBody>
      </p:sp>
      <p:sp>
        <p:nvSpPr>
          <p:cNvPr id="65" name="Text 63"/>
          <p:cNvSpPr/>
          <p:nvPr/>
        </p:nvSpPr>
        <p:spPr>
          <a:xfrm>
            <a:off x="603504" y="4974336"/>
            <a:ext cx="3877056" cy="18288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3. Rewrite correlated subquery as CTE if you see it in plan</a:t>
            </a:r>
            <a:endParaRPr lang="en-US" sz="850" dirty="0"/>
          </a:p>
        </p:txBody>
      </p:sp>
      <p:sp>
        <p:nvSpPr>
          <p:cNvPr id="66" name="Text 64"/>
          <p:cNvSpPr/>
          <p:nvPr/>
        </p:nvSpPr>
        <p:spPr>
          <a:xfrm>
            <a:off x="603504" y="5138928"/>
            <a:ext cx="3877056" cy="18288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4. Add index ONLY if EXPLAIN shows Seq Scan on large table</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Query Optimization Tips</a:t>
            </a:r>
            <a:endParaRPr lang="en-US" sz="3200" dirty="0"/>
          </a:p>
        </p:txBody>
      </p:sp>
      <p:sp>
        <p:nvSpPr>
          <p:cNvPr id="3" name="Text 1"/>
          <p:cNvSpPr/>
          <p:nvPr/>
        </p:nvSpPr>
        <p:spPr>
          <a:xfrm>
            <a:off x="457200" y="1005840"/>
            <a:ext cx="822960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1. SELECT only columns you need</a:t>
            </a:r>
            <a:endParaRPr lang="en-US" sz="1300" dirty="0"/>
          </a:p>
        </p:txBody>
      </p:sp>
      <p:sp>
        <p:nvSpPr>
          <p:cNvPr id="4" name="Text 2"/>
          <p:cNvSpPr/>
          <p:nvPr/>
        </p:nvSpPr>
        <p:spPr>
          <a:xfrm>
            <a:off x="640080" y="1325880"/>
            <a:ext cx="804672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SELECT *   ✓ SELECT name, city</a:t>
            </a:r>
            <a:endParaRPr lang="en-US" sz="1100" dirty="0"/>
          </a:p>
        </p:txBody>
      </p:sp>
      <p:sp>
        <p:nvSpPr>
          <p:cNvPr id="5" name="Text 3"/>
          <p:cNvSpPr/>
          <p:nvPr/>
        </p:nvSpPr>
        <p:spPr>
          <a:xfrm>
            <a:off x="457200" y="1783080"/>
            <a:ext cx="822960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2. Filter early with WHERE</a:t>
            </a:r>
            <a:endParaRPr lang="en-US" sz="1300" dirty="0"/>
          </a:p>
        </p:txBody>
      </p:sp>
      <p:sp>
        <p:nvSpPr>
          <p:cNvPr id="6" name="Text 4"/>
          <p:cNvSpPr/>
          <p:nvPr/>
        </p:nvSpPr>
        <p:spPr>
          <a:xfrm>
            <a:off x="640080" y="2103120"/>
            <a:ext cx="804672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Filter after JOIN   ✓ Filter before JOIN</a:t>
            </a:r>
            <a:endParaRPr lang="en-US" sz="1100" dirty="0"/>
          </a:p>
        </p:txBody>
      </p:sp>
      <p:sp>
        <p:nvSpPr>
          <p:cNvPr id="7" name="Text 5"/>
          <p:cNvSpPr/>
          <p:nvPr/>
        </p:nvSpPr>
        <p:spPr>
          <a:xfrm>
            <a:off x="457200" y="2491740"/>
            <a:ext cx="822960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3. Use indexes on frequently filtered columns</a:t>
            </a:r>
            <a:endParaRPr lang="en-US" sz="1300" dirty="0"/>
          </a:p>
        </p:txBody>
      </p:sp>
      <p:sp>
        <p:nvSpPr>
          <p:cNvPr id="8" name="Text 6"/>
          <p:cNvSpPr/>
          <p:nvPr/>
        </p:nvSpPr>
        <p:spPr>
          <a:xfrm>
            <a:off x="640080" y="2880360"/>
            <a:ext cx="8046720" cy="368166"/>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 Full table scan   ✓ Index scan</a:t>
            </a:r>
            <a:br>
              <a:rPr lang="en-US" sz="1100" dirty="0">
                <a:solidFill>
                  <a:srgbClr val="64748B"/>
                </a:solidFill>
                <a:latin typeface="Calibri" pitchFamily="34" charset="0"/>
                <a:ea typeface="Calibri" pitchFamily="34" charset="-122"/>
                <a:cs typeface="Calibri" pitchFamily="34" charset="-120"/>
              </a:rPr>
            </a:br>
            <a:r>
              <a:rPr lang="en-US" sz="1100" dirty="0">
                <a:solidFill>
                  <a:srgbClr val="64748B"/>
                </a:solidFill>
                <a:latin typeface="Calibri" pitchFamily="34" charset="0"/>
                <a:ea typeface="Calibri" pitchFamily="34" charset="-122"/>
                <a:cs typeface="Calibri" pitchFamily="34" charset="-120"/>
              </a:rPr>
              <a:t>            CREATE INDEX </a:t>
            </a:r>
            <a:r>
              <a:rPr lang="en-US" sz="1100" dirty="0" err="1">
                <a:solidFill>
                  <a:srgbClr val="64748B"/>
                </a:solidFill>
                <a:latin typeface="Calibri" pitchFamily="34" charset="0"/>
                <a:ea typeface="Calibri" pitchFamily="34" charset="-122"/>
                <a:cs typeface="Calibri" pitchFamily="34" charset="-120"/>
              </a:rPr>
              <a:t>index_name</a:t>
            </a:r>
            <a:endParaRPr lang="en-US" sz="1100" dirty="0">
              <a:solidFill>
                <a:srgbClr val="64748B"/>
              </a:solidFill>
              <a:latin typeface="Calibri" pitchFamily="34" charset="0"/>
              <a:ea typeface="Calibri" pitchFamily="34" charset="-122"/>
              <a:cs typeface="Calibri" pitchFamily="34" charset="-120"/>
            </a:endParaRPr>
          </a:p>
          <a:p>
            <a:r>
              <a:rPr lang="en-US" sz="1100" dirty="0">
                <a:solidFill>
                  <a:srgbClr val="64748B"/>
                </a:solidFill>
                <a:latin typeface="Calibri" pitchFamily="34" charset="0"/>
                <a:ea typeface="Calibri" pitchFamily="34" charset="-122"/>
                <a:cs typeface="Calibri" pitchFamily="34" charset="-120"/>
              </a:rPr>
              <a:t>            ON </a:t>
            </a:r>
            <a:r>
              <a:rPr lang="en-US" sz="1100" dirty="0" err="1">
                <a:solidFill>
                  <a:srgbClr val="64748B"/>
                </a:solidFill>
                <a:latin typeface="Calibri" pitchFamily="34" charset="0"/>
                <a:ea typeface="Calibri" pitchFamily="34" charset="-122"/>
                <a:cs typeface="Calibri" pitchFamily="34" charset="-120"/>
              </a:rPr>
              <a:t>table_name</a:t>
            </a:r>
            <a:r>
              <a:rPr lang="en-US" sz="1100" dirty="0">
                <a:solidFill>
                  <a:srgbClr val="64748B"/>
                </a:solidFill>
                <a:latin typeface="Calibri" pitchFamily="34" charset="0"/>
                <a:ea typeface="Calibri" pitchFamily="34" charset="-122"/>
                <a:cs typeface="Calibri" pitchFamily="34" charset="-120"/>
              </a:rPr>
              <a:t> (column_name1, column_name2);</a:t>
            </a:r>
            <a:endParaRPr lang="en-US" sz="1100" dirty="0"/>
          </a:p>
        </p:txBody>
      </p:sp>
      <p:sp>
        <p:nvSpPr>
          <p:cNvPr id="9" name="Text 7"/>
          <p:cNvSpPr/>
          <p:nvPr/>
        </p:nvSpPr>
        <p:spPr>
          <a:xfrm>
            <a:off x="457200" y="3337560"/>
            <a:ext cx="822960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4. Check query status</a:t>
            </a:r>
            <a:endParaRPr lang="en-US" sz="1300" dirty="0"/>
          </a:p>
        </p:txBody>
      </p:sp>
      <p:sp>
        <p:nvSpPr>
          <p:cNvPr id="10" name="Text 8"/>
          <p:cNvSpPr/>
          <p:nvPr/>
        </p:nvSpPr>
        <p:spPr>
          <a:xfrm>
            <a:off x="640080" y="3657600"/>
            <a:ext cx="804672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Analyze(don’t run query and show plan) and Explain Analyze(runs query and show plan)</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Key Takeaways</a:t>
            </a:r>
            <a:endParaRPr lang="en-US" sz="3200" dirty="0"/>
          </a:p>
        </p:txBody>
      </p:sp>
      <p:sp>
        <p:nvSpPr>
          <p:cNvPr id="3" name="Text 1"/>
          <p:cNvSpPr/>
          <p:nvPr/>
        </p:nvSpPr>
        <p:spPr>
          <a:xfrm>
            <a:off x="457200" y="9601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4" name="Text 2"/>
          <p:cNvSpPr/>
          <p:nvPr/>
        </p:nvSpPr>
        <p:spPr>
          <a:xfrm>
            <a:off x="914400" y="9601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Subquery runs ONCE, Nested Query runs for EACH row</a:t>
            </a:r>
            <a:endParaRPr lang="en-US" sz="1300" dirty="0"/>
          </a:p>
        </p:txBody>
      </p:sp>
      <p:sp>
        <p:nvSpPr>
          <p:cNvPr id="5" name="Text 3"/>
          <p:cNvSpPr/>
          <p:nvPr/>
        </p:nvSpPr>
        <p:spPr>
          <a:xfrm>
            <a:off x="457200" y="14173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914400" y="14173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CASE + GROUP BY = PIVOT (rows → columns)</a:t>
            </a:r>
            <a:endParaRPr lang="en-US" sz="1300" dirty="0"/>
          </a:p>
        </p:txBody>
      </p:sp>
      <p:sp>
        <p:nvSpPr>
          <p:cNvPr id="7" name="Text 5"/>
          <p:cNvSpPr/>
          <p:nvPr/>
        </p:nvSpPr>
        <p:spPr>
          <a:xfrm>
            <a:off x="457200" y="18745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14400" y="18745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Window functions calculate WITHOUT collapsing rows</a:t>
            </a:r>
            <a:endParaRPr lang="en-US" sz="1300" dirty="0"/>
          </a:p>
        </p:txBody>
      </p:sp>
      <p:sp>
        <p:nvSpPr>
          <p:cNvPr id="9" name="Text 7"/>
          <p:cNvSpPr/>
          <p:nvPr/>
        </p:nvSpPr>
        <p:spPr>
          <a:xfrm>
            <a:off x="457200" y="23317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914400" y="23317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ROW_NUMBER, RANK, DENSE_RANK for numbering/ranking</a:t>
            </a:r>
            <a:endParaRPr lang="en-US" sz="1300" dirty="0"/>
          </a:p>
        </p:txBody>
      </p:sp>
      <p:sp>
        <p:nvSpPr>
          <p:cNvPr id="11" name="Text 9"/>
          <p:cNvSpPr/>
          <p:nvPr/>
        </p:nvSpPr>
        <p:spPr>
          <a:xfrm>
            <a:off x="457200" y="27889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14400" y="27889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LAG/LEAD access previous/next rows (time-series)</a:t>
            </a:r>
            <a:endParaRPr lang="en-US" sz="1300" dirty="0"/>
          </a:p>
        </p:txBody>
      </p:sp>
      <p:sp>
        <p:nvSpPr>
          <p:cNvPr id="13" name="Text 11"/>
          <p:cNvSpPr/>
          <p:nvPr/>
        </p:nvSpPr>
        <p:spPr>
          <a:xfrm>
            <a:off x="457200" y="32461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914400" y="32461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Running totals &amp; moving averages with SUM/AVG OVER</a:t>
            </a:r>
            <a:endParaRPr lang="en-US" sz="1300" dirty="0"/>
          </a:p>
        </p:txBody>
      </p:sp>
      <p:sp>
        <p:nvSpPr>
          <p:cNvPr id="15" name="Text 13"/>
          <p:cNvSpPr/>
          <p:nvPr/>
        </p:nvSpPr>
        <p:spPr>
          <a:xfrm>
            <a:off x="457200" y="37033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14400" y="37033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PARTITION BY restarts calculations per group</a:t>
            </a:r>
            <a:endParaRPr lang="en-US" sz="1300" dirty="0"/>
          </a:p>
        </p:txBody>
      </p:sp>
      <p:sp>
        <p:nvSpPr>
          <p:cNvPr id="17" name="Text 15"/>
          <p:cNvSpPr/>
          <p:nvPr/>
        </p:nvSpPr>
        <p:spPr>
          <a:xfrm>
            <a:off x="457200" y="41605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14400" y="41605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CTEs make complex queries more readable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Hands-On Activity</a:t>
            </a:r>
            <a:endParaRPr lang="en-US" sz="32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1800" b="1" dirty="0">
                <a:solidFill>
                  <a:srgbClr val="7C3AED"/>
                </a:solidFill>
                <a:latin typeface="Calibri" pitchFamily="34" charset="0"/>
                <a:ea typeface="Calibri" pitchFamily="34" charset="-122"/>
                <a:cs typeface="Calibri" pitchFamily="34" charset="-120"/>
              </a:rPr>
              <a:t>Analyze Customer Behavior Over Time</a:t>
            </a:r>
            <a:endParaRPr lang="en-US" sz="1800" dirty="0"/>
          </a:p>
        </p:txBody>
      </p:sp>
      <p:sp>
        <p:nvSpPr>
          <p:cNvPr id="4" name="Text 2"/>
          <p:cNvSpPr/>
          <p:nvPr/>
        </p:nvSpPr>
        <p:spPr>
          <a:xfrm>
            <a:off x="457200" y="13716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Using the sample database in DBeaver, write queries to:</a:t>
            </a:r>
            <a:endParaRPr lang="en-US" sz="1400" dirty="0"/>
          </a:p>
        </p:txBody>
      </p:sp>
      <p:sp>
        <p:nvSpPr>
          <p:cNvPr id="5" name="Text 3"/>
          <p:cNvSpPr/>
          <p:nvPr/>
        </p:nvSpPr>
        <p:spPr>
          <a:xfrm>
            <a:off x="457200" y="17830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914400" y="17830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Rank customers by total spending in each city</a:t>
            </a:r>
            <a:endParaRPr lang="en-US" sz="1300" dirty="0"/>
          </a:p>
        </p:txBody>
      </p:sp>
      <p:sp>
        <p:nvSpPr>
          <p:cNvPr id="7" name="Text 5"/>
          <p:cNvSpPr/>
          <p:nvPr/>
        </p:nvSpPr>
        <p:spPr>
          <a:xfrm>
            <a:off x="457200" y="22402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914400" y="22402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Find the most expensive product in each category</a:t>
            </a:r>
            <a:endParaRPr lang="en-US" sz="1300" dirty="0"/>
          </a:p>
        </p:txBody>
      </p:sp>
      <p:sp>
        <p:nvSpPr>
          <p:cNvPr id="9" name="Text 7"/>
          <p:cNvSpPr/>
          <p:nvPr/>
        </p:nvSpPr>
        <p:spPr>
          <a:xfrm>
            <a:off x="457200" y="26974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3.</a:t>
            </a:r>
            <a:endParaRPr lang="en-US" sz="1400" dirty="0"/>
          </a:p>
        </p:txBody>
      </p:sp>
      <p:sp>
        <p:nvSpPr>
          <p:cNvPr id="10" name="Text 8"/>
          <p:cNvSpPr/>
          <p:nvPr/>
        </p:nvSpPr>
        <p:spPr>
          <a:xfrm>
            <a:off x="914400" y="26974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Calculate day-over-day revenue change using LAG</a:t>
            </a:r>
            <a:endParaRPr lang="en-US" sz="1300" dirty="0"/>
          </a:p>
        </p:txBody>
      </p:sp>
      <p:sp>
        <p:nvSpPr>
          <p:cNvPr id="11" name="Text 9"/>
          <p:cNvSpPr/>
          <p:nvPr/>
        </p:nvSpPr>
        <p:spPr>
          <a:xfrm>
            <a:off x="457200" y="31546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4.</a:t>
            </a:r>
            <a:endParaRPr lang="en-US" sz="1400" dirty="0"/>
          </a:p>
        </p:txBody>
      </p:sp>
      <p:sp>
        <p:nvSpPr>
          <p:cNvPr id="12" name="Text 10"/>
          <p:cNvSpPr/>
          <p:nvPr/>
        </p:nvSpPr>
        <p:spPr>
          <a:xfrm>
            <a:off x="914400" y="31546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Create a running total of daily_sales</a:t>
            </a:r>
            <a:endParaRPr lang="en-US" sz="1300" dirty="0"/>
          </a:p>
        </p:txBody>
      </p:sp>
      <p:sp>
        <p:nvSpPr>
          <p:cNvPr id="13" name="Text 11"/>
          <p:cNvSpPr/>
          <p:nvPr/>
        </p:nvSpPr>
        <p:spPr>
          <a:xfrm>
            <a:off x="457200" y="36118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5.</a:t>
            </a:r>
            <a:endParaRPr lang="en-US" sz="1400" dirty="0"/>
          </a:p>
        </p:txBody>
      </p:sp>
      <p:sp>
        <p:nvSpPr>
          <p:cNvPr id="14" name="Text 12"/>
          <p:cNvSpPr/>
          <p:nvPr/>
        </p:nvSpPr>
        <p:spPr>
          <a:xfrm>
            <a:off x="914400" y="36118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PIVOT: Show order count by status for each city</a:t>
            </a:r>
            <a:endParaRPr lang="en-US" sz="1300" dirty="0"/>
          </a:p>
        </p:txBody>
      </p:sp>
      <p:sp>
        <p:nvSpPr>
          <p:cNvPr id="15" name="Text 13"/>
          <p:cNvSpPr/>
          <p:nvPr/>
        </p:nvSpPr>
        <p:spPr>
          <a:xfrm>
            <a:off x="457200" y="40690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6.</a:t>
            </a:r>
            <a:endParaRPr lang="en-US" sz="1400" dirty="0"/>
          </a:p>
        </p:txBody>
      </p:sp>
      <p:sp>
        <p:nvSpPr>
          <p:cNvPr id="16" name="Text 14"/>
          <p:cNvSpPr/>
          <p:nvPr/>
        </p:nvSpPr>
        <p:spPr>
          <a:xfrm>
            <a:off x="914400" y="40690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Find top 3 products in each category using ROW_NUMBER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3578</Words>
  <Application>Microsoft Office PowerPoint</Application>
  <PresentationFormat>On-screen Show (16:9)</PresentationFormat>
  <Paragraphs>693</Paragraphs>
  <Slides>26</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SQL &amp; Window Functions</dc:title>
  <dc:subject>PptxGenJS Presentation</dc:subject>
  <dc:creator>PptxGenJS</dc:creator>
  <cp:lastModifiedBy>Sauhar Khanal</cp:lastModifiedBy>
  <cp:revision>8</cp:revision>
  <dcterms:created xsi:type="dcterms:W3CDTF">2026-03-18T07:25:13Z</dcterms:created>
  <dcterms:modified xsi:type="dcterms:W3CDTF">2026-03-22T14:16:22Z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b2248cf-7f03-4ea3-bc21-100a3e94dc1a_Enabled">
    <vt:lpwstr>true</vt:lpwstr>
  </property>
  <property fmtid="{D5CDD505-2E9C-101B-9397-08002B2CF9AE}" pid="3" name="MSIP_Label_0b2248cf-7f03-4ea3-bc21-100a3e94dc1a_SetDate">
    <vt:lpwstr>2026-03-18T14:16:07Z</vt:lpwstr>
  </property>
  <property fmtid="{D5CDD505-2E9C-101B-9397-08002B2CF9AE}" pid="4" name="MSIP_Label_0b2248cf-7f03-4ea3-bc21-100a3e94dc1a_Method">
    <vt:lpwstr>Standard</vt:lpwstr>
  </property>
  <property fmtid="{D5CDD505-2E9C-101B-9397-08002B2CF9AE}" pid="5" name="MSIP_Label_0b2248cf-7f03-4ea3-bc21-100a3e94dc1a_Name">
    <vt:lpwstr>defa4170-0d19-0005-0004-bc88714345d2</vt:lpwstr>
  </property>
  <property fmtid="{D5CDD505-2E9C-101B-9397-08002B2CF9AE}" pid="6" name="MSIP_Label_0b2248cf-7f03-4ea3-bc21-100a3e94dc1a_SiteId">
    <vt:lpwstr>8ccadef0-d125-45d2-82b6-d3a9d60db293</vt:lpwstr>
  </property>
  <property fmtid="{D5CDD505-2E9C-101B-9397-08002B2CF9AE}" pid="7" name="MSIP_Label_0b2248cf-7f03-4ea3-bc21-100a3e94dc1a_ActionId">
    <vt:lpwstr>42a5d167-7617-4d0d-8ccb-1f9e5635ec47</vt:lpwstr>
  </property>
  <property fmtid="{D5CDD505-2E9C-101B-9397-08002B2CF9AE}" pid="8" name="MSIP_Label_0b2248cf-7f03-4ea3-bc21-100a3e94dc1a_ContentBits">
    <vt:lpwstr>0</vt:lpwstr>
  </property>
  <property fmtid="{D5CDD505-2E9C-101B-9397-08002B2CF9AE}" pid="9" name="MSIP_Label_0b2248cf-7f03-4ea3-bc21-100a3e94dc1a_Tag">
    <vt:lpwstr>10, 3, 0, 1</vt:lpwstr>
  </property>
</Properties>
</file>