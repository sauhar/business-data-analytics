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257" r:id="rId3"/>
    <p:sldId id="258" r:id="rId4"/>
    <p:sldId id="291"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82" r:id="rId21"/>
    <p:sldId id="283" r:id="rId22"/>
    <p:sldId id="284" r:id="rId23"/>
    <p:sldId id="285" r:id="rId24"/>
    <p:sldId id="286" r:id="rId25"/>
    <p:sldId id="287" r:id="rId26"/>
    <p:sldId id="278" r:id="rId27"/>
    <p:sldId id="290" r:id="rId28"/>
    <p:sldId id="281" r:id="rId29"/>
    <p:sldId id="279" r:id="rId30"/>
    <p:sldId id="280" r:id="rId31"/>
    <p:sldId id="275" r:id="rId32"/>
    <p:sldId id="276" r:id="rId33"/>
    <p:sldId id="277"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5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380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365760"/>
          </a:xfrm>
          <a:prstGeom prst="rect">
            <a:avLst/>
          </a:prstGeom>
          <a:noFill/>
          <a:ln/>
        </p:spPr>
        <p:txBody>
          <a:bodyPr wrap="square" rtlCol="0" anchor="ctr"/>
          <a:lstStyle/>
          <a:p>
            <a:pPr marL="0" indent="0">
              <a:buNone/>
            </a:pPr>
            <a:r>
              <a:rPr lang="en-US" sz="1400" b="1" dirty="0">
                <a:solidFill>
                  <a:srgbClr val="8B5CF6"/>
                </a:solidFill>
                <a:latin typeface="Calibri" pitchFamily="34" charset="0"/>
                <a:ea typeface="Calibri" pitchFamily="34" charset="-122"/>
                <a:cs typeface="Calibri" pitchFamily="34" charset="-120"/>
              </a:rPr>
              <a:t>MODULE 4</a:t>
            </a:r>
            <a:endParaRPr lang="en-US" sz="1400" dirty="0"/>
          </a:p>
        </p:txBody>
      </p:sp>
      <p:sp>
        <p:nvSpPr>
          <p:cNvPr id="3" name="Text 1"/>
          <p:cNvSpPr/>
          <p:nvPr/>
        </p:nvSpPr>
        <p:spPr>
          <a:xfrm>
            <a:off x="457200" y="2011680"/>
            <a:ext cx="8229600" cy="82296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Advanced SQL</a:t>
            </a:r>
            <a:endParaRPr lang="en-US" sz="4400" dirty="0"/>
          </a:p>
        </p:txBody>
      </p:sp>
      <p:sp>
        <p:nvSpPr>
          <p:cNvPr id="4" name="Text 2"/>
          <p:cNvSpPr/>
          <p:nvPr/>
        </p:nvSpPr>
        <p:spPr>
          <a:xfrm>
            <a:off x="457200" y="2743200"/>
            <a:ext cx="8229600" cy="548640"/>
          </a:xfrm>
          <a:prstGeom prst="rect">
            <a:avLst/>
          </a:prstGeom>
          <a:noFill/>
          <a:ln/>
        </p:spPr>
        <p:txBody>
          <a:bodyPr wrap="square" rtlCol="0" anchor="ctr"/>
          <a:lstStyle/>
          <a:p>
            <a:pPr marL="0" indent="0">
              <a:buNone/>
            </a:pPr>
            <a:r>
              <a:rPr lang="en-US" sz="2800" dirty="0">
                <a:solidFill>
                  <a:srgbClr val="64748B"/>
                </a:solidFill>
                <a:latin typeface="Calibri" pitchFamily="34" charset="0"/>
                <a:ea typeface="Calibri" pitchFamily="34" charset="-122"/>
                <a:cs typeface="Calibri" pitchFamily="34" charset="-120"/>
              </a:rPr>
              <a:t>&amp; Window Functions</a:t>
            </a:r>
            <a:endParaRPr lang="en-US" sz="2800" dirty="0"/>
          </a:p>
        </p:txBody>
      </p:sp>
      <p:sp>
        <p:nvSpPr>
          <p:cNvPr id="5" name="Text 3"/>
          <p:cNvSpPr/>
          <p:nvPr/>
        </p:nvSpPr>
        <p:spPr>
          <a:xfrm>
            <a:off x="457200" y="4389120"/>
            <a:ext cx="8229600" cy="36576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Business Data Analytics with AI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What We'll Learn Today</a:t>
            </a:r>
            <a:endParaRPr lang="en-US" sz="3200" dirty="0"/>
          </a:p>
        </p:txBody>
      </p:sp>
      <p:sp>
        <p:nvSpPr>
          <p:cNvPr id="3" name="Text 1"/>
          <p:cNvSpPr/>
          <p:nvPr/>
        </p:nvSpPr>
        <p:spPr>
          <a:xfrm>
            <a:off x="457200" y="1097280"/>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1.</a:t>
            </a:r>
            <a:endParaRPr lang="en-US" sz="1600" dirty="0"/>
          </a:p>
        </p:txBody>
      </p:sp>
      <p:sp>
        <p:nvSpPr>
          <p:cNvPr id="4" name="Text 2"/>
          <p:cNvSpPr/>
          <p:nvPr/>
        </p:nvSpPr>
        <p:spPr>
          <a:xfrm>
            <a:off x="914400" y="1097280"/>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Advanced Joins &amp; Multi-Table Queries</a:t>
            </a:r>
            <a:endParaRPr lang="en-US" sz="1600" dirty="0"/>
          </a:p>
        </p:txBody>
      </p:sp>
      <p:sp>
        <p:nvSpPr>
          <p:cNvPr id="5" name="Text 3"/>
          <p:cNvSpPr/>
          <p:nvPr/>
        </p:nvSpPr>
        <p:spPr>
          <a:xfrm>
            <a:off x="457200" y="1627632"/>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2.</a:t>
            </a:r>
            <a:endParaRPr lang="en-US" sz="1600" dirty="0"/>
          </a:p>
        </p:txBody>
      </p:sp>
      <p:sp>
        <p:nvSpPr>
          <p:cNvPr id="6" name="Text 4"/>
          <p:cNvSpPr/>
          <p:nvPr/>
        </p:nvSpPr>
        <p:spPr>
          <a:xfrm>
            <a:off x="914400" y="1627632"/>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Subqueries vs Nested Queries</a:t>
            </a:r>
            <a:endParaRPr lang="en-US" sz="1600" dirty="0"/>
          </a:p>
        </p:txBody>
      </p:sp>
      <p:sp>
        <p:nvSpPr>
          <p:cNvPr id="7" name="Text 5"/>
          <p:cNvSpPr/>
          <p:nvPr/>
        </p:nvSpPr>
        <p:spPr>
          <a:xfrm>
            <a:off x="457200" y="2157984"/>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3.</a:t>
            </a:r>
            <a:endParaRPr lang="en-US" sz="1600" dirty="0"/>
          </a:p>
        </p:txBody>
      </p:sp>
      <p:sp>
        <p:nvSpPr>
          <p:cNvPr id="8" name="Text 6"/>
          <p:cNvSpPr/>
          <p:nvPr/>
        </p:nvSpPr>
        <p:spPr>
          <a:xfrm>
            <a:off x="914400" y="2157984"/>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CASE Statements &amp; PIVOT Tables</a:t>
            </a:r>
            <a:endParaRPr lang="en-US" sz="1600" dirty="0"/>
          </a:p>
        </p:txBody>
      </p:sp>
      <p:sp>
        <p:nvSpPr>
          <p:cNvPr id="9" name="Text 7"/>
          <p:cNvSpPr/>
          <p:nvPr/>
        </p:nvSpPr>
        <p:spPr>
          <a:xfrm>
            <a:off x="457200" y="2688336"/>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4.</a:t>
            </a:r>
            <a:endParaRPr lang="en-US" sz="1600" dirty="0"/>
          </a:p>
        </p:txBody>
      </p:sp>
      <p:sp>
        <p:nvSpPr>
          <p:cNvPr id="10" name="Text 8"/>
          <p:cNvSpPr/>
          <p:nvPr/>
        </p:nvSpPr>
        <p:spPr>
          <a:xfrm>
            <a:off x="914400" y="2688336"/>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Window Functions (ROW_NUMBER, RANK, LEAD, LAG)</a:t>
            </a:r>
            <a:endParaRPr lang="en-US" sz="1600" dirty="0"/>
          </a:p>
        </p:txBody>
      </p:sp>
      <p:sp>
        <p:nvSpPr>
          <p:cNvPr id="11" name="Text 9"/>
          <p:cNvSpPr/>
          <p:nvPr/>
        </p:nvSpPr>
        <p:spPr>
          <a:xfrm>
            <a:off x="457200" y="3218688"/>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5.</a:t>
            </a:r>
            <a:endParaRPr lang="en-US" sz="1600" dirty="0"/>
          </a:p>
        </p:txBody>
      </p:sp>
      <p:sp>
        <p:nvSpPr>
          <p:cNvPr id="12" name="Text 10"/>
          <p:cNvSpPr/>
          <p:nvPr/>
        </p:nvSpPr>
        <p:spPr>
          <a:xfrm>
            <a:off x="914400" y="3218688"/>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Running Totals &amp; Moving Averages</a:t>
            </a:r>
            <a:endParaRPr lang="en-US" sz="1600" dirty="0"/>
          </a:p>
        </p:txBody>
      </p:sp>
      <p:sp>
        <p:nvSpPr>
          <p:cNvPr id="13" name="Text 11"/>
          <p:cNvSpPr/>
          <p:nvPr/>
        </p:nvSpPr>
        <p:spPr>
          <a:xfrm>
            <a:off x="457200" y="3749040"/>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6.</a:t>
            </a:r>
            <a:endParaRPr lang="en-US" sz="1600" dirty="0"/>
          </a:p>
        </p:txBody>
      </p:sp>
      <p:sp>
        <p:nvSpPr>
          <p:cNvPr id="14" name="Text 12"/>
          <p:cNvSpPr/>
          <p:nvPr/>
        </p:nvSpPr>
        <p:spPr>
          <a:xfrm>
            <a:off x="914400" y="3749040"/>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Common Table Expressions (CTEs)</a:t>
            </a:r>
            <a:endParaRPr lang="en-US" sz="1600" dirty="0"/>
          </a:p>
        </p:txBody>
      </p:sp>
      <p:sp>
        <p:nvSpPr>
          <p:cNvPr id="15" name="Text 13"/>
          <p:cNvSpPr/>
          <p:nvPr/>
        </p:nvSpPr>
        <p:spPr>
          <a:xfrm>
            <a:off x="457200" y="4279392"/>
            <a:ext cx="365760" cy="457200"/>
          </a:xfrm>
          <a:prstGeom prst="rect">
            <a:avLst/>
          </a:prstGeom>
          <a:noFill/>
          <a:ln/>
        </p:spPr>
        <p:txBody>
          <a:bodyPr wrap="square" rtlCol="0" anchor="ctr"/>
          <a:lstStyle/>
          <a:p>
            <a:pPr marL="0" indent="0">
              <a:buNone/>
            </a:pPr>
            <a:r>
              <a:rPr lang="en-US" sz="1600" b="1" dirty="0">
                <a:solidFill>
                  <a:srgbClr val="7C3AED"/>
                </a:solidFill>
                <a:latin typeface="Calibri" pitchFamily="34" charset="0"/>
                <a:ea typeface="Calibri" pitchFamily="34" charset="-122"/>
                <a:cs typeface="Calibri" pitchFamily="34" charset="-120"/>
              </a:rPr>
              <a:t>7.</a:t>
            </a:r>
            <a:endParaRPr lang="en-US" sz="1600" dirty="0"/>
          </a:p>
        </p:txBody>
      </p:sp>
      <p:sp>
        <p:nvSpPr>
          <p:cNvPr id="16" name="Text 14"/>
          <p:cNvSpPr/>
          <p:nvPr/>
        </p:nvSpPr>
        <p:spPr>
          <a:xfrm>
            <a:off x="914400" y="4279392"/>
            <a:ext cx="7772400" cy="457200"/>
          </a:xfrm>
          <a:prstGeom prst="rect">
            <a:avLst/>
          </a:prstGeom>
          <a:noFill/>
          <a:ln/>
        </p:spPr>
        <p:txBody>
          <a:bodyPr wrap="square" rtlCol="0" anchor="ctr"/>
          <a:lstStyle/>
          <a:p>
            <a:pPr marL="0" indent="0">
              <a:buNone/>
            </a:pPr>
            <a:r>
              <a:rPr lang="en-US" sz="1600" dirty="0">
                <a:solidFill>
                  <a:srgbClr val="334155"/>
                </a:solidFill>
                <a:latin typeface="Calibri" pitchFamily="34" charset="0"/>
                <a:ea typeface="Calibri" pitchFamily="34" charset="-122"/>
                <a:cs typeface="Calibri" pitchFamily="34" charset="-120"/>
              </a:rPr>
              <a:t>Query Optimization Tips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Our Practice Database</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5 tables with Nepali sample data</a:t>
            </a:r>
            <a:endParaRPr lang="en-US" sz="1400" dirty="0"/>
          </a:p>
        </p:txBody>
      </p:sp>
      <p:sp>
        <p:nvSpPr>
          <p:cNvPr id="4" name="Text 2"/>
          <p:cNvSpPr/>
          <p:nvPr/>
        </p:nvSpPr>
        <p:spPr>
          <a:xfrm>
            <a:off x="27432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customers</a:t>
            </a:r>
            <a:endParaRPr lang="en-US" sz="1000" dirty="0"/>
          </a:p>
        </p:txBody>
      </p:sp>
      <p:sp>
        <p:nvSpPr>
          <p:cNvPr id="5" name="Shape 3"/>
          <p:cNvSpPr/>
          <p:nvPr/>
        </p:nvSpPr>
        <p:spPr>
          <a:xfrm>
            <a:off x="274320" y="1645920"/>
            <a:ext cx="1645920" cy="1005840"/>
          </a:xfrm>
          <a:prstGeom prst="rect">
            <a:avLst/>
          </a:prstGeom>
          <a:solidFill>
            <a:srgbClr val="F8FAFC"/>
          </a:solidFill>
          <a:ln/>
        </p:spPr>
        <p:txBody>
          <a:bodyPr/>
          <a:lstStyle/>
          <a:p>
            <a:endParaRPr lang="en-US"/>
          </a:p>
        </p:txBody>
      </p:sp>
      <p:sp>
        <p:nvSpPr>
          <p:cNvPr id="6" name="Text 4"/>
          <p:cNvSpPr/>
          <p:nvPr/>
        </p:nvSpPr>
        <p:spPr>
          <a:xfrm>
            <a:off x="36576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customer_id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name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email</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city</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join_date</a:t>
            </a:r>
            <a:endParaRPr lang="en-US" sz="900" dirty="0"/>
          </a:p>
        </p:txBody>
      </p:sp>
      <p:sp>
        <p:nvSpPr>
          <p:cNvPr id="7" name="Text 5"/>
          <p:cNvSpPr/>
          <p:nvPr/>
        </p:nvSpPr>
        <p:spPr>
          <a:xfrm>
            <a:off x="201168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products</a:t>
            </a:r>
            <a:endParaRPr lang="en-US" sz="1000" dirty="0"/>
          </a:p>
        </p:txBody>
      </p:sp>
      <p:sp>
        <p:nvSpPr>
          <p:cNvPr id="8" name="Shape 6"/>
          <p:cNvSpPr/>
          <p:nvPr/>
        </p:nvSpPr>
        <p:spPr>
          <a:xfrm>
            <a:off x="2011680" y="1645920"/>
            <a:ext cx="1645920" cy="1005840"/>
          </a:xfrm>
          <a:prstGeom prst="rect">
            <a:avLst/>
          </a:prstGeom>
          <a:solidFill>
            <a:srgbClr val="F8FAFC"/>
          </a:solidFill>
          <a:ln/>
        </p:spPr>
        <p:txBody>
          <a:bodyPr/>
          <a:lstStyle/>
          <a:p>
            <a:endParaRPr lang="en-US"/>
          </a:p>
        </p:txBody>
      </p:sp>
      <p:sp>
        <p:nvSpPr>
          <p:cNvPr id="9" name="Text 7"/>
          <p:cNvSpPr/>
          <p:nvPr/>
        </p:nvSpPr>
        <p:spPr>
          <a:xfrm>
            <a:off x="210312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product_id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product_name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category</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price</a:t>
            </a:r>
            <a:endParaRPr lang="en-US" sz="900" dirty="0"/>
          </a:p>
        </p:txBody>
      </p:sp>
      <p:sp>
        <p:nvSpPr>
          <p:cNvPr id="10" name="Text 8"/>
          <p:cNvSpPr/>
          <p:nvPr/>
        </p:nvSpPr>
        <p:spPr>
          <a:xfrm>
            <a:off x="374904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orders</a:t>
            </a:r>
            <a:endParaRPr lang="en-US" sz="1000" dirty="0"/>
          </a:p>
        </p:txBody>
      </p:sp>
      <p:sp>
        <p:nvSpPr>
          <p:cNvPr id="11" name="Shape 9"/>
          <p:cNvSpPr/>
          <p:nvPr/>
        </p:nvSpPr>
        <p:spPr>
          <a:xfrm>
            <a:off x="3749040" y="1645920"/>
            <a:ext cx="1645920" cy="1005840"/>
          </a:xfrm>
          <a:prstGeom prst="rect">
            <a:avLst/>
          </a:prstGeom>
          <a:solidFill>
            <a:srgbClr val="F8FAFC"/>
          </a:solidFill>
          <a:ln/>
        </p:spPr>
        <p:txBody>
          <a:bodyPr/>
          <a:lstStyle/>
          <a:p>
            <a:endParaRPr lang="en-US"/>
          </a:p>
        </p:txBody>
      </p:sp>
      <p:sp>
        <p:nvSpPr>
          <p:cNvPr id="12" name="Text 10"/>
          <p:cNvSpPr/>
          <p:nvPr/>
        </p:nvSpPr>
        <p:spPr>
          <a:xfrm>
            <a:off x="384048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order_id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customer_id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order_date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status</a:t>
            </a:r>
            <a:endParaRPr lang="en-US" sz="900" dirty="0"/>
          </a:p>
        </p:txBody>
      </p:sp>
      <p:sp>
        <p:nvSpPr>
          <p:cNvPr id="13" name="Text 11"/>
          <p:cNvSpPr/>
          <p:nvPr/>
        </p:nvSpPr>
        <p:spPr>
          <a:xfrm>
            <a:off x="548640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order_items</a:t>
            </a:r>
            <a:endParaRPr lang="en-US" sz="1000" dirty="0"/>
          </a:p>
        </p:txBody>
      </p:sp>
      <p:sp>
        <p:nvSpPr>
          <p:cNvPr id="14" name="Shape 12"/>
          <p:cNvSpPr/>
          <p:nvPr/>
        </p:nvSpPr>
        <p:spPr>
          <a:xfrm>
            <a:off x="5486400" y="1645920"/>
            <a:ext cx="1645920" cy="1005840"/>
          </a:xfrm>
          <a:prstGeom prst="rect">
            <a:avLst/>
          </a:prstGeom>
          <a:solidFill>
            <a:srgbClr val="F8FAFC"/>
          </a:solidFill>
          <a:ln/>
        </p:spPr>
        <p:txBody>
          <a:bodyPr/>
          <a:lstStyle/>
          <a:p>
            <a:endParaRPr lang="en-US"/>
          </a:p>
        </p:txBody>
      </p:sp>
      <p:sp>
        <p:nvSpPr>
          <p:cNvPr id="15" name="Text 13"/>
          <p:cNvSpPr/>
          <p:nvPr/>
        </p:nvSpPr>
        <p:spPr>
          <a:xfrm>
            <a:off x="557784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item_id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order_id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product_id</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quantity</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unit_price</a:t>
            </a:r>
            <a:endParaRPr lang="en-US" sz="900" dirty="0"/>
          </a:p>
        </p:txBody>
      </p:sp>
      <p:sp>
        <p:nvSpPr>
          <p:cNvPr id="16" name="Text 14"/>
          <p:cNvSpPr/>
          <p:nvPr/>
        </p:nvSpPr>
        <p:spPr>
          <a:xfrm>
            <a:off x="7223760" y="1371600"/>
            <a:ext cx="1645920" cy="274320"/>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daily_sales</a:t>
            </a:r>
            <a:endParaRPr lang="en-US" sz="1000" dirty="0"/>
          </a:p>
        </p:txBody>
      </p:sp>
      <p:sp>
        <p:nvSpPr>
          <p:cNvPr id="17" name="Shape 15"/>
          <p:cNvSpPr/>
          <p:nvPr/>
        </p:nvSpPr>
        <p:spPr>
          <a:xfrm>
            <a:off x="7223760" y="1645920"/>
            <a:ext cx="1645920" cy="1005840"/>
          </a:xfrm>
          <a:prstGeom prst="rect">
            <a:avLst/>
          </a:prstGeom>
          <a:solidFill>
            <a:srgbClr val="F8FAFC"/>
          </a:solidFill>
          <a:ln/>
        </p:spPr>
        <p:txBody>
          <a:bodyPr/>
          <a:lstStyle/>
          <a:p>
            <a:endParaRPr lang="en-US"/>
          </a:p>
        </p:txBody>
      </p:sp>
      <p:sp>
        <p:nvSpPr>
          <p:cNvPr id="18" name="Text 16"/>
          <p:cNvSpPr/>
          <p:nvPr/>
        </p:nvSpPr>
        <p:spPr>
          <a:xfrm>
            <a:off x="7315200" y="1691640"/>
            <a:ext cx="1463040" cy="914400"/>
          </a:xfrm>
          <a:prstGeom prst="rect">
            <a:avLst/>
          </a:prstGeom>
          <a:noFill/>
          <a:ln/>
        </p:spPr>
        <p:txBody>
          <a:bodyPr wrap="square" rtlCol="0" anchor="ctr"/>
          <a:lstStyle/>
          <a:p>
            <a:pPr marL="0" indent="0">
              <a:buNone/>
            </a:pPr>
            <a:r>
              <a:rPr lang="en-US" sz="900" dirty="0">
                <a:solidFill>
                  <a:srgbClr val="334155"/>
                </a:solidFill>
                <a:latin typeface="Consolas" pitchFamily="34" charset="0"/>
                <a:ea typeface="Consolas" pitchFamily="34" charset="-122"/>
                <a:cs typeface="Consolas" pitchFamily="34" charset="-120"/>
              </a:rPr>
              <a:t>sale_date</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total_orders</a:t>
            </a:r>
            <a:endParaRPr lang="en-US" sz="900" dirty="0"/>
          </a:p>
          <a:p>
            <a:pPr marL="0" indent="0">
              <a:buNone/>
            </a:pPr>
            <a:r>
              <a:rPr lang="en-US" sz="900" dirty="0">
                <a:solidFill>
                  <a:srgbClr val="334155"/>
                </a:solidFill>
                <a:latin typeface="Consolas" pitchFamily="34" charset="0"/>
                <a:ea typeface="Consolas" pitchFamily="34" charset="-122"/>
                <a:cs typeface="Consolas" pitchFamily="34" charset="-120"/>
              </a:rPr>
              <a:t>total_revenue</a:t>
            </a:r>
            <a:endParaRPr lang="en-US" sz="900" dirty="0"/>
          </a:p>
        </p:txBody>
      </p:sp>
      <p:sp>
        <p:nvSpPr>
          <p:cNvPr id="19" name="Text 17"/>
          <p:cNvSpPr/>
          <p:nvPr/>
        </p:nvSpPr>
        <p:spPr>
          <a:xfrm>
            <a:off x="457200" y="2834640"/>
            <a:ext cx="8229600" cy="27432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Sample Data:</a:t>
            </a:r>
            <a:endParaRPr lang="en-US" sz="1200" dirty="0"/>
          </a:p>
        </p:txBody>
      </p:sp>
      <p:sp>
        <p:nvSpPr>
          <p:cNvPr id="20" name="Text 18"/>
          <p:cNvSpPr/>
          <p:nvPr/>
        </p:nvSpPr>
        <p:spPr>
          <a:xfrm>
            <a:off x="457200" y="3108960"/>
            <a:ext cx="8229600" cy="8229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15 customers (Ram Sharma, Sita Thapa, Hari Gurung...)</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20 products in 5 categories (Electronics, Clothing, Accessories, Home, Stationery)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25 orders with different statuses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31 days of daily_sales data</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ACID Properties in SQL</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4 rules that guarantee database transactions are safe, correct, and reliable</a:t>
            </a:r>
            <a:endParaRPr lang="en-US" sz="1300" dirty="0"/>
          </a:p>
        </p:txBody>
      </p:sp>
      <p:sp>
        <p:nvSpPr>
          <p:cNvPr id="4" name="Shape 2"/>
          <p:cNvSpPr/>
          <p:nvPr/>
        </p:nvSpPr>
        <p:spPr>
          <a:xfrm>
            <a:off x="457200" y="1005840"/>
            <a:ext cx="8229600" cy="457200"/>
          </a:xfrm>
          <a:prstGeom prst="rect">
            <a:avLst/>
          </a:prstGeom>
          <a:solidFill>
            <a:srgbClr val="CCFBF1"/>
          </a:solidFill>
          <a:ln w="12700">
            <a:solidFill>
              <a:srgbClr val="0D9488"/>
            </a:solidFill>
            <a:prstDash val="solid"/>
          </a:ln>
        </p:spPr>
        <p:txBody>
          <a:bodyPr/>
          <a:lstStyle/>
          <a:p>
            <a:endParaRPr lang="en-US"/>
          </a:p>
        </p:txBody>
      </p:sp>
      <p:sp>
        <p:nvSpPr>
          <p:cNvPr id="5" name="Shape 3"/>
          <p:cNvSpPr/>
          <p:nvPr/>
        </p:nvSpPr>
        <p:spPr>
          <a:xfrm>
            <a:off x="457200" y="1005840"/>
            <a:ext cx="960120" cy="457200"/>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66344" y="1005840"/>
            <a:ext cx="950976"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WHY IT MATTERS</a:t>
            </a:r>
            <a:endParaRPr lang="en-US" sz="900" dirty="0"/>
          </a:p>
        </p:txBody>
      </p:sp>
      <p:sp>
        <p:nvSpPr>
          <p:cNvPr id="7" name="Text 5"/>
          <p:cNvSpPr/>
          <p:nvPr/>
        </p:nvSpPr>
        <p:spPr>
          <a:xfrm>
            <a:off x="1499616" y="1060704"/>
            <a:ext cx="7114032" cy="347472"/>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Without ACID, a bank transfer could deduct money from Account A but never add it to Account B. ACID properties ensure that EVERY transaction either completes fully or has no effect at all.</a:t>
            </a:r>
            <a:endParaRPr lang="en-US" sz="1150" dirty="0"/>
          </a:p>
        </p:txBody>
      </p:sp>
      <p:sp>
        <p:nvSpPr>
          <p:cNvPr id="8" name="Shape 6"/>
          <p:cNvSpPr/>
          <p:nvPr/>
        </p:nvSpPr>
        <p:spPr>
          <a:xfrm>
            <a:off x="457200" y="1572768"/>
            <a:ext cx="1975104" cy="2212848"/>
          </a:xfrm>
          <a:prstGeom prst="rect">
            <a:avLst/>
          </a:prstGeom>
          <a:solidFill>
            <a:srgbClr val="EDE9FE"/>
          </a:solidFill>
          <a:ln w="12700">
            <a:solidFill>
              <a:srgbClr val="7C3AED"/>
            </a:solidFill>
            <a:prstDash val="solid"/>
          </a:ln>
        </p:spPr>
        <p:txBody>
          <a:bodyPr/>
          <a:lstStyle/>
          <a:p>
            <a:endParaRPr lang="en-US"/>
          </a:p>
        </p:txBody>
      </p:sp>
      <p:sp>
        <p:nvSpPr>
          <p:cNvPr id="9" name="Shape 7"/>
          <p:cNvSpPr/>
          <p:nvPr/>
        </p:nvSpPr>
        <p:spPr>
          <a:xfrm>
            <a:off x="1152144" y="1682496"/>
            <a:ext cx="585216" cy="585216"/>
          </a:xfrm>
          <a:prstGeom prst="ellipse">
            <a:avLst/>
          </a:prstGeom>
          <a:solidFill>
            <a:srgbClr val="7C3AED"/>
          </a:solidFill>
          <a:ln w="12700">
            <a:solidFill>
              <a:srgbClr val="7C3AED"/>
            </a:solidFill>
            <a:prstDash val="solid"/>
          </a:ln>
        </p:spPr>
        <p:txBody>
          <a:bodyPr/>
          <a:lstStyle/>
          <a:p>
            <a:endParaRPr lang="en-US"/>
          </a:p>
        </p:txBody>
      </p:sp>
      <p:sp>
        <p:nvSpPr>
          <p:cNvPr id="10" name="Text 8"/>
          <p:cNvSpPr/>
          <p:nvPr/>
        </p:nvSpPr>
        <p:spPr>
          <a:xfrm>
            <a:off x="1152144" y="1682496"/>
            <a:ext cx="585216" cy="585216"/>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a:t>
            </a:r>
            <a:endParaRPr lang="en-US" sz="2600" dirty="0"/>
          </a:p>
        </p:txBody>
      </p:sp>
      <p:sp>
        <p:nvSpPr>
          <p:cNvPr id="11" name="Text 9"/>
          <p:cNvSpPr/>
          <p:nvPr/>
        </p:nvSpPr>
        <p:spPr>
          <a:xfrm>
            <a:off x="530352" y="2340864"/>
            <a:ext cx="1828800" cy="292608"/>
          </a:xfrm>
          <a:prstGeom prst="rect">
            <a:avLst/>
          </a:prstGeom>
          <a:noFill/>
          <a:ln/>
        </p:spPr>
        <p:txBody>
          <a:bodyPr wrap="square" lIns="0" tIns="0" rIns="0" bIns="0" rtlCol="0" anchor="ctr"/>
          <a:lstStyle/>
          <a:p>
            <a:pPr marL="0" indent="0" algn="ctr">
              <a:buNone/>
            </a:pPr>
            <a:r>
              <a:rPr lang="en-US" sz="1400" b="1" dirty="0">
                <a:solidFill>
                  <a:srgbClr val="7C3AED"/>
                </a:solidFill>
                <a:latin typeface="Calibri" pitchFamily="34" charset="0"/>
                <a:ea typeface="Calibri" pitchFamily="34" charset="-122"/>
                <a:cs typeface="Calibri" pitchFamily="34" charset="-120"/>
              </a:rPr>
              <a:t>Atomicity</a:t>
            </a:r>
            <a:endParaRPr lang="en-US" sz="1400" dirty="0"/>
          </a:p>
        </p:txBody>
      </p:sp>
      <p:sp>
        <p:nvSpPr>
          <p:cNvPr id="12" name="Text 10"/>
          <p:cNvSpPr/>
          <p:nvPr/>
        </p:nvSpPr>
        <p:spPr>
          <a:xfrm>
            <a:off x="530352" y="2651760"/>
            <a:ext cx="1828800" cy="310896"/>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ALL or NOTHING</a:t>
            </a:r>
            <a:endParaRPr lang="en-US" sz="1050" dirty="0"/>
          </a:p>
        </p:txBody>
      </p:sp>
      <p:sp>
        <p:nvSpPr>
          <p:cNvPr id="13" name="Shape 11"/>
          <p:cNvSpPr/>
          <p:nvPr/>
        </p:nvSpPr>
        <p:spPr>
          <a:xfrm>
            <a:off x="2542032" y="1572768"/>
            <a:ext cx="1975104" cy="2212848"/>
          </a:xfrm>
          <a:prstGeom prst="rect">
            <a:avLst/>
          </a:prstGeom>
          <a:solidFill>
            <a:srgbClr val="D1FAE5"/>
          </a:solidFill>
          <a:ln w="12700">
            <a:solidFill>
              <a:srgbClr val="059669"/>
            </a:solidFill>
            <a:prstDash val="solid"/>
          </a:ln>
        </p:spPr>
        <p:txBody>
          <a:bodyPr/>
          <a:lstStyle/>
          <a:p>
            <a:endParaRPr lang="en-US"/>
          </a:p>
        </p:txBody>
      </p:sp>
      <p:sp>
        <p:nvSpPr>
          <p:cNvPr id="14" name="Shape 12"/>
          <p:cNvSpPr/>
          <p:nvPr/>
        </p:nvSpPr>
        <p:spPr>
          <a:xfrm>
            <a:off x="3236976" y="1682496"/>
            <a:ext cx="585216" cy="585216"/>
          </a:xfrm>
          <a:prstGeom prst="ellipse">
            <a:avLst/>
          </a:prstGeom>
          <a:solidFill>
            <a:srgbClr val="059669"/>
          </a:solidFill>
          <a:ln w="12700">
            <a:solidFill>
              <a:srgbClr val="059669"/>
            </a:solidFill>
            <a:prstDash val="solid"/>
          </a:ln>
        </p:spPr>
        <p:txBody>
          <a:bodyPr/>
          <a:lstStyle/>
          <a:p>
            <a:endParaRPr lang="en-US"/>
          </a:p>
        </p:txBody>
      </p:sp>
      <p:sp>
        <p:nvSpPr>
          <p:cNvPr id="15" name="Text 13"/>
          <p:cNvSpPr/>
          <p:nvPr/>
        </p:nvSpPr>
        <p:spPr>
          <a:xfrm>
            <a:off x="3236976" y="1682496"/>
            <a:ext cx="585216" cy="585216"/>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C</a:t>
            </a:r>
            <a:endParaRPr lang="en-US" sz="2600" dirty="0"/>
          </a:p>
        </p:txBody>
      </p:sp>
      <p:sp>
        <p:nvSpPr>
          <p:cNvPr id="16" name="Text 14"/>
          <p:cNvSpPr/>
          <p:nvPr/>
        </p:nvSpPr>
        <p:spPr>
          <a:xfrm>
            <a:off x="2615184" y="2340864"/>
            <a:ext cx="1828800" cy="292608"/>
          </a:xfrm>
          <a:prstGeom prst="rect">
            <a:avLst/>
          </a:prstGeom>
          <a:noFill/>
          <a:ln/>
        </p:spPr>
        <p:txBody>
          <a:bodyPr wrap="square" lIns="0" tIns="0" rIns="0" bIns="0" rtlCol="0" anchor="ctr"/>
          <a:lstStyle/>
          <a:p>
            <a:pPr marL="0" indent="0" algn="ctr">
              <a:buNone/>
            </a:pPr>
            <a:r>
              <a:rPr lang="en-US" sz="1400" b="1" dirty="0">
                <a:solidFill>
                  <a:srgbClr val="059669"/>
                </a:solidFill>
                <a:latin typeface="Calibri" pitchFamily="34" charset="0"/>
                <a:ea typeface="Calibri" pitchFamily="34" charset="-122"/>
                <a:cs typeface="Calibri" pitchFamily="34" charset="-120"/>
              </a:rPr>
              <a:t>Consistency</a:t>
            </a:r>
            <a:endParaRPr lang="en-US" sz="1400" dirty="0"/>
          </a:p>
        </p:txBody>
      </p:sp>
      <p:sp>
        <p:nvSpPr>
          <p:cNvPr id="17" name="Text 15"/>
          <p:cNvSpPr/>
          <p:nvPr/>
        </p:nvSpPr>
        <p:spPr>
          <a:xfrm>
            <a:off x="2615184" y="2651760"/>
            <a:ext cx="1828800" cy="310896"/>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ALWAYS VALID STATE</a:t>
            </a:r>
            <a:endParaRPr lang="en-US" sz="1050" dirty="0"/>
          </a:p>
        </p:txBody>
      </p:sp>
      <p:sp>
        <p:nvSpPr>
          <p:cNvPr id="18" name="Shape 16"/>
          <p:cNvSpPr/>
          <p:nvPr/>
        </p:nvSpPr>
        <p:spPr>
          <a:xfrm>
            <a:off x="4626864" y="1572768"/>
            <a:ext cx="1975104" cy="2212848"/>
          </a:xfrm>
          <a:prstGeom prst="rect">
            <a:avLst/>
          </a:prstGeom>
          <a:solidFill>
            <a:srgbClr val="DBEAFE"/>
          </a:solidFill>
          <a:ln w="12700">
            <a:solidFill>
              <a:srgbClr val="2563EB"/>
            </a:solidFill>
            <a:prstDash val="solid"/>
          </a:ln>
        </p:spPr>
        <p:txBody>
          <a:bodyPr/>
          <a:lstStyle/>
          <a:p>
            <a:endParaRPr lang="en-US"/>
          </a:p>
        </p:txBody>
      </p:sp>
      <p:sp>
        <p:nvSpPr>
          <p:cNvPr id="19" name="Shape 17"/>
          <p:cNvSpPr/>
          <p:nvPr/>
        </p:nvSpPr>
        <p:spPr>
          <a:xfrm>
            <a:off x="5321808" y="1682496"/>
            <a:ext cx="585216" cy="585216"/>
          </a:xfrm>
          <a:prstGeom prst="ellipse">
            <a:avLst/>
          </a:prstGeom>
          <a:solidFill>
            <a:srgbClr val="2563EB"/>
          </a:solidFill>
          <a:ln w="12700">
            <a:solidFill>
              <a:srgbClr val="2563EB"/>
            </a:solidFill>
            <a:prstDash val="solid"/>
          </a:ln>
        </p:spPr>
        <p:txBody>
          <a:bodyPr/>
          <a:lstStyle/>
          <a:p>
            <a:endParaRPr lang="en-US"/>
          </a:p>
        </p:txBody>
      </p:sp>
      <p:sp>
        <p:nvSpPr>
          <p:cNvPr id="20" name="Text 18"/>
          <p:cNvSpPr/>
          <p:nvPr/>
        </p:nvSpPr>
        <p:spPr>
          <a:xfrm>
            <a:off x="5321808" y="1682496"/>
            <a:ext cx="585216" cy="585216"/>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I</a:t>
            </a:r>
            <a:endParaRPr lang="en-US" sz="2600" dirty="0"/>
          </a:p>
        </p:txBody>
      </p:sp>
      <p:sp>
        <p:nvSpPr>
          <p:cNvPr id="21" name="Text 19"/>
          <p:cNvSpPr/>
          <p:nvPr/>
        </p:nvSpPr>
        <p:spPr>
          <a:xfrm>
            <a:off x="4700016" y="2340864"/>
            <a:ext cx="1828800" cy="292608"/>
          </a:xfrm>
          <a:prstGeom prst="rect">
            <a:avLst/>
          </a:prstGeom>
          <a:noFill/>
          <a:ln/>
        </p:spPr>
        <p:txBody>
          <a:bodyPr wrap="square" lIns="0" tIns="0" rIns="0" bIns="0" rtlCol="0" anchor="ctr"/>
          <a:lstStyle/>
          <a:p>
            <a:pPr marL="0" indent="0" algn="ctr">
              <a:buNone/>
            </a:pPr>
            <a:r>
              <a:rPr lang="en-US" sz="1400" b="1" dirty="0">
                <a:solidFill>
                  <a:srgbClr val="2563EB"/>
                </a:solidFill>
                <a:latin typeface="Calibri" pitchFamily="34" charset="0"/>
                <a:ea typeface="Calibri" pitchFamily="34" charset="-122"/>
                <a:cs typeface="Calibri" pitchFamily="34" charset="-120"/>
              </a:rPr>
              <a:t>Isolation</a:t>
            </a:r>
            <a:endParaRPr lang="en-US" sz="1400" dirty="0"/>
          </a:p>
        </p:txBody>
      </p:sp>
      <p:sp>
        <p:nvSpPr>
          <p:cNvPr id="22" name="Text 20"/>
          <p:cNvSpPr/>
          <p:nvPr/>
        </p:nvSpPr>
        <p:spPr>
          <a:xfrm>
            <a:off x="4700016" y="2651760"/>
            <a:ext cx="1828800" cy="310896"/>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TRANSACTIONS DON'T CLASH</a:t>
            </a:r>
            <a:endParaRPr lang="en-US" sz="1050" dirty="0"/>
          </a:p>
        </p:txBody>
      </p:sp>
      <p:sp>
        <p:nvSpPr>
          <p:cNvPr id="23" name="Shape 21"/>
          <p:cNvSpPr/>
          <p:nvPr/>
        </p:nvSpPr>
        <p:spPr>
          <a:xfrm>
            <a:off x="6711696" y="1572768"/>
            <a:ext cx="1975104" cy="2212848"/>
          </a:xfrm>
          <a:prstGeom prst="rect">
            <a:avLst/>
          </a:prstGeom>
          <a:solidFill>
            <a:srgbClr val="FEF3C7"/>
          </a:solidFill>
          <a:ln w="12700">
            <a:solidFill>
              <a:srgbClr val="D97706"/>
            </a:solidFill>
            <a:prstDash val="solid"/>
          </a:ln>
        </p:spPr>
        <p:txBody>
          <a:bodyPr/>
          <a:lstStyle/>
          <a:p>
            <a:endParaRPr lang="en-US"/>
          </a:p>
        </p:txBody>
      </p:sp>
      <p:sp>
        <p:nvSpPr>
          <p:cNvPr id="24" name="Shape 22"/>
          <p:cNvSpPr/>
          <p:nvPr/>
        </p:nvSpPr>
        <p:spPr>
          <a:xfrm>
            <a:off x="7406640" y="1682496"/>
            <a:ext cx="585216" cy="585216"/>
          </a:xfrm>
          <a:prstGeom prst="ellipse">
            <a:avLst/>
          </a:prstGeom>
          <a:solidFill>
            <a:srgbClr val="D97706"/>
          </a:solidFill>
          <a:ln w="12700">
            <a:solidFill>
              <a:srgbClr val="D97706"/>
            </a:solidFill>
            <a:prstDash val="solid"/>
          </a:ln>
        </p:spPr>
        <p:txBody>
          <a:bodyPr/>
          <a:lstStyle/>
          <a:p>
            <a:endParaRPr lang="en-US"/>
          </a:p>
        </p:txBody>
      </p:sp>
      <p:sp>
        <p:nvSpPr>
          <p:cNvPr id="25" name="Text 23"/>
          <p:cNvSpPr/>
          <p:nvPr/>
        </p:nvSpPr>
        <p:spPr>
          <a:xfrm>
            <a:off x="7406640" y="1682496"/>
            <a:ext cx="585216" cy="585216"/>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D</a:t>
            </a:r>
            <a:endParaRPr lang="en-US" sz="2600" dirty="0"/>
          </a:p>
        </p:txBody>
      </p:sp>
      <p:sp>
        <p:nvSpPr>
          <p:cNvPr id="26" name="Text 24"/>
          <p:cNvSpPr/>
          <p:nvPr/>
        </p:nvSpPr>
        <p:spPr>
          <a:xfrm>
            <a:off x="6784848" y="2340864"/>
            <a:ext cx="1828800" cy="292608"/>
          </a:xfrm>
          <a:prstGeom prst="rect">
            <a:avLst/>
          </a:prstGeom>
          <a:noFill/>
          <a:ln/>
        </p:spPr>
        <p:txBody>
          <a:bodyPr wrap="square" lIns="0" tIns="0" rIns="0" bIns="0" rtlCol="0" anchor="ctr"/>
          <a:lstStyle/>
          <a:p>
            <a:pPr marL="0" indent="0" algn="ctr">
              <a:buNone/>
            </a:pPr>
            <a:r>
              <a:rPr lang="en-US" sz="1400" b="1" dirty="0">
                <a:solidFill>
                  <a:srgbClr val="D97706"/>
                </a:solidFill>
                <a:latin typeface="Calibri" pitchFamily="34" charset="0"/>
                <a:ea typeface="Calibri" pitchFamily="34" charset="-122"/>
                <a:cs typeface="Calibri" pitchFamily="34" charset="-120"/>
              </a:rPr>
              <a:t>Durability</a:t>
            </a:r>
            <a:endParaRPr lang="en-US" sz="1400" dirty="0"/>
          </a:p>
        </p:txBody>
      </p:sp>
      <p:sp>
        <p:nvSpPr>
          <p:cNvPr id="27" name="Text 25"/>
          <p:cNvSpPr/>
          <p:nvPr/>
        </p:nvSpPr>
        <p:spPr>
          <a:xfrm>
            <a:off x="6784848" y="2651760"/>
            <a:ext cx="1828800" cy="310896"/>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COMMITTED = PERMANENT</a:t>
            </a:r>
            <a:endParaRPr lang="en-US" sz="1050" dirty="0"/>
          </a:p>
        </p:txBody>
      </p:sp>
      <p:sp>
        <p:nvSpPr>
          <p:cNvPr id="28" name="Shape 26"/>
          <p:cNvSpPr/>
          <p:nvPr/>
        </p:nvSpPr>
        <p:spPr>
          <a:xfrm>
            <a:off x="457200" y="3858768"/>
            <a:ext cx="8229600" cy="237744"/>
          </a:xfrm>
          <a:prstGeom prst="rect">
            <a:avLst/>
          </a:prstGeom>
          <a:solidFill>
            <a:srgbClr val="1E293B"/>
          </a:solidFill>
          <a:ln w="12700">
            <a:solidFill>
              <a:srgbClr val="1E293B"/>
            </a:solidFill>
            <a:prstDash val="solid"/>
          </a:ln>
        </p:spPr>
        <p:txBody>
          <a:bodyPr/>
          <a:lstStyle/>
          <a:p>
            <a:endParaRPr lang="en-US"/>
          </a:p>
        </p:txBody>
      </p:sp>
      <p:sp>
        <p:nvSpPr>
          <p:cNvPr id="29" name="Text 27"/>
          <p:cNvSpPr/>
          <p:nvPr/>
        </p:nvSpPr>
        <p:spPr>
          <a:xfrm>
            <a:off x="548640" y="3877056"/>
            <a:ext cx="8046720" cy="201168"/>
          </a:xfrm>
          <a:prstGeom prst="rect">
            <a:avLst/>
          </a:prstGeom>
          <a:noFill/>
          <a:ln/>
        </p:spPr>
        <p:txBody>
          <a:bodyPr wrap="square" rtlCol="0" anchor="ctr"/>
          <a:lstStyle/>
          <a:p>
            <a:pPr marL="0" indent="0">
              <a:buNone/>
            </a:pPr>
            <a:r>
              <a:rPr lang="en-US" sz="1150" b="1" dirty="0">
                <a:solidFill>
                  <a:srgbClr val="FCD34D"/>
                </a:solidFill>
                <a:latin typeface="Calibri" pitchFamily="34" charset="0"/>
                <a:ea typeface="Calibri" pitchFamily="34" charset="-122"/>
                <a:cs typeface="Calibri" pitchFamily="34" charset="-120"/>
              </a:rPr>
              <a:t>Example used throughout:  </a:t>
            </a:r>
            <a:r>
              <a:rPr lang="en-US" sz="1150" dirty="0">
                <a:solidFill>
                  <a:srgbClr val="FFFFFF"/>
                </a:solidFill>
                <a:latin typeface="Calibri" pitchFamily="34" charset="0"/>
                <a:ea typeface="Calibri" pitchFamily="34" charset="-122"/>
                <a:cs typeface="Calibri" pitchFamily="34" charset="-120"/>
              </a:rPr>
              <a:t>A bank transfer of Rs 5,000 from Ram's account to Sita's account</a:t>
            </a:r>
            <a:endParaRPr lang="en-US" sz="1150" dirty="0"/>
          </a:p>
        </p:txBody>
      </p:sp>
      <p:sp>
        <p:nvSpPr>
          <p:cNvPr id="30" name="Shape 28"/>
          <p:cNvSpPr/>
          <p:nvPr/>
        </p:nvSpPr>
        <p:spPr>
          <a:xfrm>
            <a:off x="457200" y="4151376"/>
            <a:ext cx="1975104" cy="786384"/>
          </a:xfrm>
          <a:prstGeom prst="rect">
            <a:avLst/>
          </a:prstGeom>
          <a:solidFill>
            <a:srgbClr val="F8FAFC"/>
          </a:solidFill>
          <a:ln w="12700">
            <a:solidFill>
              <a:srgbClr val="7C3AED"/>
            </a:solidFill>
            <a:prstDash val="solid"/>
          </a:ln>
        </p:spPr>
        <p:txBody>
          <a:bodyPr/>
          <a:lstStyle/>
          <a:p>
            <a:endParaRPr lang="en-US"/>
          </a:p>
        </p:txBody>
      </p:sp>
      <p:sp>
        <p:nvSpPr>
          <p:cNvPr id="31" name="Text 29"/>
          <p:cNvSpPr/>
          <p:nvPr/>
        </p:nvSpPr>
        <p:spPr>
          <a:xfrm>
            <a:off x="530352" y="4187952"/>
            <a:ext cx="1828800" cy="219456"/>
          </a:xfrm>
          <a:prstGeom prst="rect">
            <a:avLst/>
          </a:prstGeom>
          <a:noFill/>
          <a:ln/>
        </p:spPr>
        <p:txBody>
          <a:bodyPr wrap="square" rtlCol="0" anchor="ctr"/>
          <a:lstStyle/>
          <a:p>
            <a:pPr marL="0" indent="0">
              <a:buNone/>
            </a:pPr>
            <a:r>
              <a:rPr lang="en-US" sz="1000" b="1" dirty="0">
                <a:solidFill>
                  <a:srgbClr val="7C3AED"/>
                </a:solidFill>
                <a:latin typeface="Calibri" pitchFamily="34" charset="0"/>
                <a:ea typeface="Calibri" pitchFamily="34" charset="-122"/>
                <a:cs typeface="Calibri" pitchFamily="34" charset="-120"/>
              </a:rPr>
              <a:t>A  Atomicity</a:t>
            </a:r>
            <a:endParaRPr lang="en-US" sz="1000" dirty="0"/>
          </a:p>
        </p:txBody>
      </p:sp>
      <p:sp>
        <p:nvSpPr>
          <p:cNvPr id="32" name="Text 30"/>
          <p:cNvSpPr/>
          <p:nvPr/>
        </p:nvSpPr>
        <p:spPr>
          <a:xfrm>
            <a:off x="530352" y="4407408"/>
            <a:ext cx="1828800" cy="438912"/>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Both debit AND credit happen — or NEITHER happens.</a:t>
            </a:r>
            <a:endParaRPr lang="en-US" sz="950" dirty="0"/>
          </a:p>
        </p:txBody>
      </p:sp>
      <p:sp>
        <p:nvSpPr>
          <p:cNvPr id="33" name="Shape 31"/>
          <p:cNvSpPr/>
          <p:nvPr/>
        </p:nvSpPr>
        <p:spPr>
          <a:xfrm>
            <a:off x="2542032" y="4151376"/>
            <a:ext cx="1975104" cy="786384"/>
          </a:xfrm>
          <a:prstGeom prst="rect">
            <a:avLst/>
          </a:prstGeom>
          <a:solidFill>
            <a:srgbClr val="F8FAFC"/>
          </a:solidFill>
          <a:ln w="12700">
            <a:solidFill>
              <a:srgbClr val="059669"/>
            </a:solidFill>
            <a:prstDash val="solid"/>
          </a:ln>
        </p:spPr>
        <p:txBody>
          <a:bodyPr/>
          <a:lstStyle/>
          <a:p>
            <a:endParaRPr lang="en-US"/>
          </a:p>
        </p:txBody>
      </p:sp>
      <p:sp>
        <p:nvSpPr>
          <p:cNvPr id="34" name="Text 32"/>
          <p:cNvSpPr/>
          <p:nvPr/>
        </p:nvSpPr>
        <p:spPr>
          <a:xfrm>
            <a:off x="2615184" y="4187952"/>
            <a:ext cx="1828800" cy="219456"/>
          </a:xfrm>
          <a:prstGeom prst="rect">
            <a:avLst/>
          </a:prstGeom>
          <a:noFill/>
          <a:ln/>
        </p:spPr>
        <p:txBody>
          <a:bodyPr wrap="square"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C  Consistency</a:t>
            </a:r>
            <a:endParaRPr lang="en-US" sz="1000" dirty="0"/>
          </a:p>
        </p:txBody>
      </p:sp>
      <p:sp>
        <p:nvSpPr>
          <p:cNvPr id="35" name="Text 33"/>
          <p:cNvSpPr/>
          <p:nvPr/>
        </p:nvSpPr>
        <p:spPr>
          <a:xfrm>
            <a:off x="2615184" y="4407408"/>
            <a:ext cx="1828800" cy="438912"/>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Balance rules are never broken — total money stays the same.</a:t>
            </a:r>
            <a:endParaRPr lang="en-US" sz="950" dirty="0"/>
          </a:p>
        </p:txBody>
      </p:sp>
      <p:sp>
        <p:nvSpPr>
          <p:cNvPr id="36" name="Shape 34"/>
          <p:cNvSpPr/>
          <p:nvPr/>
        </p:nvSpPr>
        <p:spPr>
          <a:xfrm>
            <a:off x="4626864" y="4151376"/>
            <a:ext cx="1975104" cy="786384"/>
          </a:xfrm>
          <a:prstGeom prst="rect">
            <a:avLst/>
          </a:prstGeom>
          <a:solidFill>
            <a:srgbClr val="F8FAFC"/>
          </a:solidFill>
          <a:ln w="12700">
            <a:solidFill>
              <a:srgbClr val="2563EB"/>
            </a:solidFill>
            <a:prstDash val="solid"/>
          </a:ln>
        </p:spPr>
        <p:txBody>
          <a:bodyPr/>
          <a:lstStyle/>
          <a:p>
            <a:endParaRPr lang="en-US"/>
          </a:p>
        </p:txBody>
      </p:sp>
      <p:sp>
        <p:nvSpPr>
          <p:cNvPr id="37" name="Text 35"/>
          <p:cNvSpPr/>
          <p:nvPr/>
        </p:nvSpPr>
        <p:spPr>
          <a:xfrm>
            <a:off x="4700016" y="4187952"/>
            <a:ext cx="1828800" cy="219456"/>
          </a:xfrm>
          <a:prstGeom prst="rect">
            <a:avLst/>
          </a:prstGeom>
          <a:noFill/>
          <a:ln/>
        </p:spPr>
        <p:txBody>
          <a:bodyPr wrap="square"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I  Isolation</a:t>
            </a:r>
            <a:endParaRPr lang="en-US" sz="1000" dirty="0"/>
          </a:p>
        </p:txBody>
      </p:sp>
      <p:sp>
        <p:nvSpPr>
          <p:cNvPr id="38" name="Text 36"/>
          <p:cNvSpPr/>
          <p:nvPr/>
        </p:nvSpPr>
        <p:spPr>
          <a:xfrm>
            <a:off x="4700016" y="4407408"/>
            <a:ext cx="1828800" cy="438912"/>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Other transactions cannot see this transfer until it is complete.</a:t>
            </a:r>
            <a:endParaRPr lang="en-US" sz="950" dirty="0"/>
          </a:p>
        </p:txBody>
      </p:sp>
      <p:sp>
        <p:nvSpPr>
          <p:cNvPr id="39" name="Shape 37"/>
          <p:cNvSpPr/>
          <p:nvPr/>
        </p:nvSpPr>
        <p:spPr>
          <a:xfrm>
            <a:off x="6711696" y="4151376"/>
            <a:ext cx="1975104" cy="786384"/>
          </a:xfrm>
          <a:prstGeom prst="rect">
            <a:avLst/>
          </a:prstGeom>
          <a:solidFill>
            <a:srgbClr val="F8FAFC"/>
          </a:solidFill>
          <a:ln w="12700">
            <a:solidFill>
              <a:srgbClr val="D97706"/>
            </a:solidFill>
            <a:prstDash val="solid"/>
          </a:ln>
        </p:spPr>
        <p:txBody>
          <a:bodyPr/>
          <a:lstStyle/>
          <a:p>
            <a:endParaRPr lang="en-US"/>
          </a:p>
        </p:txBody>
      </p:sp>
      <p:sp>
        <p:nvSpPr>
          <p:cNvPr id="40" name="Text 38"/>
          <p:cNvSpPr/>
          <p:nvPr/>
        </p:nvSpPr>
        <p:spPr>
          <a:xfrm>
            <a:off x="6784848" y="4187952"/>
            <a:ext cx="1828800" cy="219456"/>
          </a:xfrm>
          <a:prstGeom prst="rect">
            <a:avLst/>
          </a:prstGeom>
          <a:noFill/>
          <a:ln/>
        </p:spPr>
        <p:txBody>
          <a:bodyPr wrap="square" rtlCol="0" anchor="ctr"/>
          <a:lstStyle/>
          <a:p>
            <a:pPr marL="0" indent="0">
              <a:buNone/>
            </a:pPr>
            <a:r>
              <a:rPr lang="en-US" sz="1000" b="1" dirty="0">
                <a:solidFill>
                  <a:srgbClr val="D97706"/>
                </a:solidFill>
                <a:latin typeface="Calibri" pitchFamily="34" charset="0"/>
                <a:ea typeface="Calibri" pitchFamily="34" charset="-122"/>
                <a:cs typeface="Calibri" pitchFamily="34" charset="-120"/>
              </a:rPr>
              <a:t>D  Durability</a:t>
            </a:r>
            <a:endParaRPr lang="en-US" sz="1000" dirty="0"/>
          </a:p>
        </p:txBody>
      </p:sp>
      <p:sp>
        <p:nvSpPr>
          <p:cNvPr id="41" name="Text 39"/>
          <p:cNvSpPr/>
          <p:nvPr/>
        </p:nvSpPr>
        <p:spPr>
          <a:xfrm>
            <a:off x="6784848" y="4407408"/>
            <a:ext cx="1828800" cy="438912"/>
          </a:xfrm>
          <a:prstGeom prst="rect">
            <a:avLst/>
          </a:prstGeom>
          <a:noFill/>
          <a:ln/>
        </p:spPr>
        <p:txBody>
          <a:bodyPr wrap="square" rtlCol="0" anchor="ctr"/>
          <a:lstStyle/>
          <a:p>
            <a:pPr marL="0" indent="0">
              <a:buNone/>
            </a:pPr>
            <a:r>
              <a:rPr lang="en-US" sz="950" dirty="0">
                <a:solidFill>
                  <a:srgbClr val="334155"/>
                </a:solidFill>
                <a:latin typeface="Calibri" pitchFamily="34" charset="0"/>
                <a:ea typeface="Calibri" pitchFamily="34" charset="-122"/>
                <a:cs typeface="Calibri" pitchFamily="34" charset="-120"/>
              </a:rPr>
              <a:t>Once committed, the transfer is saved permanently — even if power cuts off.</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Self Join: Table Joins Itself</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Find customers from the same city</a:t>
            </a:r>
            <a:endParaRPr lang="en-US" sz="1400" dirty="0"/>
          </a:p>
        </p:txBody>
      </p:sp>
      <p:sp>
        <p:nvSpPr>
          <p:cNvPr id="4" name="Shape 2"/>
          <p:cNvSpPr/>
          <p:nvPr/>
        </p:nvSpPr>
        <p:spPr>
          <a:xfrm>
            <a:off x="457200" y="1280160"/>
            <a:ext cx="8229600" cy="1280160"/>
          </a:xfrm>
          <a:prstGeom prst="rect">
            <a:avLst/>
          </a:prstGeom>
          <a:solidFill>
            <a:srgbClr val="1E293B"/>
          </a:solidFill>
          <a:ln/>
        </p:spPr>
        <p:txBody>
          <a:bodyPr/>
          <a:lstStyle/>
          <a:p>
            <a:endParaRPr lang="en-US"/>
          </a:p>
        </p:txBody>
      </p:sp>
      <p:sp>
        <p:nvSpPr>
          <p:cNvPr id="5" name="Text 3"/>
          <p:cNvSpPr/>
          <p:nvPr/>
        </p:nvSpPr>
        <p:spPr>
          <a:xfrm>
            <a:off x="640080" y="1371600"/>
            <a:ext cx="7863840" cy="10972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a.name AS customer1,</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b.name AS customer2,</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a.city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customers a</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JOIN customers b ON a.city = b.city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AND a.customer_id &lt; b.customer_id;</a:t>
            </a:r>
            <a:endParaRPr lang="en-US" sz="1200" dirty="0"/>
          </a:p>
        </p:txBody>
      </p:sp>
      <p:sp>
        <p:nvSpPr>
          <p:cNvPr id="6" name="Text 4"/>
          <p:cNvSpPr/>
          <p:nvPr/>
        </p:nvSpPr>
        <p:spPr>
          <a:xfrm>
            <a:off x="457200" y="2697480"/>
            <a:ext cx="822960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Result (from customers table):</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971800"/>
          <a:ext cx="5486400" cy="1188720"/>
        </p:xfrm>
        <a:graphic>
          <a:graphicData uri="http://schemas.openxmlformats.org/drawingml/2006/table">
            <a:tbl>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37744">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customer1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customer2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Hari Gurung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Anita Tamang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Sita Thapa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Krishna Shrestha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Pokhara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Gita Rai</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Chandra Magar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Lalitpur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Joining 3+ Tables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Get customer name, product, quantity for each order</a:t>
            </a:r>
            <a:endParaRPr lang="en-US" sz="1400" dirty="0"/>
          </a:p>
        </p:txBody>
      </p:sp>
      <p:sp>
        <p:nvSpPr>
          <p:cNvPr id="4" name="Shape 2"/>
          <p:cNvSpPr/>
          <p:nvPr/>
        </p:nvSpPr>
        <p:spPr>
          <a:xfrm>
            <a:off x="457200" y="1280160"/>
            <a:ext cx="8229600" cy="1645920"/>
          </a:xfrm>
          <a:prstGeom prst="rect">
            <a:avLst/>
          </a:prstGeom>
          <a:solidFill>
            <a:srgbClr val="1E293B"/>
          </a:solidFill>
          <a:ln/>
        </p:spPr>
        <p:txBody>
          <a:bodyPr/>
          <a:lstStyle/>
          <a:p>
            <a:endParaRPr lang="en-US"/>
          </a:p>
        </p:txBody>
      </p:sp>
      <p:sp>
        <p:nvSpPr>
          <p:cNvPr id="5" name="Text 3"/>
          <p:cNvSpPr/>
          <p:nvPr/>
        </p:nvSpPr>
        <p:spPr>
          <a:xfrm>
            <a:off x="640080" y="1371600"/>
            <a:ext cx="7863840" cy="146304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c.name,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p.product_name,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oi.quantity,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o.order_date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customers c</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JOIN orders o ON c.customer_id = o.customer_id</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JOIN order_items oi ON o.order_id = oi.order_id</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JOIN products p ON oi.product_id = p.product_id;</a:t>
            </a:r>
            <a:endParaRPr lang="en-US" sz="1100" dirty="0"/>
          </a:p>
        </p:txBody>
      </p:sp>
      <p:sp>
        <p:nvSpPr>
          <p:cNvPr id="6" name="Text 4"/>
          <p:cNvSpPr/>
          <p:nvPr/>
        </p:nvSpPr>
        <p:spPr>
          <a:xfrm>
            <a:off x="457200" y="3063240"/>
            <a:ext cx="8229600" cy="228600"/>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Result (first few rows):</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6400800" cy="114300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1945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order_date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Ram Sharma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Headphones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Sita Thapa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Sita Thapa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T-Shirt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2024-01-08</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Subquery: Query Inside a Query</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 subquery returns a single value or list — runs ONCE</a:t>
            </a:r>
            <a:endParaRPr lang="en-US" sz="1400" dirty="0"/>
          </a:p>
        </p:txBody>
      </p:sp>
      <p:sp>
        <p:nvSpPr>
          <p:cNvPr id="4" name="Text 2"/>
          <p:cNvSpPr/>
          <p:nvPr/>
        </p:nvSpPr>
        <p:spPr>
          <a:xfrm>
            <a:off x="457200" y="128016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Example: Products priced above average</a:t>
            </a:r>
            <a:endParaRPr lang="en-US" sz="1300" dirty="0"/>
          </a:p>
        </p:txBody>
      </p:sp>
      <p:sp>
        <p:nvSpPr>
          <p:cNvPr id="5" name="Shape 3"/>
          <p:cNvSpPr/>
          <p:nvPr/>
        </p:nvSpPr>
        <p:spPr>
          <a:xfrm>
            <a:off x="457200" y="1600200"/>
            <a:ext cx="8229600" cy="914400"/>
          </a:xfrm>
          <a:prstGeom prst="rect">
            <a:avLst/>
          </a:prstGeom>
          <a:solidFill>
            <a:srgbClr val="1E293B"/>
          </a:solidFill>
          <a:ln/>
        </p:spPr>
        <p:txBody>
          <a:bodyPr/>
          <a:lstStyle/>
          <a:p>
            <a:endParaRPr lang="en-US"/>
          </a:p>
        </p:txBody>
      </p:sp>
      <p:sp>
        <p:nvSpPr>
          <p:cNvPr id="6" name="Text 4"/>
          <p:cNvSpPr/>
          <p:nvPr/>
        </p:nvSpPr>
        <p:spPr>
          <a:xfrm>
            <a:off x="640080" y="1691640"/>
            <a:ext cx="7863840" cy="731520"/>
          </a:xfrm>
          <a:prstGeom prst="rect">
            <a:avLst/>
          </a:prstGeom>
          <a:noFill/>
          <a:ln/>
        </p:spPr>
        <p:txBody>
          <a:bodyPr wrap="square"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SELECT product_name, price</a:t>
            </a:r>
            <a:endParaRPr lang="en-US" sz="1300" dirty="0"/>
          </a:p>
          <a:p>
            <a:pPr marL="0" indent="0">
              <a:buNone/>
            </a:pPr>
            <a:r>
              <a:rPr lang="en-US" sz="1300" dirty="0">
                <a:solidFill>
                  <a:srgbClr val="FFFFFF"/>
                </a:solidFill>
                <a:latin typeface="Consolas" pitchFamily="34" charset="0"/>
                <a:ea typeface="Consolas" pitchFamily="34" charset="-122"/>
                <a:cs typeface="Consolas" pitchFamily="34" charset="-120"/>
              </a:rPr>
              <a:t>FROM products</a:t>
            </a:r>
            <a:endParaRPr lang="en-US" sz="1300" dirty="0"/>
          </a:p>
          <a:p>
            <a:pPr marL="0" indent="0">
              <a:buNone/>
            </a:pPr>
            <a:r>
              <a:rPr lang="en-US" sz="1300" dirty="0">
                <a:solidFill>
                  <a:srgbClr val="FFFFFF"/>
                </a:solidFill>
                <a:latin typeface="Consolas" pitchFamily="34" charset="0"/>
                <a:ea typeface="Consolas" pitchFamily="34" charset="-122"/>
                <a:cs typeface="Consolas" pitchFamily="34" charset="-120"/>
              </a:rPr>
              <a:t>WHERE price &gt; (SELECT AVG(price) FROM products);</a:t>
            </a:r>
            <a:endParaRPr lang="en-US" sz="1300" dirty="0"/>
          </a:p>
        </p:txBody>
      </p:sp>
      <p:sp>
        <p:nvSpPr>
          <p:cNvPr id="7" name="Text 5"/>
          <p:cNvSpPr/>
          <p:nvPr/>
        </p:nvSpPr>
        <p:spPr>
          <a:xfrm>
            <a:off x="5486400" y="2606040"/>
            <a:ext cx="3200400" cy="274320"/>
          </a:xfrm>
          <a:prstGeom prst="rect">
            <a:avLst/>
          </a:prstGeom>
          <a:noFill/>
          <a:ln/>
        </p:spPr>
        <p:txBody>
          <a:bodyPr wrap="square" rtlCol="0" anchor="ctr"/>
          <a:lstStyle/>
          <a:p>
            <a:pPr marL="0" indent="0">
              <a:buNone/>
            </a:pPr>
            <a:r>
              <a:rPr lang="en-US" sz="1100" b="1" dirty="0">
                <a:solidFill>
                  <a:srgbClr val="EA580C"/>
                </a:solidFill>
                <a:latin typeface="Calibri" pitchFamily="34" charset="0"/>
                <a:ea typeface="Calibri" pitchFamily="34" charset="-122"/>
                <a:cs typeface="Calibri" pitchFamily="34" charset="-120"/>
              </a:rPr>
              <a:t>AVG(price) = 10,739</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651760"/>
          <a:ext cx="3200400" cy="97536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2286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product_name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Laptop</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85,000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Smartphone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Tablet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35,000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Shape 6"/>
          <p:cNvSpPr/>
          <p:nvPr/>
        </p:nvSpPr>
        <p:spPr>
          <a:xfrm>
            <a:off x="457200" y="3749040"/>
            <a:ext cx="8229600" cy="457200"/>
          </a:xfrm>
          <a:prstGeom prst="rect">
            <a:avLst/>
          </a:prstGeom>
          <a:solidFill>
            <a:srgbClr val="F8FAFC"/>
          </a:solidFill>
          <a:ln/>
        </p:spPr>
        <p:txBody>
          <a:bodyPr/>
          <a:lstStyle/>
          <a:p>
            <a:endParaRPr lang="en-US"/>
          </a:p>
        </p:txBody>
      </p:sp>
      <p:sp>
        <p:nvSpPr>
          <p:cNvPr id="10" name="Text 7"/>
          <p:cNvSpPr/>
          <p:nvPr/>
        </p:nvSpPr>
        <p:spPr>
          <a:xfrm>
            <a:off x="640080" y="3840480"/>
            <a:ext cx="786384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Subquery = Runs ONCE, returns fixed value (10,739). Independent of outer query.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Nested Query (Correlated Subquery)</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Inner query depends on outer query — runs for EACH row</a:t>
            </a:r>
            <a:endParaRPr lang="en-US" sz="1400" dirty="0"/>
          </a:p>
        </p:txBody>
      </p:sp>
      <p:sp>
        <p:nvSpPr>
          <p:cNvPr id="4" name="Text 2"/>
          <p:cNvSpPr/>
          <p:nvPr/>
        </p:nvSpPr>
        <p:spPr>
          <a:xfrm>
            <a:off x="457200" y="128016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Example: Most expensive product in EACH category</a:t>
            </a:r>
            <a:endParaRPr lang="en-US" sz="1300" dirty="0"/>
          </a:p>
        </p:txBody>
      </p:sp>
      <p:sp>
        <p:nvSpPr>
          <p:cNvPr id="5" name="Shape 3"/>
          <p:cNvSpPr/>
          <p:nvPr/>
        </p:nvSpPr>
        <p:spPr>
          <a:xfrm>
            <a:off x="457200" y="1600200"/>
            <a:ext cx="8229600" cy="1188720"/>
          </a:xfrm>
          <a:prstGeom prst="rect">
            <a:avLst/>
          </a:prstGeom>
          <a:solidFill>
            <a:srgbClr val="1E293B"/>
          </a:solidFill>
          <a:ln/>
        </p:spPr>
        <p:txBody>
          <a:bodyPr/>
          <a:lstStyle/>
          <a:p>
            <a:endParaRPr lang="en-US"/>
          </a:p>
        </p:txBody>
      </p:sp>
      <p:sp>
        <p:nvSpPr>
          <p:cNvPr id="6" name="Text 4"/>
          <p:cNvSpPr/>
          <p:nvPr/>
        </p:nvSpPr>
        <p:spPr>
          <a:xfrm>
            <a:off x="640080" y="1691640"/>
            <a:ext cx="7863840" cy="100584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product_name, category, price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products p1</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WHERE price =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SELECT MAX(price) FROM products p2</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WHERE p2.category = p1.category   -- References outer query!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4572000" cy="13716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tblGrid>
              <a:tr h="21336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580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580C"/>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A580C"/>
                    </a:solidFill>
                  </a:tcPr>
                </a:tc>
                <a:extLst>
                  <a:ext uri="{0D108BD9-81ED-4DB2-BD59-A6C34878D82A}">
                    <a16:rowId xmlns:a16="http://schemas.microsoft.com/office/drawing/2014/main" val="10000"/>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Electronics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Sneakers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Clothing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Watch</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Accessories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Coffee Maker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Home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Notebook Set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Stationery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5"/>
          <p:cNvSpPr/>
          <p:nvPr/>
        </p:nvSpPr>
        <p:spPr>
          <a:xfrm>
            <a:off x="5212080" y="3017520"/>
            <a:ext cx="3474720" cy="731520"/>
          </a:xfrm>
          <a:prstGeom prst="rect">
            <a:avLst/>
          </a:prstGeom>
          <a:solidFill>
            <a:srgbClr val="F8FAFC"/>
          </a:solidFill>
          <a:ln/>
        </p:spPr>
        <p:txBody>
          <a:bodyPr/>
          <a:lstStyle/>
          <a:p>
            <a:endParaRPr lang="en-US"/>
          </a:p>
        </p:txBody>
      </p:sp>
      <p:sp>
        <p:nvSpPr>
          <p:cNvPr id="9" name="Text 6"/>
          <p:cNvSpPr/>
          <p:nvPr/>
        </p:nvSpPr>
        <p:spPr>
          <a:xfrm>
            <a:off x="5303520" y="3108960"/>
            <a:ext cx="3291840" cy="54864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For EACH product:</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Find MAX price in its category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If price = MAX, include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Subquery vs Nested Query</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When to use which?</a:t>
            </a:r>
            <a:endParaRPr lang="en-US" sz="1400" dirty="0"/>
          </a:p>
        </p:txBody>
      </p:sp>
      <p:sp>
        <p:nvSpPr>
          <p:cNvPr id="4" name="Shape 2"/>
          <p:cNvSpPr/>
          <p:nvPr/>
        </p:nvSpPr>
        <p:spPr>
          <a:xfrm>
            <a:off x="457200" y="1325880"/>
            <a:ext cx="3840480" cy="2194560"/>
          </a:xfrm>
          <a:prstGeom prst="rect">
            <a:avLst/>
          </a:prstGeom>
          <a:solidFill>
            <a:srgbClr val="F8FAFC"/>
          </a:solidFill>
          <a:ln/>
        </p:spPr>
        <p:txBody>
          <a:bodyPr/>
          <a:lstStyle/>
          <a:p>
            <a:endParaRPr lang="en-US"/>
          </a:p>
        </p:txBody>
      </p:sp>
      <p:sp>
        <p:nvSpPr>
          <p:cNvPr id="5" name="Text 3"/>
          <p:cNvSpPr/>
          <p:nvPr/>
        </p:nvSpPr>
        <p:spPr>
          <a:xfrm>
            <a:off x="548640" y="1371600"/>
            <a:ext cx="3657600" cy="320040"/>
          </a:xfrm>
          <a:prstGeom prst="rect">
            <a:avLst/>
          </a:prstGeom>
          <a:noFill/>
          <a:ln/>
        </p:spPr>
        <p:txBody>
          <a:bodyPr wrap="square" rtlCol="0" anchor="ctr"/>
          <a:lstStyle/>
          <a:p>
            <a:pPr marL="0" indent="0">
              <a:buNone/>
            </a:pPr>
            <a:r>
              <a:rPr lang="en-US" sz="1400" b="1" dirty="0">
                <a:solidFill>
                  <a:srgbClr val="059669"/>
                </a:solidFill>
                <a:latin typeface="Calibri" pitchFamily="34" charset="0"/>
                <a:ea typeface="Calibri" pitchFamily="34" charset="-122"/>
                <a:cs typeface="Calibri" pitchFamily="34" charset="-120"/>
              </a:rPr>
              <a:t>Subquery (Non-Correlated)</a:t>
            </a:r>
            <a:endParaRPr lang="en-US" sz="1400" dirty="0"/>
          </a:p>
        </p:txBody>
      </p:sp>
      <p:sp>
        <p:nvSpPr>
          <p:cNvPr id="6" name="Text 4"/>
          <p:cNvSpPr/>
          <p:nvPr/>
        </p:nvSpPr>
        <p:spPr>
          <a:xfrm>
            <a:off x="548640" y="1737360"/>
            <a:ext cx="3657600" cy="12801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Runs ONCE</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Independent of outer query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Returns fixed value/list</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Generally faster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Use for: comparisons with</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aggregates (AVG, MAX, etc.)</a:t>
            </a:r>
            <a:endParaRPr lang="en-US" sz="1100" dirty="0"/>
          </a:p>
        </p:txBody>
      </p:sp>
      <p:sp>
        <p:nvSpPr>
          <p:cNvPr id="7" name="Text 5"/>
          <p:cNvSpPr/>
          <p:nvPr/>
        </p:nvSpPr>
        <p:spPr>
          <a:xfrm>
            <a:off x="548640" y="3108960"/>
            <a:ext cx="3657600" cy="365760"/>
          </a:xfrm>
          <a:prstGeom prst="rect">
            <a:avLst/>
          </a:prstGeom>
          <a:noFill/>
          <a:ln/>
        </p:spPr>
        <p:txBody>
          <a:bodyPr wrap="square" rtlCol="0" anchor="ctr"/>
          <a:lstStyle/>
          <a:p>
            <a:pPr marL="0" indent="0">
              <a:buNone/>
            </a:pPr>
            <a:r>
              <a:rPr lang="en-US" sz="900" dirty="0">
                <a:solidFill>
                  <a:srgbClr val="64748B"/>
                </a:solidFill>
                <a:latin typeface="Consolas" pitchFamily="34" charset="0"/>
                <a:ea typeface="Consolas" pitchFamily="34" charset="-122"/>
                <a:cs typeface="Consolas" pitchFamily="34" charset="-120"/>
              </a:rPr>
              <a:t>WHERE price &gt;</a:t>
            </a:r>
            <a:endParaRPr lang="en-US" sz="900" dirty="0"/>
          </a:p>
          <a:p>
            <a:pPr marL="0" indent="0">
              <a:buNone/>
            </a:pPr>
            <a:r>
              <a:rPr lang="en-US" sz="900" dirty="0">
                <a:solidFill>
                  <a:srgbClr val="64748B"/>
                </a:solidFill>
                <a:latin typeface="Consolas" pitchFamily="34" charset="0"/>
                <a:ea typeface="Consolas" pitchFamily="34" charset="-122"/>
                <a:cs typeface="Consolas" pitchFamily="34" charset="-120"/>
              </a:rPr>
              <a:t>(SELECT AVG(price) FROM products)</a:t>
            </a:r>
            <a:endParaRPr lang="en-US" sz="900" dirty="0"/>
          </a:p>
        </p:txBody>
      </p:sp>
      <p:sp>
        <p:nvSpPr>
          <p:cNvPr id="8" name="Shape 6"/>
          <p:cNvSpPr/>
          <p:nvPr/>
        </p:nvSpPr>
        <p:spPr>
          <a:xfrm>
            <a:off x="4846320" y="1325880"/>
            <a:ext cx="3840480" cy="2194560"/>
          </a:xfrm>
          <a:prstGeom prst="rect">
            <a:avLst/>
          </a:prstGeom>
          <a:solidFill>
            <a:srgbClr val="F8FAFC"/>
          </a:solidFill>
          <a:ln/>
        </p:spPr>
        <p:txBody>
          <a:bodyPr/>
          <a:lstStyle/>
          <a:p>
            <a:endParaRPr lang="en-US"/>
          </a:p>
        </p:txBody>
      </p:sp>
      <p:sp>
        <p:nvSpPr>
          <p:cNvPr id="9" name="Text 7"/>
          <p:cNvSpPr/>
          <p:nvPr/>
        </p:nvSpPr>
        <p:spPr>
          <a:xfrm>
            <a:off x="4937760" y="1371600"/>
            <a:ext cx="3657600" cy="320040"/>
          </a:xfrm>
          <a:prstGeom prst="rect">
            <a:avLst/>
          </a:prstGeom>
          <a:noFill/>
          <a:ln/>
        </p:spPr>
        <p:txBody>
          <a:bodyPr wrap="square" rtlCol="0" anchor="ctr"/>
          <a:lstStyle/>
          <a:p>
            <a:pPr marL="0" indent="0">
              <a:buNone/>
            </a:pPr>
            <a:r>
              <a:rPr lang="en-US" sz="1400" b="1" dirty="0">
                <a:solidFill>
                  <a:srgbClr val="EA580C"/>
                </a:solidFill>
                <a:latin typeface="Calibri" pitchFamily="34" charset="0"/>
                <a:ea typeface="Calibri" pitchFamily="34" charset="-122"/>
                <a:cs typeface="Calibri" pitchFamily="34" charset="-120"/>
              </a:rPr>
              <a:t>Nested Query (Correlated)</a:t>
            </a:r>
            <a:endParaRPr lang="en-US" sz="1400" dirty="0"/>
          </a:p>
        </p:txBody>
      </p:sp>
      <p:sp>
        <p:nvSpPr>
          <p:cNvPr id="10" name="Text 8"/>
          <p:cNvSpPr/>
          <p:nvPr/>
        </p:nvSpPr>
        <p:spPr>
          <a:xfrm>
            <a:off x="4937760" y="1737360"/>
            <a:ext cx="3657600" cy="1280160"/>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Runs for EACH row</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Depends on outer query</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Result changes per row</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Can be slower</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Use for: row-by-row</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  comparisons within groups</a:t>
            </a:r>
            <a:endParaRPr lang="en-US" sz="1100" dirty="0"/>
          </a:p>
        </p:txBody>
      </p:sp>
      <p:sp>
        <p:nvSpPr>
          <p:cNvPr id="11" name="Text 9"/>
          <p:cNvSpPr/>
          <p:nvPr/>
        </p:nvSpPr>
        <p:spPr>
          <a:xfrm>
            <a:off x="4937760" y="3108960"/>
            <a:ext cx="3657600" cy="320040"/>
          </a:xfrm>
          <a:prstGeom prst="rect">
            <a:avLst/>
          </a:prstGeom>
          <a:noFill/>
          <a:ln/>
        </p:spPr>
        <p:txBody>
          <a:bodyPr wrap="square" rtlCol="0" anchor="ctr"/>
          <a:lstStyle/>
          <a:p>
            <a:pPr marL="0" indent="0">
              <a:buNone/>
            </a:pPr>
            <a:r>
              <a:rPr lang="en-US" sz="900" dirty="0">
                <a:solidFill>
                  <a:srgbClr val="64748B"/>
                </a:solidFill>
                <a:latin typeface="Consolas" pitchFamily="34" charset="0"/>
                <a:ea typeface="Consolas" pitchFamily="34" charset="-122"/>
                <a:cs typeface="Consolas" pitchFamily="34" charset="-120"/>
              </a:rPr>
              <a:t>WHERE p2.category = p1.category</a:t>
            </a:r>
            <a:endParaRPr lang="en-US" sz="900" dirty="0"/>
          </a:p>
        </p:txBody>
      </p:sp>
      <p:sp>
        <p:nvSpPr>
          <p:cNvPr id="12" name="Text 10"/>
          <p:cNvSpPr/>
          <p:nvPr/>
        </p:nvSpPr>
        <p:spPr>
          <a:xfrm>
            <a:off x="457200" y="3749040"/>
            <a:ext cx="8229600" cy="320040"/>
          </a:xfrm>
          <a:prstGeom prst="rect">
            <a:avLst/>
          </a:prstGeom>
          <a:noFill/>
          <a:ln/>
        </p:spPr>
        <p:txBody>
          <a:bodyPr wrap="square" rtlCol="0" anchor="ctr"/>
          <a:lstStyle/>
          <a:p>
            <a:pPr marL="0" indent="0">
              <a:buNone/>
            </a:pPr>
            <a:r>
              <a:rPr lang="en-US" sz="1200" b="1" dirty="0">
                <a:solidFill>
                  <a:srgbClr val="7C3AED"/>
                </a:solidFill>
                <a:latin typeface="Calibri" pitchFamily="34" charset="0"/>
                <a:ea typeface="Calibri" pitchFamily="34" charset="-122"/>
                <a:cs typeface="Calibri" pitchFamily="34" charset="-120"/>
              </a:rPr>
              <a:t>Pro Tip: If you can use a JOIN or CTE instead of a correlated subquery, it's often faster!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CASE: If-Then-Else in SQL</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Create categories based on conditions</a:t>
            </a:r>
            <a:endParaRPr lang="en-US" sz="1400" dirty="0"/>
          </a:p>
        </p:txBody>
      </p:sp>
      <p:sp>
        <p:nvSpPr>
          <p:cNvPr id="4" name="Shape 2"/>
          <p:cNvSpPr/>
          <p:nvPr/>
        </p:nvSpPr>
        <p:spPr>
          <a:xfrm>
            <a:off x="457200" y="1280160"/>
            <a:ext cx="8229600" cy="1799924"/>
          </a:xfrm>
          <a:prstGeom prst="rect">
            <a:avLst/>
          </a:prstGeom>
          <a:solidFill>
            <a:srgbClr val="1E293B"/>
          </a:solidFill>
          <a:ln/>
        </p:spPr>
        <p:txBody>
          <a:bodyPr/>
          <a:lstStyle/>
          <a:p>
            <a:endParaRPr lang="en-US"/>
          </a:p>
        </p:txBody>
      </p:sp>
      <p:sp>
        <p:nvSpPr>
          <p:cNvPr id="5" name="Text 3"/>
          <p:cNvSpPr/>
          <p:nvPr/>
        </p:nvSpPr>
        <p:spPr>
          <a:xfrm>
            <a:off x="700238" y="1540042"/>
            <a:ext cx="7863840" cy="128016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product_name,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price,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CASE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WHEN price &gt;= 50000 THEN 'Premium'</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WHEN price &gt;= 10000 THEN 'Standard'</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WHEN price &gt;= 1000 THEN 'Budget'</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ELSE 'Economy'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END AS price_tier</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products;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3600687281"/>
              </p:ext>
            </p:extLst>
          </p:nvPr>
        </p:nvGraphicFramePr>
        <p:xfrm>
          <a:off x="457200" y="3291840"/>
          <a:ext cx="5029200" cy="114300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2860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price_tier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Premium</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Standard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Winter Jacket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Budget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Pen Pack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180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Economy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PIVOT Tables Using CASE</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Turn rows into columns — like Excel Pivot Tables!</a:t>
            </a:r>
            <a:endParaRPr lang="en-US" sz="1400" dirty="0"/>
          </a:p>
        </p:txBody>
      </p:sp>
      <p:sp>
        <p:nvSpPr>
          <p:cNvPr id="4" name="Text 2"/>
          <p:cNvSpPr/>
          <p:nvPr/>
        </p:nvSpPr>
        <p:spPr>
          <a:xfrm>
            <a:off x="457200" y="128016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Order count by status for each city:</a:t>
            </a:r>
            <a:endParaRPr lang="en-US" sz="1300" dirty="0"/>
          </a:p>
        </p:txBody>
      </p:sp>
      <p:sp>
        <p:nvSpPr>
          <p:cNvPr id="5" name="Shape 3"/>
          <p:cNvSpPr/>
          <p:nvPr/>
        </p:nvSpPr>
        <p:spPr>
          <a:xfrm>
            <a:off x="457200" y="1600200"/>
            <a:ext cx="8229600" cy="1371600"/>
          </a:xfrm>
          <a:prstGeom prst="rect">
            <a:avLst/>
          </a:prstGeom>
          <a:solidFill>
            <a:srgbClr val="1E293B"/>
          </a:solidFill>
          <a:ln/>
        </p:spPr>
        <p:txBody>
          <a:bodyPr/>
          <a:lstStyle/>
          <a:p>
            <a:endParaRPr lang="en-US"/>
          </a:p>
        </p:txBody>
      </p:sp>
      <p:sp>
        <p:nvSpPr>
          <p:cNvPr id="6" name="Text 4"/>
          <p:cNvSpPr/>
          <p:nvPr/>
        </p:nvSpPr>
        <p:spPr>
          <a:xfrm>
            <a:off x="640080" y="1691640"/>
            <a:ext cx="7863840" cy="1188720"/>
          </a:xfrm>
          <a:prstGeom prst="rect">
            <a:avLst/>
          </a:prstGeom>
          <a:noFill/>
          <a:ln/>
        </p:spPr>
        <p:txBody>
          <a:bodyPr wrap="square" rtlCol="0" anchor="ctr"/>
          <a:lstStyle/>
          <a:p>
            <a:pPr marL="0" indent="0">
              <a:buNone/>
            </a:pPr>
            <a:r>
              <a:rPr lang="en-US" sz="1000" dirty="0">
                <a:solidFill>
                  <a:srgbClr val="FFFFFF"/>
                </a:solidFill>
                <a:latin typeface="Consolas" pitchFamily="34" charset="0"/>
                <a:ea typeface="Consolas" pitchFamily="34" charset="-122"/>
                <a:cs typeface="Consolas" pitchFamily="34" charset="-120"/>
              </a:rPr>
              <a:t>SELECT </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c.city,</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COUNT(CASE WHEN o.status = 'Delivered' THEN 1 END) AS Delivered,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COUNT(CASE WHEN o.status = 'Shipped' THEN 1 END) AS Shipped,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    COUNT(CASE WHEN o.status = 'Processing' THEN 1 END) AS Processing</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FROM customers c</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JOIN orders o ON c.customer_id = o.customer_id</a:t>
            </a:r>
            <a:endParaRPr lang="en-US" sz="1000" dirty="0"/>
          </a:p>
          <a:p>
            <a:pPr marL="0" indent="0">
              <a:buNone/>
            </a:pPr>
            <a:r>
              <a:rPr lang="en-US" sz="1000" dirty="0">
                <a:solidFill>
                  <a:srgbClr val="FFFFFF"/>
                </a:solidFill>
                <a:latin typeface="Consolas" pitchFamily="34" charset="0"/>
                <a:ea typeface="Consolas" pitchFamily="34" charset="-122"/>
                <a:cs typeface="Consolas" pitchFamily="34" charset="-120"/>
              </a:rPr>
              <a:t>GROUP BY c.city;</a:t>
            </a:r>
            <a:endParaRPr lang="en-US" sz="1000" dirty="0"/>
          </a:p>
        </p:txBody>
      </p:sp>
      <p:sp>
        <p:nvSpPr>
          <p:cNvPr id="7" name="Text 5"/>
          <p:cNvSpPr/>
          <p:nvPr/>
        </p:nvSpPr>
        <p:spPr>
          <a:xfrm>
            <a:off x="457200" y="3108960"/>
            <a:ext cx="91440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Result:</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383280"/>
          <a:ext cx="5486400" cy="114300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1031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city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Delivered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Shipped</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Processing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Kathmandu</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Pokhara</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Lalitpur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Bhaktapur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p:nvPr/>
        </p:nvSpPr>
        <p:spPr>
          <a:xfrm>
            <a:off x="6126480" y="3566160"/>
            <a:ext cx="2560320" cy="7315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CASE</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becomes a</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new column!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PIVOT: Sales by Category</a:t>
            </a:r>
            <a:endParaRPr lang="en-US" sz="3200" dirty="0"/>
          </a:p>
        </p:txBody>
      </p:sp>
      <p:sp>
        <p:nvSpPr>
          <p:cNvPr id="3" name="Text 1"/>
          <p:cNvSpPr/>
          <p:nvPr/>
        </p:nvSpPr>
        <p:spPr>
          <a:xfrm>
            <a:off x="457200" y="914400"/>
            <a:ext cx="8229600" cy="274320"/>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Total sales per city, split by product category:</a:t>
            </a:r>
            <a:endParaRPr lang="en-US" sz="1300" dirty="0"/>
          </a:p>
        </p:txBody>
      </p:sp>
      <p:sp>
        <p:nvSpPr>
          <p:cNvPr id="4" name="Shape 2"/>
          <p:cNvSpPr/>
          <p:nvPr/>
        </p:nvSpPr>
        <p:spPr>
          <a:xfrm>
            <a:off x="457200" y="1234440"/>
            <a:ext cx="8229600" cy="1645920"/>
          </a:xfrm>
          <a:prstGeom prst="rect">
            <a:avLst/>
          </a:prstGeom>
          <a:solidFill>
            <a:srgbClr val="1E293B"/>
          </a:solidFill>
          <a:ln/>
        </p:spPr>
        <p:txBody>
          <a:bodyPr/>
          <a:lstStyle/>
          <a:p>
            <a:endParaRPr lang="en-US"/>
          </a:p>
        </p:txBody>
      </p:sp>
      <p:sp>
        <p:nvSpPr>
          <p:cNvPr id="5" name="Text 3"/>
          <p:cNvSpPr/>
          <p:nvPr/>
        </p:nvSpPr>
        <p:spPr>
          <a:xfrm>
            <a:off x="640080" y="1325880"/>
            <a:ext cx="7863840" cy="1463040"/>
          </a:xfrm>
          <a:prstGeom prst="rect">
            <a:avLst/>
          </a:prstGeom>
          <a:noFill/>
          <a:ln/>
        </p:spPr>
        <p:txBody>
          <a:bodyPr wrap="square" rtlCol="0" anchor="ctr"/>
          <a:lstStyle/>
          <a:p>
            <a:pPr marL="0" indent="0">
              <a:buNone/>
            </a:pPr>
            <a:r>
              <a:rPr lang="en-US" sz="900" dirty="0">
                <a:solidFill>
                  <a:srgbClr val="FFFFFF"/>
                </a:solidFill>
                <a:latin typeface="Consolas" pitchFamily="34" charset="0"/>
                <a:ea typeface="Consolas" pitchFamily="34" charset="-122"/>
                <a:cs typeface="Consolas" pitchFamily="34" charset="-120"/>
              </a:rPr>
              <a:t>SELECT </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c.city,</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SUM(CASE WHEN p.category = 'Electronics' </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THEN oi.quantity * oi.unit_price ELSE 0 END) AS Electronics,</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SUM(CASE WHEN p.category = 'Clothing' </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             THEN oi.quantity * oi.unit_price ELSE 0 END) AS Clothing</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FROM customers c</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JOIN orders o ON c.customer_id = o.customer_id</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JOIN order_items oi ON o.order_id = oi.order_id</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JOIN products p ON oi.product_id = p.product_id</a:t>
            </a:r>
            <a:endParaRPr lang="en-US" sz="900" dirty="0"/>
          </a:p>
          <a:p>
            <a:pPr marL="0" indent="0">
              <a:buNone/>
            </a:pPr>
            <a:r>
              <a:rPr lang="en-US" sz="900" dirty="0">
                <a:solidFill>
                  <a:srgbClr val="FFFFFF"/>
                </a:solidFill>
                <a:latin typeface="Consolas" pitchFamily="34" charset="0"/>
                <a:ea typeface="Consolas" pitchFamily="34" charset="-122"/>
                <a:cs typeface="Consolas" pitchFamily="34" charset="-120"/>
              </a:rPr>
              <a:t>GROUP BY c.city;</a:t>
            </a:r>
            <a:endParaRPr lang="en-US" sz="900" dirty="0"/>
          </a:p>
        </p:txBody>
      </p:sp>
      <p:sp>
        <p:nvSpPr>
          <p:cNvPr id="6" name="Shape 4"/>
          <p:cNvSpPr/>
          <p:nvPr/>
        </p:nvSpPr>
        <p:spPr>
          <a:xfrm>
            <a:off x="457200" y="3017520"/>
            <a:ext cx="8229600" cy="457200"/>
          </a:xfrm>
          <a:prstGeom prst="rect">
            <a:avLst/>
          </a:prstGeom>
          <a:solidFill>
            <a:srgbClr val="F8FAFC"/>
          </a:solidFill>
          <a:ln/>
        </p:spPr>
        <p:txBody>
          <a:bodyPr/>
          <a:lstStyle/>
          <a:p>
            <a:endParaRPr lang="en-US"/>
          </a:p>
        </p:txBody>
      </p:sp>
      <p:sp>
        <p:nvSpPr>
          <p:cNvPr id="7" name="Text 5"/>
          <p:cNvSpPr/>
          <p:nvPr/>
        </p:nvSpPr>
        <p:spPr>
          <a:xfrm>
            <a:off x="640080" y="3108960"/>
            <a:ext cx="7863840" cy="27432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PIVOT = GROUP BY + CASE. Each CASE becomes a new column!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Window Functions: The Game Changer</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Calculate across rows WITHOUT collapsing them</a:t>
            </a:r>
            <a:endParaRPr lang="en-US" sz="1400" dirty="0"/>
          </a:p>
        </p:txBody>
      </p:sp>
      <p:sp>
        <p:nvSpPr>
          <p:cNvPr id="4" name="Shape 2"/>
          <p:cNvSpPr/>
          <p:nvPr/>
        </p:nvSpPr>
        <p:spPr>
          <a:xfrm>
            <a:off x="457200" y="1371600"/>
            <a:ext cx="3840480" cy="1188720"/>
          </a:xfrm>
          <a:prstGeom prst="rect">
            <a:avLst/>
          </a:prstGeom>
          <a:solidFill>
            <a:srgbClr val="F8FAFC"/>
          </a:solidFill>
          <a:ln/>
        </p:spPr>
        <p:txBody>
          <a:bodyPr/>
          <a:lstStyle/>
          <a:p>
            <a:endParaRPr lang="en-US"/>
          </a:p>
        </p:txBody>
      </p:sp>
      <p:sp>
        <p:nvSpPr>
          <p:cNvPr id="5" name="Text 3"/>
          <p:cNvSpPr/>
          <p:nvPr/>
        </p:nvSpPr>
        <p:spPr>
          <a:xfrm>
            <a:off x="548640" y="1417320"/>
            <a:ext cx="3657600" cy="274320"/>
          </a:xfrm>
          <a:prstGeom prst="rect">
            <a:avLst/>
          </a:prstGeom>
          <a:noFill/>
          <a:ln/>
        </p:spPr>
        <p:txBody>
          <a:bodyPr wrap="square" rtlCol="0" anchor="ctr"/>
          <a:lstStyle/>
          <a:p>
            <a:pPr marL="0" indent="0">
              <a:buNone/>
            </a:pPr>
            <a:r>
              <a:rPr lang="en-US" sz="1300" b="1" dirty="0">
                <a:solidFill>
                  <a:srgbClr val="EA580C"/>
                </a:solidFill>
                <a:latin typeface="Calibri" pitchFamily="34" charset="0"/>
                <a:ea typeface="Calibri" pitchFamily="34" charset="-122"/>
                <a:cs typeface="Calibri" pitchFamily="34" charset="-120"/>
              </a:rPr>
              <a:t>GROUP BY</a:t>
            </a:r>
            <a:endParaRPr lang="en-US" sz="1300" dirty="0"/>
          </a:p>
        </p:txBody>
      </p:sp>
      <p:sp>
        <p:nvSpPr>
          <p:cNvPr id="6" name="Text 4"/>
          <p:cNvSpPr/>
          <p:nvPr/>
        </p:nvSpPr>
        <p:spPr>
          <a:xfrm>
            <a:off x="548640" y="1737360"/>
            <a:ext cx="3657600" cy="7315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Collapses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5 rows → 2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Loses individual details</a:t>
            </a:r>
            <a:endParaRPr lang="en-US" sz="1200" dirty="0"/>
          </a:p>
        </p:txBody>
      </p:sp>
      <p:sp>
        <p:nvSpPr>
          <p:cNvPr id="7" name="Shape 5"/>
          <p:cNvSpPr/>
          <p:nvPr/>
        </p:nvSpPr>
        <p:spPr>
          <a:xfrm>
            <a:off x="4846320" y="1371600"/>
            <a:ext cx="3840480" cy="1188720"/>
          </a:xfrm>
          <a:prstGeom prst="rect">
            <a:avLst/>
          </a:prstGeom>
          <a:solidFill>
            <a:srgbClr val="F8FAFC"/>
          </a:solidFill>
          <a:ln/>
        </p:spPr>
        <p:txBody>
          <a:bodyPr/>
          <a:lstStyle/>
          <a:p>
            <a:endParaRPr lang="en-US"/>
          </a:p>
        </p:txBody>
      </p:sp>
      <p:sp>
        <p:nvSpPr>
          <p:cNvPr id="8" name="Text 6"/>
          <p:cNvSpPr/>
          <p:nvPr/>
        </p:nvSpPr>
        <p:spPr>
          <a:xfrm>
            <a:off x="4937760" y="1417320"/>
            <a:ext cx="3657600" cy="274320"/>
          </a:xfrm>
          <a:prstGeom prst="rect">
            <a:avLst/>
          </a:prstGeom>
          <a:noFill/>
          <a:ln/>
        </p:spPr>
        <p:txBody>
          <a:bodyPr wrap="square" rtlCol="0" anchor="ctr"/>
          <a:lstStyle/>
          <a:p>
            <a:pPr marL="0" indent="0">
              <a:buNone/>
            </a:pPr>
            <a:r>
              <a:rPr lang="en-US" sz="1300" b="1" dirty="0">
                <a:solidFill>
                  <a:srgbClr val="059669"/>
                </a:solidFill>
                <a:latin typeface="Calibri" pitchFamily="34" charset="0"/>
                <a:ea typeface="Calibri" pitchFamily="34" charset="-122"/>
                <a:cs typeface="Calibri" pitchFamily="34" charset="-120"/>
              </a:rPr>
              <a:t>Window Function</a:t>
            </a:r>
            <a:endParaRPr lang="en-US" sz="1300" dirty="0"/>
          </a:p>
        </p:txBody>
      </p:sp>
      <p:sp>
        <p:nvSpPr>
          <p:cNvPr id="9" name="Text 7"/>
          <p:cNvSpPr/>
          <p:nvPr/>
        </p:nvSpPr>
        <p:spPr>
          <a:xfrm>
            <a:off x="4937760" y="1737360"/>
            <a:ext cx="3657600" cy="7315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Keeps all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5 rows → 5 rows</a:t>
            </a:r>
            <a:endParaRPr lang="en-US" sz="1200" dirty="0"/>
          </a:p>
          <a:p>
            <a:pPr marL="0" indent="0">
              <a:buNone/>
            </a:pPr>
            <a:r>
              <a:rPr lang="en-US" sz="1200" dirty="0">
                <a:solidFill>
                  <a:srgbClr val="334155"/>
                </a:solidFill>
                <a:latin typeface="Calibri" pitchFamily="34" charset="0"/>
                <a:ea typeface="Calibri" pitchFamily="34" charset="-122"/>
                <a:cs typeface="Calibri" pitchFamily="34" charset="-120"/>
              </a:rPr>
              <a:t>• Adds calculated column</a:t>
            </a:r>
            <a:endParaRPr lang="en-US" sz="1200" dirty="0"/>
          </a:p>
        </p:txBody>
      </p:sp>
      <p:sp>
        <p:nvSpPr>
          <p:cNvPr id="10" name="Text 8"/>
          <p:cNvSpPr/>
          <p:nvPr/>
        </p:nvSpPr>
        <p:spPr>
          <a:xfrm>
            <a:off x="457200" y="2743200"/>
            <a:ext cx="8229600" cy="27432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Syntax:</a:t>
            </a:r>
            <a:endParaRPr lang="en-US" sz="1400" dirty="0"/>
          </a:p>
        </p:txBody>
      </p:sp>
      <p:sp>
        <p:nvSpPr>
          <p:cNvPr id="11" name="Shape 9"/>
          <p:cNvSpPr/>
          <p:nvPr/>
        </p:nvSpPr>
        <p:spPr>
          <a:xfrm>
            <a:off x="457200" y="3063240"/>
            <a:ext cx="8229600" cy="548640"/>
          </a:xfrm>
          <a:prstGeom prst="rect">
            <a:avLst/>
          </a:prstGeom>
          <a:solidFill>
            <a:srgbClr val="1E293B"/>
          </a:solidFill>
          <a:ln/>
        </p:spPr>
        <p:txBody>
          <a:bodyPr/>
          <a:lstStyle/>
          <a:p>
            <a:endParaRPr lang="en-US"/>
          </a:p>
        </p:txBody>
      </p:sp>
      <p:sp>
        <p:nvSpPr>
          <p:cNvPr id="12" name="Text 10"/>
          <p:cNvSpPr/>
          <p:nvPr/>
        </p:nvSpPr>
        <p:spPr>
          <a:xfrm>
            <a:off x="640080" y="3200400"/>
            <a:ext cx="7863840" cy="320040"/>
          </a:xfrm>
          <a:prstGeom prst="rect">
            <a:avLst/>
          </a:prstGeom>
          <a:noFill/>
          <a:ln/>
        </p:spPr>
        <p:txBody>
          <a:bodyPr wrap="square" rtlCol="0" anchor="ctr"/>
          <a:lstStyle/>
          <a:p>
            <a:pPr marL="0" indent="0">
              <a:buNone/>
            </a:pPr>
            <a:r>
              <a:rPr lang="en-US" sz="1400" dirty="0">
                <a:solidFill>
                  <a:srgbClr val="FFFFFF"/>
                </a:solidFill>
                <a:latin typeface="Consolas" pitchFamily="34" charset="0"/>
                <a:ea typeface="Consolas" pitchFamily="34" charset="-122"/>
                <a:cs typeface="Consolas" pitchFamily="34" charset="-120"/>
              </a:rPr>
              <a:t>function() OVER (PARTITION BY column ORDER BY column)</a:t>
            </a:r>
            <a:endParaRPr lang="en-US" sz="1400" dirty="0"/>
          </a:p>
        </p:txBody>
      </p:sp>
      <p:sp>
        <p:nvSpPr>
          <p:cNvPr id="13" name="Text 11"/>
          <p:cNvSpPr/>
          <p:nvPr/>
        </p:nvSpPr>
        <p:spPr>
          <a:xfrm>
            <a:off x="457200" y="3749040"/>
            <a:ext cx="822960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OVER() = "calculate over a window of related rows"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ROW_NUMBER: Number Each Row</a:t>
            </a:r>
            <a:endParaRPr lang="en-US" sz="3200" dirty="0"/>
          </a:p>
        </p:txBody>
      </p:sp>
      <p:sp>
        <p:nvSpPr>
          <p:cNvPr id="3" name="Shape 1"/>
          <p:cNvSpPr/>
          <p:nvPr/>
        </p:nvSpPr>
        <p:spPr>
          <a:xfrm>
            <a:off x="457200" y="914400"/>
            <a:ext cx="8229600" cy="822960"/>
          </a:xfrm>
          <a:prstGeom prst="rect">
            <a:avLst/>
          </a:prstGeom>
          <a:solidFill>
            <a:srgbClr val="1E293B"/>
          </a:solidFill>
          <a:ln/>
        </p:spPr>
        <p:txBody>
          <a:bodyPr/>
          <a:lstStyle/>
          <a:p>
            <a:endParaRPr lang="en-US"/>
          </a:p>
        </p:txBody>
      </p:sp>
      <p:sp>
        <p:nvSpPr>
          <p:cNvPr id="4" name="Text 2"/>
          <p:cNvSpPr/>
          <p:nvPr/>
        </p:nvSpPr>
        <p:spPr>
          <a:xfrm>
            <a:off x="640080" y="1005840"/>
            <a:ext cx="7863840" cy="6400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name, city,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ROW_NUMBER() OVER (ORDER BY name) AS row_num</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customers;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4572000" cy="1463040"/>
        </p:xfrm>
        <a:graphic>
          <a:graphicData uri="http://schemas.openxmlformats.org/drawingml/2006/table">
            <a:tbl>
              <a:tblPr/>
              <a:tblGrid>
                <a:gridCol w="18288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286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city</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row_num</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Anita Tamang</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Binod Karki</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Bhaktapur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Chandra Magar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Lalitpur</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Deepak Adhikari</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Elina Basnet</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Pokhara</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457200" y="3383280"/>
            <a:ext cx="8229600" cy="27432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With PARTITION BY (restart for each city):</a:t>
            </a:r>
            <a:endParaRPr lang="en-US" sz="1300" dirty="0"/>
          </a:p>
        </p:txBody>
      </p:sp>
      <p:sp>
        <p:nvSpPr>
          <p:cNvPr id="7" name="Shape 4"/>
          <p:cNvSpPr/>
          <p:nvPr/>
        </p:nvSpPr>
        <p:spPr>
          <a:xfrm>
            <a:off x="457200" y="3703320"/>
            <a:ext cx="8229600" cy="457200"/>
          </a:xfrm>
          <a:prstGeom prst="rect">
            <a:avLst/>
          </a:prstGeom>
          <a:solidFill>
            <a:srgbClr val="F8FAFC"/>
          </a:solidFill>
          <a:ln/>
        </p:spPr>
        <p:txBody>
          <a:bodyPr/>
          <a:lstStyle/>
          <a:p>
            <a:endParaRPr lang="en-US"/>
          </a:p>
        </p:txBody>
      </p:sp>
      <p:sp>
        <p:nvSpPr>
          <p:cNvPr id="8" name="Text 5"/>
          <p:cNvSpPr/>
          <p:nvPr/>
        </p:nvSpPr>
        <p:spPr>
          <a:xfrm>
            <a:off x="548640" y="3794760"/>
            <a:ext cx="8046720" cy="274320"/>
          </a:xfrm>
          <a:prstGeom prst="rect">
            <a:avLst/>
          </a:prstGeom>
          <a:noFill/>
          <a:ln/>
        </p:spPr>
        <p:txBody>
          <a:bodyPr wrap="square" rtlCol="0" anchor="ctr"/>
          <a:lstStyle/>
          <a:p>
            <a:pPr marL="0" indent="0">
              <a:buNone/>
            </a:pPr>
            <a:r>
              <a:rPr lang="en-US" sz="1200" dirty="0">
                <a:solidFill>
                  <a:srgbClr val="334155"/>
                </a:solidFill>
                <a:latin typeface="Consolas" pitchFamily="34" charset="0"/>
                <a:ea typeface="Consolas" pitchFamily="34" charset="-122"/>
                <a:cs typeface="Consolas" pitchFamily="34" charset="-120"/>
              </a:rPr>
              <a:t>ROW_NUMBER() OVER (PARTITION BY city ORDER BY name)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RANK vs DENSE_RANK</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Both rank rows, but handle ties differently</a:t>
            </a:r>
            <a:endParaRPr lang="en-US" sz="1400" dirty="0"/>
          </a:p>
        </p:txBody>
      </p:sp>
      <p:sp>
        <p:nvSpPr>
          <p:cNvPr id="4" name="Shape 2"/>
          <p:cNvSpPr/>
          <p:nvPr/>
        </p:nvSpPr>
        <p:spPr>
          <a:xfrm>
            <a:off x="457200" y="1280160"/>
            <a:ext cx="8229600" cy="822960"/>
          </a:xfrm>
          <a:prstGeom prst="rect">
            <a:avLst/>
          </a:prstGeom>
          <a:solidFill>
            <a:srgbClr val="1E293B"/>
          </a:solidFill>
          <a:ln/>
        </p:spPr>
        <p:txBody>
          <a:bodyPr/>
          <a:lstStyle/>
          <a:p>
            <a:endParaRPr lang="en-US"/>
          </a:p>
        </p:txBody>
      </p:sp>
      <p:sp>
        <p:nvSpPr>
          <p:cNvPr id="5" name="Text 3"/>
          <p:cNvSpPr/>
          <p:nvPr/>
        </p:nvSpPr>
        <p:spPr>
          <a:xfrm>
            <a:off x="640080" y="1371600"/>
            <a:ext cx="7863840" cy="64008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product_name, price,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RANK() OVER (ORDER BY price DESC) AS rank,</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DENSE_RANK() OVER (ORDER BY price DESC) AS dense_rank</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products;</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2240280"/>
          <a:ext cx="5943600" cy="1371600"/>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22098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DENSE_RANK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Tablet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Watch</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098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Coffee Maker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457200" y="3703320"/>
            <a:ext cx="8229600" cy="274320"/>
          </a:xfrm>
          <a:prstGeom prst="rect">
            <a:avLst/>
          </a:prstGeom>
          <a:noFill/>
          <a:ln/>
        </p:spPr>
        <p:txBody>
          <a:bodyPr wrap="square" rtlCol="0" anchor="ctr"/>
          <a:lstStyle/>
          <a:p>
            <a:pPr marL="0" indent="0">
              <a:buNone/>
            </a:pPr>
            <a:r>
              <a:rPr lang="en-US" sz="1200" dirty="0">
                <a:solidFill>
                  <a:srgbClr val="EA580C"/>
                </a:solidFill>
                <a:latin typeface="Calibri" pitchFamily="34" charset="0"/>
                <a:ea typeface="Calibri" pitchFamily="34" charset="-122"/>
                <a:cs typeface="Calibri" pitchFamily="34" charset="-120"/>
              </a:rPr>
              <a:t>RANK: Skips numbers after ties (1, 2, 2, 4)</a:t>
            </a:r>
            <a:endParaRPr lang="en-US" sz="1200" dirty="0"/>
          </a:p>
        </p:txBody>
      </p:sp>
      <p:sp>
        <p:nvSpPr>
          <p:cNvPr id="8" name="Text 5"/>
          <p:cNvSpPr/>
          <p:nvPr/>
        </p:nvSpPr>
        <p:spPr>
          <a:xfrm>
            <a:off x="457200" y="3977640"/>
            <a:ext cx="8229600" cy="274320"/>
          </a:xfrm>
          <a:prstGeom prst="rect">
            <a:avLst/>
          </a:prstGeom>
          <a:noFill/>
          <a:ln/>
        </p:spPr>
        <p:txBody>
          <a:bodyPr wrap="square" rtlCol="0" anchor="ctr"/>
          <a:lstStyle/>
          <a:p>
            <a:pPr marL="0" indent="0">
              <a:buNone/>
            </a:pPr>
            <a:r>
              <a:rPr lang="en-US" sz="1200" dirty="0">
                <a:solidFill>
                  <a:srgbClr val="059669"/>
                </a:solidFill>
                <a:latin typeface="Calibri" pitchFamily="34" charset="0"/>
                <a:ea typeface="Calibri" pitchFamily="34" charset="-122"/>
                <a:cs typeface="Calibri" pitchFamily="34" charset="-120"/>
              </a:rPr>
              <a:t>DENSE_RANK: No gaps (1, 2, 2, 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LEAD &amp; LAG: Look Forward/Back</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Access previous or next row's data — perfect for time-series!</a:t>
            </a:r>
            <a:endParaRPr lang="en-US" sz="1400" dirty="0"/>
          </a:p>
        </p:txBody>
      </p:sp>
      <p:sp>
        <p:nvSpPr>
          <p:cNvPr id="4" name="Shape 2"/>
          <p:cNvSpPr/>
          <p:nvPr/>
        </p:nvSpPr>
        <p:spPr>
          <a:xfrm>
            <a:off x="457200" y="1280160"/>
            <a:ext cx="8229600" cy="914400"/>
          </a:xfrm>
          <a:prstGeom prst="rect">
            <a:avLst/>
          </a:prstGeom>
          <a:solidFill>
            <a:srgbClr val="1E293B"/>
          </a:solidFill>
          <a:ln/>
        </p:spPr>
        <p:txBody>
          <a:bodyPr/>
          <a:lstStyle/>
          <a:p>
            <a:endParaRPr lang="en-US"/>
          </a:p>
        </p:txBody>
      </p:sp>
      <p:sp>
        <p:nvSpPr>
          <p:cNvPr id="5" name="Text 3"/>
          <p:cNvSpPr/>
          <p:nvPr/>
        </p:nvSpPr>
        <p:spPr>
          <a:xfrm>
            <a:off x="640080" y="1371600"/>
            <a:ext cx="7863840" cy="73152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sale_date, total_revenue,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LAG(total_revenue, 1) OVER (ORDER BY sale_date) AS prev_day,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LEAD(total_revenue, 1) OVER (ORDER BY sale_date) AS next_day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daily_sales;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331720"/>
          <a:ext cx="6400800" cy="11430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2011680">
                  <a:extLst>
                    <a:ext uri="{9D8B030D-6E8A-4147-A177-3AD203B41FA5}">
                      <a16:colId xmlns:a16="http://schemas.microsoft.com/office/drawing/2014/main" val="20003"/>
                    </a:ext>
                  </a:extLst>
                </a:gridCol>
              </a:tblGrid>
              <a:tr h="219456">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sale_date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total_revenue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prev_day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next_day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NULL</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71,000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457200" y="3566160"/>
            <a:ext cx="8229600" cy="320040"/>
          </a:xfrm>
          <a:prstGeom prst="rect">
            <a:avLst/>
          </a:prstGeom>
          <a:noFill/>
          <a:ln/>
        </p:spPr>
        <p:txBody>
          <a:bodyPr wrap="square"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Calculate day-over-day change: total_revenue - LAG(total_revenue, 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Running Total (Cumulative Sum)</a:t>
            </a:r>
            <a:endParaRPr lang="en-US" sz="3200" dirty="0"/>
          </a:p>
        </p:txBody>
      </p:sp>
      <p:sp>
        <p:nvSpPr>
          <p:cNvPr id="3" name="Shape 1"/>
          <p:cNvSpPr/>
          <p:nvPr/>
        </p:nvSpPr>
        <p:spPr>
          <a:xfrm>
            <a:off x="457200" y="914400"/>
            <a:ext cx="8229600" cy="822960"/>
          </a:xfrm>
          <a:prstGeom prst="rect">
            <a:avLst/>
          </a:prstGeom>
          <a:solidFill>
            <a:srgbClr val="1E293B"/>
          </a:solidFill>
          <a:ln/>
        </p:spPr>
        <p:txBody>
          <a:bodyPr/>
          <a:lstStyle/>
          <a:p>
            <a:endParaRPr lang="en-US"/>
          </a:p>
        </p:txBody>
      </p:sp>
      <p:sp>
        <p:nvSpPr>
          <p:cNvPr id="4" name="Text 2"/>
          <p:cNvSpPr/>
          <p:nvPr/>
        </p:nvSpPr>
        <p:spPr>
          <a:xfrm>
            <a:off x="640080" y="1005840"/>
            <a:ext cx="7863840" cy="6400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sale_date, total_revenue,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SUM(total_revenue) OVER (ORDER BY sale_date) AS running_total</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daily_sales;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874520"/>
          <a:ext cx="5029200" cy="1219200"/>
        </p:xfrm>
        <a:graphic>
          <a:graphicData uri="http://schemas.openxmlformats.org/drawingml/2006/table">
            <a:tbl>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19456">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sale_date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total_revenue</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running_total</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2024-01-01</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2024-01-02</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62,000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107,000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2024-01-03</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48,000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155,000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9456">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2024-01-04</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95,000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334155"/>
                          </a:solidFill>
                          <a:latin typeface="Calibri" pitchFamily="34" charset="0"/>
                          <a:ea typeface="Calibri" pitchFamily="34" charset="-122"/>
                          <a:cs typeface="Calibri" pitchFamily="34" charset="-120"/>
                        </a:rPr>
                        <a:t>250,000</a:t>
                      </a:r>
                      <a:endParaRPr lang="en-US" sz="10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p:nvPr/>
        </p:nvSpPr>
        <p:spPr>
          <a:xfrm>
            <a:off x="5669280" y="1920240"/>
            <a:ext cx="3017520" cy="91440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45,000</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+ 62,000 = 107,000</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+ 48,000 = 155,000</a:t>
            </a:r>
            <a:endParaRPr lang="en-US" sz="1100" dirty="0"/>
          </a:p>
          <a:p>
            <a:pPr marL="0" indent="0">
              <a:buNone/>
            </a:pPr>
            <a:r>
              <a:rPr lang="en-US" sz="1100" dirty="0">
                <a:solidFill>
                  <a:srgbClr val="64748B"/>
                </a:solidFill>
                <a:latin typeface="Calibri" pitchFamily="34" charset="0"/>
                <a:ea typeface="Calibri" pitchFamily="34" charset="-122"/>
                <a:cs typeface="Calibri" pitchFamily="34" charset="-120"/>
              </a:rPr>
              <a:t>+ 95,000 = 250,000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Moving Average</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Average over a sliding window — great for smoothing trends</a:t>
            </a:r>
            <a:endParaRPr lang="en-US" sz="1400" dirty="0"/>
          </a:p>
        </p:txBody>
      </p:sp>
      <p:sp>
        <p:nvSpPr>
          <p:cNvPr id="4" name="Shape 2"/>
          <p:cNvSpPr/>
          <p:nvPr/>
        </p:nvSpPr>
        <p:spPr>
          <a:xfrm>
            <a:off x="457200" y="1280160"/>
            <a:ext cx="8229600" cy="1280160"/>
          </a:xfrm>
          <a:prstGeom prst="rect">
            <a:avLst/>
          </a:prstGeom>
          <a:solidFill>
            <a:srgbClr val="1E293B"/>
          </a:solidFill>
          <a:ln/>
        </p:spPr>
        <p:txBody>
          <a:bodyPr/>
          <a:lstStyle/>
          <a:p>
            <a:endParaRPr lang="en-US"/>
          </a:p>
        </p:txBody>
      </p:sp>
      <p:sp>
        <p:nvSpPr>
          <p:cNvPr id="5" name="Text 3"/>
          <p:cNvSpPr/>
          <p:nvPr/>
        </p:nvSpPr>
        <p:spPr>
          <a:xfrm>
            <a:off x="640080" y="1371600"/>
            <a:ext cx="7863840" cy="1097280"/>
          </a:xfrm>
          <a:prstGeom prst="rect">
            <a:avLst/>
          </a:prstGeom>
          <a:noFill/>
          <a:ln/>
        </p:spPr>
        <p:txBody>
          <a:bodyPr wrap="square" rtlCol="0" anchor="ctr"/>
          <a:lstStyle/>
          <a:p>
            <a:pPr marL="0" indent="0">
              <a:buNone/>
            </a:pPr>
            <a:r>
              <a:rPr lang="en-US" sz="1100" dirty="0">
                <a:solidFill>
                  <a:srgbClr val="FFFFFF"/>
                </a:solidFill>
                <a:latin typeface="Consolas" pitchFamily="34" charset="0"/>
                <a:ea typeface="Consolas" pitchFamily="34" charset="-122"/>
                <a:cs typeface="Consolas" pitchFamily="34" charset="-120"/>
              </a:rPr>
              <a:t>SELECT sale_date, total_revenue,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ROUND(AVG(total_revenue) OVER (</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ORDER BY sale_date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ROWS BETWEEN 2 PRECEDING AND CURRENT ROW</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       ), 0) AS moving_avg_3day</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FROM daily_sales;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5029200" cy="1143000"/>
        </p:xfrm>
        <a:graphic>
          <a:graphicData uri="http://schemas.openxmlformats.org/drawingml/2006/table">
            <a:tbl>
              <a:tblPr/>
              <a:tblGrid>
                <a:gridCol w="16459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1031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sale_date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total_revenue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moving_avg_3day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62,000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53,500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48,000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51,667</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0312">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2024-01-04</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95,000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68,333</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5669280" y="3474720"/>
            <a:ext cx="301752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(62+48+95)/3 = 68,333</a:t>
            </a:r>
            <a:endParaRPr lang="en-US" sz="1100" dirty="0"/>
          </a:p>
        </p:txBody>
      </p:sp>
      <p:sp>
        <p:nvSpPr>
          <p:cNvPr id="8" name="TextBox 7">
            <a:extLst>
              <a:ext uri="{FF2B5EF4-FFF2-40B4-BE49-F238E27FC236}">
                <a16:creationId xmlns:a16="http://schemas.microsoft.com/office/drawing/2014/main" id="{1895217B-1D7A-4893-308A-AC50CE014838}"/>
              </a:ext>
            </a:extLst>
          </p:cNvPr>
          <p:cNvSpPr txBox="1"/>
          <p:nvPr/>
        </p:nvSpPr>
        <p:spPr>
          <a:xfrm>
            <a:off x="5570220" y="3678674"/>
            <a:ext cx="3573780" cy="307777"/>
          </a:xfrm>
          <a:prstGeom prst="rect">
            <a:avLst/>
          </a:prstGeom>
          <a:noFill/>
        </p:spPr>
        <p:txBody>
          <a:bodyPr wrap="square">
            <a:spAutoFit/>
          </a:bodyPr>
          <a:lstStyle/>
          <a:p>
            <a:r>
              <a:rPr lang="en-US" sz="1400" dirty="0">
                <a:solidFill>
                  <a:schemeClr val="bg2">
                    <a:lumMod val="75000"/>
                  </a:schemeClr>
                </a:solidFill>
              </a:rPr>
              <a:t>2 Preceding: Go 2 rows before the current row</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PARTITION BY: Grouped Windows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Restart calculations for each group</a:t>
            </a:r>
            <a:endParaRPr lang="en-US" sz="1400" dirty="0"/>
          </a:p>
        </p:txBody>
      </p:sp>
      <p:sp>
        <p:nvSpPr>
          <p:cNvPr id="4" name="Shape 2"/>
          <p:cNvSpPr/>
          <p:nvPr/>
        </p:nvSpPr>
        <p:spPr>
          <a:xfrm>
            <a:off x="457200" y="1280160"/>
            <a:ext cx="8229600" cy="1097280"/>
          </a:xfrm>
          <a:prstGeom prst="rect">
            <a:avLst/>
          </a:prstGeom>
          <a:solidFill>
            <a:srgbClr val="1E293B"/>
          </a:solidFill>
          <a:ln/>
        </p:spPr>
        <p:txBody>
          <a:bodyPr/>
          <a:lstStyle/>
          <a:p>
            <a:endParaRPr lang="en-US"/>
          </a:p>
        </p:txBody>
      </p:sp>
      <p:sp>
        <p:nvSpPr>
          <p:cNvPr id="5" name="Text 3"/>
          <p:cNvSpPr/>
          <p:nvPr/>
        </p:nvSpPr>
        <p:spPr>
          <a:xfrm>
            <a:off x="640080" y="1371600"/>
            <a:ext cx="7863840" cy="91440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SELECT category, product_name, price,</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RANK() OVER (PARTITION BY category ORDER BY price DESC)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AS rank_in_category</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FROM products;</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2514600"/>
          <a:ext cx="5943600" cy="137160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1336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category</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product_name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price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rank</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7C3AED"/>
                    </a:solidFill>
                  </a:tcPr>
                </a:tc>
                <a:extLst>
                  <a:ext uri="{0D108BD9-81ED-4DB2-BD59-A6C34878D82A}">
                    <a16:rowId xmlns:a16="http://schemas.microsoft.com/office/drawing/2014/main" val="10000"/>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Electronics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Laptop</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85,000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Electronics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Smartphone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Clothing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Sneakers</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4,500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Clothing</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Winter Jacket</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3,500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13360">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Home</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Coffee Maker</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6,500</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900" dirty="0">
                          <a:solidFill>
                            <a:srgbClr val="334155"/>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6583680" y="2834640"/>
            <a:ext cx="2103120" cy="548640"/>
          </a:xfrm>
          <a:prstGeom prst="rect">
            <a:avLst/>
          </a:prstGeom>
          <a:noFill/>
          <a:ln/>
        </p:spPr>
        <p:txBody>
          <a:bodyPr wrap="square" rtlCol="0" anchor="ctr"/>
          <a:lstStyle/>
          <a:p>
            <a:pPr marL="0" indent="0">
              <a:buNone/>
            </a:pPr>
            <a:r>
              <a:rPr lang="en-US" sz="1100" dirty="0">
                <a:solidFill>
                  <a:srgbClr val="059669"/>
                </a:solidFill>
                <a:latin typeface="Calibri" pitchFamily="34" charset="0"/>
                <a:ea typeface="Calibri" pitchFamily="34" charset="-122"/>
                <a:cs typeface="Calibri" pitchFamily="34" charset="-120"/>
              </a:rPr>
              <a:t>Rank restarts at 1</a:t>
            </a:r>
            <a:endParaRPr lang="en-US" sz="1100" dirty="0"/>
          </a:p>
          <a:p>
            <a:pPr marL="0" indent="0">
              <a:buNone/>
            </a:pPr>
            <a:r>
              <a:rPr lang="en-US" sz="1100" dirty="0">
                <a:solidFill>
                  <a:srgbClr val="059669"/>
                </a:solidFill>
                <a:latin typeface="Calibri" pitchFamily="34" charset="0"/>
                <a:ea typeface="Calibri" pitchFamily="34" charset="-122"/>
                <a:cs typeface="Calibri" pitchFamily="34" charset="-120"/>
              </a:rPr>
              <a:t>for each category!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47472"/>
            <a:ext cx="8229600" cy="50292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CTE — Common Table Expression</a:t>
            </a:r>
            <a:endParaRPr lang="en-US" sz="2800" dirty="0"/>
          </a:p>
        </p:txBody>
      </p:sp>
      <p:sp>
        <p:nvSpPr>
          <p:cNvPr id="3" name="Text 1"/>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 named temporary result set — write once with WITH, use it in the same query</a:t>
            </a:r>
            <a:endParaRPr lang="en-US" sz="1300" dirty="0"/>
          </a:p>
        </p:txBody>
      </p:sp>
      <p:sp>
        <p:nvSpPr>
          <p:cNvPr id="4" name="Shape 2"/>
          <p:cNvSpPr/>
          <p:nvPr/>
        </p:nvSpPr>
        <p:spPr>
          <a:xfrm>
            <a:off x="457200" y="1216152"/>
            <a:ext cx="8229600" cy="457200"/>
          </a:xfrm>
          <a:prstGeom prst="rect">
            <a:avLst/>
          </a:prstGeom>
          <a:solidFill>
            <a:srgbClr val="EDE9FE"/>
          </a:solidFill>
          <a:ln w="12700">
            <a:solidFill>
              <a:srgbClr val="8B5CF6"/>
            </a:solidFill>
            <a:prstDash val="solid"/>
          </a:ln>
        </p:spPr>
        <p:txBody>
          <a:bodyPr/>
          <a:lstStyle/>
          <a:p>
            <a:endParaRPr lang="en-US"/>
          </a:p>
        </p:txBody>
      </p:sp>
      <p:sp>
        <p:nvSpPr>
          <p:cNvPr id="5" name="Shape 3"/>
          <p:cNvSpPr/>
          <p:nvPr/>
        </p:nvSpPr>
        <p:spPr>
          <a:xfrm>
            <a:off x="457200" y="1216152"/>
            <a:ext cx="914400" cy="457200"/>
          </a:xfrm>
          <a:prstGeom prst="rect">
            <a:avLst/>
          </a:prstGeom>
          <a:solidFill>
            <a:srgbClr val="8B5CF6"/>
          </a:solidFill>
          <a:ln w="12700">
            <a:solidFill>
              <a:srgbClr val="8B5CF6"/>
            </a:solidFill>
            <a:prstDash val="solid"/>
          </a:ln>
        </p:spPr>
        <p:txBody>
          <a:bodyPr/>
          <a:lstStyle/>
          <a:p>
            <a:endParaRPr lang="en-US"/>
          </a:p>
        </p:txBody>
      </p:sp>
      <p:sp>
        <p:nvSpPr>
          <p:cNvPr id="6" name="Text 4"/>
          <p:cNvSpPr/>
          <p:nvPr/>
        </p:nvSpPr>
        <p:spPr>
          <a:xfrm>
            <a:off x="466344" y="1216152"/>
            <a:ext cx="905256"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WHAT IS IT</a:t>
            </a:r>
            <a:endParaRPr lang="en-US" sz="900" dirty="0"/>
          </a:p>
        </p:txBody>
      </p:sp>
      <p:sp>
        <p:nvSpPr>
          <p:cNvPr id="7" name="Text 5"/>
          <p:cNvSpPr/>
          <p:nvPr/>
        </p:nvSpPr>
        <p:spPr>
          <a:xfrm>
            <a:off x="1463040" y="1280160"/>
            <a:ext cx="7150608"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 CTE lets you give a name to a SELECT query. You define it at the top using WITH, then use that name just like a table in the main query below. It exists for ONE query only.</a:t>
            </a:r>
            <a:endParaRPr lang="en-US" sz="1150" dirty="0"/>
          </a:p>
        </p:txBody>
      </p:sp>
      <p:sp>
        <p:nvSpPr>
          <p:cNvPr id="8" name="Text 6"/>
          <p:cNvSpPr/>
          <p:nvPr/>
        </p:nvSpPr>
        <p:spPr>
          <a:xfrm>
            <a:off x="457200" y="1764792"/>
            <a:ext cx="4297680" cy="237744"/>
          </a:xfrm>
          <a:prstGeom prst="rect">
            <a:avLst/>
          </a:prstGeom>
          <a:noFill/>
          <a:ln/>
        </p:spPr>
        <p:txBody>
          <a:bodyPr wrap="square" lIns="0" tIns="0" rIns="0" bIns="0"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Syntax  (uses: customers · orders · order_items)</a:t>
            </a:r>
            <a:endParaRPr lang="en-US" sz="1100" dirty="0"/>
          </a:p>
        </p:txBody>
      </p:sp>
      <p:sp>
        <p:nvSpPr>
          <p:cNvPr id="9" name="Shape 7"/>
          <p:cNvSpPr/>
          <p:nvPr/>
        </p:nvSpPr>
        <p:spPr>
          <a:xfrm>
            <a:off x="457200" y="1984248"/>
            <a:ext cx="4297680" cy="1874520"/>
          </a:xfrm>
          <a:prstGeom prst="rect">
            <a:avLst/>
          </a:prstGeom>
          <a:solidFill>
            <a:srgbClr val="1E293B"/>
          </a:solidFill>
          <a:ln w="12700">
            <a:solidFill>
              <a:srgbClr val="334155"/>
            </a:solidFill>
            <a:prstDash val="solid"/>
          </a:ln>
        </p:spPr>
        <p:txBody>
          <a:bodyPr/>
          <a:lstStyle/>
          <a:p>
            <a:endParaRPr lang="en-US"/>
          </a:p>
        </p:txBody>
      </p:sp>
      <p:sp>
        <p:nvSpPr>
          <p:cNvPr id="10" name="Text 8"/>
          <p:cNvSpPr/>
          <p:nvPr/>
        </p:nvSpPr>
        <p:spPr>
          <a:xfrm>
            <a:off x="585216" y="2075688"/>
            <a:ext cx="4041648" cy="1691640"/>
          </a:xfrm>
          <a:prstGeom prst="rect">
            <a:avLst/>
          </a:prstGeom>
          <a:noFill/>
          <a:ln/>
        </p:spPr>
        <p:txBody>
          <a:bodyPr wrap="square" rtlCol="0" anchor="t"/>
          <a:lstStyle/>
          <a:p>
            <a:pPr marL="0" indent="0">
              <a:buNone/>
            </a:pPr>
            <a:r>
              <a:rPr lang="en-US" sz="850" dirty="0">
                <a:solidFill>
                  <a:srgbClr val="FFFFFF"/>
                </a:solidFill>
                <a:latin typeface="Consolas" pitchFamily="34" charset="0"/>
                <a:ea typeface="Consolas" pitchFamily="34" charset="-122"/>
                <a:cs typeface="Consolas" pitchFamily="34" charset="-120"/>
              </a:rPr>
              <a:t>WITH customer_totals AS (</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SELECT c.customer_id,c.name,c.city,</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COUNT(DISTINCT o.order_id) AS total_orders,</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SUM(oi.quantity*oi.unit_price) AS total_spent</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FROM customers c</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JOIN orders o ON c.customer_id=o.customer_id</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JOIN order_items oi ON o.order_id=oi.order_id</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  GROUP BY c.customer_id,c.name,c.city</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SELECT name,city,total_orders,total_spent</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FROM   customer_totals</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WHERE  total_spent &gt; 50000</a:t>
            </a:r>
            <a:endParaRPr lang="en-US" sz="850" dirty="0"/>
          </a:p>
          <a:p>
            <a:pPr marL="0" indent="0">
              <a:buNone/>
            </a:pPr>
            <a:r>
              <a:rPr lang="en-US" sz="850" dirty="0">
                <a:solidFill>
                  <a:srgbClr val="FFFFFF"/>
                </a:solidFill>
                <a:latin typeface="Consolas" pitchFamily="34" charset="0"/>
                <a:ea typeface="Consolas" pitchFamily="34" charset="-122"/>
                <a:cs typeface="Consolas" pitchFamily="34" charset="-120"/>
              </a:rPr>
              <a:t>ORDER  BY total_spent DESC;</a:t>
            </a:r>
            <a:endParaRPr lang="en-US" sz="850" dirty="0"/>
          </a:p>
        </p:txBody>
      </p:sp>
      <p:sp>
        <p:nvSpPr>
          <p:cNvPr id="11" name="Text 9"/>
          <p:cNvSpPr/>
          <p:nvPr/>
        </p:nvSpPr>
        <p:spPr>
          <a:xfrm>
            <a:off x="457200" y="3913632"/>
            <a:ext cx="914400" cy="201168"/>
          </a:xfrm>
          <a:prstGeom prst="rect">
            <a:avLst/>
          </a:prstGeom>
          <a:noFill/>
          <a:ln/>
        </p:spPr>
        <p:txBody>
          <a:bodyPr wrap="square" lIns="0" tIns="0" rIns="0" bIns="0" rtlCol="0" anchor="ctr"/>
          <a:lstStyle/>
          <a:p>
            <a:pPr marL="0" indent="0">
              <a:buNone/>
            </a:pPr>
            <a:r>
              <a:rPr lang="en-US" sz="950" b="1" dirty="0">
                <a:solidFill>
                  <a:srgbClr val="64748B"/>
                </a:solidFill>
                <a:latin typeface="Calibri" pitchFamily="34" charset="0"/>
                <a:ea typeface="Calibri" pitchFamily="34" charset="-122"/>
                <a:cs typeface="Calibri" pitchFamily="34" charset="-120"/>
              </a:rPr>
              <a:t>Result:</a:t>
            </a:r>
            <a:endParaRPr lang="en-US" sz="950" dirty="0"/>
          </a:p>
        </p:txBody>
      </p:sp>
      <p:graphicFrame>
        <p:nvGraphicFramePr>
          <p:cNvPr id="12" name="Table 0"/>
          <p:cNvGraphicFramePr>
            <a:graphicFrameLocks noGrp="1"/>
          </p:cNvGraphicFramePr>
          <p:nvPr/>
        </p:nvGraphicFramePr>
        <p:xfrm>
          <a:off x="457200" y="4096512"/>
          <a:ext cx="4297680" cy="975360"/>
        </p:xfrm>
        <a:graphic>
          <a:graphicData uri="http://schemas.openxmlformats.org/drawingml/2006/table">
            <a:tbl>
              <a:tblPr/>
              <a:tblGrid>
                <a:gridCol w="1074420">
                  <a:extLst>
                    <a:ext uri="{9D8B030D-6E8A-4147-A177-3AD203B41FA5}">
                      <a16:colId xmlns:a16="http://schemas.microsoft.com/office/drawing/2014/main" val="20000"/>
                    </a:ext>
                  </a:extLst>
                </a:gridCol>
                <a:gridCol w="1074420">
                  <a:extLst>
                    <a:ext uri="{9D8B030D-6E8A-4147-A177-3AD203B41FA5}">
                      <a16:colId xmlns:a16="http://schemas.microsoft.com/office/drawing/2014/main" val="20001"/>
                    </a:ext>
                  </a:extLst>
                </a:gridCol>
                <a:gridCol w="1074420">
                  <a:extLst>
                    <a:ext uri="{9D8B030D-6E8A-4147-A177-3AD203B41FA5}">
                      <a16:colId xmlns:a16="http://schemas.microsoft.com/office/drawing/2014/main" val="20002"/>
                    </a:ext>
                  </a:extLst>
                </a:gridCol>
                <a:gridCol w="1074420">
                  <a:extLst>
                    <a:ext uri="{9D8B030D-6E8A-4147-A177-3AD203B41FA5}">
                      <a16:colId xmlns:a16="http://schemas.microsoft.com/office/drawing/2014/main" val="20003"/>
                    </a:ext>
                  </a:extLst>
                </a:gridCol>
              </a:tblGrid>
              <a:tr h="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city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total_orders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total_spent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59669"/>
                    </a:solidFill>
                  </a:tcPr>
                </a:tc>
                <a:extLst>
                  <a:ext uri="{0D108BD9-81ED-4DB2-BD59-A6C34878D82A}">
                    <a16:rowId xmlns:a16="http://schemas.microsoft.com/office/drawing/2014/main" val="10000"/>
                  </a:ext>
                </a:extLst>
              </a:tr>
              <a:tr h="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Ram Sharma</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140,000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Jeevan Bhandari</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130,000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0">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Hari Gurung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Kathmandu</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334155"/>
                          </a:solidFill>
                          <a:latin typeface="Calibri" pitchFamily="34" charset="0"/>
                          <a:ea typeface="Calibri" pitchFamily="34" charset="-122"/>
                          <a:cs typeface="Calibri" pitchFamily="34" charset="-120"/>
                        </a:rPr>
                        <a:t>95,000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Text 10"/>
          <p:cNvSpPr/>
          <p:nvPr/>
        </p:nvSpPr>
        <p:spPr>
          <a:xfrm>
            <a:off x="4937760" y="1764792"/>
            <a:ext cx="3749040" cy="237744"/>
          </a:xfrm>
          <a:prstGeom prst="rect">
            <a:avLst/>
          </a:prstGeom>
          <a:noFill/>
          <a:ln/>
        </p:spPr>
        <p:txBody>
          <a:bodyPr wrap="square" lIns="0" tIns="0" rIns="0" bIns="0"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Key Facts</a:t>
            </a:r>
            <a:endParaRPr lang="en-US" sz="1100" dirty="0"/>
          </a:p>
        </p:txBody>
      </p:sp>
      <p:sp>
        <p:nvSpPr>
          <p:cNvPr id="14" name="Shape 11"/>
          <p:cNvSpPr/>
          <p:nvPr/>
        </p:nvSpPr>
        <p:spPr>
          <a:xfrm>
            <a:off x="4937760" y="2011680"/>
            <a:ext cx="3749040" cy="420624"/>
          </a:xfrm>
          <a:prstGeom prst="rect">
            <a:avLst/>
          </a:prstGeom>
          <a:solidFill>
            <a:srgbClr val="EDE9FE"/>
          </a:solidFill>
          <a:ln w="12700">
            <a:solidFill>
              <a:srgbClr val="8B5CF6"/>
            </a:solidFill>
            <a:prstDash val="solid"/>
          </a:ln>
        </p:spPr>
        <p:txBody>
          <a:bodyPr/>
          <a:lstStyle/>
          <a:p>
            <a:endParaRPr lang="en-US"/>
          </a:p>
        </p:txBody>
      </p:sp>
      <p:sp>
        <p:nvSpPr>
          <p:cNvPr id="15" name="Shape 12"/>
          <p:cNvSpPr/>
          <p:nvPr/>
        </p:nvSpPr>
        <p:spPr>
          <a:xfrm>
            <a:off x="4937760" y="2011680"/>
            <a:ext cx="45720" cy="420624"/>
          </a:xfrm>
          <a:prstGeom prst="rect">
            <a:avLst/>
          </a:prstGeom>
          <a:solidFill>
            <a:srgbClr val="8B5CF6"/>
          </a:solidFill>
          <a:ln w="12700">
            <a:solidFill>
              <a:srgbClr val="8B5CF6"/>
            </a:solidFill>
            <a:prstDash val="solid"/>
          </a:ln>
        </p:spPr>
        <p:txBody>
          <a:bodyPr/>
          <a:lstStyle/>
          <a:p>
            <a:endParaRPr lang="en-US"/>
          </a:p>
        </p:txBody>
      </p:sp>
      <p:sp>
        <p:nvSpPr>
          <p:cNvPr id="16" name="Text 13"/>
          <p:cNvSpPr/>
          <p:nvPr/>
        </p:nvSpPr>
        <p:spPr>
          <a:xfrm>
            <a:off x="5056632" y="2057400"/>
            <a:ext cx="3584448" cy="201168"/>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Lives in memory</a:t>
            </a:r>
            <a:endParaRPr lang="en-US" sz="1050" dirty="0"/>
          </a:p>
        </p:txBody>
      </p:sp>
      <p:sp>
        <p:nvSpPr>
          <p:cNvPr id="17" name="Text 14"/>
          <p:cNvSpPr/>
          <p:nvPr/>
        </p:nvSpPr>
        <p:spPr>
          <a:xfrm>
            <a:off x="5056632" y="2258568"/>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No disk write — fast, zero I/O overhead</a:t>
            </a:r>
            <a:endParaRPr lang="en-US" sz="1000" dirty="0"/>
          </a:p>
        </p:txBody>
      </p:sp>
      <p:sp>
        <p:nvSpPr>
          <p:cNvPr id="18" name="Shape 15"/>
          <p:cNvSpPr/>
          <p:nvPr/>
        </p:nvSpPr>
        <p:spPr>
          <a:xfrm>
            <a:off x="4937760" y="2487168"/>
            <a:ext cx="3749040" cy="420624"/>
          </a:xfrm>
          <a:prstGeom prst="rect">
            <a:avLst/>
          </a:prstGeom>
          <a:solidFill>
            <a:srgbClr val="CCFBF1"/>
          </a:solidFill>
          <a:ln w="12700">
            <a:solidFill>
              <a:srgbClr val="0D9488"/>
            </a:solidFill>
            <a:prstDash val="solid"/>
          </a:ln>
        </p:spPr>
        <p:txBody>
          <a:bodyPr/>
          <a:lstStyle/>
          <a:p>
            <a:endParaRPr lang="en-US"/>
          </a:p>
        </p:txBody>
      </p:sp>
      <p:sp>
        <p:nvSpPr>
          <p:cNvPr id="19" name="Shape 16"/>
          <p:cNvSpPr/>
          <p:nvPr/>
        </p:nvSpPr>
        <p:spPr>
          <a:xfrm>
            <a:off x="4937760" y="2487168"/>
            <a:ext cx="45720" cy="420624"/>
          </a:xfrm>
          <a:prstGeom prst="rect">
            <a:avLst/>
          </a:prstGeom>
          <a:solidFill>
            <a:srgbClr val="0D9488"/>
          </a:solidFill>
          <a:ln w="12700">
            <a:solidFill>
              <a:srgbClr val="0D9488"/>
            </a:solidFill>
            <a:prstDash val="solid"/>
          </a:ln>
        </p:spPr>
        <p:txBody>
          <a:bodyPr/>
          <a:lstStyle/>
          <a:p>
            <a:endParaRPr lang="en-US"/>
          </a:p>
        </p:txBody>
      </p:sp>
      <p:sp>
        <p:nvSpPr>
          <p:cNvPr id="20" name="Text 17"/>
          <p:cNvSpPr/>
          <p:nvPr/>
        </p:nvSpPr>
        <p:spPr>
          <a:xfrm>
            <a:off x="5056632" y="2532888"/>
            <a:ext cx="3584448" cy="201168"/>
          </a:xfrm>
          <a:prstGeom prst="rect">
            <a:avLst/>
          </a:prstGeom>
          <a:noFill/>
          <a:ln/>
        </p:spPr>
        <p:txBody>
          <a:bodyPr wrap="square" lIns="0" tIns="0" rIns="0" bIns="0"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One-query lifespan</a:t>
            </a:r>
            <a:endParaRPr lang="en-US" sz="1050" dirty="0"/>
          </a:p>
        </p:txBody>
      </p:sp>
      <p:sp>
        <p:nvSpPr>
          <p:cNvPr id="21" name="Text 18"/>
          <p:cNvSpPr/>
          <p:nvPr/>
        </p:nvSpPr>
        <p:spPr>
          <a:xfrm>
            <a:off x="5056632" y="2734056"/>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Vanishes the moment the query finishes</a:t>
            </a:r>
            <a:endParaRPr lang="en-US" sz="1000" dirty="0"/>
          </a:p>
        </p:txBody>
      </p:sp>
      <p:sp>
        <p:nvSpPr>
          <p:cNvPr id="22" name="Shape 19"/>
          <p:cNvSpPr/>
          <p:nvPr/>
        </p:nvSpPr>
        <p:spPr>
          <a:xfrm>
            <a:off x="4937760" y="2962656"/>
            <a:ext cx="3749040" cy="420624"/>
          </a:xfrm>
          <a:prstGeom prst="rect">
            <a:avLst/>
          </a:prstGeom>
          <a:solidFill>
            <a:srgbClr val="D1FAE5"/>
          </a:solidFill>
          <a:ln w="12700">
            <a:solidFill>
              <a:srgbClr val="059669"/>
            </a:solidFill>
            <a:prstDash val="solid"/>
          </a:ln>
        </p:spPr>
        <p:txBody>
          <a:bodyPr/>
          <a:lstStyle/>
          <a:p>
            <a:endParaRPr lang="en-US"/>
          </a:p>
        </p:txBody>
      </p:sp>
      <p:sp>
        <p:nvSpPr>
          <p:cNvPr id="23" name="Shape 20"/>
          <p:cNvSpPr/>
          <p:nvPr/>
        </p:nvSpPr>
        <p:spPr>
          <a:xfrm>
            <a:off x="4937760" y="2962656"/>
            <a:ext cx="45720" cy="420624"/>
          </a:xfrm>
          <a:prstGeom prst="rect">
            <a:avLst/>
          </a:prstGeom>
          <a:solidFill>
            <a:srgbClr val="059669"/>
          </a:solidFill>
          <a:ln w="12700">
            <a:solidFill>
              <a:srgbClr val="059669"/>
            </a:solidFill>
            <a:prstDash val="solid"/>
          </a:ln>
        </p:spPr>
        <p:txBody>
          <a:bodyPr/>
          <a:lstStyle/>
          <a:p>
            <a:endParaRPr lang="en-US"/>
          </a:p>
        </p:txBody>
      </p:sp>
      <p:sp>
        <p:nvSpPr>
          <p:cNvPr id="24" name="Text 21"/>
          <p:cNvSpPr/>
          <p:nvPr/>
        </p:nvSpPr>
        <p:spPr>
          <a:xfrm>
            <a:off x="5056632" y="3008376"/>
            <a:ext cx="3584448" cy="201168"/>
          </a:xfrm>
          <a:prstGeom prst="rect">
            <a:avLst/>
          </a:prstGeom>
          <a:noFill/>
          <a:ln/>
        </p:spPr>
        <p:txBody>
          <a:bodyPr wrap="square" lIns="0" tIns="0" rIns="0" bIns="0" rtlCol="0" anchor="ctr"/>
          <a:lstStyle/>
          <a:p>
            <a:pPr marL="0" indent="0">
              <a:buNone/>
            </a:pPr>
            <a:r>
              <a:rPr lang="en-US" sz="1050" b="1" dirty="0">
                <a:solidFill>
                  <a:srgbClr val="059669"/>
                </a:solidFill>
                <a:latin typeface="Calibri" pitchFamily="34" charset="0"/>
                <a:ea typeface="Calibri" pitchFamily="34" charset="-122"/>
                <a:cs typeface="Calibri" pitchFamily="34" charset="-120"/>
              </a:rPr>
              <a:t>Chainable</a:t>
            </a:r>
            <a:endParaRPr lang="en-US" sz="1050" dirty="0"/>
          </a:p>
        </p:txBody>
      </p:sp>
      <p:sp>
        <p:nvSpPr>
          <p:cNvPr id="25" name="Text 22"/>
          <p:cNvSpPr/>
          <p:nvPr/>
        </p:nvSpPr>
        <p:spPr>
          <a:xfrm>
            <a:off x="5056632" y="3209544"/>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One CTE can reference another CTE above it</a:t>
            </a:r>
            <a:endParaRPr lang="en-US" sz="1000" dirty="0"/>
          </a:p>
        </p:txBody>
      </p:sp>
      <p:sp>
        <p:nvSpPr>
          <p:cNvPr id="26" name="Shape 23"/>
          <p:cNvSpPr/>
          <p:nvPr/>
        </p:nvSpPr>
        <p:spPr>
          <a:xfrm>
            <a:off x="4937760" y="3438144"/>
            <a:ext cx="3749040" cy="420624"/>
          </a:xfrm>
          <a:prstGeom prst="rect">
            <a:avLst/>
          </a:prstGeom>
          <a:solidFill>
            <a:srgbClr val="FEF3C7"/>
          </a:solidFill>
          <a:ln w="12700">
            <a:solidFill>
              <a:srgbClr val="D97706"/>
            </a:solidFill>
            <a:prstDash val="solid"/>
          </a:ln>
        </p:spPr>
        <p:txBody>
          <a:bodyPr/>
          <a:lstStyle/>
          <a:p>
            <a:endParaRPr lang="en-US"/>
          </a:p>
        </p:txBody>
      </p:sp>
      <p:sp>
        <p:nvSpPr>
          <p:cNvPr id="27" name="Shape 24"/>
          <p:cNvSpPr/>
          <p:nvPr/>
        </p:nvSpPr>
        <p:spPr>
          <a:xfrm>
            <a:off x="4937760" y="3438144"/>
            <a:ext cx="45720" cy="420624"/>
          </a:xfrm>
          <a:prstGeom prst="rect">
            <a:avLst/>
          </a:prstGeom>
          <a:solidFill>
            <a:srgbClr val="D97706"/>
          </a:solidFill>
          <a:ln w="12700">
            <a:solidFill>
              <a:srgbClr val="D97706"/>
            </a:solidFill>
            <a:prstDash val="solid"/>
          </a:ln>
        </p:spPr>
        <p:txBody>
          <a:bodyPr/>
          <a:lstStyle/>
          <a:p>
            <a:endParaRPr lang="en-US"/>
          </a:p>
        </p:txBody>
      </p:sp>
      <p:sp>
        <p:nvSpPr>
          <p:cNvPr id="28" name="Text 25"/>
          <p:cNvSpPr/>
          <p:nvPr/>
        </p:nvSpPr>
        <p:spPr>
          <a:xfrm>
            <a:off x="5056632" y="3483864"/>
            <a:ext cx="3584448" cy="201168"/>
          </a:xfrm>
          <a:prstGeom prst="rect">
            <a:avLst/>
          </a:prstGeom>
          <a:noFill/>
          <a:ln/>
        </p:spPr>
        <p:txBody>
          <a:bodyPr wrap="square" lIns="0" tIns="0" rIns="0" bIns="0" rtlCol="0" anchor="ctr"/>
          <a:lstStyle/>
          <a:p>
            <a:pPr marL="0" indent="0">
              <a:buNone/>
            </a:pPr>
            <a:r>
              <a:rPr lang="en-US" sz="1050" b="1" dirty="0">
                <a:solidFill>
                  <a:srgbClr val="D97706"/>
                </a:solidFill>
                <a:latin typeface="Calibri" pitchFamily="34" charset="0"/>
                <a:ea typeface="Calibri" pitchFamily="34" charset="-122"/>
                <a:cs typeface="Calibri" pitchFamily="34" charset="-120"/>
              </a:rPr>
              <a:t>No indexes</a:t>
            </a:r>
            <a:endParaRPr lang="en-US" sz="1050" dirty="0"/>
          </a:p>
        </p:txBody>
      </p:sp>
      <p:sp>
        <p:nvSpPr>
          <p:cNvPr id="29" name="Text 26"/>
          <p:cNvSpPr/>
          <p:nvPr/>
        </p:nvSpPr>
        <p:spPr>
          <a:xfrm>
            <a:off x="5056632" y="3685032"/>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Cannot CREATE INDEX on a CTE</a:t>
            </a:r>
            <a:endParaRPr lang="en-US" sz="1000" dirty="0"/>
          </a:p>
        </p:txBody>
      </p:sp>
      <p:sp>
        <p:nvSpPr>
          <p:cNvPr id="30" name="Shape 27"/>
          <p:cNvSpPr/>
          <p:nvPr/>
        </p:nvSpPr>
        <p:spPr>
          <a:xfrm>
            <a:off x="4937760" y="3913632"/>
            <a:ext cx="3749040" cy="420624"/>
          </a:xfrm>
          <a:prstGeom prst="rect">
            <a:avLst/>
          </a:prstGeom>
          <a:solidFill>
            <a:srgbClr val="F1F5F9"/>
          </a:solidFill>
          <a:ln w="12700">
            <a:solidFill>
              <a:srgbClr val="475569"/>
            </a:solidFill>
            <a:prstDash val="solid"/>
          </a:ln>
        </p:spPr>
        <p:txBody>
          <a:bodyPr/>
          <a:lstStyle/>
          <a:p>
            <a:endParaRPr lang="en-US"/>
          </a:p>
        </p:txBody>
      </p:sp>
      <p:sp>
        <p:nvSpPr>
          <p:cNvPr id="31" name="Shape 28"/>
          <p:cNvSpPr/>
          <p:nvPr/>
        </p:nvSpPr>
        <p:spPr>
          <a:xfrm>
            <a:off x="4937760" y="3913632"/>
            <a:ext cx="45720" cy="420624"/>
          </a:xfrm>
          <a:prstGeom prst="rect">
            <a:avLst/>
          </a:prstGeom>
          <a:solidFill>
            <a:srgbClr val="475569"/>
          </a:solidFill>
          <a:ln w="12700">
            <a:solidFill>
              <a:srgbClr val="475569"/>
            </a:solidFill>
            <a:prstDash val="solid"/>
          </a:ln>
        </p:spPr>
        <p:txBody>
          <a:bodyPr/>
          <a:lstStyle/>
          <a:p>
            <a:endParaRPr lang="en-US"/>
          </a:p>
        </p:txBody>
      </p:sp>
      <p:sp>
        <p:nvSpPr>
          <p:cNvPr id="32" name="Text 29"/>
          <p:cNvSpPr/>
          <p:nvPr/>
        </p:nvSpPr>
        <p:spPr>
          <a:xfrm>
            <a:off x="5056632" y="3959352"/>
            <a:ext cx="3584448" cy="201168"/>
          </a:xfrm>
          <a:prstGeom prst="rect">
            <a:avLst/>
          </a:prstGeom>
          <a:noFill/>
          <a:ln/>
        </p:spPr>
        <p:txBody>
          <a:bodyPr wrap="square" lIns="0" tIns="0" rIns="0" bIns="0" rtlCol="0" anchor="ctr"/>
          <a:lstStyle/>
          <a:p>
            <a:pPr marL="0" indent="0">
              <a:buNone/>
            </a:pPr>
            <a:r>
              <a:rPr lang="en-US" sz="1050" b="1" dirty="0">
                <a:solidFill>
                  <a:srgbClr val="475569"/>
                </a:solidFill>
                <a:latin typeface="Calibri" pitchFamily="34" charset="0"/>
                <a:ea typeface="Calibri" pitchFamily="34" charset="-122"/>
                <a:cs typeface="Calibri" pitchFamily="34" charset="-120"/>
              </a:rPr>
              <a:t>Replaces subquery</a:t>
            </a:r>
            <a:endParaRPr lang="en-US" sz="1050" dirty="0"/>
          </a:p>
        </p:txBody>
      </p:sp>
      <p:sp>
        <p:nvSpPr>
          <p:cNvPr id="33" name="Text 30"/>
          <p:cNvSpPr/>
          <p:nvPr/>
        </p:nvSpPr>
        <p:spPr>
          <a:xfrm>
            <a:off x="5056632" y="4160520"/>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Cleaner &amp; more readable than a nested SELECT</a:t>
            </a:r>
            <a:endParaRPr lang="en-US" sz="1000" dirty="0"/>
          </a:p>
        </p:txBody>
      </p:sp>
      <p:sp>
        <p:nvSpPr>
          <p:cNvPr id="34" name="Text 31"/>
          <p:cNvSpPr/>
          <p:nvPr/>
        </p:nvSpPr>
        <p:spPr>
          <a:xfrm>
            <a:off x="4937760" y="4480560"/>
            <a:ext cx="3749040" cy="274320"/>
          </a:xfrm>
          <a:prstGeom prst="rect">
            <a:avLst/>
          </a:prstGeom>
          <a:noFill/>
          <a:ln/>
        </p:spPr>
        <p:txBody>
          <a:bodyPr wrap="square" lIns="0" tIns="0" rIns="0" bIns="0"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Analogy: A sticky note — label it, use it, then throw it away.</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47472"/>
            <a:ext cx="8229600" cy="50292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Temporary Table</a:t>
            </a:r>
            <a:endParaRPr lang="en-US" sz="2800" dirty="0"/>
          </a:p>
        </p:txBody>
      </p:sp>
      <p:sp>
        <p:nvSpPr>
          <p:cNvPr id="3" name="Text 1"/>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 real table stored on disk — survives multiple queries until your session ends</a:t>
            </a:r>
            <a:endParaRPr lang="en-US" sz="1300" dirty="0"/>
          </a:p>
        </p:txBody>
      </p:sp>
      <p:sp>
        <p:nvSpPr>
          <p:cNvPr id="4" name="Shape 2"/>
          <p:cNvSpPr/>
          <p:nvPr/>
        </p:nvSpPr>
        <p:spPr>
          <a:xfrm>
            <a:off x="457200" y="1216152"/>
            <a:ext cx="8229600" cy="457200"/>
          </a:xfrm>
          <a:prstGeom prst="rect">
            <a:avLst/>
          </a:prstGeom>
          <a:solidFill>
            <a:srgbClr val="FEF3C7"/>
          </a:solidFill>
          <a:ln w="12700">
            <a:solidFill>
              <a:srgbClr val="D97706"/>
            </a:solidFill>
            <a:prstDash val="solid"/>
          </a:ln>
        </p:spPr>
        <p:txBody>
          <a:bodyPr/>
          <a:lstStyle/>
          <a:p>
            <a:endParaRPr lang="en-US"/>
          </a:p>
        </p:txBody>
      </p:sp>
      <p:sp>
        <p:nvSpPr>
          <p:cNvPr id="5" name="Shape 3"/>
          <p:cNvSpPr/>
          <p:nvPr/>
        </p:nvSpPr>
        <p:spPr>
          <a:xfrm>
            <a:off x="457200" y="1216152"/>
            <a:ext cx="914400" cy="457200"/>
          </a:xfrm>
          <a:prstGeom prst="rect">
            <a:avLst/>
          </a:prstGeom>
          <a:solidFill>
            <a:srgbClr val="D97706"/>
          </a:solidFill>
          <a:ln w="12700">
            <a:solidFill>
              <a:srgbClr val="D97706"/>
            </a:solidFill>
            <a:prstDash val="solid"/>
          </a:ln>
        </p:spPr>
        <p:txBody>
          <a:bodyPr/>
          <a:lstStyle/>
          <a:p>
            <a:endParaRPr lang="en-US"/>
          </a:p>
        </p:txBody>
      </p:sp>
      <p:sp>
        <p:nvSpPr>
          <p:cNvPr id="6" name="Text 4"/>
          <p:cNvSpPr/>
          <p:nvPr/>
        </p:nvSpPr>
        <p:spPr>
          <a:xfrm>
            <a:off x="466344" y="1216152"/>
            <a:ext cx="905256"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WHAT IS IT</a:t>
            </a:r>
            <a:endParaRPr lang="en-US" sz="900" dirty="0"/>
          </a:p>
        </p:txBody>
      </p:sp>
      <p:sp>
        <p:nvSpPr>
          <p:cNvPr id="7" name="Text 5"/>
          <p:cNvSpPr/>
          <p:nvPr/>
        </p:nvSpPr>
        <p:spPr>
          <a:xfrm>
            <a:off x="1463040" y="1280160"/>
            <a:ext cx="7150608"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 TEMP TABLE is a genuine database table written to PostgreSQL's temp schema. Unlike a CTE, you can query it many times, join it to other tables, and even add indexes on it.</a:t>
            </a:r>
            <a:endParaRPr lang="en-US" sz="1150" dirty="0"/>
          </a:p>
        </p:txBody>
      </p:sp>
      <p:sp>
        <p:nvSpPr>
          <p:cNvPr id="8" name="Text 6"/>
          <p:cNvSpPr/>
          <p:nvPr/>
        </p:nvSpPr>
        <p:spPr>
          <a:xfrm>
            <a:off x="457200" y="1764792"/>
            <a:ext cx="4297680" cy="237744"/>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Syntax — 3 steps  (uses: customers · orders · order_items · products)</a:t>
            </a:r>
            <a:endParaRPr lang="en-US" sz="1100" dirty="0"/>
          </a:p>
        </p:txBody>
      </p:sp>
      <p:sp>
        <p:nvSpPr>
          <p:cNvPr id="9" name="Shape 7"/>
          <p:cNvSpPr/>
          <p:nvPr/>
        </p:nvSpPr>
        <p:spPr>
          <a:xfrm>
            <a:off x="457200" y="2002536"/>
            <a:ext cx="4229100" cy="3092838"/>
          </a:xfrm>
          <a:prstGeom prst="rect">
            <a:avLst/>
          </a:prstGeom>
          <a:solidFill>
            <a:srgbClr val="1E293B"/>
          </a:solidFill>
          <a:ln w="12700">
            <a:solidFill>
              <a:srgbClr val="334155"/>
            </a:solidFill>
            <a:prstDash val="solid"/>
          </a:ln>
        </p:spPr>
        <p:txBody>
          <a:bodyPr/>
          <a:lstStyle/>
          <a:p>
            <a:endParaRPr lang="en-US"/>
          </a:p>
        </p:txBody>
      </p:sp>
      <p:sp>
        <p:nvSpPr>
          <p:cNvPr id="10" name="Text 8"/>
          <p:cNvSpPr/>
          <p:nvPr/>
        </p:nvSpPr>
        <p:spPr>
          <a:xfrm>
            <a:off x="530352" y="2002536"/>
            <a:ext cx="4041648" cy="3032680"/>
          </a:xfrm>
          <a:prstGeom prst="rect">
            <a:avLst/>
          </a:prstGeom>
          <a:noFill/>
          <a:ln/>
        </p:spPr>
        <p:txBody>
          <a:bodyPr wrap="square" rtlCol="0" anchor="t"/>
          <a:lstStyle/>
          <a:p>
            <a:pPr marL="0" indent="0">
              <a:buNone/>
            </a:pPr>
            <a:r>
              <a:rPr lang="en-US" sz="880" dirty="0">
                <a:solidFill>
                  <a:srgbClr val="FFFFFF"/>
                </a:solidFill>
                <a:latin typeface="Consolas" pitchFamily="34" charset="0"/>
                <a:ea typeface="Consolas" pitchFamily="34" charset="-122"/>
                <a:cs typeface="Consolas" pitchFamily="34" charset="-120"/>
              </a:rPr>
              <a:t>-- STEP 1: build the temp table ONCE</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CREATE TEMP TABLE cust_summary AS</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SELECT c.customer_id, c.name, c.city,</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  COUNT(DISTINCT o.order_id)     AS total_orders,</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  SUM(oi.quantity*oi.unit_price) AS total_spent</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FROM   customers c</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JOIN   orders o      ON c.customer_id = o.customer_id</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JOIN   order_items oi ON o.order_id   = oi.order_id</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GROUP  BY c.customer_id, c.name, c.city;</a:t>
            </a:r>
            <a:endParaRPr lang="en-US" sz="880" dirty="0"/>
          </a:p>
          <a:p>
            <a:pPr marL="0" indent="0">
              <a:buNone/>
            </a:pP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 STEP 2: query it multiple times (no re-computing!)</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SELECT name, city, total_spent</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FROM   cust_summary  WHERE total_spent &gt; 50000</a:t>
            </a:r>
            <a:endParaRPr lang="en-US" sz="880" dirty="0"/>
          </a:p>
          <a:p>
            <a:pPr marL="0" indent="0">
              <a:buNone/>
            </a:pPr>
            <a:r>
              <a:rPr lang="en-US" sz="880" dirty="0">
                <a:solidFill>
                  <a:srgbClr val="FFFFFF"/>
                </a:solidFill>
                <a:latin typeface="Consolas" pitchFamily="34" charset="0"/>
                <a:ea typeface="Consolas" pitchFamily="34" charset="-122"/>
                <a:cs typeface="Consolas" pitchFamily="34" charset="-120"/>
              </a:rPr>
              <a:t>ORDER  BY total_spent DESC;</a:t>
            </a:r>
            <a:endParaRPr lang="en-US" sz="880" dirty="0"/>
          </a:p>
          <a:p>
            <a:pPr marL="0" indent="0">
              <a:buNone/>
            </a:pPr>
            <a:endParaRPr lang="en-US" sz="880" dirty="0"/>
          </a:p>
          <a:p>
            <a:pPr marL="0" indent="0">
              <a:buNone/>
            </a:pPr>
            <a:endParaRPr lang="en-US" sz="880" dirty="0"/>
          </a:p>
          <a:p>
            <a:r>
              <a:rPr lang="en-US" sz="880" dirty="0">
                <a:solidFill>
                  <a:srgbClr val="FFFFFF"/>
                </a:solidFill>
                <a:latin typeface="Consolas" pitchFamily="34" charset="0"/>
                <a:ea typeface="Consolas" pitchFamily="34" charset="-122"/>
                <a:cs typeface="Consolas" pitchFamily="34" charset="-120"/>
              </a:rPr>
              <a:t>-- Clean up when done</a:t>
            </a:r>
            <a:endParaRPr lang="en-US" sz="880" dirty="0"/>
          </a:p>
          <a:p>
            <a:r>
              <a:rPr lang="en-US" sz="880" dirty="0">
                <a:solidFill>
                  <a:srgbClr val="FFFFFF"/>
                </a:solidFill>
                <a:latin typeface="Consolas" pitchFamily="34" charset="0"/>
                <a:ea typeface="Consolas" pitchFamily="34" charset="-122"/>
                <a:cs typeface="Consolas" pitchFamily="34" charset="-120"/>
              </a:rPr>
              <a:t>DROP TABLE </a:t>
            </a:r>
            <a:r>
              <a:rPr lang="en-US" sz="880" dirty="0" err="1">
                <a:solidFill>
                  <a:srgbClr val="FFFFFF"/>
                </a:solidFill>
                <a:latin typeface="Consolas" pitchFamily="34" charset="0"/>
                <a:ea typeface="Consolas" pitchFamily="34" charset="-122"/>
                <a:cs typeface="Consolas" pitchFamily="34" charset="-120"/>
              </a:rPr>
              <a:t>cust_summary</a:t>
            </a:r>
            <a:r>
              <a:rPr lang="en-US" sz="880" dirty="0">
                <a:solidFill>
                  <a:srgbClr val="FFFFFF"/>
                </a:solidFill>
                <a:latin typeface="Consolas" pitchFamily="34" charset="0"/>
                <a:ea typeface="Consolas" pitchFamily="34" charset="-122"/>
                <a:cs typeface="Consolas" pitchFamily="34" charset="-120"/>
              </a:rPr>
              <a:t>;</a:t>
            </a:r>
            <a:endParaRPr lang="en-US" sz="880" dirty="0"/>
          </a:p>
          <a:p>
            <a:pPr marL="0" indent="0">
              <a:buNone/>
            </a:pPr>
            <a:endParaRPr lang="en-US" sz="880" dirty="0"/>
          </a:p>
        </p:txBody>
      </p:sp>
      <p:sp>
        <p:nvSpPr>
          <p:cNvPr id="11" name="Text 9"/>
          <p:cNvSpPr/>
          <p:nvPr/>
        </p:nvSpPr>
        <p:spPr>
          <a:xfrm>
            <a:off x="4937760" y="1764792"/>
            <a:ext cx="3749040" cy="237744"/>
          </a:xfrm>
          <a:prstGeom prst="rect">
            <a:avLst/>
          </a:prstGeom>
          <a:noFill/>
          <a:ln/>
        </p:spPr>
        <p:txBody>
          <a:bodyPr wrap="square" lIns="0" tIns="0" rIns="0" bIns="0" rtlCol="0" anchor="ctr"/>
          <a:lstStyle/>
          <a:p>
            <a:pPr marL="0" indent="0">
              <a:buNone/>
            </a:pPr>
            <a:r>
              <a:rPr lang="en-US" sz="1100" b="1" dirty="0">
                <a:solidFill>
                  <a:srgbClr val="D97706"/>
                </a:solidFill>
                <a:latin typeface="Calibri" pitchFamily="34" charset="0"/>
                <a:ea typeface="Calibri" pitchFamily="34" charset="-122"/>
                <a:cs typeface="Calibri" pitchFamily="34" charset="-120"/>
              </a:rPr>
              <a:t>Key Facts</a:t>
            </a:r>
            <a:endParaRPr lang="en-US" sz="1100" dirty="0"/>
          </a:p>
        </p:txBody>
      </p:sp>
      <p:sp>
        <p:nvSpPr>
          <p:cNvPr id="12" name="Shape 10"/>
          <p:cNvSpPr/>
          <p:nvPr/>
        </p:nvSpPr>
        <p:spPr>
          <a:xfrm>
            <a:off x="4937760" y="2011680"/>
            <a:ext cx="3749040" cy="420624"/>
          </a:xfrm>
          <a:prstGeom prst="rect">
            <a:avLst/>
          </a:prstGeom>
          <a:solidFill>
            <a:srgbClr val="FEF3C7"/>
          </a:solidFill>
          <a:ln w="12700">
            <a:solidFill>
              <a:srgbClr val="D97706"/>
            </a:solidFill>
            <a:prstDash val="solid"/>
          </a:ln>
        </p:spPr>
        <p:txBody>
          <a:bodyPr/>
          <a:lstStyle/>
          <a:p>
            <a:endParaRPr lang="en-US"/>
          </a:p>
        </p:txBody>
      </p:sp>
      <p:sp>
        <p:nvSpPr>
          <p:cNvPr id="13" name="Shape 11"/>
          <p:cNvSpPr/>
          <p:nvPr/>
        </p:nvSpPr>
        <p:spPr>
          <a:xfrm>
            <a:off x="4937760" y="2011680"/>
            <a:ext cx="45720" cy="420624"/>
          </a:xfrm>
          <a:prstGeom prst="rect">
            <a:avLst/>
          </a:prstGeom>
          <a:solidFill>
            <a:srgbClr val="D97706"/>
          </a:solidFill>
          <a:ln w="12700">
            <a:solidFill>
              <a:srgbClr val="D97706"/>
            </a:solidFill>
            <a:prstDash val="solid"/>
          </a:ln>
        </p:spPr>
        <p:txBody>
          <a:bodyPr/>
          <a:lstStyle/>
          <a:p>
            <a:endParaRPr lang="en-US"/>
          </a:p>
        </p:txBody>
      </p:sp>
      <p:sp>
        <p:nvSpPr>
          <p:cNvPr id="14" name="Text 12"/>
          <p:cNvSpPr/>
          <p:nvPr/>
        </p:nvSpPr>
        <p:spPr>
          <a:xfrm>
            <a:off x="5056632" y="2057400"/>
            <a:ext cx="3584448" cy="201168"/>
          </a:xfrm>
          <a:prstGeom prst="rect">
            <a:avLst/>
          </a:prstGeom>
          <a:noFill/>
          <a:ln/>
        </p:spPr>
        <p:txBody>
          <a:bodyPr wrap="square" lIns="0" tIns="0" rIns="0" bIns="0" rtlCol="0" anchor="ctr"/>
          <a:lstStyle/>
          <a:p>
            <a:pPr marL="0" indent="0">
              <a:buNone/>
            </a:pPr>
            <a:r>
              <a:rPr lang="en-US" sz="1050" b="1" dirty="0">
                <a:solidFill>
                  <a:srgbClr val="D97706"/>
                </a:solidFill>
                <a:latin typeface="Calibri" pitchFamily="34" charset="0"/>
                <a:ea typeface="Calibri" pitchFamily="34" charset="-122"/>
                <a:cs typeface="Calibri" pitchFamily="34" charset="-120"/>
              </a:rPr>
              <a:t>Stored on disk</a:t>
            </a:r>
            <a:endParaRPr lang="en-US" sz="1050" dirty="0"/>
          </a:p>
        </p:txBody>
      </p:sp>
      <p:sp>
        <p:nvSpPr>
          <p:cNvPr id="15" name="Text 13"/>
          <p:cNvSpPr/>
          <p:nvPr/>
        </p:nvSpPr>
        <p:spPr>
          <a:xfrm>
            <a:off x="5056632" y="2258568"/>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Written to PostgreSQL temp schema — persists between queries</a:t>
            </a:r>
            <a:endParaRPr lang="en-US" sz="1000" dirty="0"/>
          </a:p>
        </p:txBody>
      </p:sp>
      <p:sp>
        <p:nvSpPr>
          <p:cNvPr id="16" name="Shape 14"/>
          <p:cNvSpPr/>
          <p:nvPr/>
        </p:nvSpPr>
        <p:spPr>
          <a:xfrm>
            <a:off x="4937760" y="2487168"/>
            <a:ext cx="3749040" cy="420624"/>
          </a:xfrm>
          <a:prstGeom prst="rect">
            <a:avLst/>
          </a:prstGeom>
          <a:solidFill>
            <a:srgbClr val="D1FAE5"/>
          </a:solidFill>
          <a:ln w="12700">
            <a:solidFill>
              <a:srgbClr val="059669"/>
            </a:solidFill>
            <a:prstDash val="solid"/>
          </a:ln>
        </p:spPr>
        <p:txBody>
          <a:bodyPr/>
          <a:lstStyle/>
          <a:p>
            <a:endParaRPr lang="en-US"/>
          </a:p>
        </p:txBody>
      </p:sp>
      <p:sp>
        <p:nvSpPr>
          <p:cNvPr id="17" name="Shape 15"/>
          <p:cNvSpPr/>
          <p:nvPr/>
        </p:nvSpPr>
        <p:spPr>
          <a:xfrm>
            <a:off x="4937760" y="2487168"/>
            <a:ext cx="45720" cy="420624"/>
          </a:xfrm>
          <a:prstGeom prst="rect">
            <a:avLst/>
          </a:prstGeom>
          <a:solidFill>
            <a:srgbClr val="059669"/>
          </a:solidFill>
          <a:ln w="12700">
            <a:solidFill>
              <a:srgbClr val="059669"/>
            </a:solidFill>
            <a:prstDash val="solid"/>
          </a:ln>
        </p:spPr>
        <p:txBody>
          <a:bodyPr/>
          <a:lstStyle/>
          <a:p>
            <a:endParaRPr lang="en-US"/>
          </a:p>
        </p:txBody>
      </p:sp>
      <p:sp>
        <p:nvSpPr>
          <p:cNvPr id="18" name="Text 16"/>
          <p:cNvSpPr/>
          <p:nvPr/>
        </p:nvSpPr>
        <p:spPr>
          <a:xfrm>
            <a:off x="5056632" y="2532888"/>
            <a:ext cx="3584448" cy="201168"/>
          </a:xfrm>
          <a:prstGeom prst="rect">
            <a:avLst/>
          </a:prstGeom>
          <a:noFill/>
          <a:ln/>
        </p:spPr>
        <p:txBody>
          <a:bodyPr wrap="square" lIns="0" tIns="0" rIns="0" bIns="0" rtlCol="0" anchor="ctr"/>
          <a:lstStyle/>
          <a:p>
            <a:pPr marL="0" indent="0">
              <a:buNone/>
            </a:pPr>
            <a:r>
              <a:rPr lang="en-US" sz="1050" b="1" dirty="0">
                <a:solidFill>
                  <a:srgbClr val="059669"/>
                </a:solidFill>
                <a:latin typeface="Calibri" pitchFamily="34" charset="0"/>
                <a:ea typeface="Calibri" pitchFamily="34" charset="-122"/>
                <a:cs typeface="Calibri" pitchFamily="34" charset="-120"/>
              </a:rPr>
              <a:t>Reusable</a:t>
            </a:r>
            <a:endParaRPr lang="en-US" sz="1050" dirty="0"/>
          </a:p>
        </p:txBody>
      </p:sp>
      <p:sp>
        <p:nvSpPr>
          <p:cNvPr id="19" name="Text 17"/>
          <p:cNvSpPr/>
          <p:nvPr/>
        </p:nvSpPr>
        <p:spPr>
          <a:xfrm>
            <a:off x="5056632" y="2734056"/>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Query it as many times as needed in one session</a:t>
            </a:r>
            <a:endParaRPr lang="en-US" sz="1000" dirty="0"/>
          </a:p>
        </p:txBody>
      </p:sp>
      <p:sp>
        <p:nvSpPr>
          <p:cNvPr id="20" name="Shape 18"/>
          <p:cNvSpPr/>
          <p:nvPr/>
        </p:nvSpPr>
        <p:spPr>
          <a:xfrm>
            <a:off x="4937760" y="2962656"/>
            <a:ext cx="3749040" cy="420624"/>
          </a:xfrm>
          <a:prstGeom prst="rect">
            <a:avLst/>
          </a:prstGeom>
          <a:solidFill>
            <a:srgbClr val="EDE9FE"/>
          </a:solidFill>
          <a:ln w="12700">
            <a:solidFill>
              <a:srgbClr val="8B5CF6"/>
            </a:solidFill>
            <a:prstDash val="solid"/>
          </a:ln>
        </p:spPr>
        <p:txBody>
          <a:bodyPr/>
          <a:lstStyle/>
          <a:p>
            <a:endParaRPr lang="en-US"/>
          </a:p>
        </p:txBody>
      </p:sp>
      <p:sp>
        <p:nvSpPr>
          <p:cNvPr id="21" name="Shape 19"/>
          <p:cNvSpPr/>
          <p:nvPr/>
        </p:nvSpPr>
        <p:spPr>
          <a:xfrm>
            <a:off x="4937760" y="2962656"/>
            <a:ext cx="45720" cy="420624"/>
          </a:xfrm>
          <a:prstGeom prst="rect">
            <a:avLst/>
          </a:prstGeom>
          <a:solidFill>
            <a:srgbClr val="8B5CF6"/>
          </a:solidFill>
          <a:ln w="12700">
            <a:solidFill>
              <a:srgbClr val="8B5CF6"/>
            </a:solidFill>
            <a:prstDash val="solid"/>
          </a:ln>
        </p:spPr>
        <p:txBody>
          <a:bodyPr/>
          <a:lstStyle/>
          <a:p>
            <a:endParaRPr lang="en-US"/>
          </a:p>
        </p:txBody>
      </p:sp>
      <p:sp>
        <p:nvSpPr>
          <p:cNvPr id="22" name="Text 20"/>
          <p:cNvSpPr/>
          <p:nvPr/>
        </p:nvSpPr>
        <p:spPr>
          <a:xfrm>
            <a:off x="5056632" y="3008376"/>
            <a:ext cx="3584448" cy="201168"/>
          </a:xfrm>
          <a:prstGeom prst="rect">
            <a:avLst/>
          </a:prstGeom>
          <a:noFill/>
          <a:ln/>
        </p:spPr>
        <p:txBody>
          <a:bodyPr wrap="square" lIns="0" tIns="0" rIns="0" bIns="0" rtlCol="0" anchor="ctr"/>
          <a:lstStyle/>
          <a:p>
            <a:pPr marL="0" indent="0">
              <a:buNone/>
            </a:pPr>
            <a:r>
              <a:rPr lang="en-US" sz="1050" b="1" dirty="0">
                <a:solidFill>
                  <a:srgbClr val="8B5CF6"/>
                </a:solidFill>
                <a:latin typeface="Calibri" pitchFamily="34" charset="0"/>
                <a:ea typeface="Calibri" pitchFamily="34" charset="-122"/>
                <a:cs typeface="Calibri" pitchFamily="34" charset="-120"/>
              </a:rPr>
              <a:t>Indexable</a:t>
            </a:r>
            <a:endParaRPr lang="en-US" sz="1050" dirty="0"/>
          </a:p>
        </p:txBody>
      </p:sp>
      <p:sp>
        <p:nvSpPr>
          <p:cNvPr id="23" name="Text 21"/>
          <p:cNvSpPr/>
          <p:nvPr/>
        </p:nvSpPr>
        <p:spPr>
          <a:xfrm>
            <a:off x="5056632" y="3209544"/>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CREATE INDEX on it to speed up large datasets</a:t>
            </a:r>
            <a:endParaRPr lang="en-US" sz="1000" dirty="0"/>
          </a:p>
        </p:txBody>
      </p:sp>
      <p:sp>
        <p:nvSpPr>
          <p:cNvPr id="24" name="Shape 22"/>
          <p:cNvSpPr/>
          <p:nvPr/>
        </p:nvSpPr>
        <p:spPr>
          <a:xfrm>
            <a:off x="4937760" y="3438144"/>
            <a:ext cx="3749040" cy="420624"/>
          </a:xfrm>
          <a:prstGeom prst="rect">
            <a:avLst/>
          </a:prstGeom>
          <a:solidFill>
            <a:srgbClr val="CCFBF1"/>
          </a:solidFill>
          <a:ln w="12700">
            <a:solidFill>
              <a:srgbClr val="0D9488"/>
            </a:solidFill>
            <a:prstDash val="solid"/>
          </a:ln>
        </p:spPr>
        <p:txBody>
          <a:bodyPr/>
          <a:lstStyle/>
          <a:p>
            <a:endParaRPr lang="en-US"/>
          </a:p>
        </p:txBody>
      </p:sp>
      <p:sp>
        <p:nvSpPr>
          <p:cNvPr id="25" name="Shape 23"/>
          <p:cNvSpPr/>
          <p:nvPr/>
        </p:nvSpPr>
        <p:spPr>
          <a:xfrm>
            <a:off x="4937760" y="3438144"/>
            <a:ext cx="45720" cy="420624"/>
          </a:xfrm>
          <a:prstGeom prst="rect">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5056632" y="3483864"/>
            <a:ext cx="3584448" cy="201168"/>
          </a:xfrm>
          <a:prstGeom prst="rect">
            <a:avLst/>
          </a:prstGeom>
          <a:noFill/>
          <a:ln/>
        </p:spPr>
        <p:txBody>
          <a:bodyPr wrap="square" lIns="0" tIns="0" rIns="0" bIns="0"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Session-scoped</a:t>
            </a:r>
            <a:endParaRPr lang="en-US" sz="1050" dirty="0"/>
          </a:p>
        </p:txBody>
      </p:sp>
      <p:sp>
        <p:nvSpPr>
          <p:cNvPr id="27" name="Text 25"/>
          <p:cNvSpPr/>
          <p:nvPr/>
        </p:nvSpPr>
        <p:spPr>
          <a:xfrm>
            <a:off x="5056632" y="3685032"/>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Auto-drops when your database connection closes</a:t>
            </a:r>
            <a:endParaRPr lang="en-US" sz="1000" dirty="0"/>
          </a:p>
        </p:txBody>
      </p:sp>
      <p:sp>
        <p:nvSpPr>
          <p:cNvPr id="28" name="Shape 26"/>
          <p:cNvSpPr/>
          <p:nvPr/>
        </p:nvSpPr>
        <p:spPr>
          <a:xfrm>
            <a:off x="4937760" y="3913632"/>
            <a:ext cx="3749040" cy="420624"/>
          </a:xfrm>
          <a:prstGeom prst="rect">
            <a:avLst/>
          </a:prstGeom>
          <a:solidFill>
            <a:srgbClr val="F1F5F9"/>
          </a:solidFill>
          <a:ln w="12700">
            <a:solidFill>
              <a:srgbClr val="475569"/>
            </a:solidFill>
            <a:prstDash val="solid"/>
          </a:ln>
        </p:spPr>
        <p:txBody>
          <a:bodyPr/>
          <a:lstStyle/>
          <a:p>
            <a:endParaRPr lang="en-US"/>
          </a:p>
        </p:txBody>
      </p:sp>
      <p:sp>
        <p:nvSpPr>
          <p:cNvPr id="29" name="Shape 27"/>
          <p:cNvSpPr/>
          <p:nvPr/>
        </p:nvSpPr>
        <p:spPr>
          <a:xfrm>
            <a:off x="4937760" y="3913632"/>
            <a:ext cx="45720" cy="420624"/>
          </a:xfrm>
          <a:prstGeom prst="rect">
            <a:avLst/>
          </a:prstGeom>
          <a:solidFill>
            <a:srgbClr val="475569"/>
          </a:solidFill>
          <a:ln w="12700">
            <a:solidFill>
              <a:srgbClr val="475569"/>
            </a:solidFill>
            <a:prstDash val="solid"/>
          </a:ln>
        </p:spPr>
        <p:txBody>
          <a:bodyPr/>
          <a:lstStyle/>
          <a:p>
            <a:endParaRPr lang="en-US"/>
          </a:p>
        </p:txBody>
      </p:sp>
      <p:sp>
        <p:nvSpPr>
          <p:cNvPr id="30" name="Text 28"/>
          <p:cNvSpPr/>
          <p:nvPr/>
        </p:nvSpPr>
        <p:spPr>
          <a:xfrm>
            <a:off x="5056632" y="3959352"/>
            <a:ext cx="3584448" cy="201168"/>
          </a:xfrm>
          <a:prstGeom prst="rect">
            <a:avLst/>
          </a:prstGeom>
          <a:noFill/>
          <a:ln/>
        </p:spPr>
        <p:txBody>
          <a:bodyPr wrap="square" lIns="0" tIns="0" rIns="0" bIns="0" rtlCol="0" anchor="ctr"/>
          <a:lstStyle/>
          <a:p>
            <a:pPr marL="0" indent="0">
              <a:buNone/>
            </a:pPr>
            <a:r>
              <a:rPr lang="en-US" sz="1050" b="1" dirty="0">
                <a:solidFill>
                  <a:srgbClr val="475569"/>
                </a:solidFill>
                <a:latin typeface="Calibri" pitchFamily="34" charset="0"/>
                <a:ea typeface="Calibri" pitchFamily="34" charset="-122"/>
                <a:cs typeface="Calibri" pitchFamily="34" charset="-120"/>
              </a:rPr>
              <a:t>Keyword: TEMP</a:t>
            </a:r>
            <a:endParaRPr lang="en-US" sz="1050" dirty="0"/>
          </a:p>
        </p:txBody>
      </p:sp>
      <p:sp>
        <p:nvSpPr>
          <p:cNvPr id="31" name="Text 29"/>
          <p:cNvSpPr/>
          <p:nvPr/>
        </p:nvSpPr>
        <p:spPr>
          <a:xfrm>
            <a:off x="5056632" y="4160520"/>
            <a:ext cx="3584448" cy="128016"/>
          </a:xfrm>
          <a:prstGeom prst="rect">
            <a:avLst/>
          </a:prstGeom>
          <a:noFill/>
          <a:ln/>
        </p:spPr>
        <p:txBody>
          <a:bodyPr wrap="square" rtlCol="0" anchor="t"/>
          <a:lstStyle/>
          <a:p>
            <a:pPr marL="0" indent="0">
              <a:buNone/>
            </a:pPr>
            <a:r>
              <a:rPr lang="en-US" sz="1000" dirty="0">
                <a:solidFill>
                  <a:srgbClr val="334155"/>
                </a:solidFill>
                <a:latin typeface="Calibri" pitchFamily="34" charset="0"/>
                <a:ea typeface="Calibri" pitchFamily="34" charset="-122"/>
                <a:cs typeface="Calibri" pitchFamily="34" charset="-120"/>
              </a:rPr>
              <a:t>Must write CREATE TEMP TABLE — not CREATE TABLE</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47472"/>
            <a:ext cx="8229600" cy="502920"/>
          </a:xfrm>
          <a:prstGeom prst="rect">
            <a:avLst/>
          </a:prstGeom>
          <a:noFill/>
          <a:ln/>
        </p:spPr>
        <p:txBody>
          <a:bodyPr wrap="square" lIns="0" tIns="0" rIns="0" bIns="0" rtlCol="0" anchor="ctr"/>
          <a:lstStyle/>
          <a:p>
            <a:pPr marL="0" indent="0">
              <a:buNone/>
            </a:pPr>
            <a:r>
              <a:rPr lang="en-US" sz="2800" b="1" dirty="0">
                <a:solidFill>
                  <a:srgbClr val="1E293B"/>
                </a:solidFill>
                <a:latin typeface="Calibri" pitchFamily="34" charset="0"/>
                <a:ea typeface="Calibri" pitchFamily="34" charset="-122"/>
                <a:cs typeface="Calibri" pitchFamily="34" charset="-120"/>
              </a:rPr>
              <a:t>CTE  vs  Temporary Table</a:t>
            </a:r>
            <a:endParaRPr lang="en-US" sz="2800" dirty="0"/>
          </a:p>
        </p:txBody>
      </p:sp>
      <p:sp>
        <p:nvSpPr>
          <p:cNvPr id="3" name="Text 1"/>
          <p:cNvSpPr/>
          <p:nvPr/>
        </p:nvSpPr>
        <p:spPr>
          <a:xfrm>
            <a:off x="457200" y="877824"/>
            <a:ext cx="8229600" cy="27432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Different tools for different needs — choose based on how you use the result</a:t>
            </a:r>
            <a:endParaRPr lang="en-US" sz="1300" dirty="0"/>
          </a:p>
        </p:txBody>
      </p:sp>
      <p:graphicFrame>
        <p:nvGraphicFramePr>
          <p:cNvPr id="4" name="Table 0"/>
          <p:cNvGraphicFramePr>
            <a:graphicFrameLocks noGrp="1"/>
          </p:cNvGraphicFramePr>
          <p:nvPr/>
        </p:nvGraphicFramePr>
        <p:xfrm>
          <a:off x="457200" y="1188720"/>
          <a:ext cx="8229600" cy="2487168"/>
        </p:xfrm>
        <a:graphic>
          <a:graphicData uri="http://schemas.openxmlformats.org/drawingml/2006/table">
            <a:tbl>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10896">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93B"/>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CTE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5CF6"/>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Temp Table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97706"/>
                    </a:solidFill>
                  </a:tcPr>
                </a:tc>
                <a:extLst>
                  <a:ext uri="{0D108BD9-81ED-4DB2-BD59-A6C34878D82A}">
                    <a16:rowId xmlns:a16="http://schemas.microsoft.com/office/drawing/2014/main" val="10000"/>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Exists for</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8B5CF6"/>
                          </a:solidFill>
                          <a:latin typeface="Calibri" pitchFamily="34" charset="0"/>
                          <a:ea typeface="Calibri" pitchFamily="34" charset="-122"/>
                          <a:cs typeface="Calibri" pitchFamily="34" charset="-120"/>
                        </a:rPr>
                        <a:t>Single query only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3FF"/>
                    </a:solidFill>
                  </a:tcPr>
                </a:tc>
                <a:tc>
                  <a:txBody>
                    <a:bodyPr/>
                    <a:lstStyle/>
                    <a:p>
                      <a:pPr marL="0" indent="0" algn="ctr">
                        <a:buNone/>
                      </a:pPr>
                      <a:r>
                        <a:rPr lang="en-US" sz="1050" dirty="0">
                          <a:solidFill>
                            <a:srgbClr val="D97706"/>
                          </a:solidFill>
                          <a:latin typeface="Calibri" pitchFamily="34" charset="0"/>
                          <a:ea typeface="Calibri" pitchFamily="34" charset="-122"/>
                          <a:cs typeface="Calibri" pitchFamily="34" charset="-120"/>
                        </a:rPr>
                        <a:t>Entire session  /  until DROP</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1"/>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Storage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8B5CF6"/>
                          </a:solidFill>
                          <a:latin typeface="Calibri" pitchFamily="34" charset="0"/>
                          <a:ea typeface="Calibri" pitchFamily="34" charset="-122"/>
                          <a:cs typeface="Calibri" pitchFamily="34" charset="-120"/>
                        </a:rPr>
                        <a:t>Memory  (no disk write)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E9FE"/>
                    </a:solidFill>
                  </a:tcPr>
                </a:tc>
                <a:tc>
                  <a:txBody>
                    <a:bodyPr/>
                    <a:lstStyle/>
                    <a:p>
                      <a:pPr marL="0" indent="0" algn="ctr">
                        <a:buNone/>
                      </a:pPr>
                      <a:r>
                        <a:rPr lang="en-US" sz="1050" dirty="0">
                          <a:solidFill>
                            <a:srgbClr val="D97706"/>
                          </a:solidFill>
                          <a:latin typeface="Calibri" pitchFamily="34" charset="0"/>
                          <a:ea typeface="Calibri" pitchFamily="34" charset="-122"/>
                          <a:cs typeface="Calibri" pitchFamily="34" charset="-120"/>
                        </a:rPr>
                        <a:t>Disk  — PostgreSQL temp schema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extLst>
                  <a:ext uri="{0D108BD9-81ED-4DB2-BD59-A6C34878D82A}">
                    <a16:rowId xmlns:a16="http://schemas.microsoft.com/office/drawing/2014/main" val="10002"/>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Reusable?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DC2626"/>
                          </a:solidFill>
                          <a:latin typeface="Calibri" pitchFamily="34" charset="0"/>
                          <a:ea typeface="Calibri" pitchFamily="34" charset="-122"/>
                          <a:cs typeface="Calibri" pitchFamily="34" charset="-120"/>
                        </a:rPr>
                        <a:t>❌  One query only</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3FF"/>
                    </a:solidFill>
                  </a:tcPr>
                </a:tc>
                <a:tc>
                  <a:txBody>
                    <a:bodyPr/>
                    <a:lstStyle/>
                    <a:p>
                      <a:pPr marL="0" indent="0" algn="ctr">
                        <a:buNone/>
                      </a:pPr>
                      <a:r>
                        <a:rPr lang="en-US" sz="1050" dirty="0">
                          <a:solidFill>
                            <a:srgbClr val="059669"/>
                          </a:solidFill>
                          <a:latin typeface="Calibri" pitchFamily="34" charset="0"/>
                          <a:ea typeface="Calibri" pitchFamily="34" charset="-122"/>
                          <a:cs typeface="Calibri" pitchFamily="34" charset="-120"/>
                        </a:rPr>
                        <a:t>✅  Many queries in same session</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3"/>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Indexable?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DC2626"/>
                          </a:solidFill>
                          <a:latin typeface="Calibri" pitchFamily="34" charset="0"/>
                          <a:ea typeface="Calibri" pitchFamily="34" charset="-122"/>
                          <a:cs typeface="Calibri" pitchFamily="34" charset="-120"/>
                        </a:rPr>
                        <a:t>❌  Cannot add indexes</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E9FE"/>
                    </a:solidFill>
                  </a:tcPr>
                </a:tc>
                <a:tc>
                  <a:txBody>
                    <a:bodyPr/>
                    <a:lstStyle/>
                    <a:p>
                      <a:pPr marL="0" indent="0" algn="ctr">
                        <a:buNone/>
                      </a:pPr>
                      <a:r>
                        <a:rPr lang="en-US" sz="1050" dirty="0">
                          <a:solidFill>
                            <a:srgbClr val="059669"/>
                          </a:solidFill>
                          <a:latin typeface="Calibri" pitchFamily="34" charset="0"/>
                          <a:ea typeface="Calibri" pitchFamily="34" charset="-122"/>
                          <a:cs typeface="Calibri" pitchFamily="34" charset="-120"/>
                        </a:rPr>
                        <a:t>✅  CREATE INDEX supported</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extLst>
                  <a:ext uri="{0D108BD9-81ED-4DB2-BD59-A6C34878D82A}">
                    <a16:rowId xmlns:a16="http://schemas.microsoft.com/office/drawing/2014/main" val="10004"/>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Speed: small data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8B5CF6"/>
                          </a:solidFill>
                          <a:latin typeface="Calibri" pitchFamily="34" charset="0"/>
                          <a:ea typeface="Calibri" pitchFamily="34" charset="-122"/>
                          <a:cs typeface="Calibri" pitchFamily="34" charset="-120"/>
                        </a:rPr>
                        <a:t>Faster  (no disk I/O)</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3FF"/>
                    </a:solidFill>
                  </a:tcPr>
                </a:tc>
                <a:tc>
                  <a:txBody>
                    <a:bodyPr/>
                    <a:lstStyle/>
                    <a:p>
                      <a:pPr marL="0" indent="0" algn="ctr">
                        <a:buNone/>
                      </a:pPr>
                      <a:r>
                        <a:rPr lang="en-US" sz="1050" dirty="0">
                          <a:solidFill>
                            <a:srgbClr val="D97706"/>
                          </a:solidFill>
                          <a:latin typeface="Calibri" pitchFamily="34" charset="0"/>
                          <a:ea typeface="Calibri" pitchFamily="34" charset="-122"/>
                          <a:cs typeface="Calibri" pitchFamily="34" charset="-120"/>
                        </a:rPr>
                        <a:t>Slightly slower  (disk write)</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5"/>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Speed: large data</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marL="0" indent="0" algn="ctr">
                        <a:buNone/>
                      </a:pPr>
                      <a:r>
                        <a:rPr lang="en-US" sz="1050" dirty="0">
                          <a:solidFill>
                            <a:srgbClr val="8B5CF6"/>
                          </a:solidFill>
                          <a:latin typeface="Calibri" pitchFamily="34" charset="0"/>
                          <a:ea typeface="Calibri" pitchFamily="34" charset="-122"/>
                          <a:cs typeface="Calibri" pitchFamily="34" charset="-120"/>
                        </a:rPr>
                        <a:t>Can be slower  (no index)</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DE9FE"/>
                    </a:solidFill>
                  </a:tcPr>
                </a:tc>
                <a:tc>
                  <a:txBody>
                    <a:bodyPr/>
                    <a:lstStyle/>
                    <a:p>
                      <a:pPr marL="0" indent="0" algn="ctr">
                        <a:buNone/>
                      </a:pPr>
                      <a:r>
                        <a:rPr lang="en-US" sz="1050" dirty="0">
                          <a:solidFill>
                            <a:srgbClr val="D97706"/>
                          </a:solidFill>
                          <a:latin typeface="Calibri" pitchFamily="34" charset="0"/>
                          <a:ea typeface="Calibri" pitchFamily="34" charset="-122"/>
                          <a:cs typeface="Calibri" pitchFamily="34" charset="-120"/>
                        </a:rPr>
                        <a:t>Faster  (add an index)</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extLst>
                  <a:ext uri="{0D108BD9-81ED-4DB2-BD59-A6C34878D82A}">
                    <a16:rowId xmlns:a16="http://schemas.microsoft.com/office/drawing/2014/main" val="10006"/>
                  </a:ext>
                </a:extLst>
              </a:tr>
              <a:tr h="310896">
                <a:tc>
                  <a:txBody>
                    <a:bodyPr/>
                    <a:lstStyle/>
                    <a:p>
                      <a:pPr marL="0" indent="0" algn="l">
                        <a:buNone/>
                      </a:pPr>
                      <a:r>
                        <a:rPr lang="en-US" sz="1050" b="1" dirty="0">
                          <a:solidFill>
                            <a:srgbClr val="1E293B"/>
                          </a:solidFill>
                          <a:latin typeface="Calibri" pitchFamily="34" charset="0"/>
                          <a:ea typeface="Calibri" pitchFamily="34" charset="-122"/>
                          <a:cs typeface="Calibri" pitchFamily="34" charset="-120"/>
                        </a:rPr>
                        <a:t>Syntax</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1050" dirty="0">
                          <a:solidFill>
                            <a:srgbClr val="8B5CF6"/>
                          </a:solidFill>
                          <a:latin typeface="Calibri" pitchFamily="34" charset="0"/>
                          <a:ea typeface="Calibri" pitchFamily="34" charset="-122"/>
                          <a:cs typeface="Calibri" pitchFamily="34" charset="-120"/>
                        </a:rPr>
                        <a:t>WITH name AS ( SELECT ... )</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3FF"/>
                    </a:solidFill>
                  </a:tcPr>
                </a:tc>
                <a:tc>
                  <a:txBody>
                    <a:bodyPr/>
                    <a:lstStyle/>
                    <a:p>
                      <a:pPr marL="0" indent="0" algn="ctr">
                        <a:buNone/>
                      </a:pPr>
                      <a:r>
                        <a:rPr lang="en-US" sz="1050" dirty="0">
                          <a:solidFill>
                            <a:srgbClr val="D97706"/>
                          </a:solidFill>
                          <a:latin typeface="Calibri" pitchFamily="34" charset="0"/>
                          <a:ea typeface="Calibri" pitchFamily="34" charset="-122"/>
                          <a:cs typeface="Calibri" pitchFamily="34" charset="-120"/>
                        </a:rPr>
                        <a:t>CREATE TEMP TABLE name AS ...</a:t>
                      </a:r>
                      <a:endParaRPr lang="en-US" sz="10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7"/>
                  </a:ext>
                </a:extLst>
              </a:tr>
            </a:tbl>
          </a:graphicData>
        </a:graphic>
      </p:graphicFrame>
      <p:sp>
        <p:nvSpPr>
          <p:cNvPr id="5" name="Shape 2"/>
          <p:cNvSpPr/>
          <p:nvPr/>
        </p:nvSpPr>
        <p:spPr>
          <a:xfrm>
            <a:off x="457200" y="3858768"/>
            <a:ext cx="3931920" cy="804672"/>
          </a:xfrm>
          <a:prstGeom prst="rect">
            <a:avLst/>
          </a:prstGeom>
          <a:solidFill>
            <a:srgbClr val="EDE9FE"/>
          </a:solidFill>
          <a:ln w="12700">
            <a:solidFill>
              <a:srgbClr val="8B5CF6"/>
            </a:solidFill>
            <a:prstDash val="solid"/>
          </a:ln>
        </p:spPr>
        <p:txBody>
          <a:bodyPr/>
          <a:lstStyle/>
          <a:p>
            <a:endParaRPr lang="en-US"/>
          </a:p>
        </p:txBody>
      </p:sp>
      <p:sp>
        <p:nvSpPr>
          <p:cNvPr id="6" name="Shape 3"/>
          <p:cNvSpPr/>
          <p:nvPr/>
        </p:nvSpPr>
        <p:spPr>
          <a:xfrm>
            <a:off x="457200" y="3858768"/>
            <a:ext cx="3931920" cy="274320"/>
          </a:xfrm>
          <a:prstGeom prst="rect">
            <a:avLst/>
          </a:prstGeom>
          <a:solidFill>
            <a:srgbClr val="8B5CF6"/>
          </a:solidFill>
          <a:ln w="12700">
            <a:solidFill>
              <a:srgbClr val="8B5CF6"/>
            </a:solidFill>
            <a:prstDash val="solid"/>
          </a:ln>
        </p:spPr>
        <p:txBody>
          <a:bodyPr/>
          <a:lstStyle/>
          <a:p>
            <a:endParaRPr lang="en-US"/>
          </a:p>
        </p:txBody>
      </p:sp>
      <p:sp>
        <p:nvSpPr>
          <p:cNvPr id="7" name="Text 4"/>
          <p:cNvSpPr/>
          <p:nvPr/>
        </p:nvSpPr>
        <p:spPr>
          <a:xfrm>
            <a:off x="457200" y="3858768"/>
            <a:ext cx="39319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Use CTE when...</a:t>
            </a:r>
            <a:endParaRPr lang="en-US" sz="1100" dirty="0"/>
          </a:p>
        </p:txBody>
      </p:sp>
      <p:sp>
        <p:nvSpPr>
          <p:cNvPr id="8" name="Text 5"/>
          <p:cNvSpPr/>
          <p:nvPr/>
        </p:nvSpPr>
        <p:spPr>
          <a:xfrm>
            <a:off x="566928" y="4151376"/>
            <a:ext cx="3730752" cy="47548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  Query runs once — no need to re-query</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  Breaking a complex query into readable steps</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  Replacing a messy nested subquery</a:t>
            </a:r>
            <a:endParaRPr lang="en-US" sz="1050" dirty="0"/>
          </a:p>
        </p:txBody>
      </p:sp>
      <p:sp>
        <p:nvSpPr>
          <p:cNvPr id="9" name="Shape 6"/>
          <p:cNvSpPr/>
          <p:nvPr/>
        </p:nvSpPr>
        <p:spPr>
          <a:xfrm>
            <a:off x="4754880" y="3858768"/>
            <a:ext cx="3931920" cy="804672"/>
          </a:xfrm>
          <a:prstGeom prst="rect">
            <a:avLst/>
          </a:prstGeom>
          <a:solidFill>
            <a:srgbClr val="FEF3C7"/>
          </a:solidFill>
          <a:ln w="12700">
            <a:solidFill>
              <a:srgbClr val="D97706"/>
            </a:solidFill>
            <a:prstDash val="solid"/>
          </a:ln>
        </p:spPr>
        <p:txBody>
          <a:bodyPr/>
          <a:lstStyle/>
          <a:p>
            <a:endParaRPr lang="en-US"/>
          </a:p>
        </p:txBody>
      </p:sp>
      <p:sp>
        <p:nvSpPr>
          <p:cNvPr id="10" name="Shape 7"/>
          <p:cNvSpPr/>
          <p:nvPr/>
        </p:nvSpPr>
        <p:spPr>
          <a:xfrm>
            <a:off x="4754880" y="3858768"/>
            <a:ext cx="3931920" cy="274320"/>
          </a:xfrm>
          <a:prstGeom prst="rect">
            <a:avLst/>
          </a:prstGeom>
          <a:solidFill>
            <a:srgbClr val="D97706"/>
          </a:solidFill>
          <a:ln w="12700">
            <a:solidFill>
              <a:srgbClr val="D97706"/>
            </a:solidFill>
            <a:prstDash val="solid"/>
          </a:ln>
        </p:spPr>
        <p:txBody>
          <a:bodyPr/>
          <a:lstStyle/>
          <a:p>
            <a:endParaRPr lang="en-US"/>
          </a:p>
        </p:txBody>
      </p:sp>
      <p:sp>
        <p:nvSpPr>
          <p:cNvPr id="11" name="Text 8"/>
          <p:cNvSpPr/>
          <p:nvPr/>
        </p:nvSpPr>
        <p:spPr>
          <a:xfrm>
            <a:off x="4754880" y="3858768"/>
            <a:ext cx="39319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Use Temp Table when...</a:t>
            </a:r>
            <a:endParaRPr lang="en-US" sz="1100" dirty="0"/>
          </a:p>
        </p:txBody>
      </p:sp>
      <p:sp>
        <p:nvSpPr>
          <p:cNvPr id="12" name="Text 9"/>
          <p:cNvSpPr/>
          <p:nvPr/>
        </p:nvSpPr>
        <p:spPr>
          <a:xfrm>
            <a:off x="4864608" y="4151376"/>
            <a:ext cx="3730752" cy="47548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  You need the result MORE THAN ONCE</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  Dataset is large — needs an index</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  Multi-step work: filter → join → aggregate</a:t>
            </a:r>
            <a:endParaRPr lang="en-US" sz="1050" dirty="0"/>
          </a:p>
        </p:txBody>
      </p:sp>
      <p:sp>
        <p:nvSpPr>
          <p:cNvPr id="13" name="Shape 10"/>
          <p:cNvSpPr/>
          <p:nvPr/>
        </p:nvSpPr>
        <p:spPr>
          <a:xfrm>
            <a:off x="457200" y="4736592"/>
            <a:ext cx="8229600" cy="320040"/>
          </a:xfrm>
          <a:prstGeom prst="rect">
            <a:avLst/>
          </a:prstGeom>
          <a:solidFill>
            <a:srgbClr val="D1FAE5"/>
          </a:solidFill>
          <a:ln w="12700">
            <a:solidFill>
              <a:srgbClr val="059669"/>
            </a:solidFill>
            <a:prstDash val="solid"/>
          </a:ln>
        </p:spPr>
        <p:txBody>
          <a:bodyPr/>
          <a:lstStyle/>
          <a:p>
            <a:endParaRPr lang="en-US"/>
          </a:p>
        </p:txBody>
      </p:sp>
      <p:sp>
        <p:nvSpPr>
          <p:cNvPr id="14" name="Shape 11"/>
          <p:cNvSpPr/>
          <p:nvPr/>
        </p:nvSpPr>
        <p:spPr>
          <a:xfrm>
            <a:off x="457200" y="4736592"/>
            <a:ext cx="914400" cy="320040"/>
          </a:xfrm>
          <a:prstGeom prst="rect">
            <a:avLst/>
          </a:prstGeom>
          <a:solidFill>
            <a:srgbClr val="059669"/>
          </a:solidFill>
          <a:ln w="12700">
            <a:solidFill>
              <a:srgbClr val="059669"/>
            </a:solidFill>
            <a:prstDash val="solid"/>
          </a:ln>
        </p:spPr>
        <p:txBody>
          <a:bodyPr/>
          <a:lstStyle/>
          <a:p>
            <a:endParaRPr lang="en-US"/>
          </a:p>
        </p:txBody>
      </p:sp>
      <p:sp>
        <p:nvSpPr>
          <p:cNvPr id="15" name="Text 12"/>
          <p:cNvSpPr/>
          <p:nvPr/>
        </p:nvSpPr>
        <p:spPr>
          <a:xfrm>
            <a:off x="466344" y="4736592"/>
            <a:ext cx="905256"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 TIP</a:t>
            </a:r>
            <a:endParaRPr lang="en-US" sz="900" dirty="0"/>
          </a:p>
        </p:txBody>
      </p:sp>
      <p:sp>
        <p:nvSpPr>
          <p:cNvPr id="16" name="Text 13"/>
          <p:cNvSpPr/>
          <p:nvPr/>
        </p:nvSpPr>
        <p:spPr>
          <a:xfrm>
            <a:off x="1463040" y="4800600"/>
            <a:ext cx="7150608" cy="19202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Start with a CTE. If you re-run the same CTE result more than once, or if the query is slow on large data — convert it to a Temp Table.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What is an Index?</a:t>
            </a:r>
            <a:endParaRPr lang="en-US" sz="3600" dirty="0"/>
          </a:p>
        </p:txBody>
      </p:sp>
      <p:sp>
        <p:nvSpPr>
          <p:cNvPr id="3" name="Text 1"/>
          <p:cNvSpPr/>
          <p:nvPr/>
        </p:nvSpPr>
        <p:spPr>
          <a:xfrm>
            <a:off x="457200" y="694944"/>
            <a:ext cx="8229600" cy="256032"/>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A shortcut that lets PostgreSQL find rows instantly — without reading every single row</a:t>
            </a:r>
            <a:endParaRPr lang="en-US" sz="1300" dirty="0"/>
          </a:p>
        </p:txBody>
      </p:sp>
      <p:sp>
        <p:nvSpPr>
          <p:cNvPr id="4" name="Shape 2"/>
          <p:cNvSpPr/>
          <p:nvPr/>
        </p:nvSpPr>
        <p:spPr>
          <a:xfrm>
            <a:off x="457200" y="1024128"/>
            <a:ext cx="8229600" cy="658368"/>
          </a:xfrm>
          <a:prstGeom prst="rect">
            <a:avLst/>
          </a:prstGeom>
          <a:solidFill>
            <a:srgbClr val="FEF3C7"/>
          </a:solidFill>
          <a:ln w="12700">
            <a:solidFill>
              <a:srgbClr val="D97706"/>
            </a:solidFill>
            <a:prstDash val="solid"/>
          </a:ln>
        </p:spPr>
        <p:txBody>
          <a:bodyPr/>
          <a:lstStyle/>
          <a:p>
            <a:endParaRPr lang="en-US"/>
          </a:p>
        </p:txBody>
      </p:sp>
      <p:sp>
        <p:nvSpPr>
          <p:cNvPr id="5" name="Shape 3"/>
          <p:cNvSpPr/>
          <p:nvPr/>
        </p:nvSpPr>
        <p:spPr>
          <a:xfrm>
            <a:off x="457200" y="1024128"/>
            <a:ext cx="1005840" cy="658368"/>
          </a:xfrm>
          <a:prstGeom prst="rect">
            <a:avLst/>
          </a:prstGeom>
          <a:solidFill>
            <a:srgbClr val="D97706"/>
          </a:solidFill>
          <a:ln w="12700">
            <a:solidFill>
              <a:srgbClr val="D97706"/>
            </a:solidFill>
            <a:prstDash val="solid"/>
          </a:ln>
        </p:spPr>
        <p:txBody>
          <a:bodyPr/>
          <a:lstStyle/>
          <a:p>
            <a:endParaRPr lang="en-US"/>
          </a:p>
        </p:txBody>
      </p:sp>
      <p:sp>
        <p:nvSpPr>
          <p:cNvPr id="6" name="Text 4"/>
          <p:cNvSpPr/>
          <p:nvPr/>
        </p:nvSpPr>
        <p:spPr>
          <a:xfrm>
            <a:off x="457200" y="1024128"/>
            <a:ext cx="1005840" cy="658368"/>
          </a:xfrm>
          <a:prstGeom prst="rect">
            <a:avLst/>
          </a:prstGeom>
          <a:noFill/>
          <a:ln/>
        </p:spPr>
        <p:txBody>
          <a:bodyPr wrap="square" lIns="0" tIns="0" rIns="0" bIns="0" rtlCol="0" anchor="ctr"/>
          <a:lstStyle/>
          <a:p>
            <a:pPr marL="0" indent="0" algn="ctr">
              <a:buNone/>
            </a:pPr>
            <a:r>
              <a:rPr lang="en-US" sz="2400" dirty="0">
                <a:solidFill>
                  <a:srgbClr val="000000"/>
                </a:solidFill>
              </a:rPr>
              <a:t>📖</a:t>
            </a:r>
            <a:endParaRPr lang="en-US" sz="2400" dirty="0"/>
          </a:p>
        </p:txBody>
      </p:sp>
      <p:sp>
        <p:nvSpPr>
          <p:cNvPr id="7" name="Text 5"/>
          <p:cNvSpPr/>
          <p:nvPr/>
        </p:nvSpPr>
        <p:spPr>
          <a:xfrm>
            <a:off x="1572768" y="1078992"/>
            <a:ext cx="7022592" cy="548640"/>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Analogy: </a:t>
            </a:r>
            <a:r>
              <a:rPr lang="en-US" sz="1200" dirty="0">
                <a:solidFill>
                  <a:srgbClr val="1E293B"/>
                </a:solidFill>
                <a:latin typeface="Calibri" pitchFamily="34" charset="0"/>
                <a:ea typeface="Calibri" pitchFamily="34" charset="-122"/>
                <a:cs typeface="Calibri" pitchFamily="34" charset="-120"/>
              </a:rPr>
              <a:t>Imagine a textbook with 500 pages. To find "PostgreSQL" you can read every single page (slow!) or use the Index at the back of the book to jump directly to page 342 (fast!). A database index works exactly the same way.</a:t>
            </a:r>
            <a:endParaRPr lang="en-US" sz="1200" dirty="0"/>
          </a:p>
        </p:txBody>
      </p:sp>
      <p:sp>
        <p:nvSpPr>
          <p:cNvPr id="8" name="Shape 6"/>
          <p:cNvSpPr/>
          <p:nvPr/>
        </p:nvSpPr>
        <p:spPr>
          <a:xfrm>
            <a:off x="457200" y="1792224"/>
            <a:ext cx="3977640" cy="2231136"/>
          </a:xfrm>
          <a:prstGeom prst="rect">
            <a:avLst/>
          </a:prstGeom>
          <a:solidFill>
            <a:srgbClr val="FEF2F2"/>
          </a:solidFill>
          <a:ln w="12700">
            <a:solidFill>
              <a:srgbClr val="DC2626"/>
            </a:solidFill>
            <a:prstDash val="solid"/>
          </a:ln>
        </p:spPr>
        <p:txBody>
          <a:bodyPr/>
          <a:lstStyle/>
          <a:p>
            <a:endParaRPr lang="en-US"/>
          </a:p>
        </p:txBody>
      </p:sp>
      <p:sp>
        <p:nvSpPr>
          <p:cNvPr id="9" name="Shape 7"/>
          <p:cNvSpPr/>
          <p:nvPr/>
        </p:nvSpPr>
        <p:spPr>
          <a:xfrm>
            <a:off x="457200" y="1792224"/>
            <a:ext cx="3977640" cy="347472"/>
          </a:xfrm>
          <a:prstGeom prst="rect">
            <a:avLst/>
          </a:prstGeom>
          <a:solidFill>
            <a:srgbClr val="DC2626"/>
          </a:solidFill>
          <a:ln w="12700">
            <a:solidFill>
              <a:srgbClr val="DC2626"/>
            </a:solidFill>
            <a:prstDash val="solid"/>
          </a:ln>
        </p:spPr>
        <p:txBody>
          <a:bodyPr/>
          <a:lstStyle/>
          <a:p>
            <a:endParaRPr lang="en-US"/>
          </a:p>
        </p:txBody>
      </p:sp>
      <p:sp>
        <p:nvSpPr>
          <p:cNvPr id="10" name="Text 8"/>
          <p:cNvSpPr/>
          <p:nvPr/>
        </p:nvSpPr>
        <p:spPr>
          <a:xfrm>
            <a:off x="457200" y="1792224"/>
            <a:ext cx="39776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WITHOUT an Index</a:t>
            </a:r>
            <a:endParaRPr lang="en-US" sz="1300" dirty="0"/>
          </a:p>
        </p:txBody>
      </p:sp>
      <p:sp>
        <p:nvSpPr>
          <p:cNvPr id="11" name="Text 9"/>
          <p:cNvSpPr/>
          <p:nvPr/>
        </p:nvSpPr>
        <p:spPr>
          <a:xfrm>
            <a:off x="566928" y="2194560"/>
            <a:ext cx="3749040" cy="256032"/>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Query: Find all orders WHERE status = 'Processing'</a:t>
            </a:r>
            <a:endParaRPr lang="en-US" sz="1100" dirty="0"/>
          </a:p>
        </p:txBody>
      </p:sp>
      <p:sp>
        <p:nvSpPr>
          <p:cNvPr id="12" name="Text 10"/>
          <p:cNvSpPr/>
          <p:nvPr/>
        </p:nvSpPr>
        <p:spPr>
          <a:xfrm>
            <a:off x="603504" y="2487168"/>
            <a:ext cx="3657600" cy="219456"/>
          </a:xfrm>
          <a:prstGeom prst="rect">
            <a:avLst/>
          </a:prstGeom>
          <a:noFill/>
          <a:ln/>
        </p:spPr>
        <p:txBody>
          <a:bodyPr wrap="square"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Row 1 → Delivered   ✗</a:t>
            </a:r>
            <a:endParaRPr lang="en-US" sz="1100" dirty="0"/>
          </a:p>
        </p:txBody>
      </p:sp>
      <p:sp>
        <p:nvSpPr>
          <p:cNvPr id="13" name="Text 11"/>
          <p:cNvSpPr/>
          <p:nvPr/>
        </p:nvSpPr>
        <p:spPr>
          <a:xfrm>
            <a:off x="603504" y="2724912"/>
            <a:ext cx="3657600" cy="219456"/>
          </a:xfrm>
          <a:prstGeom prst="rect">
            <a:avLst/>
          </a:prstGeom>
          <a:noFill/>
          <a:ln/>
        </p:spPr>
        <p:txBody>
          <a:bodyPr wrap="square"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Row 2 → Shipped     ✗</a:t>
            </a:r>
            <a:endParaRPr lang="en-US" sz="1100" dirty="0"/>
          </a:p>
        </p:txBody>
      </p:sp>
      <p:sp>
        <p:nvSpPr>
          <p:cNvPr id="14" name="Text 12"/>
          <p:cNvSpPr/>
          <p:nvPr/>
        </p:nvSpPr>
        <p:spPr>
          <a:xfrm>
            <a:off x="603504" y="2962656"/>
            <a:ext cx="3657600" cy="219456"/>
          </a:xfrm>
          <a:prstGeom prst="rect">
            <a:avLst/>
          </a:prstGeom>
          <a:noFill/>
          <a:ln/>
        </p:spPr>
        <p:txBody>
          <a:bodyPr wrap="square" rtlCol="0" anchor="ctr"/>
          <a:lstStyle/>
          <a:p>
            <a:pPr marL="0" indent="0">
              <a:buNone/>
            </a:pPr>
            <a:r>
              <a:rPr lang="en-US" sz="1100" b="1" dirty="0">
                <a:solidFill>
                  <a:srgbClr val="059669"/>
                </a:solidFill>
                <a:latin typeface="Consolas" pitchFamily="34" charset="0"/>
                <a:ea typeface="Consolas" pitchFamily="34" charset="-122"/>
                <a:cs typeface="Consolas" pitchFamily="34" charset="-120"/>
              </a:rPr>
              <a:t>Row 3 → Processing  ✓</a:t>
            </a:r>
            <a:endParaRPr lang="en-US" sz="1100" dirty="0"/>
          </a:p>
        </p:txBody>
      </p:sp>
      <p:sp>
        <p:nvSpPr>
          <p:cNvPr id="15" name="Text 13"/>
          <p:cNvSpPr/>
          <p:nvPr/>
        </p:nvSpPr>
        <p:spPr>
          <a:xfrm>
            <a:off x="603504" y="3200400"/>
            <a:ext cx="3657600" cy="219456"/>
          </a:xfrm>
          <a:prstGeom prst="rect">
            <a:avLst/>
          </a:prstGeom>
          <a:noFill/>
          <a:ln/>
        </p:spPr>
        <p:txBody>
          <a:bodyPr wrap="square" rtlCol="0" anchor="ctr"/>
          <a:lstStyle/>
          <a:p>
            <a:pPr marL="0" indent="0">
              <a:buNone/>
            </a:pPr>
            <a:r>
              <a:rPr lang="en-US" sz="1100" dirty="0">
                <a:solidFill>
                  <a:srgbClr val="64748B"/>
                </a:solidFill>
                <a:latin typeface="Consolas" pitchFamily="34" charset="0"/>
                <a:ea typeface="Consolas" pitchFamily="34" charset="-122"/>
                <a:cs typeface="Consolas" pitchFamily="34" charset="-120"/>
              </a:rPr>
              <a:t>Row 4 → Delivered   ✗</a:t>
            </a:r>
            <a:endParaRPr lang="en-US" sz="1100" dirty="0"/>
          </a:p>
        </p:txBody>
      </p:sp>
      <p:sp>
        <p:nvSpPr>
          <p:cNvPr id="16" name="Text 14"/>
          <p:cNvSpPr/>
          <p:nvPr/>
        </p:nvSpPr>
        <p:spPr>
          <a:xfrm>
            <a:off x="603504" y="3438144"/>
            <a:ext cx="3657600" cy="219456"/>
          </a:xfrm>
          <a:prstGeom prst="rect">
            <a:avLst/>
          </a:prstGeom>
          <a:noFill/>
          <a:ln/>
        </p:spPr>
        <p:txBody>
          <a:bodyPr wrap="square" rtlCol="0" anchor="ctr"/>
          <a:lstStyle/>
          <a:p>
            <a:pPr marL="0" indent="0">
              <a:buNone/>
            </a:pPr>
            <a:r>
              <a:rPr lang="en-US" sz="1100" b="1" dirty="0">
                <a:solidFill>
                  <a:srgbClr val="059669"/>
                </a:solidFill>
                <a:latin typeface="Consolas" pitchFamily="34" charset="0"/>
                <a:ea typeface="Consolas" pitchFamily="34" charset="-122"/>
                <a:cs typeface="Consolas" pitchFamily="34" charset="-120"/>
              </a:rPr>
              <a:t>Row 5 → Processing  ✓</a:t>
            </a:r>
            <a:endParaRPr lang="en-US" sz="1100" dirty="0"/>
          </a:p>
        </p:txBody>
      </p:sp>
      <p:sp>
        <p:nvSpPr>
          <p:cNvPr id="17" name="Text 15"/>
          <p:cNvSpPr/>
          <p:nvPr/>
        </p:nvSpPr>
        <p:spPr>
          <a:xfrm>
            <a:off x="603504" y="3675888"/>
            <a:ext cx="3657600" cy="219456"/>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...reads all 25 rows</a:t>
            </a:r>
            <a:endParaRPr lang="en-US" sz="1100" dirty="0"/>
          </a:p>
        </p:txBody>
      </p:sp>
      <p:sp>
        <p:nvSpPr>
          <p:cNvPr id="18" name="Shape 16"/>
          <p:cNvSpPr/>
          <p:nvPr/>
        </p:nvSpPr>
        <p:spPr>
          <a:xfrm>
            <a:off x="566928" y="3877056"/>
            <a:ext cx="3767328" cy="91440"/>
          </a:xfrm>
          <a:prstGeom prst="rect">
            <a:avLst/>
          </a:prstGeom>
          <a:solidFill>
            <a:srgbClr val="DC2626"/>
          </a:solidFill>
          <a:ln w="12700">
            <a:solidFill>
              <a:srgbClr val="DC2626"/>
            </a:solidFill>
            <a:prstDash val="solid"/>
          </a:ln>
        </p:spPr>
        <p:txBody>
          <a:bodyPr/>
          <a:lstStyle/>
          <a:p>
            <a:endParaRPr lang="en-US"/>
          </a:p>
        </p:txBody>
      </p:sp>
      <p:sp>
        <p:nvSpPr>
          <p:cNvPr id="19" name="Text 17"/>
          <p:cNvSpPr/>
          <p:nvPr/>
        </p:nvSpPr>
        <p:spPr>
          <a:xfrm>
            <a:off x="566928" y="3977640"/>
            <a:ext cx="3767328" cy="21945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Reads every row → SLOW on large tables</a:t>
            </a:r>
            <a:endParaRPr lang="en-US" sz="1100" dirty="0"/>
          </a:p>
        </p:txBody>
      </p:sp>
      <p:sp>
        <p:nvSpPr>
          <p:cNvPr id="20" name="Shape 18"/>
          <p:cNvSpPr/>
          <p:nvPr/>
        </p:nvSpPr>
        <p:spPr>
          <a:xfrm>
            <a:off x="4709160" y="1792224"/>
            <a:ext cx="3977640" cy="2231136"/>
          </a:xfrm>
          <a:prstGeom prst="rect">
            <a:avLst/>
          </a:prstGeom>
          <a:solidFill>
            <a:srgbClr val="D1FAE5"/>
          </a:solidFill>
          <a:ln w="12700">
            <a:solidFill>
              <a:srgbClr val="059669"/>
            </a:solidFill>
            <a:prstDash val="solid"/>
          </a:ln>
        </p:spPr>
        <p:txBody>
          <a:bodyPr/>
          <a:lstStyle/>
          <a:p>
            <a:endParaRPr lang="en-US"/>
          </a:p>
        </p:txBody>
      </p:sp>
      <p:sp>
        <p:nvSpPr>
          <p:cNvPr id="21" name="Shape 19"/>
          <p:cNvSpPr/>
          <p:nvPr/>
        </p:nvSpPr>
        <p:spPr>
          <a:xfrm>
            <a:off x="4709160" y="1792224"/>
            <a:ext cx="3977640" cy="347472"/>
          </a:xfrm>
          <a:prstGeom prst="rect">
            <a:avLst/>
          </a:prstGeom>
          <a:solidFill>
            <a:srgbClr val="059669"/>
          </a:solidFill>
          <a:ln w="12700">
            <a:solidFill>
              <a:srgbClr val="059669"/>
            </a:solidFill>
            <a:prstDash val="solid"/>
          </a:ln>
        </p:spPr>
        <p:txBody>
          <a:bodyPr/>
          <a:lstStyle/>
          <a:p>
            <a:endParaRPr lang="en-US"/>
          </a:p>
        </p:txBody>
      </p:sp>
      <p:sp>
        <p:nvSpPr>
          <p:cNvPr id="22" name="Text 20"/>
          <p:cNvSpPr/>
          <p:nvPr/>
        </p:nvSpPr>
        <p:spPr>
          <a:xfrm>
            <a:off x="4709160" y="1792224"/>
            <a:ext cx="397764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WITH an Index</a:t>
            </a:r>
            <a:endParaRPr lang="en-US" sz="1300" dirty="0"/>
          </a:p>
        </p:txBody>
      </p:sp>
      <p:sp>
        <p:nvSpPr>
          <p:cNvPr id="23" name="Text 21"/>
          <p:cNvSpPr/>
          <p:nvPr/>
        </p:nvSpPr>
        <p:spPr>
          <a:xfrm>
            <a:off x="4818888" y="2194560"/>
            <a:ext cx="3749040" cy="256032"/>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Same query: WHERE status = 'Processing'</a:t>
            </a:r>
            <a:endParaRPr lang="en-US" sz="1100" dirty="0"/>
          </a:p>
        </p:txBody>
      </p:sp>
      <p:sp>
        <p:nvSpPr>
          <p:cNvPr id="24" name="Text 22"/>
          <p:cNvSpPr/>
          <p:nvPr/>
        </p:nvSpPr>
        <p:spPr>
          <a:xfrm>
            <a:off x="4818888" y="2487168"/>
            <a:ext cx="3657600" cy="20116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Index lookup:</a:t>
            </a:r>
            <a:endParaRPr lang="en-US" sz="1000" dirty="0"/>
          </a:p>
        </p:txBody>
      </p:sp>
      <p:sp>
        <p:nvSpPr>
          <p:cNvPr id="25" name="Shape 23"/>
          <p:cNvSpPr/>
          <p:nvPr/>
        </p:nvSpPr>
        <p:spPr>
          <a:xfrm>
            <a:off x="4818888" y="2697480"/>
            <a:ext cx="3566160" cy="274320"/>
          </a:xfrm>
          <a:prstGeom prst="rect">
            <a:avLst/>
          </a:prstGeom>
          <a:solidFill>
            <a:srgbClr val="FFFFFF"/>
          </a:solidFill>
          <a:ln w="12700">
            <a:solidFill>
              <a:srgbClr val="E2E8F0"/>
            </a:solidFill>
            <a:prstDash val="solid"/>
          </a:ln>
        </p:spPr>
        <p:txBody>
          <a:bodyPr/>
          <a:lstStyle/>
          <a:p>
            <a:endParaRPr lang="en-US"/>
          </a:p>
        </p:txBody>
      </p:sp>
      <p:sp>
        <p:nvSpPr>
          <p:cNvPr id="26" name="Text 24"/>
          <p:cNvSpPr/>
          <p:nvPr/>
        </p:nvSpPr>
        <p:spPr>
          <a:xfrm>
            <a:off x="4910328" y="2734056"/>
            <a:ext cx="3383280" cy="201168"/>
          </a:xfrm>
          <a:prstGeom prst="rect">
            <a:avLst/>
          </a:prstGeom>
          <a:noFill/>
          <a:ln/>
        </p:spPr>
        <p:txBody>
          <a:bodyPr wrap="square"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Delivered  → rows 1, 4</a:t>
            </a:r>
            <a:endParaRPr lang="en-US" sz="1100" dirty="0"/>
          </a:p>
        </p:txBody>
      </p:sp>
      <p:sp>
        <p:nvSpPr>
          <p:cNvPr id="27" name="Shape 25"/>
          <p:cNvSpPr/>
          <p:nvPr/>
        </p:nvSpPr>
        <p:spPr>
          <a:xfrm>
            <a:off x="4818888" y="3008376"/>
            <a:ext cx="3566160" cy="274320"/>
          </a:xfrm>
          <a:prstGeom prst="rect">
            <a:avLst/>
          </a:prstGeom>
          <a:solidFill>
            <a:srgbClr val="D1FAE5"/>
          </a:solidFill>
          <a:ln w="12700">
            <a:solidFill>
              <a:srgbClr val="059669"/>
            </a:solidFill>
            <a:prstDash val="solid"/>
          </a:ln>
        </p:spPr>
        <p:txBody>
          <a:bodyPr/>
          <a:lstStyle/>
          <a:p>
            <a:endParaRPr lang="en-US"/>
          </a:p>
        </p:txBody>
      </p:sp>
      <p:sp>
        <p:nvSpPr>
          <p:cNvPr id="28" name="Text 26"/>
          <p:cNvSpPr/>
          <p:nvPr/>
        </p:nvSpPr>
        <p:spPr>
          <a:xfrm>
            <a:off x="4910328" y="3044952"/>
            <a:ext cx="3383280" cy="201168"/>
          </a:xfrm>
          <a:prstGeom prst="rect">
            <a:avLst/>
          </a:prstGeom>
          <a:noFill/>
          <a:ln/>
        </p:spPr>
        <p:txBody>
          <a:bodyPr wrap="square" rtlCol="0" anchor="ctr"/>
          <a:lstStyle/>
          <a:p>
            <a:pPr marL="0" indent="0">
              <a:buNone/>
            </a:pPr>
            <a:r>
              <a:rPr lang="en-US" sz="1100" b="1" dirty="0">
                <a:solidFill>
                  <a:srgbClr val="059669"/>
                </a:solidFill>
                <a:latin typeface="Consolas" pitchFamily="34" charset="0"/>
                <a:ea typeface="Consolas" pitchFamily="34" charset="-122"/>
                <a:cs typeface="Consolas" pitchFamily="34" charset="-120"/>
              </a:rPr>
              <a:t>Processing  → rows 3, 5</a:t>
            </a:r>
            <a:endParaRPr lang="en-US" sz="1100" dirty="0"/>
          </a:p>
        </p:txBody>
      </p:sp>
      <p:sp>
        <p:nvSpPr>
          <p:cNvPr id="29" name="Shape 27"/>
          <p:cNvSpPr/>
          <p:nvPr/>
        </p:nvSpPr>
        <p:spPr>
          <a:xfrm>
            <a:off x="4818888" y="3319272"/>
            <a:ext cx="3566160" cy="274320"/>
          </a:xfrm>
          <a:prstGeom prst="rect">
            <a:avLst/>
          </a:prstGeom>
          <a:solidFill>
            <a:srgbClr val="FFFFFF"/>
          </a:solidFill>
          <a:ln w="12700">
            <a:solidFill>
              <a:srgbClr val="E2E8F0"/>
            </a:solidFill>
            <a:prstDash val="solid"/>
          </a:ln>
        </p:spPr>
        <p:txBody>
          <a:bodyPr/>
          <a:lstStyle/>
          <a:p>
            <a:endParaRPr lang="en-US"/>
          </a:p>
        </p:txBody>
      </p:sp>
      <p:sp>
        <p:nvSpPr>
          <p:cNvPr id="30" name="Text 28"/>
          <p:cNvSpPr/>
          <p:nvPr/>
        </p:nvSpPr>
        <p:spPr>
          <a:xfrm>
            <a:off x="4910328" y="3355848"/>
            <a:ext cx="3383280" cy="201168"/>
          </a:xfrm>
          <a:prstGeom prst="rect">
            <a:avLst/>
          </a:prstGeom>
          <a:noFill/>
          <a:ln/>
        </p:spPr>
        <p:txBody>
          <a:bodyPr wrap="square"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Shipped  → rows 2, 6</a:t>
            </a:r>
            <a:endParaRPr lang="en-US" sz="1100" dirty="0"/>
          </a:p>
        </p:txBody>
      </p:sp>
      <p:sp>
        <p:nvSpPr>
          <p:cNvPr id="31" name="Text 29"/>
          <p:cNvSpPr/>
          <p:nvPr/>
        </p:nvSpPr>
        <p:spPr>
          <a:xfrm>
            <a:off x="4818888" y="3630168"/>
            <a:ext cx="3566160" cy="201168"/>
          </a:xfrm>
          <a:prstGeom prst="rect">
            <a:avLst/>
          </a:prstGeom>
          <a:noFill/>
          <a:ln/>
        </p:spPr>
        <p:txBody>
          <a:bodyPr wrap="square" rtlCol="0" anchor="ctr"/>
          <a:lstStyle/>
          <a:p>
            <a:pPr marL="0" indent="0">
              <a:buNone/>
            </a:pPr>
            <a:r>
              <a:rPr lang="en-US" sz="1100" i="1" dirty="0">
                <a:solidFill>
                  <a:srgbClr val="059669"/>
                </a:solidFill>
                <a:latin typeface="Calibri" pitchFamily="34" charset="0"/>
                <a:ea typeface="Calibri" pitchFamily="34" charset="-122"/>
                <a:cs typeface="Calibri" pitchFamily="34" charset="-120"/>
              </a:rPr>
              <a:t>↓ jumps directly to rows 3 &amp; 5</a:t>
            </a:r>
            <a:endParaRPr lang="en-US" sz="1100" dirty="0"/>
          </a:p>
        </p:txBody>
      </p:sp>
      <p:sp>
        <p:nvSpPr>
          <p:cNvPr id="32" name="Shape 30"/>
          <p:cNvSpPr/>
          <p:nvPr/>
        </p:nvSpPr>
        <p:spPr>
          <a:xfrm>
            <a:off x="4818888" y="3858768"/>
            <a:ext cx="3566160" cy="91440"/>
          </a:xfrm>
          <a:prstGeom prst="rect">
            <a:avLst/>
          </a:prstGeom>
          <a:solidFill>
            <a:srgbClr val="059669"/>
          </a:solidFill>
          <a:ln w="12700">
            <a:solidFill>
              <a:srgbClr val="059669"/>
            </a:solidFill>
            <a:prstDash val="solid"/>
          </a:ln>
        </p:spPr>
        <p:txBody>
          <a:bodyPr/>
          <a:lstStyle/>
          <a:p>
            <a:endParaRPr lang="en-US"/>
          </a:p>
        </p:txBody>
      </p:sp>
      <p:sp>
        <p:nvSpPr>
          <p:cNvPr id="33" name="Text 31"/>
          <p:cNvSpPr/>
          <p:nvPr/>
        </p:nvSpPr>
        <p:spPr>
          <a:xfrm>
            <a:off x="4818888" y="3977640"/>
            <a:ext cx="3566160" cy="219456"/>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Reads only 2 rows → FAST always</a:t>
            </a:r>
            <a:endParaRPr lang="en-US" sz="1100" dirty="0"/>
          </a:p>
        </p:txBody>
      </p:sp>
      <p:sp>
        <p:nvSpPr>
          <p:cNvPr id="34" name="Shape 32"/>
          <p:cNvSpPr/>
          <p:nvPr/>
        </p:nvSpPr>
        <p:spPr>
          <a:xfrm>
            <a:off x="457200" y="4270248"/>
            <a:ext cx="8229600" cy="694944"/>
          </a:xfrm>
          <a:prstGeom prst="rect">
            <a:avLst/>
          </a:prstGeom>
          <a:solidFill>
            <a:srgbClr val="DBEAFE"/>
          </a:solidFill>
          <a:ln w="12700">
            <a:solidFill>
              <a:srgbClr val="1D4ED8"/>
            </a:solidFill>
            <a:prstDash val="solid"/>
          </a:ln>
        </p:spPr>
        <p:txBody>
          <a:bodyPr/>
          <a:lstStyle/>
          <a:p>
            <a:endParaRPr lang="en-US"/>
          </a:p>
        </p:txBody>
      </p:sp>
      <p:sp>
        <p:nvSpPr>
          <p:cNvPr id="35" name="Shape 33"/>
          <p:cNvSpPr/>
          <p:nvPr/>
        </p:nvSpPr>
        <p:spPr>
          <a:xfrm>
            <a:off x="457200" y="4270248"/>
            <a:ext cx="1005840" cy="694944"/>
          </a:xfrm>
          <a:prstGeom prst="rect">
            <a:avLst/>
          </a:prstGeom>
          <a:solidFill>
            <a:srgbClr val="1D4ED8"/>
          </a:solidFill>
          <a:ln w="12700">
            <a:solidFill>
              <a:srgbClr val="1D4ED8"/>
            </a:solidFill>
            <a:prstDash val="solid"/>
          </a:ln>
        </p:spPr>
        <p:txBody>
          <a:bodyPr/>
          <a:lstStyle/>
          <a:p>
            <a:endParaRPr lang="en-US"/>
          </a:p>
        </p:txBody>
      </p:sp>
      <p:sp>
        <p:nvSpPr>
          <p:cNvPr id="36" name="Text 34"/>
          <p:cNvSpPr/>
          <p:nvPr/>
        </p:nvSpPr>
        <p:spPr>
          <a:xfrm>
            <a:off x="457200" y="4270248"/>
            <a:ext cx="1005840" cy="69494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KEY</a:t>
            </a:r>
            <a:endParaRPr lang="en-US" sz="1100" dirty="0"/>
          </a:p>
        </p:txBody>
      </p:sp>
      <p:sp>
        <p:nvSpPr>
          <p:cNvPr id="37" name="Text 35"/>
          <p:cNvSpPr/>
          <p:nvPr/>
        </p:nvSpPr>
        <p:spPr>
          <a:xfrm>
            <a:off x="1572768" y="4315968"/>
            <a:ext cx="7022592" cy="566928"/>
          </a:xfrm>
          <a:prstGeom prst="rect">
            <a:avLst/>
          </a:prstGeom>
          <a:noFill/>
          <a:ln/>
        </p:spPr>
        <p:txBody>
          <a:bodyPr wrap="square" rtlCol="0" anchor="ctr"/>
          <a:lstStyle/>
          <a:p>
            <a:pPr marL="0" indent="0">
              <a:buNone/>
            </a:pPr>
            <a:r>
              <a:rPr lang="en-US" sz="1200" dirty="0">
                <a:solidFill>
                  <a:srgbClr val="1E293B"/>
                </a:solidFill>
                <a:latin typeface="Calibri" pitchFamily="34" charset="0"/>
                <a:ea typeface="Calibri" pitchFamily="34" charset="-122"/>
                <a:cs typeface="Calibri" pitchFamily="34" charset="-120"/>
              </a:rPr>
              <a:t>An index does NOT change your query — you write SELECT ... WHERE ... exactly as before.</a:t>
            </a: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PostgreSQL automatically uses the index in the background to make it fast.</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How to Create an Index</a:t>
            </a:r>
            <a:endParaRPr lang="en-US" sz="3600" dirty="0"/>
          </a:p>
        </p:txBody>
      </p:sp>
      <p:sp>
        <p:nvSpPr>
          <p:cNvPr id="3" name="Text 1"/>
          <p:cNvSpPr/>
          <p:nvPr/>
        </p:nvSpPr>
        <p:spPr>
          <a:xfrm>
            <a:off x="457200" y="694944"/>
            <a:ext cx="8229600" cy="256032"/>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Three simple patterns — all use the same orders, customers, products tables from our database</a:t>
            </a:r>
            <a:endParaRPr lang="en-US" sz="1300" dirty="0"/>
          </a:p>
        </p:txBody>
      </p:sp>
      <p:sp>
        <p:nvSpPr>
          <p:cNvPr id="4" name="Shape 2"/>
          <p:cNvSpPr/>
          <p:nvPr/>
        </p:nvSpPr>
        <p:spPr>
          <a:xfrm>
            <a:off x="457200" y="1005840"/>
            <a:ext cx="8229600" cy="822960"/>
          </a:xfrm>
          <a:prstGeom prst="rect">
            <a:avLst/>
          </a:prstGeom>
          <a:solidFill>
            <a:srgbClr val="1E293B"/>
          </a:solidFill>
          <a:ln w="12700">
            <a:solidFill>
              <a:srgbClr val="334155"/>
            </a:solidFill>
            <a:prstDash val="solid"/>
          </a:ln>
        </p:spPr>
        <p:txBody>
          <a:bodyPr/>
          <a:lstStyle/>
          <a:p>
            <a:endParaRPr lang="en-US"/>
          </a:p>
        </p:txBody>
      </p:sp>
      <p:sp>
        <p:nvSpPr>
          <p:cNvPr id="5" name="Text 3"/>
          <p:cNvSpPr/>
          <p:nvPr/>
        </p:nvSpPr>
        <p:spPr>
          <a:xfrm>
            <a:off x="640080" y="1115568"/>
            <a:ext cx="822960" cy="237744"/>
          </a:xfrm>
          <a:prstGeom prst="rect">
            <a:avLst/>
          </a:prstGeom>
          <a:noFill/>
          <a:ln/>
        </p:spPr>
        <p:txBody>
          <a:bodyPr wrap="square" lIns="0" tIns="0" rIns="0" bIns="0" rtlCol="0" anchor="ctr"/>
          <a:lstStyle/>
          <a:p>
            <a:pPr marL="0" indent="0">
              <a:buNone/>
            </a:pPr>
            <a:r>
              <a:rPr lang="en-US" sz="1500" b="1" dirty="0">
                <a:solidFill>
                  <a:srgbClr val="6EE7B7"/>
                </a:solidFill>
                <a:latin typeface="Consolas" pitchFamily="34" charset="0"/>
                <a:ea typeface="Consolas" pitchFamily="34" charset="-122"/>
                <a:cs typeface="Consolas" pitchFamily="34" charset="-120"/>
              </a:rPr>
              <a:t>CREATE</a:t>
            </a:r>
            <a:endParaRPr lang="en-US" sz="1500" dirty="0"/>
          </a:p>
        </p:txBody>
      </p:sp>
      <p:sp>
        <p:nvSpPr>
          <p:cNvPr id="6" name="Text 4"/>
          <p:cNvSpPr/>
          <p:nvPr/>
        </p:nvSpPr>
        <p:spPr>
          <a:xfrm>
            <a:off x="1481328" y="1115568"/>
            <a:ext cx="731520" cy="237744"/>
          </a:xfrm>
          <a:prstGeom prst="rect">
            <a:avLst/>
          </a:prstGeom>
          <a:noFill/>
          <a:ln/>
        </p:spPr>
        <p:txBody>
          <a:bodyPr wrap="square" lIns="0" tIns="0" rIns="0" bIns="0" rtlCol="0" anchor="ctr"/>
          <a:lstStyle/>
          <a:p>
            <a:pPr marL="0" indent="0">
              <a:buNone/>
            </a:pPr>
            <a:r>
              <a:rPr lang="en-US" sz="1500" b="1" dirty="0">
                <a:solidFill>
                  <a:srgbClr val="93C5FD"/>
                </a:solidFill>
                <a:latin typeface="Consolas" pitchFamily="34" charset="0"/>
                <a:ea typeface="Consolas" pitchFamily="34" charset="-122"/>
                <a:cs typeface="Consolas" pitchFamily="34" charset="-120"/>
              </a:rPr>
              <a:t>INDEX</a:t>
            </a:r>
            <a:endParaRPr lang="en-US" sz="1500" dirty="0"/>
          </a:p>
        </p:txBody>
      </p:sp>
      <p:sp>
        <p:nvSpPr>
          <p:cNvPr id="7" name="Text 5"/>
          <p:cNvSpPr/>
          <p:nvPr/>
        </p:nvSpPr>
        <p:spPr>
          <a:xfrm>
            <a:off x="2231136" y="1115568"/>
            <a:ext cx="1188720" cy="237744"/>
          </a:xfrm>
          <a:prstGeom prst="rect">
            <a:avLst/>
          </a:prstGeom>
          <a:noFill/>
          <a:ln/>
        </p:spPr>
        <p:txBody>
          <a:bodyPr wrap="square" lIns="0" tIns="0" rIns="0" bIns="0" rtlCol="0" anchor="ctr"/>
          <a:lstStyle/>
          <a:p>
            <a:pPr marL="0" indent="0">
              <a:buNone/>
            </a:pPr>
            <a:r>
              <a:rPr lang="en-US" sz="1500" dirty="0">
                <a:solidFill>
                  <a:srgbClr val="FCD34D"/>
                </a:solidFill>
                <a:latin typeface="Consolas" pitchFamily="34" charset="0"/>
                <a:ea typeface="Consolas" pitchFamily="34" charset="-122"/>
                <a:cs typeface="Consolas" pitchFamily="34" charset="-120"/>
              </a:rPr>
              <a:t>idx_status</a:t>
            </a:r>
            <a:endParaRPr lang="en-US" sz="1500" dirty="0"/>
          </a:p>
        </p:txBody>
      </p:sp>
      <p:sp>
        <p:nvSpPr>
          <p:cNvPr id="8" name="Text 6"/>
          <p:cNvSpPr/>
          <p:nvPr/>
        </p:nvSpPr>
        <p:spPr>
          <a:xfrm>
            <a:off x="3438144" y="1115568"/>
            <a:ext cx="420624" cy="237744"/>
          </a:xfrm>
          <a:prstGeom prst="rect">
            <a:avLst/>
          </a:prstGeom>
          <a:noFill/>
          <a:ln/>
        </p:spPr>
        <p:txBody>
          <a:bodyPr wrap="square" lIns="0" tIns="0" rIns="0" bIns="0" rtlCol="0" anchor="ctr"/>
          <a:lstStyle/>
          <a:p>
            <a:pPr marL="0" indent="0">
              <a:buNone/>
            </a:pPr>
            <a:r>
              <a:rPr lang="en-US" sz="1500" b="1" dirty="0">
                <a:solidFill>
                  <a:srgbClr val="6EE7B7"/>
                </a:solidFill>
                <a:latin typeface="Consolas" pitchFamily="34" charset="0"/>
                <a:ea typeface="Consolas" pitchFamily="34" charset="-122"/>
                <a:cs typeface="Consolas" pitchFamily="34" charset="-120"/>
              </a:rPr>
              <a:t>ON</a:t>
            </a:r>
            <a:endParaRPr lang="en-US" sz="1500" dirty="0"/>
          </a:p>
        </p:txBody>
      </p:sp>
      <p:sp>
        <p:nvSpPr>
          <p:cNvPr id="9" name="Text 7"/>
          <p:cNvSpPr/>
          <p:nvPr/>
        </p:nvSpPr>
        <p:spPr>
          <a:xfrm>
            <a:off x="3877056" y="1115568"/>
            <a:ext cx="822960" cy="237744"/>
          </a:xfrm>
          <a:prstGeom prst="rect">
            <a:avLst/>
          </a:prstGeom>
          <a:noFill/>
          <a:ln/>
        </p:spPr>
        <p:txBody>
          <a:bodyPr wrap="square" lIns="0" tIns="0" rIns="0" bIns="0" rtlCol="0" anchor="ctr"/>
          <a:lstStyle/>
          <a:p>
            <a:pPr marL="0" indent="0">
              <a:buNone/>
            </a:pPr>
            <a:r>
              <a:rPr lang="en-US" sz="1500" dirty="0">
                <a:solidFill>
                  <a:srgbClr val="F9A8D4"/>
                </a:solidFill>
                <a:latin typeface="Consolas" pitchFamily="34" charset="0"/>
                <a:ea typeface="Consolas" pitchFamily="34" charset="-122"/>
                <a:cs typeface="Consolas" pitchFamily="34" charset="-120"/>
              </a:rPr>
              <a:t>orders</a:t>
            </a:r>
            <a:endParaRPr lang="en-US" sz="1500" dirty="0"/>
          </a:p>
        </p:txBody>
      </p:sp>
      <p:sp>
        <p:nvSpPr>
          <p:cNvPr id="10" name="Text 8"/>
          <p:cNvSpPr/>
          <p:nvPr/>
        </p:nvSpPr>
        <p:spPr>
          <a:xfrm>
            <a:off x="4718304" y="1115568"/>
            <a:ext cx="1188720" cy="237744"/>
          </a:xfrm>
          <a:prstGeom prst="rect">
            <a:avLst/>
          </a:prstGeom>
          <a:noFill/>
          <a:ln/>
        </p:spPr>
        <p:txBody>
          <a:bodyPr wrap="square" lIns="0" tIns="0" rIns="0" bIns="0" rtlCol="0" anchor="ctr"/>
          <a:lstStyle/>
          <a:p>
            <a:pPr marL="0" indent="0">
              <a:buNone/>
            </a:pPr>
            <a:r>
              <a:rPr lang="en-US" sz="1500" dirty="0">
                <a:solidFill>
                  <a:srgbClr val="93C5FD"/>
                </a:solidFill>
                <a:latin typeface="Consolas" pitchFamily="34" charset="0"/>
                <a:ea typeface="Consolas" pitchFamily="34" charset="-122"/>
                <a:cs typeface="Consolas" pitchFamily="34" charset="-120"/>
              </a:rPr>
              <a:t>(status);</a:t>
            </a:r>
            <a:endParaRPr lang="en-US" sz="1500" dirty="0"/>
          </a:p>
        </p:txBody>
      </p:sp>
      <p:sp>
        <p:nvSpPr>
          <p:cNvPr id="11" name="Text 9"/>
          <p:cNvSpPr/>
          <p:nvPr/>
        </p:nvSpPr>
        <p:spPr>
          <a:xfrm>
            <a:off x="640080" y="1417320"/>
            <a:ext cx="822960" cy="201168"/>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keyword</a:t>
            </a:r>
            <a:endParaRPr lang="en-US" sz="900" dirty="0"/>
          </a:p>
        </p:txBody>
      </p:sp>
      <p:sp>
        <p:nvSpPr>
          <p:cNvPr id="12" name="Text 10"/>
          <p:cNvSpPr/>
          <p:nvPr/>
        </p:nvSpPr>
        <p:spPr>
          <a:xfrm>
            <a:off x="1481328" y="1417320"/>
            <a:ext cx="731520" cy="201168"/>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keyword</a:t>
            </a:r>
            <a:endParaRPr lang="en-US" sz="900" dirty="0"/>
          </a:p>
        </p:txBody>
      </p:sp>
      <p:sp>
        <p:nvSpPr>
          <p:cNvPr id="13" name="Text 11"/>
          <p:cNvSpPr/>
          <p:nvPr/>
        </p:nvSpPr>
        <p:spPr>
          <a:xfrm>
            <a:off x="2231136" y="1417320"/>
            <a:ext cx="1188720" cy="201168"/>
          </a:xfrm>
          <a:prstGeom prst="rect">
            <a:avLst/>
          </a:prstGeom>
          <a:noFill/>
          <a:ln/>
        </p:spPr>
        <p:txBody>
          <a:bodyPr wrap="square" rtlCol="0" anchor="ctr"/>
          <a:lstStyle/>
          <a:p>
            <a:pPr marL="0" indent="0" algn="ctr">
              <a:buNone/>
            </a:pPr>
            <a:r>
              <a:rPr lang="en-US" sz="900" i="1" dirty="0">
                <a:solidFill>
                  <a:srgbClr val="FCD34D"/>
                </a:solidFill>
                <a:latin typeface="Calibri" pitchFamily="34" charset="0"/>
                <a:ea typeface="Calibri" pitchFamily="34" charset="-122"/>
                <a:cs typeface="Calibri" pitchFamily="34" charset="-120"/>
              </a:rPr>
              <a:t>your name</a:t>
            </a:r>
            <a:endParaRPr lang="en-US" sz="900" dirty="0"/>
          </a:p>
        </p:txBody>
      </p:sp>
      <p:sp>
        <p:nvSpPr>
          <p:cNvPr id="14" name="Text 12"/>
          <p:cNvSpPr/>
          <p:nvPr/>
        </p:nvSpPr>
        <p:spPr>
          <a:xfrm>
            <a:off x="3438144" y="1417320"/>
            <a:ext cx="420624" cy="201168"/>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keyword</a:t>
            </a:r>
            <a:endParaRPr lang="en-US" sz="900" dirty="0"/>
          </a:p>
        </p:txBody>
      </p:sp>
      <p:sp>
        <p:nvSpPr>
          <p:cNvPr id="15" name="Text 13"/>
          <p:cNvSpPr/>
          <p:nvPr/>
        </p:nvSpPr>
        <p:spPr>
          <a:xfrm>
            <a:off x="3877056" y="1417320"/>
            <a:ext cx="822960" cy="201168"/>
          </a:xfrm>
          <a:prstGeom prst="rect">
            <a:avLst/>
          </a:prstGeom>
          <a:noFill/>
          <a:ln/>
        </p:spPr>
        <p:txBody>
          <a:bodyPr wrap="square" rtlCol="0" anchor="ctr"/>
          <a:lstStyle/>
          <a:p>
            <a:pPr marL="0" indent="0" algn="ctr">
              <a:buNone/>
            </a:pPr>
            <a:r>
              <a:rPr lang="en-US" sz="900" i="1" dirty="0">
                <a:solidFill>
                  <a:srgbClr val="F9A8D4"/>
                </a:solidFill>
                <a:latin typeface="Calibri" pitchFamily="34" charset="0"/>
                <a:ea typeface="Calibri" pitchFamily="34" charset="-122"/>
                <a:cs typeface="Calibri" pitchFamily="34" charset="-120"/>
              </a:rPr>
              <a:t>table</a:t>
            </a:r>
            <a:endParaRPr lang="en-US" sz="900" dirty="0"/>
          </a:p>
        </p:txBody>
      </p:sp>
      <p:sp>
        <p:nvSpPr>
          <p:cNvPr id="16" name="Text 14"/>
          <p:cNvSpPr/>
          <p:nvPr/>
        </p:nvSpPr>
        <p:spPr>
          <a:xfrm>
            <a:off x="4718304" y="1417320"/>
            <a:ext cx="1188720" cy="201168"/>
          </a:xfrm>
          <a:prstGeom prst="rect">
            <a:avLst/>
          </a:prstGeom>
          <a:noFill/>
          <a:ln/>
        </p:spPr>
        <p:txBody>
          <a:bodyPr wrap="square" rtlCol="0" anchor="ctr"/>
          <a:lstStyle/>
          <a:p>
            <a:pPr marL="0" indent="0" algn="ctr">
              <a:buNone/>
            </a:pPr>
            <a:r>
              <a:rPr lang="en-US" sz="900" i="1" dirty="0">
                <a:solidFill>
                  <a:srgbClr val="93C5FD"/>
                </a:solidFill>
                <a:latin typeface="Calibri" pitchFamily="34" charset="0"/>
                <a:ea typeface="Calibri" pitchFamily="34" charset="-122"/>
                <a:cs typeface="Calibri" pitchFamily="34" charset="-120"/>
              </a:rPr>
              <a:t>column</a:t>
            </a:r>
            <a:endParaRPr lang="en-US" sz="900" dirty="0"/>
          </a:p>
        </p:txBody>
      </p:sp>
      <p:sp>
        <p:nvSpPr>
          <p:cNvPr id="17" name="Shape 15"/>
          <p:cNvSpPr/>
          <p:nvPr/>
        </p:nvSpPr>
        <p:spPr>
          <a:xfrm>
            <a:off x="457200" y="1353312"/>
            <a:ext cx="2743200" cy="3273552"/>
          </a:xfrm>
          <a:prstGeom prst="rect">
            <a:avLst/>
          </a:prstGeom>
          <a:solidFill>
            <a:srgbClr val="FFFFFF"/>
          </a:solidFill>
          <a:ln w="12700">
            <a:solidFill>
              <a:srgbClr val="059669"/>
            </a:solidFill>
            <a:prstDash val="solid"/>
          </a:ln>
        </p:spPr>
        <p:txBody>
          <a:bodyPr/>
          <a:lstStyle/>
          <a:p>
            <a:endParaRPr lang="en-US"/>
          </a:p>
        </p:txBody>
      </p:sp>
      <p:sp>
        <p:nvSpPr>
          <p:cNvPr id="18" name="Shape 16"/>
          <p:cNvSpPr/>
          <p:nvPr/>
        </p:nvSpPr>
        <p:spPr>
          <a:xfrm>
            <a:off x="457200" y="1353312"/>
            <a:ext cx="2743200" cy="457200"/>
          </a:xfrm>
          <a:prstGeom prst="rect">
            <a:avLst/>
          </a:prstGeom>
          <a:solidFill>
            <a:srgbClr val="059669"/>
          </a:solidFill>
          <a:ln w="12700">
            <a:solidFill>
              <a:srgbClr val="059669"/>
            </a:solidFill>
            <a:prstDash val="solid"/>
          </a:ln>
        </p:spPr>
        <p:txBody>
          <a:bodyPr/>
          <a:lstStyle/>
          <a:p>
            <a:endParaRPr lang="en-US"/>
          </a:p>
        </p:txBody>
      </p:sp>
      <p:sp>
        <p:nvSpPr>
          <p:cNvPr id="19" name="Shape 17"/>
          <p:cNvSpPr/>
          <p:nvPr/>
        </p:nvSpPr>
        <p:spPr>
          <a:xfrm>
            <a:off x="548640" y="1417320"/>
            <a:ext cx="329184" cy="329184"/>
          </a:xfrm>
          <a:prstGeom prst="ellipse">
            <a:avLst/>
          </a:prstGeom>
          <a:solidFill>
            <a:srgbClr val="FFFFFF"/>
          </a:solidFill>
          <a:ln w="12700">
            <a:solidFill>
              <a:srgbClr val="FFFFFF"/>
            </a:solidFill>
            <a:prstDash val="solid"/>
          </a:ln>
        </p:spPr>
        <p:txBody>
          <a:bodyPr/>
          <a:lstStyle/>
          <a:p>
            <a:endParaRPr lang="en-US"/>
          </a:p>
        </p:txBody>
      </p:sp>
      <p:sp>
        <p:nvSpPr>
          <p:cNvPr id="20" name="Text 18"/>
          <p:cNvSpPr/>
          <p:nvPr/>
        </p:nvSpPr>
        <p:spPr>
          <a:xfrm>
            <a:off x="548640" y="1417320"/>
            <a:ext cx="329184" cy="329184"/>
          </a:xfrm>
          <a:prstGeom prst="rect">
            <a:avLst/>
          </a:prstGeom>
          <a:noFill/>
          <a:ln/>
        </p:spPr>
        <p:txBody>
          <a:bodyPr wrap="square" lIns="0" tIns="0" rIns="0" bIns="0" rtlCol="0" anchor="ctr"/>
          <a:lstStyle/>
          <a:p>
            <a:pPr marL="0" indent="0" algn="ctr">
              <a:buNone/>
            </a:pPr>
            <a:r>
              <a:rPr lang="en-US" sz="1400" b="1" dirty="0">
                <a:solidFill>
                  <a:srgbClr val="059669"/>
                </a:solidFill>
                <a:latin typeface="Calibri" pitchFamily="34" charset="0"/>
                <a:ea typeface="Calibri" pitchFamily="34" charset="-122"/>
                <a:cs typeface="Calibri" pitchFamily="34" charset="-120"/>
              </a:rPr>
              <a:t>1</a:t>
            </a:r>
            <a:endParaRPr lang="en-US" sz="1400" dirty="0"/>
          </a:p>
        </p:txBody>
      </p:sp>
      <p:sp>
        <p:nvSpPr>
          <p:cNvPr id="21" name="Text 19"/>
          <p:cNvSpPr/>
          <p:nvPr/>
        </p:nvSpPr>
        <p:spPr>
          <a:xfrm>
            <a:off x="950976" y="1435608"/>
            <a:ext cx="2176272"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Single Column Index</a:t>
            </a:r>
            <a:endParaRPr lang="en-US" sz="1200" dirty="0"/>
          </a:p>
        </p:txBody>
      </p:sp>
      <p:sp>
        <p:nvSpPr>
          <p:cNvPr id="22" name="Text 20"/>
          <p:cNvSpPr/>
          <p:nvPr/>
        </p:nvSpPr>
        <p:spPr>
          <a:xfrm>
            <a:off x="566928" y="1865376"/>
            <a:ext cx="2542032" cy="47548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Index ONE column.</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Best for: WHERE, ORDER BY, JOIN on that column.</a:t>
            </a:r>
            <a:endParaRPr lang="en-US" sz="1050" dirty="0"/>
          </a:p>
        </p:txBody>
      </p:sp>
      <p:sp>
        <p:nvSpPr>
          <p:cNvPr id="23" name="Shape 21"/>
          <p:cNvSpPr/>
          <p:nvPr/>
        </p:nvSpPr>
        <p:spPr>
          <a:xfrm>
            <a:off x="548640" y="2377440"/>
            <a:ext cx="2578608" cy="1719072"/>
          </a:xfrm>
          <a:prstGeom prst="rect">
            <a:avLst/>
          </a:prstGeom>
          <a:solidFill>
            <a:srgbClr val="1E293B"/>
          </a:solidFill>
          <a:ln w="12700">
            <a:solidFill>
              <a:srgbClr val="334155"/>
            </a:solidFill>
            <a:prstDash val="solid"/>
          </a:ln>
        </p:spPr>
        <p:txBody>
          <a:bodyPr/>
          <a:lstStyle/>
          <a:p>
            <a:endParaRPr lang="en-US"/>
          </a:p>
        </p:txBody>
      </p:sp>
      <p:sp>
        <p:nvSpPr>
          <p:cNvPr id="24" name="Text 22"/>
          <p:cNvSpPr/>
          <p:nvPr/>
        </p:nvSpPr>
        <p:spPr>
          <a:xfrm>
            <a:off x="640080" y="2450592"/>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Most common: index a WHERE column</a:t>
            </a:r>
            <a:endParaRPr lang="en-US" sz="950" dirty="0"/>
          </a:p>
        </p:txBody>
      </p:sp>
      <p:sp>
        <p:nvSpPr>
          <p:cNvPr id="25" name="Text 23"/>
          <p:cNvSpPr/>
          <p:nvPr/>
        </p:nvSpPr>
        <p:spPr>
          <a:xfrm>
            <a:off x="640080" y="2682850"/>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CREATE INDEX idx_status</a:t>
            </a:r>
            <a:endParaRPr lang="en-US" sz="950" dirty="0"/>
          </a:p>
        </p:txBody>
      </p:sp>
      <p:sp>
        <p:nvSpPr>
          <p:cNvPr id="26" name="Text 24"/>
          <p:cNvSpPr/>
          <p:nvPr/>
        </p:nvSpPr>
        <p:spPr>
          <a:xfrm>
            <a:off x="640080" y="2915107"/>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ON orders (status);</a:t>
            </a:r>
            <a:endParaRPr lang="en-US" sz="950" dirty="0"/>
          </a:p>
        </p:txBody>
      </p:sp>
      <p:sp>
        <p:nvSpPr>
          <p:cNvPr id="27" name="Text 25"/>
          <p:cNvSpPr/>
          <p:nvPr/>
        </p:nvSpPr>
        <p:spPr>
          <a:xfrm>
            <a:off x="640080" y="3147365"/>
            <a:ext cx="2450592" cy="219456"/>
          </a:xfrm>
          <a:prstGeom prst="rect">
            <a:avLst/>
          </a:prstGeom>
          <a:noFill/>
          <a:ln/>
        </p:spPr>
        <p:txBody>
          <a:bodyPr wrap="square" lIns="0" tIns="0" rIns="0" bIns="0" rtlCol="0" anchor="ctr"/>
          <a:lstStyle/>
          <a:p>
            <a:pPr marL="0" indent="0">
              <a:buNone/>
            </a:pPr>
            <a:endParaRPr lang="en-US" sz="950" dirty="0"/>
          </a:p>
        </p:txBody>
      </p:sp>
      <p:sp>
        <p:nvSpPr>
          <p:cNvPr id="28" name="Text 26"/>
          <p:cNvSpPr/>
          <p:nvPr/>
        </p:nvSpPr>
        <p:spPr>
          <a:xfrm>
            <a:off x="640080" y="3379622"/>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Now this query becomes fast:</a:t>
            </a:r>
            <a:endParaRPr lang="en-US" sz="950" dirty="0"/>
          </a:p>
        </p:txBody>
      </p:sp>
      <p:sp>
        <p:nvSpPr>
          <p:cNvPr id="29" name="Text 27"/>
          <p:cNvSpPr/>
          <p:nvPr/>
        </p:nvSpPr>
        <p:spPr>
          <a:xfrm>
            <a:off x="640080" y="3611880"/>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SELECT * FROM orders</a:t>
            </a:r>
            <a:endParaRPr lang="en-US" sz="950" dirty="0"/>
          </a:p>
        </p:txBody>
      </p:sp>
      <p:sp>
        <p:nvSpPr>
          <p:cNvPr id="30" name="Text 28"/>
          <p:cNvSpPr/>
          <p:nvPr/>
        </p:nvSpPr>
        <p:spPr>
          <a:xfrm>
            <a:off x="640080" y="3844138"/>
            <a:ext cx="2450592" cy="219456"/>
          </a:xfrm>
          <a:prstGeom prst="rect">
            <a:avLst/>
          </a:prstGeom>
          <a:noFill/>
          <a:ln/>
        </p:spPr>
        <p:txBody>
          <a:bodyPr wrap="square" lIns="0" tIns="0" rIns="0" bIns="0" rtlCol="0" anchor="ctr"/>
          <a:lstStyle/>
          <a:p>
            <a:pPr marL="0" indent="0">
              <a:buNone/>
            </a:pPr>
            <a:r>
              <a:rPr lang="en-US" sz="950" dirty="0">
                <a:solidFill>
                  <a:srgbClr val="6EE7B7"/>
                </a:solidFill>
                <a:latin typeface="Consolas" pitchFamily="34" charset="0"/>
                <a:ea typeface="Consolas" pitchFamily="34" charset="-122"/>
                <a:cs typeface="Consolas" pitchFamily="34" charset="-120"/>
              </a:rPr>
              <a:t>WHERE status = 'Processing';</a:t>
            </a:r>
            <a:endParaRPr lang="en-US" sz="950" dirty="0"/>
          </a:p>
        </p:txBody>
      </p:sp>
      <p:sp>
        <p:nvSpPr>
          <p:cNvPr id="31" name="Shape 29"/>
          <p:cNvSpPr/>
          <p:nvPr/>
        </p:nvSpPr>
        <p:spPr>
          <a:xfrm>
            <a:off x="3310128" y="1353312"/>
            <a:ext cx="2743200" cy="3273552"/>
          </a:xfrm>
          <a:prstGeom prst="rect">
            <a:avLst/>
          </a:prstGeom>
          <a:solidFill>
            <a:srgbClr val="FFFFFF"/>
          </a:solidFill>
          <a:ln w="12700">
            <a:solidFill>
              <a:srgbClr val="7C3AED"/>
            </a:solidFill>
            <a:prstDash val="solid"/>
          </a:ln>
        </p:spPr>
        <p:txBody>
          <a:bodyPr/>
          <a:lstStyle/>
          <a:p>
            <a:endParaRPr lang="en-US"/>
          </a:p>
        </p:txBody>
      </p:sp>
      <p:sp>
        <p:nvSpPr>
          <p:cNvPr id="32" name="Shape 30"/>
          <p:cNvSpPr/>
          <p:nvPr/>
        </p:nvSpPr>
        <p:spPr>
          <a:xfrm>
            <a:off x="3310128" y="1353312"/>
            <a:ext cx="2743200" cy="457200"/>
          </a:xfrm>
          <a:prstGeom prst="rect">
            <a:avLst/>
          </a:prstGeom>
          <a:solidFill>
            <a:srgbClr val="7C3AED"/>
          </a:solidFill>
          <a:ln w="12700">
            <a:solidFill>
              <a:srgbClr val="7C3AED"/>
            </a:solidFill>
            <a:prstDash val="solid"/>
          </a:ln>
        </p:spPr>
        <p:txBody>
          <a:bodyPr/>
          <a:lstStyle/>
          <a:p>
            <a:endParaRPr lang="en-US"/>
          </a:p>
        </p:txBody>
      </p:sp>
      <p:sp>
        <p:nvSpPr>
          <p:cNvPr id="33" name="Shape 31"/>
          <p:cNvSpPr/>
          <p:nvPr/>
        </p:nvSpPr>
        <p:spPr>
          <a:xfrm>
            <a:off x="3401568" y="1417320"/>
            <a:ext cx="329184" cy="329184"/>
          </a:xfrm>
          <a:prstGeom prst="ellipse">
            <a:avLst/>
          </a:prstGeom>
          <a:solidFill>
            <a:srgbClr val="FFFFFF"/>
          </a:solidFill>
          <a:ln w="12700">
            <a:solidFill>
              <a:srgbClr val="FFFFFF"/>
            </a:solidFill>
            <a:prstDash val="solid"/>
          </a:ln>
        </p:spPr>
        <p:txBody>
          <a:bodyPr/>
          <a:lstStyle/>
          <a:p>
            <a:endParaRPr lang="en-US"/>
          </a:p>
        </p:txBody>
      </p:sp>
      <p:sp>
        <p:nvSpPr>
          <p:cNvPr id="34" name="Text 32"/>
          <p:cNvSpPr/>
          <p:nvPr/>
        </p:nvSpPr>
        <p:spPr>
          <a:xfrm>
            <a:off x="3401568" y="1417320"/>
            <a:ext cx="329184" cy="329184"/>
          </a:xfrm>
          <a:prstGeom prst="rect">
            <a:avLst/>
          </a:prstGeom>
          <a:noFill/>
          <a:ln/>
        </p:spPr>
        <p:txBody>
          <a:bodyPr wrap="square" lIns="0" tIns="0" rIns="0" bIns="0" rtlCol="0" anchor="ctr"/>
          <a:lstStyle/>
          <a:p>
            <a:pPr marL="0" indent="0" algn="ctr">
              <a:buNone/>
            </a:pPr>
            <a:r>
              <a:rPr lang="en-US" sz="1400" b="1" dirty="0">
                <a:solidFill>
                  <a:srgbClr val="7C3AED"/>
                </a:solidFill>
                <a:latin typeface="Calibri" pitchFamily="34" charset="0"/>
                <a:ea typeface="Calibri" pitchFamily="34" charset="-122"/>
                <a:cs typeface="Calibri" pitchFamily="34" charset="-120"/>
              </a:rPr>
              <a:t>2</a:t>
            </a:r>
            <a:endParaRPr lang="en-US" sz="1400" dirty="0"/>
          </a:p>
        </p:txBody>
      </p:sp>
      <p:sp>
        <p:nvSpPr>
          <p:cNvPr id="35" name="Text 33"/>
          <p:cNvSpPr/>
          <p:nvPr/>
        </p:nvSpPr>
        <p:spPr>
          <a:xfrm>
            <a:off x="3803904" y="1435608"/>
            <a:ext cx="2176272"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Composite Index</a:t>
            </a:r>
            <a:endParaRPr lang="en-US" sz="1200" dirty="0"/>
          </a:p>
        </p:txBody>
      </p:sp>
      <p:sp>
        <p:nvSpPr>
          <p:cNvPr id="36" name="Text 34"/>
          <p:cNvSpPr/>
          <p:nvPr/>
        </p:nvSpPr>
        <p:spPr>
          <a:xfrm>
            <a:off x="3419856" y="1865376"/>
            <a:ext cx="2542032" cy="47548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Index TWO columns together.</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Best for: queries that filter by both columns.</a:t>
            </a:r>
            <a:endParaRPr lang="en-US" sz="1050" dirty="0"/>
          </a:p>
        </p:txBody>
      </p:sp>
      <p:sp>
        <p:nvSpPr>
          <p:cNvPr id="37" name="Shape 35"/>
          <p:cNvSpPr/>
          <p:nvPr/>
        </p:nvSpPr>
        <p:spPr>
          <a:xfrm>
            <a:off x="3401568" y="2377440"/>
            <a:ext cx="2578608" cy="1719072"/>
          </a:xfrm>
          <a:prstGeom prst="rect">
            <a:avLst/>
          </a:prstGeom>
          <a:solidFill>
            <a:srgbClr val="1E293B"/>
          </a:solidFill>
          <a:ln w="12700">
            <a:solidFill>
              <a:srgbClr val="334155"/>
            </a:solidFill>
            <a:prstDash val="solid"/>
          </a:ln>
        </p:spPr>
        <p:txBody>
          <a:bodyPr/>
          <a:lstStyle/>
          <a:p>
            <a:endParaRPr lang="en-US"/>
          </a:p>
        </p:txBody>
      </p:sp>
      <p:sp>
        <p:nvSpPr>
          <p:cNvPr id="38" name="Text 36"/>
          <p:cNvSpPr/>
          <p:nvPr/>
        </p:nvSpPr>
        <p:spPr>
          <a:xfrm>
            <a:off x="3493008" y="2450592"/>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Index two columns at once</a:t>
            </a:r>
            <a:endParaRPr lang="en-US" sz="950" dirty="0"/>
          </a:p>
        </p:txBody>
      </p:sp>
      <p:sp>
        <p:nvSpPr>
          <p:cNvPr id="39" name="Text 37"/>
          <p:cNvSpPr/>
          <p:nvPr/>
        </p:nvSpPr>
        <p:spPr>
          <a:xfrm>
            <a:off x="3493008" y="2682850"/>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CREATE INDEX idx_city_date</a:t>
            </a:r>
            <a:endParaRPr lang="en-US" sz="950" dirty="0"/>
          </a:p>
        </p:txBody>
      </p:sp>
      <p:sp>
        <p:nvSpPr>
          <p:cNvPr id="40" name="Text 38"/>
          <p:cNvSpPr/>
          <p:nvPr/>
        </p:nvSpPr>
        <p:spPr>
          <a:xfrm>
            <a:off x="3493008" y="2915107"/>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ON orders (city, order_date);</a:t>
            </a:r>
            <a:endParaRPr lang="en-US" sz="950" dirty="0"/>
          </a:p>
        </p:txBody>
      </p:sp>
      <p:sp>
        <p:nvSpPr>
          <p:cNvPr id="41" name="Text 39"/>
          <p:cNvSpPr/>
          <p:nvPr/>
        </p:nvSpPr>
        <p:spPr>
          <a:xfrm>
            <a:off x="3493008" y="3147365"/>
            <a:ext cx="2450592" cy="219456"/>
          </a:xfrm>
          <a:prstGeom prst="rect">
            <a:avLst/>
          </a:prstGeom>
          <a:noFill/>
          <a:ln/>
        </p:spPr>
        <p:txBody>
          <a:bodyPr wrap="square" lIns="0" tIns="0" rIns="0" bIns="0" rtlCol="0" anchor="ctr"/>
          <a:lstStyle/>
          <a:p>
            <a:pPr marL="0" indent="0">
              <a:buNone/>
            </a:pPr>
            <a:endParaRPr lang="en-US" sz="950" dirty="0"/>
          </a:p>
        </p:txBody>
      </p:sp>
      <p:sp>
        <p:nvSpPr>
          <p:cNvPr id="42" name="Text 40"/>
          <p:cNvSpPr/>
          <p:nvPr/>
        </p:nvSpPr>
        <p:spPr>
          <a:xfrm>
            <a:off x="3493008" y="3379622"/>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Fast for:</a:t>
            </a:r>
            <a:endParaRPr lang="en-US" sz="950" dirty="0"/>
          </a:p>
        </p:txBody>
      </p:sp>
      <p:sp>
        <p:nvSpPr>
          <p:cNvPr id="43" name="Text 41"/>
          <p:cNvSpPr/>
          <p:nvPr/>
        </p:nvSpPr>
        <p:spPr>
          <a:xfrm>
            <a:off x="3493008" y="3611880"/>
            <a:ext cx="2450592" cy="219456"/>
          </a:xfrm>
          <a:prstGeom prst="rect">
            <a:avLst/>
          </a:prstGeom>
          <a:noFill/>
          <a:ln/>
        </p:spPr>
        <p:txBody>
          <a:bodyPr wrap="square" lIns="0" tIns="0" rIns="0" bIns="0" rtlCol="0" anchor="ctr"/>
          <a:lstStyle/>
          <a:p>
            <a:pPr marL="0" indent="0">
              <a:buNone/>
            </a:pPr>
            <a:r>
              <a:rPr lang="en-US" sz="950" dirty="0">
                <a:solidFill>
                  <a:srgbClr val="6EE7B7"/>
                </a:solidFill>
                <a:latin typeface="Consolas" pitchFamily="34" charset="0"/>
                <a:ea typeface="Consolas" pitchFamily="34" charset="-122"/>
                <a:cs typeface="Consolas" pitchFamily="34" charset="-120"/>
              </a:rPr>
              <a:t>WHERE city = 'Kathmandu'</a:t>
            </a:r>
            <a:endParaRPr lang="en-US" sz="950" dirty="0"/>
          </a:p>
        </p:txBody>
      </p:sp>
      <p:sp>
        <p:nvSpPr>
          <p:cNvPr id="44" name="Text 42"/>
          <p:cNvSpPr/>
          <p:nvPr/>
        </p:nvSpPr>
        <p:spPr>
          <a:xfrm>
            <a:off x="3493008" y="3844138"/>
            <a:ext cx="2450592" cy="219456"/>
          </a:xfrm>
          <a:prstGeom prst="rect">
            <a:avLst/>
          </a:prstGeom>
          <a:noFill/>
          <a:ln/>
        </p:spPr>
        <p:txBody>
          <a:bodyPr wrap="square" lIns="0" tIns="0" rIns="0" bIns="0" rtlCol="0" anchor="ctr"/>
          <a:lstStyle/>
          <a:p>
            <a:pPr marL="0" indent="0">
              <a:buNone/>
            </a:pPr>
            <a:r>
              <a:rPr lang="en-US" sz="950" dirty="0">
                <a:solidFill>
                  <a:srgbClr val="6EE7B7"/>
                </a:solidFill>
                <a:latin typeface="Consolas" pitchFamily="34" charset="0"/>
                <a:ea typeface="Consolas" pitchFamily="34" charset="-122"/>
                <a:cs typeface="Consolas" pitchFamily="34" charset="-120"/>
              </a:rPr>
              <a:t>AND order_date &gt; '2024-01-01';</a:t>
            </a:r>
            <a:endParaRPr lang="en-US" sz="950" dirty="0"/>
          </a:p>
        </p:txBody>
      </p:sp>
      <p:sp>
        <p:nvSpPr>
          <p:cNvPr id="45" name="Shape 43"/>
          <p:cNvSpPr/>
          <p:nvPr/>
        </p:nvSpPr>
        <p:spPr>
          <a:xfrm>
            <a:off x="6163056" y="1353312"/>
            <a:ext cx="2743200" cy="3273552"/>
          </a:xfrm>
          <a:prstGeom prst="rect">
            <a:avLst/>
          </a:prstGeom>
          <a:solidFill>
            <a:srgbClr val="FFFFFF"/>
          </a:solidFill>
          <a:ln w="12700">
            <a:solidFill>
              <a:srgbClr val="DC2626"/>
            </a:solidFill>
            <a:prstDash val="solid"/>
          </a:ln>
        </p:spPr>
        <p:txBody>
          <a:bodyPr/>
          <a:lstStyle/>
          <a:p>
            <a:endParaRPr lang="en-US"/>
          </a:p>
        </p:txBody>
      </p:sp>
      <p:sp>
        <p:nvSpPr>
          <p:cNvPr id="46" name="Shape 44"/>
          <p:cNvSpPr/>
          <p:nvPr/>
        </p:nvSpPr>
        <p:spPr>
          <a:xfrm>
            <a:off x="6163056" y="1353312"/>
            <a:ext cx="2743200" cy="457200"/>
          </a:xfrm>
          <a:prstGeom prst="rect">
            <a:avLst/>
          </a:prstGeom>
          <a:solidFill>
            <a:srgbClr val="DC2626"/>
          </a:solidFill>
          <a:ln w="12700">
            <a:solidFill>
              <a:srgbClr val="DC2626"/>
            </a:solidFill>
            <a:prstDash val="solid"/>
          </a:ln>
        </p:spPr>
        <p:txBody>
          <a:bodyPr/>
          <a:lstStyle/>
          <a:p>
            <a:endParaRPr lang="en-US"/>
          </a:p>
        </p:txBody>
      </p:sp>
      <p:sp>
        <p:nvSpPr>
          <p:cNvPr id="47" name="Shape 45"/>
          <p:cNvSpPr/>
          <p:nvPr/>
        </p:nvSpPr>
        <p:spPr>
          <a:xfrm>
            <a:off x="6254496" y="1417320"/>
            <a:ext cx="329184" cy="329184"/>
          </a:xfrm>
          <a:prstGeom prst="ellipse">
            <a:avLst/>
          </a:prstGeom>
          <a:solidFill>
            <a:srgbClr val="FFFFFF"/>
          </a:solidFill>
          <a:ln w="12700">
            <a:solidFill>
              <a:srgbClr val="FFFFFF"/>
            </a:solidFill>
            <a:prstDash val="solid"/>
          </a:ln>
        </p:spPr>
        <p:txBody>
          <a:bodyPr/>
          <a:lstStyle/>
          <a:p>
            <a:endParaRPr lang="en-US"/>
          </a:p>
        </p:txBody>
      </p:sp>
      <p:sp>
        <p:nvSpPr>
          <p:cNvPr id="48" name="Text 46"/>
          <p:cNvSpPr/>
          <p:nvPr/>
        </p:nvSpPr>
        <p:spPr>
          <a:xfrm>
            <a:off x="6254496" y="1417320"/>
            <a:ext cx="329184" cy="329184"/>
          </a:xfrm>
          <a:prstGeom prst="rect">
            <a:avLst/>
          </a:prstGeom>
          <a:noFill/>
          <a:ln/>
        </p:spPr>
        <p:txBody>
          <a:bodyPr wrap="square" lIns="0" tIns="0" rIns="0" bIns="0" rtlCol="0" anchor="ctr"/>
          <a:lstStyle/>
          <a:p>
            <a:pPr marL="0" indent="0" algn="ctr">
              <a:buNone/>
            </a:pPr>
            <a:r>
              <a:rPr lang="en-US" sz="1400" b="1" dirty="0">
                <a:solidFill>
                  <a:srgbClr val="DC2626"/>
                </a:solidFill>
                <a:latin typeface="Calibri" pitchFamily="34" charset="0"/>
                <a:ea typeface="Calibri" pitchFamily="34" charset="-122"/>
                <a:cs typeface="Calibri" pitchFamily="34" charset="-120"/>
              </a:rPr>
              <a:t>3</a:t>
            </a:r>
            <a:endParaRPr lang="en-US" sz="1400" dirty="0"/>
          </a:p>
        </p:txBody>
      </p:sp>
      <p:sp>
        <p:nvSpPr>
          <p:cNvPr id="49" name="Text 47"/>
          <p:cNvSpPr/>
          <p:nvPr/>
        </p:nvSpPr>
        <p:spPr>
          <a:xfrm>
            <a:off x="6656832" y="1435608"/>
            <a:ext cx="2176272" cy="29260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Remove an Index</a:t>
            </a:r>
            <a:endParaRPr lang="en-US" sz="1200" dirty="0"/>
          </a:p>
        </p:txBody>
      </p:sp>
      <p:sp>
        <p:nvSpPr>
          <p:cNvPr id="50" name="Text 48"/>
          <p:cNvSpPr/>
          <p:nvPr/>
        </p:nvSpPr>
        <p:spPr>
          <a:xfrm>
            <a:off x="6272784" y="1865376"/>
            <a:ext cx="2542032" cy="475488"/>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Drop an index you no longer need.</a:t>
            </a:r>
            <a:endParaRPr lang="en-US" sz="1050" dirty="0"/>
          </a:p>
          <a:p>
            <a:pPr marL="0" indent="0">
              <a:buNone/>
            </a:pPr>
            <a:r>
              <a:rPr lang="en-US" sz="1050" dirty="0">
                <a:solidFill>
                  <a:srgbClr val="334155"/>
                </a:solidFill>
                <a:latin typeface="Calibri" pitchFamily="34" charset="0"/>
                <a:ea typeface="Calibri" pitchFamily="34" charset="-122"/>
                <a:cs typeface="Calibri" pitchFamily="34" charset="-120"/>
              </a:rPr>
              <a:t>Indexes slow down INSERT/UPDATE — remove unused ones.</a:t>
            </a:r>
            <a:endParaRPr lang="en-US" sz="1050" dirty="0"/>
          </a:p>
        </p:txBody>
      </p:sp>
      <p:sp>
        <p:nvSpPr>
          <p:cNvPr id="51" name="Shape 49"/>
          <p:cNvSpPr/>
          <p:nvPr/>
        </p:nvSpPr>
        <p:spPr>
          <a:xfrm>
            <a:off x="6254496" y="2377440"/>
            <a:ext cx="2578608" cy="1719072"/>
          </a:xfrm>
          <a:prstGeom prst="rect">
            <a:avLst/>
          </a:prstGeom>
          <a:solidFill>
            <a:srgbClr val="1E293B"/>
          </a:solidFill>
          <a:ln w="12700">
            <a:solidFill>
              <a:srgbClr val="334155"/>
            </a:solidFill>
            <a:prstDash val="solid"/>
          </a:ln>
        </p:spPr>
        <p:txBody>
          <a:bodyPr/>
          <a:lstStyle/>
          <a:p>
            <a:endParaRPr lang="en-US"/>
          </a:p>
        </p:txBody>
      </p:sp>
      <p:sp>
        <p:nvSpPr>
          <p:cNvPr id="52" name="Text 50"/>
          <p:cNvSpPr/>
          <p:nvPr/>
        </p:nvSpPr>
        <p:spPr>
          <a:xfrm>
            <a:off x="6345936" y="2450592"/>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Check existing indexes</a:t>
            </a:r>
            <a:endParaRPr lang="en-US" sz="950" dirty="0"/>
          </a:p>
        </p:txBody>
      </p:sp>
      <p:sp>
        <p:nvSpPr>
          <p:cNvPr id="53" name="Text 51"/>
          <p:cNvSpPr/>
          <p:nvPr/>
        </p:nvSpPr>
        <p:spPr>
          <a:xfrm>
            <a:off x="6345936" y="2682850"/>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\d orders</a:t>
            </a:r>
            <a:endParaRPr lang="en-US" sz="950" dirty="0"/>
          </a:p>
        </p:txBody>
      </p:sp>
      <p:sp>
        <p:nvSpPr>
          <p:cNvPr id="54" name="Text 52"/>
          <p:cNvSpPr/>
          <p:nvPr/>
        </p:nvSpPr>
        <p:spPr>
          <a:xfrm>
            <a:off x="6345936" y="2915107"/>
            <a:ext cx="2450592" cy="219456"/>
          </a:xfrm>
          <a:prstGeom prst="rect">
            <a:avLst/>
          </a:prstGeom>
          <a:noFill/>
          <a:ln/>
        </p:spPr>
        <p:txBody>
          <a:bodyPr wrap="square" lIns="0" tIns="0" rIns="0" bIns="0" rtlCol="0" anchor="ctr"/>
          <a:lstStyle/>
          <a:p>
            <a:pPr marL="0" indent="0">
              <a:buNone/>
            </a:pPr>
            <a:endParaRPr lang="en-US" sz="950" dirty="0"/>
          </a:p>
        </p:txBody>
      </p:sp>
      <p:sp>
        <p:nvSpPr>
          <p:cNvPr id="55" name="Text 53"/>
          <p:cNvSpPr/>
          <p:nvPr/>
        </p:nvSpPr>
        <p:spPr>
          <a:xfrm>
            <a:off x="6345936" y="3147365"/>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Remove an index</a:t>
            </a:r>
            <a:endParaRPr lang="en-US" sz="950" dirty="0"/>
          </a:p>
        </p:txBody>
      </p:sp>
      <p:sp>
        <p:nvSpPr>
          <p:cNvPr id="56" name="Text 54"/>
          <p:cNvSpPr/>
          <p:nvPr/>
        </p:nvSpPr>
        <p:spPr>
          <a:xfrm>
            <a:off x="6345936" y="3379622"/>
            <a:ext cx="2450592" cy="219456"/>
          </a:xfrm>
          <a:prstGeom prst="rect">
            <a:avLst/>
          </a:prstGeom>
          <a:noFill/>
          <a:ln/>
        </p:spPr>
        <p:txBody>
          <a:bodyPr wrap="square" lIns="0" tIns="0" rIns="0" bIns="0" rtlCol="0" anchor="ctr"/>
          <a:lstStyle/>
          <a:p>
            <a:pPr marL="0" indent="0">
              <a:buNone/>
            </a:pPr>
            <a:r>
              <a:rPr lang="en-US" sz="950" dirty="0">
                <a:solidFill>
                  <a:srgbClr val="93C5FD"/>
                </a:solidFill>
                <a:latin typeface="Consolas" pitchFamily="34" charset="0"/>
                <a:ea typeface="Consolas" pitchFamily="34" charset="-122"/>
                <a:cs typeface="Consolas" pitchFamily="34" charset="-120"/>
              </a:rPr>
              <a:t>DROP INDEX idx_status;</a:t>
            </a:r>
            <a:endParaRPr lang="en-US" sz="950" dirty="0"/>
          </a:p>
        </p:txBody>
      </p:sp>
      <p:sp>
        <p:nvSpPr>
          <p:cNvPr id="57" name="Text 55"/>
          <p:cNvSpPr/>
          <p:nvPr/>
        </p:nvSpPr>
        <p:spPr>
          <a:xfrm>
            <a:off x="6345936" y="3611880"/>
            <a:ext cx="2450592" cy="219456"/>
          </a:xfrm>
          <a:prstGeom prst="rect">
            <a:avLst/>
          </a:prstGeom>
          <a:noFill/>
          <a:ln/>
        </p:spPr>
        <p:txBody>
          <a:bodyPr wrap="square" lIns="0" tIns="0" rIns="0" bIns="0" rtlCol="0" anchor="ctr"/>
          <a:lstStyle/>
          <a:p>
            <a:pPr marL="0" indent="0">
              <a:buNone/>
            </a:pPr>
            <a:endParaRPr lang="en-US" sz="950" dirty="0"/>
          </a:p>
        </p:txBody>
      </p:sp>
      <p:sp>
        <p:nvSpPr>
          <p:cNvPr id="58" name="Text 56"/>
          <p:cNvSpPr/>
          <p:nvPr/>
        </p:nvSpPr>
        <p:spPr>
          <a:xfrm>
            <a:off x="6345936" y="3844138"/>
            <a:ext cx="2450592" cy="219456"/>
          </a:xfrm>
          <a:prstGeom prst="rect">
            <a:avLst/>
          </a:prstGeom>
          <a:noFill/>
          <a:ln/>
        </p:spPr>
        <p:txBody>
          <a:bodyPr wrap="square" lIns="0" tIns="0" rIns="0" bIns="0" rtlCol="0" anchor="ctr"/>
          <a:lstStyle/>
          <a:p>
            <a:pPr marL="0" indent="0">
              <a:buNone/>
            </a:pPr>
            <a:r>
              <a:rPr lang="en-US" sz="950" dirty="0">
                <a:solidFill>
                  <a:srgbClr val="64748B"/>
                </a:solidFill>
                <a:latin typeface="Consolas" pitchFamily="34" charset="0"/>
                <a:ea typeface="Consolas" pitchFamily="34" charset="-122"/>
                <a:cs typeface="Consolas" pitchFamily="34" charset="-120"/>
              </a:rPr>
              <a:t>-- Table data is NOT affected</a:t>
            </a:r>
            <a:endParaRPr lang="en-US" sz="950" dirty="0"/>
          </a:p>
        </p:txBody>
      </p:sp>
      <p:sp>
        <p:nvSpPr>
          <p:cNvPr id="59" name="Shape 57"/>
          <p:cNvSpPr/>
          <p:nvPr/>
        </p:nvSpPr>
        <p:spPr>
          <a:xfrm>
            <a:off x="457200" y="4700016"/>
            <a:ext cx="8229600" cy="347472"/>
          </a:xfrm>
          <a:prstGeom prst="rect">
            <a:avLst/>
          </a:prstGeom>
          <a:solidFill>
            <a:srgbClr val="1E293B"/>
          </a:solidFill>
          <a:ln w="12700">
            <a:solidFill>
              <a:srgbClr val="1E293B"/>
            </a:solidFill>
            <a:prstDash val="solid"/>
          </a:ln>
        </p:spPr>
        <p:txBody>
          <a:bodyPr/>
          <a:lstStyle/>
          <a:p>
            <a:endParaRPr lang="en-US"/>
          </a:p>
        </p:txBody>
      </p:sp>
      <p:sp>
        <p:nvSpPr>
          <p:cNvPr id="60" name="Text 58"/>
          <p:cNvSpPr/>
          <p:nvPr/>
        </p:nvSpPr>
        <p:spPr>
          <a:xfrm>
            <a:off x="548640" y="4727448"/>
            <a:ext cx="8046720" cy="292608"/>
          </a:xfrm>
          <a:prstGeom prst="rect">
            <a:avLst/>
          </a:prstGeom>
          <a:noFill/>
          <a:ln/>
        </p:spPr>
        <p:txBody>
          <a:bodyPr wrap="square" rtlCol="0" anchor="ctr"/>
          <a:lstStyle/>
          <a:p>
            <a:pPr marL="0" indent="0">
              <a:buNone/>
            </a:pPr>
            <a:r>
              <a:rPr lang="en-US" sz="1200" b="1" dirty="0">
                <a:solidFill>
                  <a:srgbClr val="6EE7B7"/>
                </a:solidFill>
                <a:latin typeface="Calibri" pitchFamily="34" charset="0"/>
                <a:ea typeface="Calibri" pitchFamily="34" charset="-122"/>
                <a:cs typeface="Calibri" pitchFamily="34" charset="-120"/>
              </a:rPr>
              <a:t>Remember:  </a:t>
            </a:r>
            <a:r>
              <a:rPr lang="en-US" sz="1200" dirty="0">
                <a:solidFill>
                  <a:srgbClr val="FFFFFF"/>
                </a:solidFill>
                <a:latin typeface="Calibri" pitchFamily="34" charset="0"/>
                <a:ea typeface="Calibri" pitchFamily="34" charset="-122"/>
                <a:cs typeface="Calibri" pitchFamily="34" charset="-120"/>
              </a:rPr>
              <a:t>Indexes make </a:t>
            </a:r>
            <a:r>
              <a:rPr lang="en-US" sz="1200" b="1" dirty="0">
                <a:solidFill>
                  <a:srgbClr val="93C5FD"/>
                </a:solidFill>
                <a:latin typeface="Calibri" pitchFamily="34" charset="0"/>
                <a:ea typeface="Calibri" pitchFamily="34" charset="-122"/>
                <a:cs typeface="Calibri" pitchFamily="34" charset="-120"/>
              </a:rPr>
              <a:t>SELECT queries fast</a:t>
            </a:r>
            <a:r>
              <a:rPr lang="en-US" sz="1200" dirty="0">
                <a:solidFill>
                  <a:srgbClr val="FFFFFF"/>
                </a:solidFill>
                <a:latin typeface="Calibri" pitchFamily="34" charset="0"/>
                <a:ea typeface="Calibri" pitchFamily="34" charset="-122"/>
                <a:cs typeface="Calibri" pitchFamily="34" charset="-120"/>
              </a:rPr>
              <a:t> but make </a:t>
            </a:r>
            <a:r>
              <a:rPr lang="en-US" sz="1200" b="1" dirty="0">
                <a:solidFill>
                  <a:srgbClr val="FCA5A5"/>
                </a:solidFill>
                <a:latin typeface="Calibri" pitchFamily="34" charset="0"/>
                <a:ea typeface="Calibri" pitchFamily="34" charset="-122"/>
                <a:cs typeface="Calibri" pitchFamily="34" charset="-120"/>
              </a:rPr>
              <a:t>INSERT / UPDATE slightly slower</a:t>
            </a:r>
            <a:r>
              <a:rPr lang="en-US" sz="1200" dirty="0">
                <a:solidFill>
                  <a:srgbClr val="FFFFFF"/>
                </a:solidFill>
                <a:latin typeface="Calibri" pitchFamily="34" charset="0"/>
                <a:ea typeface="Calibri" pitchFamily="34" charset="-122"/>
                <a:cs typeface="Calibri" pitchFamily="34" charset="-120"/>
              </a:rPr>
              <a:t> — only index columns you actually search 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64592"/>
            <a:ext cx="8229600" cy="502920"/>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When Should You Create an Index?</a:t>
            </a:r>
            <a:endParaRPr lang="en-US" sz="3600" dirty="0"/>
          </a:p>
        </p:txBody>
      </p:sp>
      <p:sp>
        <p:nvSpPr>
          <p:cNvPr id="3" name="Text 1"/>
          <p:cNvSpPr/>
          <p:nvPr/>
        </p:nvSpPr>
        <p:spPr>
          <a:xfrm>
            <a:off x="457200" y="694944"/>
            <a:ext cx="8229600" cy="256032"/>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Simple rule: index columns you search on often — but not every column</a:t>
            </a:r>
            <a:endParaRPr lang="en-US" sz="1300" dirty="0"/>
          </a:p>
        </p:txBody>
      </p:sp>
      <p:sp>
        <p:nvSpPr>
          <p:cNvPr id="4" name="Shape 2"/>
          <p:cNvSpPr/>
          <p:nvPr/>
        </p:nvSpPr>
        <p:spPr>
          <a:xfrm>
            <a:off x="457200" y="1024128"/>
            <a:ext cx="3977640" cy="384048"/>
          </a:xfrm>
          <a:prstGeom prst="rect">
            <a:avLst/>
          </a:prstGeom>
          <a:solidFill>
            <a:srgbClr val="059669"/>
          </a:solidFill>
          <a:ln w="12700">
            <a:solidFill>
              <a:srgbClr val="059669"/>
            </a:solidFill>
            <a:prstDash val="solid"/>
          </a:ln>
        </p:spPr>
        <p:txBody>
          <a:bodyPr/>
          <a:lstStyle/>
          <a:p>
            <a:endParaRPr lang="en-US"/>
          </a:p>
        </p:txBody>
      </p:sp>
      <p:sp>
        <p:nvSpPr>
          <p:cNvPr id="5" name="Text 3"/>
          <p:cNvSpPr/>
          <p:nvPr/>
        </p:nvSpPr>
        <p:spPr>
          <a:xfrm>
            <a:off x="457200" y="1024128"/>
            <a:ext cx="3977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Create an Index when...</a:t>
            </a:r>
            <a:endParaRPr lang="en-US" sz="1400" dirty="0"/>
          </a:p>
        </p:txBody>
      </p:sp>
      <p:sp>
        <p:nvSpPr>
          <p:cNvPr id="6" name="Shape 4"/>
          <p:cNvSpPr/>
          <p:nvPr/>
        </p:nvSpPr>
        <p:spPr>
          <a:xfrm>
            <a:off x="457200" y="1499616"/>
            <a:ext cx="3977640" cy="1005840"/>
          </a:xfrm>
          <a:prstGeom prst="rect">
            <a:avLst/>
          </a:prstGeom>
          <a:solidFill>
            <a:srgbClr val="D1FAE5"/>
          </a:solidFill>
          <a:ln w="12700">
            <a:solidFill>
              <a:srgbClr val="059669"/>
            </a:solidFill>
            <a:prstDash val="solid"/>
          </a:ln>
        </p:spPr>
        <p:txBody>
          <a:bodyPr/>
          <a:lstStyle/>
          <a:p>
            <a:endParaRPr lang="en-US"/>
          </a:p>
        </p:txBody>
      </p:sp>
      <p:sp>
        <p:nvSpPr>
          <p:cNvPr id="7" name="Shape 5"/>
          <p:cNvSpPr/>
          <p:nvPr/>
        </p:nvSpPr>
        <p:spPr>
          <a:xfrm>
            <a:off x="457200" y="1499616"/>
            <a:ext cx="54864" cy="1005840"/>
          </a:xfrm>
          <a:prstGeom prst="rect">
            <a:avLst/>
          </a:prstGeom>
          <a:solidFill>
            <a:srgbClr val="059669"/>
          </a:solidFill>
          <a:ln w="12700">
            <a:solidFill>
              <a:srgbClr val="059669"/>
            </a:solidFill>
            <a:prstDash val="solid"/>
          </a:ln>
        </p:spPr>
        <p:txBody>
          <a:bodyPr/>
          <a:lstStyle/>
          <a:p>
            <a:endParaRPr lang="en-US"/>
          </a:p>
        </p:txBody>
      </p:sp>
      <p:sp>
        <p:nvSpPr>
          <p:cNvPr id="8" name="Text 6"/>
          <p:cNvSpPr/>
          <p:nvPr/>
        </p:nvSpPr>
        <p:spPr>
          <a:xfrm>
            <a:off x="603504" y="1563624"/>
            <a:ext cx="3749040" cy="219456"/>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Column used in WHERE</a:t>
            </a:r>
            <a:endParaRPr lang="en-US" sz="1200" dirty="0"/>
          </a:p>
        </p:txBody>
      </p:sp>
      <p:sp>
        <p:nvSpPr>
          <p:cNvPr id="9" name="Text 7"/>
          <p:cNvSpPr/>
          <p:nvPr/>
        </p:nvSpPr>
        <p:spPr>
          <a:xfrm>
            <a:off x="603504" y="1783080"/>
            <a:ext cx="3749040" cy="182880"/>
          </a:xfrm>
          <a:prstGeom prst="rect">
            <a:avLst/>
          </a:prstGeom>
          <a:noFill/>
          <a:ln/>
        </p:spPr>
        <p:txBody>
          <a:bodyPr wrap="square"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You filter by this column in most queries</a:t>
            </a:r>
            <a:endParaRPr lang="en-US" sz="1000" dirty="0"/>
          </a:p>
        </p:txBody>
      </p:sp>
      <p:sp>
        <p:nvSpPr>
          <p:cNvPr id="10" name="Shape 8"/>
          <p:cNvSpPr/>
          <p:nvPr/>
        </p:nvSpPr>
        <p:spPr>
          <a:xfrm>
            <a:off x="548640" y="1993392"/>
            <a:ext cx="3822192" cy="420624"/>
          </a:xfrm>
          <a:prstGeom prst="rect">
            <a:avLst/>
          </a:prstGeom>
          <a:solidFill>
            <a:srgbClr val="1E293B"/>
          </a:solidFill>
          <a:ln w="12700">
            <a:solidFill>
              <a:srgbClr val="334155"/>
            </a:solidFill>
            <a:prstDash val="solid"/>
          </a:ln>
        </p:spPr>
        <p:txBody>
          <a:bodyPr/>
          <a:lstStyle/>
          <a:p>
            <a:endParaRPr lang="en-US"/>
          </a:p>
        </p:txBody>
      </p:sp>
      <p:sp>
        <p:nvSpPr>
          <p:cNvPr id="11" name="Text 9"/>
          <p:cNvSpPr/>
          <p:nvPr/>
        </p:nvSpPr>
        <p:spPr>
          <a:xfrm>
            <a:off x="640080" y="2066544"/>
            <a:ext cx="3657600" cy="274320"/>
          </a:xfrm>
          <a:prstGeom prst="rect">
            <a:avLst/>
          </a:prstGeom>
          <a:noFill/>
          <a:ln/>
        </p:spPr>
        <p:txBody>
          <a:bodyPr wrap="square" rtlCol="0" anchor="ctr"/>
          <a:lstStyle/>
          <a:p>
            <a:pPr marL="0" indent="0">
              <a:buNone/>
            </a:pPr>
            <a:r>
              <a:rPr lang="en-US" sz="950" dirty="0">
                <a:solidFill>
                  <a:srgbClr val="6EE7B7"/>
                </a:solidFill>
                <a:latin typeface="Consolas" pitchFamily="34" charset="0"/>
                <a:ea typeface="Consolas" pitchFamily="34" charset="-122"/>
                <a:cs typeface="Consolas" pitchFamily="34" charset="-120"/>
              </a:rPr>
              <a:t>CREATE INDEX idx_status ON orders (status);</a:t>
            </a:r>
            <a:endParaRPr lang="en-US" sz="950" dirty="0"/>
          </a:p>
        </p:txBody>
      </p:sp>
      <p:sp>
        <p:nvSpPr>
          <p:cNvPr id="12" name="Shape 10"/>
          <p:cNvSpPr/>
          <p:nvPr/>
        </p:nvSpPr>
        <p:spPr>
          <a:xfrm>
            <a:off x="457200" y="2578608"/>
            <a:ext cx="3977640" cy="1005840"/>
          </a:xfrm>
          <a:prstGeom prst="rect">
            <a:avLst/>
          </a:prstGeom>
          <a:solidFill>
            <a:srgbClr val="D1FAE5"/>
          </a:solidFill>
          <a:ln w="12700">
            <a:solidFill>
              <a:srgbClr val="059669"/>
            </a:solidFill>
            <a:prstDash val="solid"/>
          </a:ln>
        </p:spPr>
        <p:txBody>
          <a:bodyPr/>
          <a:lstStyle/>
          <a:p>
            <a:endParaRPr lang="en-US"/>
          </a:p>
        </p:txBody>
      </p:sp>
      <p:sp>
        <p:nvSpPr>
          <p:cNvPr id="13" name="Shape 11"/>
          <p:cNvSpPr/>
          <p:nvPr/>
        </p:nvSpPr>
        <p:spPr>
          <a:xfrm>
            <a:off x="457200" y="2578608"/>
            <a:ext cx="54864" cy="1005840"/>
          </a:xfrm>
          <a:prstGeom prst="rect">
            <a:avLst/>
          </a:prstGeom>
          <a:solidFill>
            <a:srgbClr val="059669"/>
          </a:solidFill>
          <a:ln w="12700">
            <a:solidFill>
              <a:srgbClr val="059669"/>
            </a:solidFill>
            <a:prstDash val="solid"/>
          </a:ln>
        </p:spPr>
        <p:txBody>
          <a:bodyPr/>
          <a:lstStyle/>
          <a:p>
            <a:endParaRPr lang="en-US"/>
          </a:p>
        </p:txBody>
      </p:sp>
      <p:sp>
        <p:nvSpPr>
          <p:cNvPr id="14" name="Text 12"/>
          <p:cNvSpPr/>
          <p:nvPr/>
        </p:nvSpPr>
        <p:spPr>
          <a:xfrm>
            <a:off x="603504" y="2642616"/>
            <a:ext cx="3749040" cy="219456"/>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Column used in JOIN</a:t>
            </a:r>
            <a:endParaRPr lang="en-US" sz="1200" dirty="0"/>
          </a:p>
        </p:txBody>
      </p:sp>
      <p:sp>
        <p:nvSpPr>
          <p:cNvPr id="15" name="Text 13"/>
          <p:cNvSpPr/>
          <p:nvPr/>
        </p:nvSpPr>
        <p:spPr>
          <a:xfrm>
            <a:off x="603504" y="2862072"/>
            <a:ext cx="3749040" cy="182880"/>
          </a:xfrm>
          <a:prstGeom prst="rect">
            <a:avLst/>
          </a:prstGeom>
          <a:noFill/>
          <a:ln/>
        </p:spPr>
        <p:txBody>
          <a:bodyPr wrap="square"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FK columns in JOIN are the most common index</a:t>
            </a:r>
            <a:endParaRPr lang="en-US" sz="1000" dirty="0"/>
          </a:p>
        </p:txBody>
      </p:sp>
      <p:sp>
        <p:nvSpPr>
          <p:cNvPr id="16" name="Shape 14"/>
          <p:cNvSpPr/>
          <p:nvPr/>
        </p:nvSpPr>
        <p:spPr>
          <a:xfrm>
            <a:off x="548640" y="3072384"/>
            <a:ext cx="3822192" cy="420624"/>
          </a:xfrm>
          <a:prstGeom prst="rect">
            <a:avLst/>
          </a:prstGeom>
          <a:solidFill>
            <a:srgbClr val="1E293B"/>
          </a:solidFill>
          <a:ln w="12700">
            <a:solidFill>
              <a:srgbClr val="334155"/>
            </a:solidFill>
            <a:prstDash val="solid"/>
          </a:ln>
        </p:spPr>
        <p:txBody>
          <a:bodyPr/>
          <a:lstStyle/>
          <a:p>
            <a:endParaRPr lang="en-US"/>
          </a:p>
        </p:txBody>
      </p:sp>
      <p:sp>
        <p:nvSpPr>
          <p:cNvPr id="17" name="Text 15"/>
          <p:cNvSpPr/>
          <p:nvPr/>
        </p:nvSpPr>
        <p:spPr>
          <a:xfrm>
            <a:off x="640080" y="3145536"/>
            <a:ext cx="3657600" cy="274320"/>
          </a:xfrm>
          <a:prstGeom prst="rect">
            <a:avLst/>
          </a:prstGeom>
          <a:noFill/>
          <a:ln/>
        </p:spPr>
        <p:txBody>
          <a:bodyPr wrap="square" rtlCol="0" anchor="ctr"/>
          <a:lstStyle/>
          <a:p>
            <a:pPr marL="0" indent="0">
              <a:buNone/>
            </a:pPr>
            <a:r>
              <a:rPr lang="en-US" sz="950" dirty="0">
                <a:solidFill>
                  <a:srgbClr val="6EE7B7"/>
                </a:solidFill>
                <a:latin typeface="Consolas" pitchFamily="34" charset="0"/>
                <a:ea typeface="Consolas" pitchFamily="34" charset="-122"/>
                <a:cs typeface="Consolas" pitchFamily="34" charset="-120"/>
              </a:rPr>
              <a:t>CREATE INDEX idx_cust ON orders (customer_id);</a:t>
            </a:r>
            <a:endParaRPr lang="en-US" sz="950" dirty="0"/>
          </a:p>
        </p:txBody>
      </p:sp>
      <p:sp>
        <p:nvSpPr>
          <p:cNvPr id="18" name="Shape 16"/>
          <p:cNvSpPr/>
          <p:nvPr/>
        </p:nvSpPr>
        <p:spPr>
          <a:xfrm>
            <a:off x="457200" y="3657600"/>
            <a:ext cx="3977640" cy="1005840"/>
          </a:xfrm>
          <a:prstGeom prst="rect">
            <a:avLst/>
          </a:prstGeom>
          <a:solidFill>
            <a:srgbClr val="D1FAE5"/>
          </a:solidFill>
          <a:ln w="12700">
            <a:solidFill>
              <a:srgbClr val="059669"/>
            </a:solidFill>
            <a:prstDash val="solid"/>
          </a:ln>
        </p:spPr>
        <p:txBody>
          <a:bodyPr/>
          <a:lstStyle/>
          <a:p>
            <a:endParaRPr lang="en-US"/>
          </a:p>
        </p:txBody>
      </p:sp>
      <p:sp>
        <p:nvSpPr>
          <p:cNvPr id="19" name="Shape 17"/>
          <p:cNvSpPr/>
          <p:nvPr/>
        </p:nvSpPr>
        <p:spPr>
          <a:xfrm>
            <a:off x="457200" y="3657600"/>
            <a:ext cx="54864" cy="1005840"/>
          </a:xfrm>
          <a:prstGeom prst="rect">
            <a:avLst/>
          </a:prstGeom>
          <a:solidFill>
            <a:srgbClr val="059669"/>
          </a:solidFill>
          <a:ln w="12700">
            <a:solidFill>
              <a:srgbClr val="059669"/>
            </a:solidFill>
            <a:prstDash val="solid"/>
          </a:ln>
        </p:spPr>
        <p:txBody>
          <a:bodyPr/>
          <a:lstStyle/>
          <a:p>
            <a:endParaRPr lang="en-US"/>
          </a:p>
        </p:txBody>
      </p:sp>
      <p:sp>
        <p:nvSpPr>
          <p:cNvPr id="20" name="Text 18"/>
          <p:cNvSpPr/>
          <p:nvPr/>
        </p:nvSpPr>
        <p:spPr>
          <a:xfrm>
            <a:off x="603504" y="3721608"/>
            <a:ext cx="3749040" cy="219456"/>
          </a:xfrm>
          <a:prstGeom prst="rect">
            <a:avLst/>
          </a:prstGeom>
          <a:noFill/>
          <a:ln/>
        </p:spPr>
        <p:txBody>
          <a:bodyPr wrap="square" lIns="0" tIns="0" rIns="0" bIns="0" rtlCol="0" anchor="ctr"/>
          <a:lstStyle/>
          <a:p>
            <a:pPr marL="0" indent="0">
              <a:buNone/>
            </a:pPr>
            <a:r>
              <a:rPr lang="en-US" sz="1200" b="1" dirty="0">
                <a:solidFill>
                  <a:srgbClr val="059669"/>
                </a:solidFill>
                <a:latin typeface="Calibri" pitchFamily="34" charset="0"/>
                <a:ea typeface="Calibri" pitchFamily="34" charset="-122"/>
                <a:cs typeface="Calibri" pitchFamily="34" charset="-120"/>
              </a:rPr>
              <a:t>Column used in ORDER BY</a:t>
            </a:r>
            <a:endParaRPr lang="en-US" sz="1200" dirty="0"/>
          </a:p>
        </p:txBody>
      </p:sp>
      <p:sp>
        <p:nvSpPr>
          <p:cNvPr id="21" name="Text 19"/>
          <p:cNvSpPr/>
          <p:nvPr/>
        </p:nvSpPr>
        <p:spPr>
          <a:xfrm>
            <a:off x="603504" y="3941064"/>
            <a:ext cx="3749040" cy="182880"/>
          </a:xfrm>
          <a:prstGeom prst="rect">
            <a:avLst/>
          </a:prstGeom>
          <a:noFill/>
          <a:ln/>
        </p:spPr>
        <p:txBody>
          <a:bodyPr wrap="square"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Sorting is slow without an index on that column</a:t>
            </a:r>
            <a:endParaRPr lang="en-US" sz="1000" dirty="0"/>
          </a:p>
        </p:txBody>
      </p:sp>
      <p:sp>
        <p:nvSpPr>
          <p:cNvPr id="22" name="Shape 20"/>
          <p:cNvSpPr/>
          <p:nvPr/>
        </p:nvSpPr>
        <p:spPr>
          <a:xfrm>
            <a:off x="548640" y="4151376"/>
            <a:ext cx="3822192" cy="420624"/>
          </a:xfrm>
          <a:prstGeom prst="rect">
            <a:avLst/>
          </a:prstGeom>
          <a:solidFill>
            <a:srgbClr val="1E293B"/>
          </a:solidFill>
          <a:ln w="12700">
            <a:solidFill>
              <a:srgbClr val="334155"/>
            </a:solidFill>
            <a:prstDash val="solid"/>
          </a:ln>
        </p:spPr>
        <p:txBody>
          <a:bodyPr/>
          <a:lstStyle/>
          <a:p>
            <a:endParaRPr lang="en-US"/>
          </a:p>
        </p:txBody>
      </p:sp>
      <p:sp>
        <p:nvSpPr>
          <p:cNvPr id="23" name="Text 21"/>
          <p:cNvSpPr/>
          <p:nvPr/>
        </p:nvSpPr>
        <p:spPr>
          <a:xfrm>
            <a:off x="640080" y="4224528"/>
            <a:ext cx="3657600" cy="274320"/>
          </a:xfrm>
          <a:prstGeom prst="rect">
            <a:avLst/>
          </a:prstGeom>
          <a:noFill/>
          <a:ln/>
        </p:spPr>
        <p:txBody>
          <a:bodyPr wrap="square" rtlCol="0" anchor="ctr"/>
          <a:lstStyle/>
          <a:p>
            <a:pPr marL="0" indent="0">
              <a:buNone/>
            </a:pPr>
            <a:r>
              <a:rPr lang="en-US" sz="950" dirty="0">
                <a:solidFill>
                  <a:srgbClr val="6EE7B7"/>
                </a:solidFill>
                <a:latin typeface="Consolas" pitchFamily="34" charset="0"/>
                <a:ea typeface="Consolas" pitchFamily="34" charset="-122"/>
                <a:cs typeface="Consolas" pitchFamily="34" charset="-120"/>
              </a:rPr>
              <a:t>CREATE INDEX idx_date ON orders (order_date);</a:t>
            </a:r>
            <a:endParaRPr lang="en-US" sz="950" dirty="0"/>
          </a:p>
        </p:txBody>
      </p:sp>
      <p:sp>
        <p:nvSpPr>
          <p:cNvPr id="24" name="Shape 22"/>
          <p:cNvSpPr/>
          <p:nvPr/>
        </p:nvSpPr>
        <p:spPr>
          <a:xfrm>
            <a:off x="4709160" y="1024128"/>
            <a:ext cx="3977640" cy="384048"/>
          </a:xfrm>
          <a:prstGeom prst="rect">
            <a:avLst/>
          </a:prstGeom>
          <a:solidFill>
            <a:srgbClr val="DC2626"/>
          </a:solidFill>
          <a:ln w="12700">
            <a:solidFill>
              <a:srgbClr val="DC2626"/>
            </a:solidFill>
            <a:prstDash val="solid"/>
          </a:ln>
        </p:spPr>
        <p:txBody>
          <a:bodyPr/>
          <a:lstStyle/>
          <a:p>
            <a:endParaRPr lang="en-US"/>
          </a:p>
        </p:txBody>
      </p:sp>
      <p:sp>
        <p:nvSpPr>
          <p:cNvPr id="25" name="Text 23"/>
          <p:cNvSpPr/>
          <p:nvPr/>
        </p:nvSpPr>
        <p:spPr>
          <a:xfrm>
            <a:off x="4709160" y="1024128"/>
            <a:ext cx="3977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Do NOT create an Index when...</a:t>
            </a:r>
            <a:endParaRPr lang="en-US" sz="1400" dirty="0"/>
          </a:p>
        </p:txBody>
      </p:sp>
      <p:sp>
        <p:nvSpPr>
          <p:cNvPr id="26" name="Shape 24"/>
          <p:cNvSpPr/>
          <p:nvPr/>
        </p:nvSpPr>
        <p:spPr>
          <a:xfrm>
            <a:off x="4709160" y="1499616"/>
            <a:ext cx="3977640" cy="1005840"/>
          </a:xfrm>
          <a:prstGeom prst="rect">
            <a:avLst/>
          </a:prstGeom>
          <a:solidFill>
            <a:srgbClr val="FEF2F2"/>
          </a:solidFill>
          <a:ln w="12700">
            <a:solidFill>
              <a:srgbClr val="DC2626"/>
            </a:solidFill>
            <a:prstDash val="solid"/>
          </a:ln>
        </p:spPr>
        <p:txBody>
          <a:bodyPr/>
          <a:lstStyle/>
          <a:p>
            <a:endParaRPr lang="en-US"/>
          </a:p>
        </p:txBody>
      </p:sp>
      <p:sp>
        <p:nvSpPr>
          <p:cNvPr id="27" name="Shape 25"/>
          <p:cNvSpPr/>
          <p:nvPr/>
        </p:nvSpPr>
        <p:spPr>
          <a:xfrm>
            <a:off x="4709160" y="1499616"/>
            <a:ext cx="54864" cy="1005840"/>
          </a:xfrm>
          <a:prstGeom prst="rect">
            <a:avLst/>
          </a:prstGeom>
          <a:solidFill>
            <a:srgbClr val="DC2626"/>
          </a:solidFill>
          <a:ln w="12700">
            <a:solidFill>
              <a:srgbClr val="DC2626"/>
            </a:solidFill>
            <a:prstDash val="solid"/>
          </a:ln>
        </p:spPr>
        <p:txBody>
          <a:bodyPr/>
          <a:lstStyle/>
          <a:p>
            <a:endParaRPr lang="en-US"/>
          </a:p>
        </p:txBody>
      </p:sp>
      <p:sp>
        <p:nvSpPr>
          <p:cNvPr id="28" name="Text 26"/>
          <p:cNvSpPr/>
          <p:nvPr/>
        </p:nvSpPr>
        <p:spPr>
          <a:xfrm>
            <a:off x="4855464" y="1563624"/>
            <a:ext cx="3749040" cy="219456"/>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Table is very small</a:t>
            </a:r>
            <a:endParaRPr lang="en-US" sz="1200" dirty="0"/>
          </a:p>
        </p:txBody>
      </p:sp>
      <p:sp>
        <p:nvSpPr>
          <p:cNvPr id="29" name="Text 27"/>
          <p:cNvSpPr/>
          <p:nvPr/>
        </p:nvSpPr>
        <p:spPr>
          <a:xfrm>
            <a:off x="4855464" y="1783080"/>
            <a:ext cx="3749040" cy="182880"/>
          </a:xfrm>
          <a:prstGeom prst="rect">
            <a:avLst/>
          </a:prstGeom>
          <a:noFill/>
          <a:ln/>
        </p:spPr>
        <p:txBody>
          <a:bodyPr wrap="square"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Example: daily_sales has only 31 rows</a:t>
            </a:r>
            <a:endParaRPr lang="en-US" sz="1000" dirty="0"/>
          </a:p>
        </p:txBody>
      </p:sp>
      <p:sp>
        <p:nvSpPr>
          <p:cNvPr id="30" name="Text 28"/>
          <p:cNvSpPr/>
          <p:nvPr/>
        </p:nvSpPr>
        <p:spPr>
          <a:xfrm>
            <a:off x="4855464" y="1984248"/>
            <a:ext cx="3749040" cy="402336"/>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Full scan of 31 rows is already instant — index adds overhead with no benefit</a:t>
            </a:r>
            <a:endParaRPr lang="en-US" sz="1050" dirty="0"/>
          </a:p>
        </p:txBody>
      </p:sp>
      <p:sp>
        <p:nvSpPr>
          <p:cNvPr id="31" name="Shape 29"/>
          <p:cNvSpPr/>
          <p:nvPr/>
        </p:nvSpPr>
        <p:spPr>
          <a:xfrm>
            <a:off x="4709160" y="2578608"/>
            <a:ext cx="3977640" cy="1005840"/>
          </a:xfrm>
          <a:prstGeom prst="rect">
            <a:avLst/>
          </a:prstGeom>
          <a:solidFill>
            <a:srgbClr val="FEF2F2"/>
          </a:solidFill>
          <a:ln w="12700">
            <a:solidFill>
              <a:srgbClr val="DC2626"/>
            </a:solidFill>
            <a:prstDash val="solid"/>
          </a:ln>
        </p:spPr>
        <p:txBody>
          <a:bodyPr/>
          <a:lstStyle/>
          <a:p>
            <a:endParaRPr lang="en-US"/>
          </a:p>
        </p:txBody>
      </p:sp>
      <p:sp>
        <p:nvSpPr>
          <p:cNvPr id="32" name="Shape 30"/>
          <p:cNvSpPr/>
          <p:nvPr/>
        </p:nvSpPr>
        <p:spPr>
          <a:xfrm>
            <a:off x="4709160" y="2578608"/>
            <a:ext cx="54864" cy="1005840"/>
          </a:xfrm>
          <a:prstGeom prst="rect">
            <a:avLst/>
          </a:prstGeom>
          <a:solidFill>
            <a:srgbClr val="DC2626"/>
          </a:solidFill>
          <a:ln w="12700">
            <a:solidFill>
              <a:srgbClr val="DC2626"/>
            </a:solidFill>
            <a:prstDash val="solid"/>
          </a:ln>
        </p:spPr>
        <p:txBody>
          <a:bodyPr/>
          <a:lstStyle/>
          <a:p>
            <a:endParaRPr lang="en-US"/>
          </a:p>
        </p:txBody>
      </p:sp>
      <p:sp>
        <p:nvSpPr>
          <p:cNvPr id="33" name="Text 31"/>
          <p:cNvSpPr/>
          <p:nvPr/>
        </p:nvSpPr>
        <p:spPr>
          <a:xfrm>
            <a:off x="4855464" y="2642616"/>
            <a:ext cx="3749040" cy="219456"/>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Column has very few unique values</a:t>
            </a:r>
            <a:endParaRPr lang="en-US" sz="1200" dirty="0"/>
          </a:p>
        </p:txBody>
      </p:sp>
      <p:sp>
        <p:nvSpPr>
          <p:cNvPr id="34" name="Text 32"/>
          <p:cNvSpPr/>
          <p:nvPr/>
        </p:nvSpPr>
        <p:spPr>
          <a:xfrm>
            <a:off x="4855464" y="2862072"/>
            <a:ext cx="3749040" cy="182880"/>
          </a:xfrm>
          <a:prstGeom prst="rect">
            <a:avLst/>
          </a:prstGeom>
          <a:noFill/>
          <a:ln/>
        </p:spPr>
        <p:txBody>
          <a:bodyPr wrap="square"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Example: gender column: only M or F</a:t>
            </a:r>
            <a:endParaRPr lang="en-US" sz="1000" dirty="0"/>
          </a:p>
        </p:txBody>
      </p:sp>
      <p:sp>
        <p:nvSpPr>
          <p:cNvPr id="35" name="Text 33"/>
          <p:cNvSpPr/>
          <p:nvPr/>
        </p:nvSpPr>
        <p:spPr>
          <a:xfrm>
            <a:off x="4855464" y="3063240"/>
            <a:ext cx="3749040" cy="402336"/>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Index on 2 values doesn't help — PostgreSQL still reads half the table</a:t>
            </a:r>
            <a:endParaRPr lang="en-US" sz="1050" dirty="0"/>
          </a:p>
        </p:txBody>
      </p:sp>
      <p:sp>
        <p:nvSpPr>
          <p:cNvPr id="36" name="Shape 34"/>
          <p:cNvSpPr/>
          <p:nvPr/>
        </p:nvSpPr>
        <p:spPr>
          <a:xfrm>
            <a:off x="4709160" y="3657600"/>
            <a:ext cx="3977640" cy="1005840"/>
          </a:xfrm>
          <a:prstGeom prst="rect">
            <a:avLst/>
          </a:prstGeom>
          <a:solidFill>
            <a:srgbClr val="FEF2F2"/>
          </a:solidFill>
          <a:ln w="12700">
            <a:solidFill>
              <a:srgbClr val="DC2626"/>
            </a:solidFill>
            <a:prstDash val="solid"/>
          </a:ln>
        </p:spPr>
        <p:txBody>
          <a:bodyPr/>
          <a:lstStyle/>
          <a:p>
            <a:endParaRPr lang="en-US"/>
          </a:p>
        </p:txBody>
      </p:sp>
      <p:sp>
        <p:nvSpPr>
          <p:cNvPr id="37" name="Shape 35"/>
          <p:cNvSpPr/>
          <p:nvPr/>
        </p:nvSpPr>
        <p:spPr>
          <a:xfrm>
            <a:off x="4709160" y="3657600"/>
            <a:ext cx="54864" cy="1005840"/>
          </a:xfrm>
          <a:prstGeom prst="rect">
            <a:avLst/>
          </a:prstGeom>
          <a:solidFill>
            <a:srgbClr val="DC2626"/>
          </a:solidFill>
          <a:ln w="12700">
            <a:solidFill>
              <a:srgbClr val="DC2626"/>
            </a:solidFill>
            <a:prstDash val="solid"/>
          </a:ln>
        </p:spPr>
        <p:txBody>
          <a:bodyPr/>
          <a:lstStyle/>
          <a:p>
            <a:endParaRPr lang="en-US"/>
          </a:p>
        </p:txBody>
      </p:sp>
      <p:sp>
        <p:nvSpPr>
          <p:cNvPr id="38" name="Text 36"/>
          <p:cNvSpPr/>
          <p:nvPr/>
        </p:nvSpPr>
        <p:spPr>
          <a:xfrm>
            <a:off x="4855464" y="3721608"/>
            <a:ext cx="3749040" cy="219456"/>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Column changes very often</a:t>
            </a:r>
            <a:endParaRPr lang="en-US" sz="1200" dirty="0"/>
          </a:p>
        </p:txBody>
      </p:sp>
      <p:sp>
        <p:nvSpPr>
          <p:cNvPr id="39" name="Text 37"/>
          <p:cNvSpPr/>
          <p:nvPr/>
        </p:nvSpPr>
        <p:spPr>
          <a:xfrm>
            <a:off x="4855464" y="3941064"/>
            <a:ext cx="3749040" cy="182880"/>
          </a:xfrm>
          <a:prstGeom prst="rect">
            <a:avLst/>
          </a:prstGeom>
          <a:noFill/>
          <a:ln/>
        </p:spPr>
        <p:txBody>
          <a:bodyPr wrap="square" rtlCol="0" anchor="ctr"/>
          <a:lstStyle/>
          <a:p>
            <a:pPr marL="0" indent="0">
              <a:buNone/>
            </a:pPr>
            <a:r>
              <a:rPr lang="en-US" sz="1000" i="1" dirty="0">
                <a:solidFill>
                  <a:srgbClr val="334155"/>
                </a:solidFill>
                <a:latin typeface="Calibri" pitchFamily="34" charset="0"/>
                <a:ea typeface="Calibri" pitchFamily="34" charset="-122"/>
                <a:cs typeface="Calibri" pitchFamily="34" charset="-120"/>
              </a:rPr>
              <a:t>Example: orders.status (updates frequently)</a:t>
            </a:r>
            <a:endParaRPr lang="en-US" sz="1000" dirty="0"/>
          </a:p>
        </p:txBody>
      </p:sp>
      <p:sp>
        <p:nvSpPr>
          <p:cNvPr id="40" name="Text 38"/>
          <p:cNvSpPr/>
          <p:nvPr/>
        </p:nvSpPr>
        <p:spPr>
          <a:xfrm>
            <a:off x="4855464" y="4142232"/>
            <a:ext cx="3749040" cy="402336"/>
          </a:xfrm>
          <a:prstGeom prst="rect">
            <a:avLst/>
          </a:prstGeom>
          <a:noFill/>
          <a:ln/>
        </p:spPr>
        <p:txBody>
          <a:bodyPr wrap="square" rtlCol="0" anchor="ctr"/>
          <a:lstStyle/>
          <a:p>
            <a:pPr marL="0" indent="0">
              <a:buNone/>
            </a:pPr>
            <a:r>
              <a:rPr lang="en-US" sz="1050" dirty="0">
                <a:solidFill>
                  <a:srgbClr val="334155"/>
                </a:solidFill>
                <a:latin typeface="Calibri" pitchFamily="34" charset="0"/>
                <a:ea typeface="Calibri" pitchFamily="34" charset="-122"/>
                <a:cs typeface="Calibri" pitchFamily="34" charset="-120"/>
              </a:rPr>
              <a:t>Every UPDATE rebuilds the index — more updates = more index maintenance cost</a:t>
            </a:r>
            <a:endParaRPr lang="en-US" sz="1050" dirty="0"/>
          </a:p>
        </p:txBody>
      </p:sp>
      <p:sp>
        <p:nvSpPr>
          <p:cNvPr id="41" name="Shape 39"/>
          <p:cNvSpPr/>
          <p:nvPr/>
        </p:nvSpPr>
        <p:spPr>
          <a:xfrm>
            <a:off x="4553712" y="1024128"/>
            <a:ext cx="0" cy="3566160"/>
          </a:xfrm>
          <a:prstGeom prst="line">
            <a:avLst/>
          </a:prstGeom>
          <a:noFill/>
          <a:ln w="12700">
            <a:solidFill>
              <a:srgbClr val="E2E8F0"/>
            </a:solidFill>
            <a:prstDash val="solid"/>
          </a:ln>
        </p:spPr>
        <p:txBody>
          <a:bodyPr/>
          <a:lstStyle/>
          <a:p>
            <a:endParaRPr lang="en-US"/>
          </a:p>
        </p:txBody>
      </p:sp>
      <p:sp>
        <p:nvSpPr>
          <p:cNvPr id="42" name="Shape 40"/>
          <p:cNvSpPr/>
          <p:nvPr/>
        </p:nvSpPr>
        <p:spPr>
          <a:xfrm>
            <a:off x="457200" y="4700016"/>
            <a:ext cx="8229600" cy="347472"/>
          </a:xfrm>
          <a:prstGeom prst="rect">
            <a:avLst/>
          </a:prstGeom>
          <a:solidFill>
            <a:srgbClr val="F8FAFC"/>
          </a:solidFill>
          <a:ln w="12700">
            <a:solidFill>
              <a:srgbClr val="7C3AED"/>
            </a:solidFill>
            <a:prstDash val="solid"/>
          </a:ln>
        </p:spPr>
        <p:txBody>
          <a:bodyPr/>
          <a:lstStyle/>
          <a:p>
            <a:endParaRPr lang="en-US"/>
          </a:p>
        </p:txBody>
      </p:sp>
      <p:sp>
        <p:nvSpPr>
          <p:cNvPr id="43" name="Shape 41"/>
          <p:cNvSpPr/>
          <p:nvPr/>
        </p:nvSpPr>
        <p:spPr>
          <a:xfrm>
            <a:off x="457200" y="4700016"/>
            <a:ext cx="1234440" cy="347472"/>
          </a:xfrm>
          <a:prstGeom prst="rect">
            <a:avLst/>
          </a:prstGeom>
          <a:solidFill>
            <a:srgbClr val="7C3AED"/>
          </a:solidFill>
          <a:ln w="12700">
            <a:solidFill>
              <a:srgbClr val="7C3AED"/>
            </a:solidFill>
            <a:prstDash val="solid"/>
          </a:ln>
        </p:spPr>
        <p:txBody>
          <a:bodyPr/>
          <a:lstStyle/>
          <a:p>
            <a:endParaRPr lang="en-US"/>
          </a:p>
        </p:txBody>
      </p:sp>
      <p:sp>
        <p:nvSpPr>
          <p:cNvPr id="44" name="Text 42"/>
          <p:cNvSpPr/>
          <p:nvPr/>
        </p:nvSpPr>
        <p:spPr>
          <a:xfrm>
            <a:off x="457200" y="4700016"/>
            <a:ext cx="123444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PRO TIP</a:t>
            </a:r>
            <a:endParaRPr lang="en-US" sz="1000" dirty="0"/>
          </a:p>
        </p:txBody>
      </p:sp>
      <p:sp>
        <p:nvSpPr>
          <p:cNvPr id="45" name="Text 43"/>
          <p:cNvSpPr/>
          <p:nvPr/>
        </p:nvSpPr>
        <p:spPr>
          <a:xfrm>
            <a:off x="1792224" y="4745736"/>
            <a:ext cx="6784848" cy="256032"/>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Run  EXPLAIN ANALYZE your_query;  in DBeaver — it tells you if PostgreSQL is using your index or doing a full scan.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Types of Indexes</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An index is like a book's index — lets PostgreSQL find rows instantly without scanning every row</a:t>
            </a:r>
            <a:endParaRPr lang="en-US" sz="1300" dirty="0"/>
          </a:p>
        </p:txBody>
      </p:sp>
      <p:sp>
        <p:nvSpPr>
          <p:cNvPr id="4" name="Shape 2"/>
          <p:cNvSpPr/>
          <p:nvPr/>
        </p:nvSpPr>
        <p:spPr>
          <a:xfrm>
            <a:off x="457200" y="1005840"/>
            <a:ext cx="2029968" cy="2304288"/>
          </a:xfrm>
          <a:prstGeom prst="rect">
            <a:avLst/>
          </a:prstGeom>
          <a:solidFill>
            <a:srgbClr val="F8FAFC"/>
          </a:solidFill>
          <a:ln w="12700">
            <a:solidFill>
              <a:srgbClr val="059669">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457200" y="1005840"/>
            <a:ext cx="2029968" cy="274320"/>
          </a:xfrm>
          <a:prstGeom prst="rect">
            <a:avLst/>
          </a:prstGeom>
          <a:solidFill>
            <a:srgbClr val="059669"/>
          </a:solidFill>
          <a:ln w="12700">
            <a:solidFill>
              <a:srgbClr val="059669"/>
            </a:solidFill>
            <a:prstDash val="solid"/>
          </a:ln>
        </p:spPr>
        <p:txBody>
          <a:bodyPr/>
          <a:lstStyle/>
          <a:p>
            <a:endParaRPr lang="en-US"/>
          </a:p>
        </p:txBody>
      </p:sp>
      <p:sp>
        <p:nvSpPr>
          <p:cNvPr id="6" name="Shape 4"/>
          <p:cNvSpPr/>
          <p:nvPr/>
        </p:nvSpPr>
        <p:spPr>
          <a:xfrm>
            <a:off x="548640"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7" name="Text 5"/>
          <p:cNvSpPr/>
          <p:nvPr/>
        </p:nvSpPr>
        <p:spPr>
          <a:xfrm>
            <a:off x="548640"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DEFAULT</a:t>
            </a:r>
            <a:endParaRPr lang="en-US" sz="650" dirty="0"/>
          </a:p>
        </p:txBody>
      </p:sp>
      <p:sp>
        <p:nvSpPr>
          <p:cNvPr id="8" name="Text 6"/>
          <p:cNvSpPr/>
          <p:nvPr/>
        </p:nvSpPr>
        <p:spPr>
          <a:xfrm>
            <a:off x="1261872"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B-Tree Index</a:t>
            </a:r>
            <a:endParaRPr lang="en-US" sz="1050" dirty="0"/>
          </a:p>
        </p:txBody>
      </p:sp>
      <p:sp>
        <p:nvSpPr>
          <p:cNvPr id="9" name="Text 7"/>
          <p:cNvSpPr/>
          <p:nvPr/>
        </p:nvSpPr>
        <p:spPr>
          <a:xfrm>
            <a:off x="548640" y="1353312"/>
            <a:ext cx="1865376" cy="164592"/>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What it does:</a:t>
            </a:r>
            <a:endParaRPr lang="en-US" sz="800" dirty="0"/>
          </a:p>
        </p:txBody>
      </p:sp>
      <p:sp>
        <p:nvSpPr>
          <p:cNvPr id="10" name="Text 8"/>
          <p:cNvSpPr/>
          <p:nvPr/>
        </p:nvSpPr>
        <p:spPr>
          <a:xfrm>
            <a:off x="548640"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The most common. Works for =, &lt;, &gt;, BETWEEN, LIKE 'abc%'. PostgreSQL uses this by default.</a:t>
            </a:r>
            <a:endParaRPr lang="en-US" sz="850" dirty="0"/>
          </a:p>
        </p:txBody>
      </p:sp>
      <p:sp>
        <p:nvSpPr>
          <p:cNvPr id="11" name="Text 9"/>
          <p:cNvSpPr/>
          <p:nvPr/>
        </p:nvSpPr>
        <p:spPr>
          <a:xfrm>
            <a:off x="548640" y="1956816"/>
            <a:ext cx="1865376" cy="164592"/>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Use when:</a:t>
            </a:r>
            <a:endParaRPr lang="en-US" sz="800" dirty="0"/>
          </a:p>
        </p:txBody>
      </p:sp>
      <p:sp>
        <p:nvSpPr>
          <p:cNvPr id="12" name="Text 10"/>
          <p:cNvSpPr/>
          <p:nvPr/>
        </p:nvSpPr>
        <p:spPr>
          <a:xfrm>
            <a:off x="548640"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Any column used in WHERE, JOIN, ORDER BY.</a:t>
            </a:r>
            <a:endParaRPr lang="en-US" sz="850" dirty="0"/>
          </a:p>
        </p:txBody>
      </p:sp>
      <p:sp>
        <p:nvSpPr>
          <p:cNvPr id="13" name="Shape 11"/>
          <p:cNvSpPr/>
          <p:nvPr/>
        </p:nvSpPr>
        <p:spPr>
          <a:xfrm>
            <a:off x="548640"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14" name="Text 12"/>
          <p:cNvSpPr/>
          <p:nvPr/>
        </p:nvSpPr>
        <p:spPr>
          <a:xfrm>
            <a:off x="621792"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idx_city</a:t>
            </a:r>
            <a:endParaRPr lang="en-US" sz="800" dirty="0"/>
          </a:p>
        </p:txBody>
      </p:sp>
      <p:sp>
        <p:nvSpPr>
          <p:cNvPr id="15" name="Text 13"/>
          <p:cNvSpPr/>
          <p:nvPr/>
        </p:nvSpPr>
        <p:spPr>
          <a:xfrm>
            <a:off x="621792"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customers (city);</a:t>
            </a:r>
            <a:endParaRPr lang="en-US" sz="800" dirty="0"/>
          </a:p>
        </p:txBody>
      </p:sp>
      <p:sp>
        <p:nvSpPr>
          <p:cNvPr id="16" name="Shape 14"/>
          <p:cNvSpPr/>
          <p:nvPr/>
        </p:nvSpPr>
        <p:spPr>
          <a:xfrm>
            <a:off x="2633472" y="1005840"/>
            <a:ext cx="2029968" cy="2304288"/>
          </a:xfrm>
          <a:prstGeom prst="rect">
            <a:avLst/>
          </a:prstGeom>
          <a:solidFill>
            <a:srgbClr val="F8FAFC"/>
          </a:solidFill>
          <a:ln w="12700">
            <a:solidFill>
              <a:srgbClr val="2563EB">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17" name="Shape 15"/>
          <p:cNvSpPr/>
          <p:nvPr/>
        </p:nvSpPr>
        <p:spPr>
          <a:xfrm>
            <a:off x="2633472" y="1005840"/>
            <a:ext cx="2029968" cy="274320"/>
          </a:xfrm>
          <a:prstGeom prst="rect">
            <a:avLst/>
          </a:prstGeom>
          <a:solidFill>
            <a:srgbClr val="2563EB"/>
          </a:solidFill>
          <a:ln w="12700">
            <a:solidFill>
              <a:srgbClr val="2563EB"/>
            </a:solidFill>
            <a:prstDash val="solid"/>
          </a:ln>
        </p:spPr>
        <p:txBody>
          <a:bodyPr/>
          <a:lstStyle/>
          <a:p>
            <a:endParaRPr lang="en-US"/>
          </a:p>
        </p:txBody>
      </p:sp>
      <p:sp>
        <p:nvSpPr>
          <p:cNvPr id="18" name="Shape 16"/>
          <p:cNvSpPr/>
          <p:nvPr/>
        </p:nvSpPr>
        <p:spPr>
          <a:xfrm>
            <a:off x="2724912"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19" name="Text 17"/>
          <p:cNvSpPr/>
          <p:nvPr/>
        </p:nvSpPr>
        <p:spPr>
          <a:xfrm>
            <a:off x="2724912"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EQUALITY</a:t>
            </a:r>
            <a:endParaRPr lang="en-US" sz="650" dirty="0"/>
          </a:p>
        </p:txBody>
      </p:sp>
      <p:sp>
        <p:nvSpPr>
          <p:cNvPr id="20" name="Text 18"/>
          <p:cNvSpPr/>
          <p:nvPr/>
        </p:nvSpPr>
        <p:spPr>
          <a:xfrm>
            <a:off x="3438144"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Hash Index</a:t>
            </a:r>
            <a:endParaRPr lang="en-US" sz="1050" dirty="0"/>
          </a:p>
        </p:txBody>
      </p:sp>
      <p:sp>
        <p:nvSpPr>
          <p:cNvPr id="21" name="Text 19"/>
          <p:cNvSpPr/>
          <p:nvPr/>
        </p:nvSpPr>
        <p:spPr>
          <a:xfrm>
            <a:off x="2724912" y="1353312"/>
            <a:ext cx="1865376" cy="164592"/>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What it does:</a:t>
            </a:r>
            <a:endParaRPr lang="en-US" sz="800" dirty="0"/>
          </a:p>
        </p:txBody>
      </p:sp>
      <p:sp>
        <p:nvSpPr>
          <p:cNvPr id="22" name="Text 20"/>
          <p:cNvSpPr/>
          <p:nvPr/>
        </p:nvSpPr>
        <p:spPr>
          <a:xfrm>
            <a:off x="2724912"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Only works for = (exact match). Faster than B-Tree for pure equality checks.</a:t>
            </a:r>
            <a:endParaRPr lang="en-US" sz="850" dirty="0"/>
          </a:p>
        </p:txBody>
      </p:sp>
      <p:sp>
        <p:nvSpPr>
          <p:cNvPr id="23" name="Text 21"/>
          <p:cNvSpPr/>
          <p:nvPr/>
        </p:nvSpPr>
        <p:spPr>
          <a:xfrm>
            <a:off x="2724912" y="1956816"/>
            <a:ext cx="1865376" cy="164592"/>
          </a:xfrm>
          <a:prstGeom prst="rect">
            <a:avLst/>
          </a:prstGeom>
          <a:noFill/>
          <a:ln/>
        </p:spPr>
        <p:txBody>
          <a:bodyPr wrap="square" lIns="0" tIns="0" rIns="0" bIns="0" rtlCol="0" anchor="ctr"/>
          <a:lstStyle/>
          <a:p>
            <a:pPr marL="0" indent="0">
              <a:buNone/>
            </a:pPr>
            <a:r>
              <a:rPr lang="en-US" sz="800" b="1" dirty="0">
                <a:solidFill>
                  <a:srgbClr val="2563EB"/>
                </a:solidFill>
                <a:latin typeface="Calibri" pitchFamily="34" charset="0"/>
                <a:ea typeface="Calibri" pitchFamily="34" charset="-122"/>
                <a:cs typeface="Calibri" pitchFamily="34" charset="-120"/>
              </a:rPr>
              <a:t>Use when:</a:t>
            </a:r>
            <a:endParaRPr lang="en-US" sz="800" dirty="0"/>
          </a:p>
        </p:txBody>
      </p:sp>
      <p:sp>
        <p:nvSpPr>
          <p:cNvPr id="24" name="Text 22"/>
          <p:cNvSpPr/>
          <p:nvPr/>
        </p:nvSpPr>
        <p:spPr>
          <a:xfrm>
            <a:off x="2724912"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Only when you always filter by exact value — never ranges.</a:t>
            </a:r>
            <a:endParaRPr lang="en-US" sz="850" dirty="0"/>
          </a:p>
        </p:txBody>
      </p:sp>
      <p:sp>
        <p:nvSpPr>
          <p:cNvPr id="25" name="Shape 23"/>
          <p:cNvSpPr/>
          <p:nvPr/>
        </p:nvSpPr>
        <p:spPr>
          <a:xfrm>
            <a:off x="2724912"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26" name="Text 24"/>
          <p:cNvSpPr/>
          <p:nvPr/>
        </p:nvSpPr>
        <p:spPr>
          <a:xfrm>
            <a:off x="2798064"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idx_email</a:t>
            </a:r>
            <a:endParaRPr lang="en-US" sz="800" dirty="0"/>
          </a:p>
        </p:txBody>
      </p:sp>
      <p:sp>
        <p:nvSpPr>
          <p:cNvPr id="27" name="Text 25"/>
          <p:cNvSpPr/>
          <p:nvPr/>
        </p:nvSpPr>
        <p:spPr>
          <a:xfrm>
            <a:off x="2798064"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customers</a:t>
            </a:r>
            <a:endParaRPr lang="en-US" sz="800" dirty="0"/>
          </a:p>
        </p:txBody>
      </p:sp>
      <p:sp>
        <p:nvSpPr>
          <p:cNvPr id="28" name="Text 26"/>
          <p:cNvSpPr/>
          <p:nvPr/>
        </p:nvSpPr>
        <p:spPr>
          <a:xfrm>
            <a:off x="2798064" y="307238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USING HASH (email);</a:t>
            </a:r>
            <a:endParaRPr lang="en-US" sz="800" dirty="0"/>
          </a:p>
        </p:txBody>
      </p:sp>
      <p:sp>
        <p:nvSpPr>
          <p:cNvPr id="29" name="Shape 27"/>
          <p:cNvSpPr/>
          <p:nvPr/>
        </p:nvSpPr>
        <p:spPr>
          <a:xfrm>
            <a:off x="4809744" y="1005840"/>
            <a:ext cx="2029968" cy="2304288"/>
          </a:xfrm>
          <a:prstGeom prst="rect">
            <a:avLst/>
          </a:prstGeom>
          <a:solidFill>
            <a:srgbClr val="F8FAFC"/>
          </a:solidFill>
          <a:ln w="12700">
            <a:solidFill>
              <a:srgbClr val="7C3AED">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30" name="Shape 28"/>
          <p:cNvSpPr/>
          <p:nvPr/>
        </p:nvSpPr>
        <p:spPr>
          <a:xfrm>
            <a:off x="4809744" y="1005840"/>
            <a:ext cx="2029968" cy="274320"/>
          </a:xfrm>
          <a:prstGeom prst="rect">
            <a:avLst/>
          </a:prstGeom>
          <a:solidFill>
            <a:srgbClr val="7C3AED"/>
          </a:solidFill>
          <a:ln w="12700">
            <a:solidFill>
              <a:srgbClr val="7C3AED"/>
            </a:solidFill>
            <a:prstDash val="solid"/>
          </a:ln>
        </p:spPr>
        <p:txBody>
          <a:bodyPr/>
          <a:lstStyle/>
          <a:p>
            <a:endParaRPr lang="en-US"/>
          </a:p>
        </p:txBody>
      </p:sp>
      <p:sp>
        <p:nvSpPr>
          <p:cNvPr id="31" name="Shape 29"/>
          <p:cNvSpPr/>
          <p:nvPr/>
        </p:nvSpPr>
        <p:spPr>
          <a:xfrm>
            <a:off x="4901184"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32" name="Text 30"/>
          <p:cNvSpPr/>
          <p:nvPr/>
        </p:nvSpPr>
        <p:spPr>
          <a:xfrm>
            <a:off x="4901184"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MULTI-COL</a:t>
            </a:r>
            <a:endParaRPr lang="en-US" sz="650" dirty="0"/>
          </a:p>
        </p:txBody>
      </p:sp>
      <p:sp>
        <p:nvSpPr>
          <p:cNvPr id="33" name="Text 31"/>
          <p:cNvSpPr/>
          <p:nvPr/>
        </p:nvSpPr>
        <p:spPr>
          <a:xfrm>
            <a:off x="5614416"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Composite Index</a:t>
            </a:r>
            <a:endParaRPr lang="en-US" sz="1050" dirty="0"/>
          </a:p>
        </p:txBody>
      </p:sp>
      <p:sp>
        <p:nvSpPr>
          <p:cNvPr id="34" name="Text 32"/>
          <p:cNvSpPr/>
          <p:nvPr/>
        </p:nvSpPr>
        <p:spPr>
          <a:xfrm>
            <a:off x="4901184" y="1353312"/>
            <a:ext cx="1865376" cy="164592"/>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What it does:</a:t>
            </a:r>
            <a:endParaRPr lang="en-US" sz="800" dirty="0"/>
          </a:p>
        </p:txBody>
      </p:sp>
      <p:sp>
        <p:nvSpPr>
          <p:cNvPr id="35" name="Text 33"/>
          <p:cNvSpPr/>
          <p:nvPr/>
        </p:nvSpPr>
        <p:spPr>
          <a:xfrm>
            <a:off x="4901184"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Index on TWO OR MORE columns together. Column order matters — left-most column first.</a:t>
            </a:r>
            <a:endParaRPr lang="en-US" sz="850" dirty="0"/>
          </a:p>
        </p:txBody>
      </p:sp>
      <p:sp>
        <p:nvSpPr>
          <p:cNvPr id="36" name="Text 34"/>
          <p:cNvSpPr/>
          <p:nvPr/>
        </p:nvSpPr>
        <p:spPr>
          <a:xfrm>
            <a:off x="4901184" y="1956816"/>
            <a:ext cx="1865376" cy="164592"/>
          </a:xfrm>
          <a:prstGeom prst="rect">
            <a:avLst/>
          </a:prstGeom>
          <a:noFill/>
          <a:ln/>
        </p:spPr>
        <p:txBody>
          <a:bodyPr wrap="square" lIns="0" tIns="0" rIns="0" bIns="0" rtlCol="0" anchor="ctr"/>
          <a:lstStyle/>
          <a:p>
            <a:pPr marL="0" indent="0">
              <a:buNone/>
            </a:pPr>
            <a:r>
              <a:rPr lang="en-US" sz="800" b="1" dirty="0">
                <a:solidFill>
                  <a:srgbClr val="7C3AED"/>
                </a:solidFill>
                <a:latin typeface="Calibri" pitchFamily="34" charset="0"/>
                <a:ea typeface="Calibri" pitchFamily="34" charset="-122"/>
                <a:cs typeface="Calibri" pitchFamily="34" charset="-120"/>
              </a:rPr>
              <a:t>Use when:</a:t>
            </a:r>
            <a:endParaRPr lang="en-US" sz="800" dirty="0"/>
          </a:p>
        </p:txBody>
      </p:sp>
      <p:sp>
        <p:nvSpPr>
          <p:cNvPr id="37" name="Text 35"/>
          <p:cNvSpPr/>
          <p:nvPr/>
        </p:nvSpPr>
        <p:spPr>
          <a:xfrm>
            <a:off x="4901184"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Queries that filter by multiple columns at once.</a:t>
            </a:r>
            <a:endParaRPr lang="en-US" sz="850" dirty="0"/>
          </a:p>
        </p:txBody>
      </p:sp>
      <p:sp>
        <p:nvSpPr>
          <p:cNvPr id="38" name="Shape 36"/>
          <p:cNvSpPr/>
          <p:nvPr/>
        </p:nvSpPr>
        <p:spPr>
          <a:xfrm>
            <a:off x="4901184"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39" name="Text 37"/>
          <p:cNvSpPr/>
          <p:nvPr/>
        </p:nvSpPr>
        <p:spPr>
          <a:xfrm>
            <a:off x="4974336"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idx_city_date</a:t>
            </a:r>
            <a:endParaRPr lang="en-US" sz="800" dirty="0"/>
          </a:p>
        </p:txBody>
      </p:sp>
      <p:sp>
        <p:nvSpPr>
          <p:cNvPr id="40" name="Text 38"/>
          <p:cNvSpPr/>
          <p:nvPr/>
        </p:nvSpPr>
        <p:spPr>
          <a:xfrm>
            <a:off x="4974336"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orders (city, order_date);</a:t>
            </a:r>
            <a:endParaRPr lang="en-US" sz="800" dirty="0"/>
          </a:p>
        </p:txBody>
      </p:sp>
      <p:sp>
        <p:nvSpPr>
          <p:cNvPr id="41" name="Shape 39"/>
          <p:cNvSpPr/>
          <p:nvPr/>
        </p:nvSpPr>
        <p:spPr>
          <a:xfrm>
            <a:off x="6986016" y="1005840"/>
            <a:ext cx="2029968" cy="2304288"/>
          </a:xfrm>
          <a:prstGeom prst="rect">
            <a:avLst/>
          </a:prstGeom>
          <a:solidFill>
            <a:srgbClr val="F8FAFC"/>
          </a:solidFill>
          <a:ln w="12700">
            <a:solidFill>
              <a:srgbClr val="EA580C">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42" name="Shape 40"/>
          <p:cNvSpPr/>
          <p:nvPr/>
        </p:nvSpPr>
        <p:spPr>
          <a:xfrm>
            <a:off x="6986016" y="1005840"/>
            <a:ext cx="2029968" cy="274320"/>
          </a:xfrm>
          <a:prstGeom prst="rect">
            <a:avLst/>
          </a:prstGeom>
          <a:solidFill>
            <a:srgbClr val="EA580C"/>
          </a:solidFill>
          <a:ln w="12700">
            <a:solidFill>
              <a:srgbClr val="EA580C"/>
            </a:solidFill>
            <a:prstDash val="solid"/>
          </a:ln>
        </p:spPr>
        <p:txBody>
          <a:bodyPr/>
          <a:lstStyle/>
          <a:p>
            <a:endParaRPr lang="en-US"/>
          </a:p>
        </p:txBody>
      </p:sp>
      <p:sp>
        <p:nvSpPr>
          <p:cNvPr id="43" name="Shape 41"/>
          <p:cNvSpPr/>
          <p:nvPr/>
        </p:nvSpPr>
        <p:spPr>
          <a:xfrm>
            <a:off x="7077456" y="1042416"/>
            <a:ext cx="658368" cy="201168"/>
          </a:xfrm>
          <a:prstGeom prst="rect">
            <a:avLst/>
          </a:prstGeom>
          <a:solidFill>
            <a:srgbClr val="FFFFFF">
              <a:alpha val="20000"/>
            </a:srgbClr>
          </a:solidFill>
          <a:ln w="12700">
            <a:solidFill>
              <a:srgbClr val="FFFFFF">
                <a:alpha val="26000"/>
              </a:srgbClr>
            </a:solidFill>
            <a:prstDash val="solid"/>
          </a:ln>
        </p:spPr>
        <p:txBody>
          <a:bodyPr/>
          <a:lstStyle/>
          <a:p>
            <a:endParaRPr lang="en-US"/>
          </a:p>
        </p:txBody>
      </p:sp>
      <p:sp>
        <p:nvSpPr>
          <p:cNvPr id="44" name="Text 42"/>
          <p:cNvSpPr/>
          <p:nvPr/>
        </p:nvSpPr>
        <p:spPr>
          <a:xfrm>
            <a:off x="7077456" y="1042416"/>
            <a:ext cx="658368" cy="201168"/>
          </a:xfrm>
          <a:prstGeom prst="rect">
            <a:avLst/>
          </a:prstGeom>
          <a:noFill/>
          <a:ln/>
        </p:spPr>
        <p:txBody>
          <a:bodyPr wrap="square" lIns="0" tIns="0" rIns="0" bIns="0" rtlCol="0" anchor="ctr"/>
          <a:lstStyle/>
          <a:p>
            <a:pPr marL="0" indent="0" algn="ctr">
              <a:buNone/>
            </a:pPr>
            <a:r>
              <a:rPr lang="en-US" sz="650" b="1" dirty="0">
                <a:solidFill>
                  <a:srgbClr val="FFFFFF"/>
                </a:solidFill>
                <a:latin typeface="Calibri" pitchFamily="34" charset="0"/>
                <a:ea typeface="Calibri" pitchFamily="34" charset="-122"/>
                <a:cs typeface="Calibri" pitchFamily="34" charset="-120"/>
              </a:rPr>
              <a:t>FILTERED</a:t>
            </a:r>
            <a:endParaRPr lang="en-US" sz="650" dirty="0"/>
          </a:p>
        </p:txBody>
      </p:sp>
      <p:sp>
        <p:nvSpPr>
          <p:cNvPr id="45" name="Text 43"/>
          <p:cNvSpPr/>
          <p:nvPr/>
        </p:nvSpPr>
        <p:spPr>
          <a:xfrm>
            <a:off x="7790688" y="1060704"/>
            <a:ext cx="1152144" cy="18288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Partial Index</a:t>
            </a:r>
            <a:endParaRPr lang="en-US" sz="1050" dirty="0"/>
          </a:p>
        </p:txBody>
      </p:sp>
      <p:sp>
        <p:nvSpPr>
          <p:cNvPr id="46" name="Text 44"/>
          <p:cNvSpPr/>
          <p:nvPr/>
        </p:nvSpPr>
        <p:spPr>
          <a:xfrm>
            <a:off x="7077456" y="1353312"/>
            <a:ext cx="1865376" cy="164592"/>
          </a:xfrm>
          <a:prstGeom prst="rect">
            <a:avLst/>
          </a:prstGeom>
          <a:noFill/>
          <a:ln/>
        </p:spPr>
        <p:txBody>
          <a:bodyPr wrap="square" lIns="0" tIns="0" rIns="0" bIns="0" rtlCol="0" anchor="ctr"/>
          <a:lstStyle/>
          <a:p>
            <a:pPr marL="0" indent="0">
              <a:buNone/>
            </a:pPr>
            <a:r>
              <a:rPr lang="en-US" sz="800" b="1" dirty="0">
                <a:solidFill>
                  <a:srgbClr val="EA580C"/>
                </a:solidFill>
                <a:latin typeface="Calibri" pitchFamily="34" charset="0"/>
                <a:ea typeface="Calibri" pitchFamily="34" charset="-122"/>
                <a:cs typeface="Calibri" pitchFamily="34" charset="-120"/>
              </a:rPr>
              <a:t>What it does:</a:t>
            </a:r>
            <a:endParaRPr lang="en-US" sz="800" dirty="0"/>
          </a:p>
        </p:txBody>
      </p:sp>
      <p:sp>
        <p:nvSpPr>
          <p:cNvPr id="47" name="Text 45"/>
          <p:cNvSpPr/>
          <p:nvPr/>
        </p:nvSpPr>
        <p:spPr>
          <a:xfrm>
            <a:off x="7077456" y="1517904"/>
            <a:ext cx="1865376" cy="402336"/>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Index only a SUBSET of rows matching a condition. Smaller, faster than full index.</a:t>
            </a:r>
            <a:endParaRPr lang="en-US" sz="850" dirty="0"/>
          </a:p>
        </p:txBody>
      </p:sp>
      <p:sp>
        <p:nvSpPr>
          <p:cNvPr id="48" name="Text 46"/>
          <p:cNvSpPr/>
          <p:nvPr/>
        </p:nvSpPr>
        <p:spPr>
          <a:xfrm>
            <a:off x="7077456" y="1956816"/>
            <a:ext cx="1865376" cy="164592"/>
          </a:xfrm>
          <a:prstGeom prst="rect">
            <a:avLst/>
          </a:prstGeom>
          <a:noFill/>
          <a:ln/>
        </p:spPr>
        <p:txBody>
          <a:bodyPr wrap="square" lIns="0" tIns="0" rIns="0" bIns="0" rtlCol="0" anchor="ctr"/>
          <a:lstStyle/>
          <a:p>
            <a:pPr marL="0" indent="0">
              <a:buNone/>
            </a:pPr>
            <a:r>
              <a:rPr lang="en-US" sz="800" b="1" dirty="0">
                <a:solidFill>
                  <a:srgbClr val="EA580C"/>
                </a:solidFill>
                <a:latin typeface="Calibri" pitchFamily="34" charset="0"/>
                <a:ea typeface="Calibri" pitchFamily="34" charset="-122"/>
                <a:cs typeface="Calibri" pitchFamily="34" charset="-120"/>
              </a:rPr>
              <a:t>Use when:</a:t>
            </a:r>
            <a:endParaRPr lang="en-US" sz="800" dirty="0"/>
          </a:p>
        </p:txBody>
      </p:sp>
      <p:sp>
        <p:nvSpPr>
          <p:cNvPr id="49" name="Text 47"/>
          <p:cNvSpPr/>
          <p:nvPr/>
        </p:nvSpPr>
        <p:spPr>
          <a:xfrm>
            <a:off x="7077456" y="2121408"/>
            <a:ext cx="1865376" cy="292608"/>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When you always filter by the same condition.</a:t>
            </a:r>
            <a:endParaRPr lang="en-US" sz="850" dirty="0"/>
          </a:p>
        </p:txBody>
      </p:sp>
      <p:sp>
        <p:nvSpPr>
          <p:cNvPr id="50" name="Shape 48"/>
          <p:cNvSpPr/>
          <p:nvPr/>
        </p:nvSpPr>
        <p:spPr>
          <a:xfrm>
            <a:off x="7077456" y="2670048"/>
            <a:ext cx="1865376" cy="566928"/>
          </a:xfrm>
          <a:prstGeom prst="rect">
            <a:avLst/>
          </a:prstGeom>
          <a:solidFill>
            <a:srgbClr val="1E293B"/>
          </a:solidFill>
          <a:ln w="12700">
            <a:solidFill>
              <a:srgbClr val="1E293B"/>
            </a:solidFill>
            <a:prstDash val="solid"/>
          </a:ln>
        </p:spPr>
        <p:txBody>
          <a:bodyPr/>
          <a:lstStyle/>
          <a:p>
            <a:endParaRPr lang="en-US"/>
          </a:p>
        </p:txBody>
      </p:sp>
      <p:sp>
        <p:nvSpPr>
          <p:cNvPr id="51" name="Text 49"/>
          <p:cNvSpPr/>
          <p:nvPr/>
        </p:nvSpPr>
        <p:spPr>
          <a:xfrm>
            <a:off x="7150608" y="270662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CREATE INDEX idx_pending</a:t>
            </a:r>
            <a:endParaRPr lang="en-US" sz="800" dirty="0"/>
          </a:p>
        </p:txBody>
      </p:sp>
      <p:sp>
        <p:nvSpPr>
          <p:cNvPr id="52" name="Text 50"/>
          <p:cNvSpPr/>
          <p:nvPr/>
        </p:nvSpPr>
        <p:spPr>
          <a:xfrm>
            <a:off x="7150608" y="288950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orders (order_date)</a:t>
            </a:r>
            <a:endParaRPr lang="en-US" sz="800" dirty="0"/>
          </a:p>
        </p:txBody>
      </p:sp>
      <p:sp>
        <p:nvSpPr>
          <p:cNvPr id="53" name="Text 51"/>
          <p:cNvSpPr/>
          <p:nvPr/>
        </p:nvSpPr>
        <p:spPr>
          <a:xfrm>
            <a:off x="7150608" y="3072384"/>
            <a:ext cx="1737360"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WHERE status = 'Processing';</a:t>
            </a:r>
            <a:endParaRPr lang="en-US" sz="800" dirty="0"/>
          </a:p>
        </p:txBody>
      </p:sp>
      <p:sp>
        <p:nvSpPr>
          <p:cNvPr id="54" name="Shape 52"/>
          <p:cNvSpPr/>
          <p:nvPr/>
        </p:nvSpPr>
        <p:spPr>
          <a:xfrm>
            <a:off x="457200" y="3401568"/>
            <a:ext cx="8229600" cy="493776"/>
          </a:xfrm>
          <a:prstGeom prst="rect">
            <a:avLst/>
          </a:prstGeom>
          <a:solidFill>
            <a:srgbClr val="7C3AED">
              <a:alpha val="10000"/>
            </a:srgbClr>
          </a:solidFill>
          <a:ln w="12700">
            <a:solidFill>
              <a:srgbClr val="7C3AED">
                <a:alpha val="32000"/>
              </a:srgbClr>
            </a:solidFill>
            <a:prstDash val="solid"/>
          </a:ln>
        </p:spPr>
        <p:txBody>
          <a:bodyPr/>
          <a:lstStyle/>
          <a:p>
            <a:endParaRPr lang="en-US"/>
          </a:p>
        </p:txBody>
      </p:sp>
      <p:sp>
        <p:nvSpPr>
          <p:cNvPr id="55" name="Shape 53"/>
          <p:cNvSpPr/>
          <p:nvPr/>
        </p:nvSpPr>
        <p:spPr>
          <a:xfrm>
            <a:off x="457200" y="3401568"/>
            <a:ext cx="54864" cy="493776"/>
          </a:xfrm>
          <a:prstGeom prst="rect">
            <a:avLst/>
          </a:prstGeom>
          <a:solidFill>
            <a:srgbClr val="7C3AED"/>
          </a:solidFill>
          <a:ln w="12700">
            <a:solidFill>
              <a:srgbClr val="7C3AED"/>
            </a:solidFill>
            <a:prstDash val="solid"/>
          </a:ln>
        </p:spPr>
        <p:txBody>
          <a:bodyPr/>
          <a:lstStyle/>
          <a:p>
            <a:endParaRPr lang="en-US"/>
          </a:p>
        </p:txBody>
      </p:sp>
      <p:sp>
        <p:nvSpPr>
          <p:cNvPr id="56" name="Text 54"/>
          <p:cNvSpPr/>
          <p:nvPr/>
        </p:nvSpPr>
        <p:spPr>
          <a:xfrm>
            <a:off x="603504" y="3438144"/>
            <a:ext cx="731520" cy="182880"/>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Analogy:</a:t>
            </a:r>
            <a:endParaRPr lang="en-US" sz="900" dirty="0"/>
          </a:p>
        </p:txBody>
      </p:sp>
      <p:sp>
        <p:nvSpPr>
          <p:cNvPr id="57" name="Text 55"/>
          <p:cNvSpPr/>
          <p:nvPr/>
        </p:nvSpPr>
        <p:spPr>
          <a:xfrm>
            <a:off x="603504" y="3602736"/>
            <a:ext cx="7955280" cy="237744"/>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Without index: PostgreSQL reads EVERY row in the table to find matches (full table scan). With index: it jumps directly to the matching rows — like using an alphabetical index in a book instead of reading every page.</a:t>
            </a:r>
            <a:endParaRPr lang="en-US" sz="900" dirty="0"/>
          </a:p>
        </p:txBody>
      </p:sp>
      <p:sp>
        <p:nvSpPr>
          <p:cNvPr id="58" name="Shape 56"/>
          <p:cNvSpPr/>
          <p:nvPr/>
        </p:nvSpPr>
        <p:spPr>
          <a:xfrm>
            <a:off x="457200" y="3950208"/>
            <a:ext cx="8229600" cy="237744"/>
          </a:xfrm>
          <a:prstGeom prst="rect">
            <a:avLst/>
          </a:prstGeom>
          <a:solidFill>
            <a:srgbClr val="1E293B"/>
          </a:solidFill>
          <a:ln w="12700">
            <a:solidFill>
              <a:srgbClr val="1E293B"/>
            </a:solidFill>
            <a:prstDash val="solid"/>
          </a:ln>
        </p:spPr>
        <p:txBody>
          <a:bodyPr/>
          <a:lstStyle/>
          <a:p>
            <a:endParaRPr lang="en-US"/>
          </a:p>
        </p:txBody>
      </p:sp>
      <p:sp>
        <p:nvSpPr>
          <p:cNvPr id="59" name="Text 57"/>
          <p:cNvSpPr/>
          <p:nvPr/>
        </p:nvSpPr>
        <p:spPr>
          <a:xfrm>
            <a:off x="548640" y="3968496"/>
            <a:ext cx="8046720" cy="20116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How to CHECK if PostgreSQL is using your index — using the same orders table from slide 5:</a:t>
            </a:r>
            <a:endParaRPr lang="en-US" sz="900" dirty="0"/>
          </a:p>
        </p:txBody>
      </p:sp>
      <p:sp>
        <p:nvSpPr>
          <p:cNvPr id="60" name="Shape 58"/>
          <p:cNvSpPr/>
          <p:nvPr/>
        </p:nvSpPr>
        <p:spPr>
          <a:xfrm>
            <a:off x="457200" y="4187952"/>
            <a:ext cx="3931920" cy="955548"/>
          </a:xfrm>
          <a:prstGeom prst="rect">
            <a:avLst/>
          </a:prstGeom>
          <a:solidFill>
            <a:srgbClr val="1E293B"/>
          </a:solidFill>
          <a:ln w="12700">
            <a:solidFill>
              <a:srgbClr val="1E293B"/>
            </a:solidFill>
            <a:prstDash val="solid"/>
          </a:ln>
        </p:spPr>
        <p:txBody>
          <a:bodyPr/>
          <a:lstStyle/>
          <a:p>
            <a:endParaRPr lang="en-US"/>
          </a:p>
        </p:txBody>
      </p:sp>
      <p:sp>
        <p:nvSpPr>
          <p:cNvPr id="61" name="Text 59"/>
          <p:cNvSpPr/>
          <p:nvPr/>
        </p:nvSpPr>
        <p:spPr>
          <a:xfrm>
            <a:off x="621792" y="4315968"/>
            <a:ext cx="3675888" cy="1828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 Before index: full table scan</a:t>
            </a:r>
            <a:endParaRPr lang="en-US" sz="1000" dirty="0"/>
          </a:p>
        </p:txBody>
      </p:sp>
      <p:sp>
        <p:nvSpPr>
          <p:cNvPr id="62" name="Text 60"/>
          <p:cNvSpPr/>
          <p:nvPr/>
        </p:nvSpPr>
        <p:spPr>
          <a:xfrm>
            <a:off x="621792" y="4517136"/>
            <a:ext cx="3675888" cy="182880"/>
          </a:xfrm>
          <a:prstGeom prst="rect">
            <a:avLst/>
          </a:prstGeom>
          <a:noFill/>
          <a:ln/>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EXPLAIN ANALYZE</a:t>
            </a:r>
            <a:endParaRPr lang="en-US" sz="1000" dirty="0"/>
          </a:p>
        </p:txBody>
      </p:sp>
      <p:sp>
        <p:nvSpPr>
          <p:cNvPr id="63" name="Text 61"/>
          <p:cNvSpPr/>
          <p:nvPr/>
        </p:nvSpPr>
        <p:spPr>
          <a:xfrm>
            <a:off x="621792" y="4718304"/>
            <a:ext cx="3675888" cy="182880"/>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SELECT * FROM orders WHERE status = 'Processing';</a:t>
            </a:r>
            <a:endParaRPr lang="en-US" sz="1000" dirty="0"/>
          </a:p>
        </p:txBody>
      </p:sp>
      <p:sp>
        <p:nvSpPr>
          <p:cNvPr id="64" name="Text 62"/>
          <p:cNvSpPr/>
          <p:nvPr/>
        </p:nvSpPr>
        <p:spPr>
          <a:xfrm>
            <a:off x="621792" y="4919472"/>
            <a:ext cx="3675888" cy="1828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 Seq Scan on orders  (cost=0..1.25 rows=25)  ← slow</a:t>
            </a:r>
            <a:endParaRPr lang="en-US" sz="1000" dirty="0"/>
          </a:p>
        </p:txBody>
      </p:sp>
      <p:sp>
        <p:nvSpPr>
          <p:cNvPr id="65" name="Shape 63"/>
          <p:cNvSpPr/>
          <p:nvPr/>
        </p:nvSpPr>
        <p:spPr>
          <a:xfrm>
            <a:off x="4517136" y="4187952"/>
            <a:ext cx="4169664" cy="859536"/>
          </a:xfrm>
          <a:prstGeom prst="rect">
            <a:avLst/>
          </a:prstGeom>
          <a:solidFill>
            <a:srgbClr val="1E293B"/>
          </a:solidFill>
          <a:ln w="12700">
            <a:solidFill>
              <a:srgbClr val="1E293B"/>
            </a:solidFill>
            <a:prstDash val="solid"/>
          </a:ln>
        </p:spPr>
        <p:txBody>
          <a:bodyPr/>
          <a:lstStyle/>
          <a:p>
            <a:endParaRPr lang="en-US"/>
          </a:p>
        </p:txBody>
      </p:sp>
      <p:sp>
        <p:nvSpPr>
          <p:cNvPr id="66" name="Text 64"/>
          <p:cNvSpPr/>
          <p:nvPr/>
        </p:nvSpPr>
        <p:spPr>
          <a:xfrm>
            <a:off x="4663440" y="4178808"/>
            <a:ext cx="3895344" cy="182880"/>
          </a:xfrm>
          <a:prstGeom prst="rect">
            <a:avLst/>
          </a:prstGeom>
          <a:noFill/>
          <a:ln/>
        </p:spPr>
        <p:txBody>
          <a:bodyPr wrap="square" lIns="0" tIns="0" rIns="0" bIns="0" rtlCol="0" anchor="ctr"/>
          <a:lstStyle/>
          <a:p>
            <a:pPr marL="0" indent="0">
              <a:buNone/>
            </a:pPr>
            <a:r>
              <a:rPr lang="en-US" sz="1000" dirty="0">
                <a:solidFill>
                  <a:srgbClr val="64748B"/>
                </a:solidFill>
                <a:latin typeface="Consolas" pitchFamily="34" charset="0"/>
                <a:ea typeface="Consolas" pitchFamily="34" charset="-122"/>
                <a:cs typeface="Consolas" pitchFamily="34" charset="-120"/>
              </a:rPr>
              <a:t>-- Create index, then run again</a:t>
            </a:r>
            <a:endParaRPr lang="en-US" sz="1000" dirty="0"/>
          </a:p>
        </p:txBody>
      </p:sp>
      <p:sp>
        <p:nvSpPr>
          <p:cNvPr id="67" name="Text 65"/>
          <p:cNvSpPr/>
          <p:nvPr/>
        </p:nvSpPr>
        <p:spPr>
          <a:xfrm>
            <a:off x="4668012" y="4343400"/>
            <a:ext cx="3895344" cy="182880"/>
          </a:xfrm>
          <a:prstGeom prst="rect">
            <a:avLst/>
          </a:prstGeom>
          <a:noFill/>
          <a:ln/>
        </p:spPr>
        <p:txBody>
          <a:bodyPr wrap="square" lIns="0" tIns="0" rIns="0" bIns="0" rtlCol="0" anchor="ctr"/>
          <a:lstStyle/>
          <a:p>
            <a:pPr marL="0" indent="0">
              <a:buNone/>
            </a:pPr>
            <a:r>
              <a:rPr lang="en-US" sz="1000" dirty="0">
                <a:solidFill>
                  <a:srgbClr val="6EE7B7"/>
                </a:solidFill>
                <a:latin typeface="Consolas" pitchFamily="34" charset="0"/>
                <a:ea typeface="Consolas" pitchFamily="34" charset="-122"/>
                <a:cs typeface="Consolas" pitchFamily="34" charset="-120"/>
              </a:rPr>
              <a:t>CREATE INDEX idx_status ON orders (status);</a:t>
            </a:r>
            <a:endParaRPr lang="en-US" sz="1000" dirty="0"/>
          </a:p>
        </p:txBody>
      </p:sp>
      <p:sp>
        <p:nvSpPr>
          <p:cNvPr id="68" name="Text 66"/>
          <p:cNvSpPr/>
          <p:nvPr/>
        </p:nvSpPr>
        <p:spPr>
          <a:xfrm>
            <a:off x="4681728" y="4544568"/>
            <a:ext cx="3895344" cy="182880"/>
          </a:xfrm>
          <a:prstGeom prst="rect">
            <a:avLst/>
          </a:prstGeom>
          <a:noFill/>
          <a:ln/>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EXPLAIN ANALYZE</a:t>
            </a:r>
            <a:endParaRPr lang="en-US" sz="1000" dirty="0"/>
          </a:p>
        </p:txBody>
      </p:sp>
      <p:sp>
        <p:nvSpPr>
          <p:cNvPr id="69" name="Text 67"/>
          <p:cNvSpPr/>
          <p:nvPr/>
        </p:nvSpPr>
        <p:spPr>
          <a:xfrm>
            <a:off x="4681728" y="4873752"/>
            <a:ext cx="3895344" cy="182880"/>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SELECT * FROM orders WHERE status = 'Processing';</a:t>
            </a:r>
            <a:endParaRPr lang="en-US" sz="1000" dirty="0"/>
          </a:p>
        </p:txBody>
      </p:sp>
      <p:sp>
        <p:nvSpPr>
          <p:cNvPr id="70" name="Text 68"/>
          <p:cNvSpPr/>
          <p:nvPr/>
        </p:nvSpPr>
        <p:spPr>
          <a:xfrm>
            <a:off x="4517136" y="4713732"/>
            <a:ext cx="4169664" cy="182880"/>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Index Scan using idx_status  (cost=0..0.15)  ← fast</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EXPLAIN  &amp;  EXPLAIN ANALYZE</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Two built-in commands that show you exactly what PostgreSQL is doing with your query — and how fast</a:t>
            </a:r>
            <a:endParaRPr lang="en-US" sz="1300" dirty="0"/>
          </a:p>
        </p:txBody>
      </p:sp>
      <p:sp>
        <p:nvSpPr>
          <p:cNvPr id="4" name="Shape 2"/>
          <p:cNvSpPr/>
          <p:nvPr/>
        </p:nvSpPr>
        <p:spPr>
          <a:xfrm>
            <a:off x="457200" y="1005840"/>
            <a:ext cx="8229600" cy="457200"/>
          </a:xfrm>
          <a:prstGeom prst="rect">
            <a:avLst/>
          </a:prstGeom>
          <a:solidFill>
            <a:srgbClr val="CCFBF1"/>
          </a:solidFill>
          <a:ln w="12700">
            <a:solidFill>
              <a:srgbClr val="0D9488"/>
            </a:solidFill>
            <a:prstDash val="solid"/>
          </a:ln>
        </p:spPr>
        <p:txBody>
          <a:bodyPr/>
          <a:lstStyle/>
          <a:p>
            <a:endParaRPr lang="en-US"/>
          </a:p>
        </p:txBody>
      </p:sp>
      <p:sp>
        <p:nvSpPr>
          <p:cNvPr id="5" name="Shape 3"/>
          <p:cNvSpPr/>
          <p:nvPr/>
        </p:nvSpPr>
        <p:spPr>
          <a:xfrm>
            <a:off x="457200" y="1005840"/>
            <a:ext cx="960120" cy="457200"/>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466344" y="1005840"/>
            <a:ext cx="950976"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WHY</a:t>
            </a:r>
            <a:endParaRPr lang="en-US" sz="900" dirty="0"/>
          </a:p>
        </p:txBody>
      </p:sp>
      <p:sp>
        <p:nvSpPr>
          <p:cNvPr id="7" name="Text 5"/>
          <p:cNvSpPr/>
          <p:nvPr/>
        </p:nvSpPr>
        <p:spPr>
          <a:xfrm>
            <a:off x="1517904" y="1069848"/>
            <a:ext cx="7095744" cy="329184"/>
          </a:xfrm>
          <a:prstGeom prst="rect">
            <a:avLst/>
          </a:prstGeom>
          <a:noFill/>
          <a:ln/>
        </p:spPr>
        <p:txBody>
          <a:bodyPr wrap="square" rtlCol="0" anchor="ctr"/>
          <a:lstStyle/>
          <a:p>
            <a:pPr marL="0" indent="0">
              <a:buNone/>
            </a:pPr>
            <a:r>
              <a:rPr lang="en-US" sz="1150" dirty="0">
                <a:solidFill>
                  <a:srgbClr val="1E293B"/>
                </a:solidFill>
                <a:latin typeface="Calibri" pitchFamily="34" charset="0"/>
                <a:ea typeface="Calibri" pitchFamily="34" charset="-122"/>
                <a:cs typeface="Calibri" pitchFamily="34" charset="-120"/>
              </a:rPr>
              <a:t>After creating an index you need to CONFIRM PostgreSQL is actually using it. These commands show the query execution plan — the step-by-step strategy PostgreSQL chose to run your query.</a:t>
            </a:r>
            <a:endParaRPr lang="en-US" sz="1150" dirty="0"/>
          </a:p>
        </p:txBody>
      </p:sp>
      <p:sp>
        <p:nvSpPr>
          <p:cNvPr id="8" name="Shape 6"/>
          <p:cNvSpPr/>
          <p:nvPr/>
        </p:nvSpPr>
        <p:spPr>
          <a:xfrm>
            <a:off x="457200" y="1572768"/>
            <a:ext cx="3977640" cy="2340864"/>
          </a:xfrm>
          <a:prstGeom prst="rect">
            <a:avLst/>
          </a:prstGeom>
          <a:solidFill>
            <a:srgbClr val="FFFFFF"/>
          </a:solidFill>
          <a:ln w="12700">
            <a:solidFill>
              <a:srgbClr val="2563EB"/>
            </a:solidFill>
            <a:prstDash val="solid"/>
          </a:ln>
        </p:spPr>
        <p:txBody>
          <a:bodyPr/>
          <a:lstStyle/>
          <a:p>
            <a:endParaRPr lang="en-US"/>
          </a:p>
        </p:txBody>
      </p:sp>
      <p:sp>
        <p:nvSpPr>
          <p:cNvPr id="9" name="Shape 7"/>
          <p:cNvSpPr/>
          <p:nvPr/>
        </p:nvSpPr>
        <p:spPr>
          <a:xfrm>
            <a:off x="457200" y="1572768"/>
            <a:ext cx="3977640" cy="347472"/>
          </a:xfrm>
          <a:prstGeom prst="rect">
            <a:avLst/>
          </a:prstGeom>
          <a:solidFill>
            <a:srgbClr val="2563EB"/>
          </a:solidFill>
          <a:ln w="12700">
            <a:solidFill>
              <a:srgbClr val="2563EB"/>
            </a:solidFill>
            <a:prstDash val="solid"/>
          </a:ln>
        </p:spPr>
        <p:txBody>
          <a:bodyPr/>
          <a:lstStyle/>
          <a:p>
            <a:endParaRPr lang="en-US"/>
          </a:p>
        </p:txBody>
      </p:sp>
      <p:sp>
        <p:nvSpPr>
          <p:cNvPr id="10" name="Text 8"/>
          <p:cNvSpPr/>
          <p:nvPr/>
        </p:nvSpPr>
        <p:spPr>
          <a:xfrm>
            <a:off x="457200" y="1572768"/>
            <a:ext cx="3977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EXPLAIN</a:t>
            </a:r>
            <a:endParaRPr lang="en-US" sz="1600" dirty="0"/>
          </a:p>
        </p:txBody>
      </p:sp>
      <p:sp>
        <p:nvSpPr>
          <p:cNvPr id="11" name="Text 9"/>
          <p:cNvSpPr/>
          <p:nvPr/>
        </p:nvSpPr>
        <p:spPr>
          <a:xfrm>
            <a:off x="566928" y="1975104"/>
            <a:ext cx="3749040" cy="256032"/>
          </a:xfrm>
          <a:prstGeom prst="rect">
            <a:avLst/>
          </a:prstGeom>
          <a:noFill/>
          <a:ln/>
        </p:spPr>
        <p:txBody>
          <a:bodyPr wrap="square"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Shows the PLAN only — does NOT run the query.</a:t>
            </a:r>
            <a:endParaRPr lang="en-US" sz="1150" dirty="0"/>
          </a:p>
        </p:txBody>
      </p:sp>
      <p:sp>
        <p:nvSpPr>
          <p:cNvPr id="12" name="Text 10"/>
          <p:cNvSpPr/>
          <p:nvPr/>
        </p:nvSpPr>
        <p:spPr>
          <a:xfrm>
            <a:off x="566928" y="2249424"/>
            <a:ext cx="3749040" cy="32918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Safe to use on any query — even DELETE or UPDATE — because nothing actually executes.</a:t>
            </a:r>
            <a:endParaRPr lang="en-US" sz="1100" dirty="0"/>
          </a:p>
        </p:txBody>
      </p:sp>
      <p:sp>
        <p:nvSpPr>
          <p:cNvPr id="13" name="Shape 11"/>
          <p:cNvSpPr/>
          <p:nvPr/>
        </p:nvSpPr>
        <p:spPr>
          <a:xfrm>
            <a:off x="566928" y="2615184"/>
            <a:ext cx="3749040" cy="658368"/>
          </a:xfrm>
          <a:prstGeom prst="rect">
            <a:avLst/>
          </a:prstGeom>
          <a:solidFill>
            <a:srgbClr val="1E293B"/>
          </a:solidFill>
          <a:ln w="12700">
            <a:solidFill>
              <a:srgbClr val="334155"/>
            </a:solidFill>
            <a:prstDash val="solid"/>
          </a:ln>
        </p:spPr>
        <p:txBody>
          <a:bodyPr/>
          <a:lstStyle/>
          <a:p>
            <a:endParaRPr lang="en-US"/>
          </a:p>
        </p:txBody>
      </p:sp>
      <p:sp>
        <p:nvSpPr>
          <p:cNvPr id="14" name="Text 12"/>
          <p:cNvSpPr/>
          <p:nvPr/>
        </p:nvSpPr>
        <p:spPr>
          <a:xfrm>
            <a:off x="713232" y="2574036"/>
            <a:ext cx="3456432" cy="210312"/>
          </a:xfrm>
          <a:prstGeom prst="rect">
            <a:avLst/>
          </a:prstGeom>
          <a:noFill/>
          <a:ln/>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EXPLAIN</a:t>
            </a:r>
            <a:endParaRPr lang="en-US" sz="1000" dirty="0"/>
          </a:p>
        </p:txBody>
      </p:sp>
      <p:sp>
        <p:nvSpPr>
          <p:cNvPr id="15" name="Text 13"/>
          <p:cNvSpPr/>
          <p:nvPr/>
        </p:nvSpPr>
        <p:spPr>
          <a:xfrm>
            <a:off x="713232" y="2775204"/>
            <a:ext cx="3456432" cy="210312"/>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SELECT * FROM orders</a:t>
            </a:r>
            <a:endParaRPr lang="en-US" sz="1000" dirty="0"/>
          </a:p>
        </p:txBody>
      </p:sp>
      <p:sp>
        <p:nvSpPr>
          <p:cNvPr id="16" name="Text 14"/>
          <p:cNvSpPr/>
          <p:nvPr/>
        </p:nvSpPr>
        <p:spPr>
          <a:xfrm>
            <a:off x="713232" y="2980944"/>
            <a:ext cx="3456432" cy="210312"/>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WHERE status = 'Processing';</a:t>
            </a:r>
            <a:endParaRPr lang="en-US" sz="1000" dirty="0"/>
          </a:p>
        </p:txBody>
      </p:sp>
      <p:sp>
        <p:nvSpPr>
          <p:cNvPr id="20" name="Shape 18"/>
          <p:cNvSpPr/>
          <p:nvPr/>
        </p:nvSpPr>
        <p:spPr>
          <a:xfrm>
            <a:off x="566928" y="3328416"/>
            <a:ext cx="3749040" cy="512064"/>
          </a:xfrm>
          <a:prstGeom prst="rect">
            <a:avLst/>
          </a:prstGeom>
          <a:solidFill>
            <a:srgbClr val="EFF6FF"/>
          </a:solidFill>
          <a:ln w="12700">
            <a:solidFill>
              <a:srgbClr val="2563EB"/>
            </a:solidFill>
            <a:prstDash val="solid"/>
          </a:ln>
        </p:spPr>
        <p:txBody>
          <a:bodyPr/>
          <a:lstStyle/>
          <a:p>
            <a:endParaRPr lang="en-US"/>
          </a:p>
        </p:txBody>
      </p:sp>
      <p:sp>
        <p:nvSpPr>
          <p:cNvPr id="21" name="Text 19"/>
          <p:cNvSpPr/>
          <p:nvPr/>
        </p:nvSpPr>
        <p:spPr>
          <a:xfrm>
            <a:off x="658368" y="3328416"/>
            <a:ext cx="3566160" cy="438912"/>
          </a:xfrm>
          <a:prstGeom prst="rect">
            <a:avLst/>
          </a:prstGeom>
          <a:noFill/>
          <a:ln/>
        </p:spPr>
        <p:txBody>
          <a:bodyPr wrap="square" rtlCol="0" anchor="ctr"/>
          <a:lstStyle/>
          <a:p>
            <a:pPr marL="0" indent="0">
              <a:buNone/>
            </a:pPr>
            <a:r>
              <a:rPr lang="en-US" sz="1050" dirty="0">
                <a:solidFill>
                  <a:srgbClr val="2563EB"/>
                </a:solidFill>
                <a:latin typeface="Calibri" pitchFamily="34" charset="0"/>
                <a:ea typeface="Calibri" pitchFamily="34" charset="-122"/>
                <a:cs typeface="Calibri" pitchFamily="34" charset="-120"/>
              </a:rPr>
              <a:t>✅  Use EXPLAIN when:</a:t>
            </a:r>
            <a:endParaRPr lang="en-US" sz="1050" dirty="0"/>
          </a:p>
          <a:p>
            <a:pPr marL="0" indent="0">
              <a:buNone/>
            </a:pPr>
            <a:r>
              <a:rPr lang="en-US" sz="1050" dirty="0">
                <a:solidFill>
                  <a:srgbClr val="2563EB"/>
                </a:solidFill>
                <a:latin typeface="Calibri" pitchFamily="34" charset="0"/>
                <a:ea typeface="Calibri" pitchFamily="34" charset="-122"/>
                <a:cs typeface="Calibri" pitchFamily="34" charset="-120"/>
              </a:rPr>
              <a:t>you want to preview the plan without touching real data</a:t>
            </a:r>
            <a:endParaRPr lang="en-US" sz="1050" dirty="0"/>
          </a:p>
        </p:txBody>
      </p:sp>
      <p:sp>
        <p:nvSpPr>
          <p:cNvPr id="22" name="Shape 20"/>
          <p:cNvSpPr/>
          <p:nvPr/>
        </p:nvSpPr>
        <p:spPr>
          <a:xfrm>
            <a:off x="4709160" y="1572768"/>
            <a:ext cx="3977640" cy="2340864"/>
          </a:xfrm>
          <a:prstGeom prst="rect">
            <a:avLst/>
          </a:prstGeom>
          <a:solidFill>
            <a:srgbClr val="FFFFFF"/>
          </a:solidFill>
          <a:ln w="12700">
            <a:solidFill>
              <a:srgbClr val="059669"/>
            </a:solidFill>
            <a:prstDash val="solid"/>
          </a:ln>
        </p:spPr>
        <p:txBody>
          <a:bodyPr/>
          <a:lstStyle/>
          <a:p>
            <a:endParaRPr lang="en-US"/>
          </a:p>
        </p:txBody>
      </p:sp>
      <p:sp>
        <p:nvSpPr>
          <p:cNvPr id="23" name="Shape 21"/>
          <p:cNvSpPr/>
          <p:nvPr/>
        </p:nvSpPr>
        <p:spPr>
          <a:xfrm>
            <a:off x="4709160" y="1572768"/>
            <a:ext cx="3977640" cy="347472"/>
          </a:xfrm>
          <a:prstGeom prst="rect">
            <a:avLst/>
          </a:prstGeom>
          <a:solidFill>
            <a:srgbClr val="059669"/>
          </a:solidFill>
          <a:ln w="12700">
            <a:solidFill>
              <a:srgbClr val="059669"/>
            </a:solidFill>
            <a:prstDash val="solid"/>
          </a:ln>
        </p:spPr>
        <p:txBody>
          <a:bodyPr/>
          <a:lstStyle/>
          <a:p>
            <a:endParaRPr lang="en-US"/>
          </a:p>
        </p:txBody>
      </p:sp>
      <p:sp>
        <p:nvSpPr>
          <p:cNvPr id="24" name="Text 22"/>
          <p:cNvSpPr/>
          <p:nvPr/>
        </p:nvSpPr>
        <p:spPr>
          <a:xfrm>
            <a:off x="4709160" y="1572768"/>
            <a:ext cx="3977640" cy="34747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EXPLAIN ANALYZE</a:t>
            </a:r>
            <a:endParaRPr lang="en-US" sz="1600" dirty="0"/>
          </a:p>
        </p:txBody>
      </p:sp>
      <p:sp>
        <p:nvSpPr>
          <p:cNvPr id="25" name="Text 23"/>
          <p:cNvSpPr/>
          <p:nvPr/>
        </p:nvSpPr>
        <p:spPr>
          <a:xfrm>
            <a:off x="4818888" y="1975104"/>
            <a:ext cx="3749040" cy="256032"/>
          </a:xfrm>
          <a:prstGeom prst="rect">
            <a:avLst/>
          </a:prstGeom>
          <a:noFill/>
          <a:ln/>
        </p:spPr>
        <p:txBody>
          <a:bodyPr wrap="square"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Shows the plan AND actually runs the query.</a:t>
            </a:r>
            <a:endParaRPr lang="en-US" sz="1150" dirty="0"/>
          </a:p>
        </p:txBody>
      </p:sp>
      <p:sp>
        <p:nvSpPr>
          <p:cNvPr id="26" name="Text 24"/>
          <p:cNvSpPr/>
          <p:nvPr/>
        </p:nvSpPr>
        <p:spPr>
          <a:xfrm>
            <a:off x="4818888" y="2249424"/>
            <a:ext cx="3749040" cy="329184"/>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Shows real execution time and actual row counts — the most useful tool to confirm your index is working.</a:t>
            </a:r>
            <a:endParaRPr lang="en-US" sz="1100" dirty="0"/>
          </a:p>
        </p:txBody>
      </p:sp>
      <p:sp>
        <p:nvSpPr>
          <p:cNvPr id="27" name="Shape 25"/>
          <p:cNvSpPr/>
          <p:nvPr/>
        </p:nvSpPr>
        <p:spPr>
          <a:xfrm>
            <a:off x="4818888" y="2615184"/>
            <a:ext cx="3749040" cy="658368"/>
          </a:xfrm>
          <a:prstGeom prst="rect">
            <a:avLst/>
          </a:prstGeom>
          <a:solidFill>
            <a:srgbClr val="1E293B"/>
          </a:solidFill>
          <a:ln w="12700">
            <a:solidFill>
              <a:srgbClr val="334155"/>
            </a:solidFill>
            <a:prstDash val="solid"/>
          </a:ln>
        </p:spPr>
        <p:txBody>
          <a:bodyPr/>
          <a:lstStyle/>
          <a:p>
            <a:endParaRPr lang="en-US"/>
          </a:p>
        </p:txBody>
      </p:sp>
      <p:sp>
        <p:nvSpPr>
          <p:cNvPr id="28" name="Text 26"/>
          <p:cNvSpPr/>
          <p:nvPr/>
        </p:nvSpPr>
        <p:spPr>
          <a:xfrm>
            <a:off x="4965192" y="2616708"/>
            <a:ext cx="3456432" cy="210312"/>
          </a:xfrm>
          <a:prstGeom prst="rect">
            <a:avLst/>
          </a:prstGeom>
          <a:noFill/>
          <a:ln/>
        </p:spPr>
        <p:txBody>
          <a:bodyPr wrap="square" lIns="0" tIns="0" rIns="0" bIns="0" rtlCol="0" anchor="ctr"/>
          <a:lstStyle/>
          <a:p>
            <a:pPr marL="0" indent="0">
              <a:buNone/>
            </a:pPr>
            <a:r>
              <a:rPr lang="en-US" sz="1000" dirty="0">
                <a:solidFill>
                  <a:srgbClr val="FCD34D"/>
                </a:solidFill>
                <a:latin typeface="Consolas" pitchFamily="34" charset="0"/>
                <a:ea typeface="Consolas" pitchFamily="34" charset="-122"/>
                <a:cs typeface="Consolas" pitchFamily="34" charset="-120"/>
              </a:rPr>
              <a:t>EXPLAIN ANALYZE</a:t>
            </a:r>
            <a:endParaRPr lang="en-US" sz="1000" dirty="0"/>
          </a:p>
        </p:txBody>
      </p:sp>
      <p:sp>
        <p:nvSpPr>
          <p:cNvPr id="29" name="Text 27"/>
          <p:cNvSpPr/>
          <p:nvPr/>
        </p:nvSpPr>
        <p:spPr>
          <a:xfrm>
            <a:off x="4965192" y="2816352"/>
            <a:ext cx="3456432" cy="210312"/>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SELECT * FROM orders</a:t>
            </a:r>
            <a:endParaRPr lang="en-US" sz="1000" dirty="0"/>
          </a:p>
        </p:txBody>
      </p:sp>
      <p:sp>
        <p:nvSpPr>
          <p:cNvPr id="30" name="Text 28"/>
          <p:cNvSpPr/>
          <p:nvPr/>
        </p:nvSpPr>
        <p:spPr>
          <a:xfrm>
            <a:off x="4965192" y="3003804"/>
            <a:ext cx="3456432" cy="210312"/>
          </a:xfrm>
          <a:prstGeom prst="rect">
            <a:avLst/>
          </a:prstGeom>
          <a:noFill/>
          <a:ln/>
        </p:spPr>
        <p:txBody>
          <a:bodyPr wrap="square" lIns="0" tIns="0" rIns="0" bIns="0" rtlCol="0" anchor="ctr"/>
          <a:lstStyle/>
          <a:p>
            <a:pPr marL="0" indent="0">
              <a:buNone/>
            </a:pPr>
            <a:r>
              <a:rPr lang="en-US" sz="1000" dirty="0">
                <a:solidFill>
                  <a:srgbClr val="93C5FD"/>
                </a:solidFill>
                <a:latin typeface="Consolas" pitchFamily="34" charset="0"/>
                <a:ea typeface="Consolas" pitchFamily="34" charset="-122"/>
                <a:cs typeface="Consolas" pitchFamily="34" charset="-120"/>
              </a:rPr>
              <a:t>WHERE status = 'Processing';</a:t>
            </a:r>
            <a:endParaRPr lang="en-US" sz="1000" dirty="0"/>
          </a:p>
        </p:txBody>
      </p:sp>
      <p:sp>
        <p:nvSpPr>
          <p:cNvPr id="34" name="Shape 32"/>
          <p:cNvSpPr/>
          <p:nvPr/>
        </p:nvSpPr>
        <p:spPr>
          <a:xfrm>
            <a:off x="4818888" y="3328416"/>
            <a:ext cx="3749040" cy="512064"/>
          </a:xfrm>
          <a:prstGeom prst="rect">
            <a:avLst/>
          </a:prstGeom>
          <a:solidFill>
            <a:srgbClr val="D1FAE5"/>
          </a:solidFill>
          <a:ln w="12700">
            <a:solidFill>
              <a:srgbClr val="059669"/>
            </a:solidFill>
            <a:prstDash val="solid"/>
          </a:ln>
        </p:spPr>
        <p:txBody>
          <a:bodyPr/>
          <a:lstStyle/>
          <a:p>
            <a:endParaRPr lang="en-US"/>
          </a:p>
        </p:txBody>
      </p:sp>
      <p:sp>
        <p:nvSpPr>
          <p:cNvPr id="35" name="Text 33"/>
          <p:cNvSpPr/>
          <p:nvPr/>
        </p:nvSpPr>
        <p:spPr>
          <a:xfrm>
            <a:off x="4910328" y="3328416"/>
            <a:ext cx="3566160" cy="438912"/>
          </a:xfrm>
          <a:prstGeom prst="rect">
            <a:avLst/>
          </a:prstGeom>
          <a:noFill/>
          <a:ln/>
        </p:spPr>
        <p:txBody>
          <a:bodyPr wrap="square" rtlCol="0" anchor="ctr"/>
          <a:lstStyle/>
          <a:p>
            <a:pPr marL="0" indent="0">
              <a:buNone/>
            </a:pPr>
            <a:r>
              <a:rPr lang="en-US" sz="1050" dirty="0">
                <a:solidFill>
                  <a:srgbClr val="059669"/>
                </a:solidFill>
                <a:latin typeface="Calibri" pitchFamily="34" charset="0"/>
                <a:ea typeface="Calibri" pitchFamily="34" charset="-122"/>
                <a:cs typeface="Calibri" pitchFamily="34" charset="-120"/>
              </a:rPr>
              <a:t>✅  Use EXPLAIN ANALYZE when:</a:t>
            </a:r>
            <a:endParaRPr lang="en-US" sz="1050" dirty="0"/>
          </a:p>
          <a:p>
            <a:pPr marL="0" indent="0">
              <a:buNone/>
            </a:pPr>
            <a:r>
              <a:rPr lang="en-US" sz="1050" dirty="0">
                <a:solidFill>
                  <a:srgbClr val="059669"/>
                </a:solidFill>
                <a:latin typeface="Calibri" pitchFamily="34" charset="0"/>
                <a:ea typeface="Calibri" pitchFamily="34" charset="-122"/>
                <a:cs typeface="Calibri" pitchFamily="34" charset="-120"/>
              </a:rPr>
              <a:t>you want to measure actual speed and confirm index usage</a:t>
            </a:r>
            <a:endParaRPr lang="en-US" sz="1050" dirty="0"/>
          </a:p>
        </p:txBody>
      </p:sp>
      <p:sp>
        <p:nvSpPr>
          <p:cNvPr id="36" name="Rectangle 35"/>
          <p:cNvSpPr/>
          <p:nvPr/>
        </p:nvSpPr>
        <p:spPr>
          <a:xfrm>
            <a:off x="457200" y="3858768"/>
            <a:ext cx="8229600" cy="2743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66928" y="3895344"/>
            <a:ext cx="2743200" cy="201168"/>
          </a:xfrm>
          <a:prstGeom prst="rect">
            <a:avLst/>
          </a:prstGeom>
          <a:noFill/>
        </p:spPr>
        <p:txBody>
          <a:bodyPr wrap="square">
            <a:spAutoFit/>
          </a:bodyPr>
          <a:lstStyle/>
          <a:p>
            <a:pPr algn="l"/>
            <a:r>
              <a:rPr sz="1050" b="1" i="0" dirty="0">
                <a:solidFill>
                  <a:srgbClr val="FCD34D"/>
                </a:solidFill>
                <a:latin typeface="Calibri"/>
              </a:rPr>
              <a:t>KEY TERMS — What the output means</a:t>
            </a:r>
          </a:p>
        </p:txBody>
      </p:sp>
      <p:sp>
        <p:nvSpPr>
          <p:cNvPr id="38" name="Rectangle 37"/>
          <p:cNvSpPr/>
          <p:nvPr/>
        </p:nvSpPr>
        <p:spPr>
          <a:xfrm>
            <a:off x="457200" y="4169664"/>
            <a:ext cx="2633472" cy="950976"/>
          </a:xfrm>
          <a:prstGeom prst="rect">
            <a:avLst/>
          </a:prstGeom>
          <a:solidFill>
            <a:srgbClr val="FEF3C7"/>
          </a:solidFill>
          <a:ln w="1524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57200" y="4169664"/>
            <a:ext cx="2633472" cy="29260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48640" y="4206240"/>
            <a:ext cx="2487168" cy="237744"/>
          </a:xfrm>
          <a:prstGeom prst="rect">
            <a:avLst/>
          </a:prstGeom>
          <a:noFill/>
        </p:spPr>
        <p:txBody>
          <a:bodyPr wrap="square">
            <a:spAutoFit/>
          </a:bodyPr>
          <a:lstStyle/>
          <a:p>
            <a:pPr algn="l"/>
            <a:r>
              <a:rPr sz="1300" b="1" i="0">
                <a:solidFill>
                  <a:srgbClr val="FFFFFF"/>
                </a:solidFill>
                <a:latin typeface="Calibri"/>
              </a:rPr>
              <a:t>Scan Type</a:t>
            </a:r>
          </a:p>
        </p:txBody>
      </p:sp>
      <p:sp>
        <p:nvSpPr>
          <p:cNvPr id="41" name="TextBox 40"/>
          <p:cNvSpPr txBox="1"/>
          <p:nvPr/>
        </p:nvSpPr>
        <p:spPr>
          <a:xfrm>
            <a:off x="548640" y="4498848"/>
            <a:ext cx="2487168" cy="237744"/>
          </a:xfrm>
          <a:prstGeom prst="rect">
            <a:avLst/>
          </a:prstGeom>
          <a:noFill/>
        </p:spPr>
        <p:txBody>
          <a:bodyPr wrap="square">
            <a:spAutoFit/>
          </a:bodyPr>
          <a:lstStyle/>
          <a:p>
            <a:pPr algn="l"/>
            <a:r>
              <a:rPr sz="1200" b="1" i="0" dirty="0">
                <a:solidFill>
                  <a:srgbClr val="D97706"/>
                </a:solidFill>
                <a:latin typeface="Calibri"/>
              </a:rPr>
              <a:t>How database finds the data</a:t>
            </a:r>
          </a:p>
        </p:txBody>
      </p:sp>
      <p:sp>
        <p:nvSpPr>
          <p:cNvPr id="42" name="TextBox 41"/>
          <p:cNvSpPr txBox="1"/>
          <p:nvPr/>
        </p:nvSpPr>
        <p:spPr>
          <a:xfrm>
            <a:off x="548640" y="4736592"/>
            <a:ext cx="2487168" cy="256032"/>
          </a:xfrm>
          <a:prstGeom prst="rect">
            <a:avLst/>
          </a:prstGeom>
          <a:noFill/>
        </p:spPr>
        <p:txBody>
          <a:bodyPr wrap="square">
            <a:spAutoFit/>
          </a:bodyPr>
          <a:lstStyle/>
          <a:p>
            <a:pPr algn="l"/>
            <a:r>
              <a:rPr sz="950" b="0" i="1">
                <a:solidFill>
                  <a:srgbClr val="64748B"/>
                </a:solidFill>
                <a:latin typeface="Calibri"/>
              </a:rPr>
              <a:t>Seq Scan = reads every row  (slow)
Index Scan = jumps using index  (fast)</a:t>
            </a:r>
          </a:p>
        </p:txBody>
      </p:sp>
      <p:sp>
        <p:nvSpPr>
          <p:cNvPr id="43" name="Rectangle 42"/>
          <p:cNvSpPr/>
          <p:nvPr/>
        </p:nvSpPr>
        <p:spPr>
          <a:xfrm>
            <a:off x="3255264" y="4169664"/>
            <a:ext cx="2633472" cy="943356"/>
          </a:xfrm>
          <a:prstGeom prst="rect">
            <a:avLst/>
          </a:prstGeom>
          <a:solidFill>
            <a:srgbClr val="DBEAFE"/>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3255264" y="4169664"/>
            <a:ext cx="2633472" cy="29260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346704" y="4206240"/>
            <a:ext cx="2487168" cy="237744"/>
          </a:xfrm>
          <a:prstGeom prst="rect">
            <a:avLst/>
          </a:prstGeom>
          <a:noFill/>
        </p:spPr>
        <p:txBody>
          <a:bodyPr wrap="square">
            <a:spAutoFit/>
          </a:bodyPr>
          <a:lstStyle/>
          <a:p>
            <a:pPr algn="l"/>
            <a:r>
              <a:rPr sz="1300" b="1" i="0" dirty="0">
                <a:solidFill>
                  <a:srgbClr val="FFFFFF"/>
                </a:solidFill>
                <a:latin typeface="Calibri"/>
              </a:rPr>
              <a:t>Planning Time</a:t>
            </a:r>
          </a:p>
        </p:txBody>
      </p:sp>
      <p:sp>
        <p:nvSpPr>
          <p:cNvPr id="46" name="TextBox 45"/>
          <p:cNvSpPr txBox="1"/>
          <p:nvPr/>
        </p:nvSpPr>
        <p:spPr>
          <a:xfrm>
            <a:off x="3346704" y="4498848"/>
            <a:ext cx="2487168" cy="237744"/>
          </a:xfrm>
          <a:prstGeom prst="rect">
            <a:avLst/>
          </a:prstGeom>
          <a:noFill/>
        </p:spPr>
        <p:txBody>
          <a:bodyPr wrap="square">
            <a:spAutoFit/>
          </a:bodyPr>
          <a:lstStyle/>
          <a:p>
            <a:pPr algn="l"/>
            <a:r>
              <a:rPr sz="1200" b="1" i="0" dirty="0">
                <a:solidFill>
                  <a:srgbClr val="2563EB"/>
                </a:solidFill>
                <a:latin typeface="Calibri"/>
              </a:rPr>
              <a:t>Time to decide HOW to run query</a:t>
            </a:r>
          </a:p>
        </p:txBody>
      </p:sp>
      <p:sp>
        <p:nvSpPr>
          <p:cNvPr id="47" name="TextBox 46"/>
          <p:cNvSpPr txBox="1"/>
          <p:nvPr/>
        </p:nvSpPr>
        <p:spPr>
          <a:xfrm>
            <a:off x="3346704" y="4736592"/>
            <a:ext cx="2487168" cy="256032"/>
          </a:xfrm>
          <a:prstGeom prst="rect">
            <a:avLst/>
          </a:prstGeom>
          <a:noFill/>
        </p:spPr>
        <p:txBody>
          <a:bodyPr wrap="square">
            <a:spAutoFit/>
          </a:bodyPr>
          <a:lstStyle/>
          <a:p>
            <a:pPr algn="l"/>
            <a:r>
              <a:rPr sz="950" b="0" i="1">
                <a:solidFill>
                  <a:srgbClr val="64748B"/>
                </a:solidFill>
                <a:latin typeface="Calibri"/>
              </a:rPr>
              <a:t>Before execution starts
Usually less than 1 ms</a:t>
            </a:r>
          </a:p>
        </p:txBody>
      </p:sp>
      <p:sp>
        <p:nvSpPr>
          <p:cNvPr id="48" name="Rectangle 47"/>
          <p:cNvSpPr/>
          <p:nvPr/>
        </p:nvSpPr>
        <p:spPr>
          <a:xfrm>
            <a:off x="6053328" y="4169664"/>
            <a:ext cx="2633472" cy="943356"/>
          </a:xfrm>
          <a:prstGeom prst="rect">
            <a:avLst/>
          </a:prstGeom>
          <a:solidFill>
            <a:srgbClr val="D1FAE5"/>
          </a:solidFill>
          <a:ln w="1524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053328" y="4169664"/>
            <a:ext cx="2633472" cy="29260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44768" y="4206240"/>
            <a:ext cx="2487168" cy="237744"/>
          </a:xfrm>
          <a:prstGeom prst="rect">
            <a:avLst/>
          </a:prstGeom>
          <a:noFill/>
        </p:spPr>
        <p:txBody>
          <a:bodyPr wrap="square">
            <a:spAutoFit/>
          </a:bodyPr>
          <a:lstStyle/>
          <a:p>
            <a:pPr algn="l"/>
            <a:r>
              <a:rPr sz="1300" b="1" i="0">
                <a:solidFill>
                  <a:srgbClr val="FFFFFF"/>
                </a:solidFill>
                <a:latin typeface="Calibri"/>
              </a:rPr>
              <a:t>Execution Time</a:t>
            </a:r>
          </a:p>
        </p:txBody>
      </p:sp>
      <p:sp>
        <p:nvSpPr>
          <p:cNvPr id="51" name="TextBox 50"/>
          <p:cNvSpPr txBox="1"/>
          <p:nvPr/>
        </p:nvSpPr>
        <p:spPr>
          <a:xfrm>
            <a:off x="6144768" y="4498848"/>
            <a:ext cx="2487168" cy="237744"/>
          </a:xfrm>
          <a:prstGeom prst="rect">
            <a:avLst/>
          </a:prstGeom>
          <a:noFill/>
        </p:spPr>
        <p:txBody>
          <a:bodyPr wrap="square">
            <a:spAutoFit/>
          </a:bodyPr>
          <a:lstStyle/>
          <a:p>
            <a:pPr algn="l"/>
            <a:r>
              <a:rPr sz="1200" b="1" i="0">
                <a:solidFill>
                  <a:srgbClr val="059669"/>
                </a:solidFill>
                <a:latin typeface="Calibri"/>
              </a:rPr>
              <a:t>Total time to run the query</a:t>
            </a:r>
          </a:p>
        </p:txBody>
      </p:sp>
      <p:sp>
        <p:nvSpPr>
          <p:cNvPr id="52" name="TextBox 51"/>
          <p:cNvSpPr txBox="1"/>
          <p:nvPr/>
        </p:nvSpPr>
        <p:spPr>
          <a:xfrm>
            <a:off x="6144768" y="4736592"/>
            <a:ext cx="2487168" cy="256032"/>
          </a:xfrm>
          <a:prstGeom prst="rect">
            <a:avLst/>
          </a:prstGeom>
          <a:noFill/>
        </p:spPr>
        <p:txBody>
          <a:bodyPr wrap="square">
            <a:spAutoFit/>
          </a:bodyPr>
          <a:lstStyle/>
          <a:p>
            <a:pPr algn="l"/>
            <a:r>
              <a:rPr sz="950" b="0" i="1">
                <a:solidFill>
                  <a:srgbClr val="64748B"/>
                </a:solidFill>
                <a:latin typeface="Calibri"/>
              </a:rPr>
              <a:t>Compare BEFORE vs AFTER index
Lower = your index is working!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64592"/>
            <a:ext cx="8229600" cy="420624"/>
          </a:xfrm>
          <a:prstGeom prst="rect">
            <a:avLst/>
          </a:prstGeom>
          <a:noFill/>
          <a:ln/>
        </p:spPr>
        <p:txBody>
          <a:bodyPr wrap="square" lIns="0" tIns="0" rIns="0" bIns="0" rtlCol="0" anchor="ctr"/>
          <a:lstStyle/>
          <a:p>
            <a:pPr marL="0" indent="0">
              <a:buNone/>
            </a:pPr>
            <a:r>
              <a:rPr lang="en-US" sz="3000" b="1" dirty="0">
                <a:solidFill>
                  <a:srgbClr val="1E293B"/>
                </a:solidFill>
                <a:latin typeface="Calibri" pitchFamily="34" charset="0"/>
                <a:ea typeface="Calibri" pitchFamily="34" charset="-122"/>
                <a:cs typeface="Calibri" pitchFamily="34" charset="-120"/>
              </a:rPr>
              <a:t>B-Tree vs Hash Index — How Each One Works Inside</a:t>
            </a:r>
            <a:endParaRPr lang="en-US" sz="3000" dirty="0"/>
          </a:p>
        </p:txBody>
      </p:sp>
      <p:sp>
        <p:nvSpPr>
          <p:cNvPr id="3" name="Text 1"/>
          <p:cNvSpPr/>
          <p:nvPr/>
        </p:nvSpPr>
        <p:spPr>
          <a:xfrm>
            <a:off x="457200" y="621792"/>
            <a:ext cx="8229600" cy="21945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Same data. Same query. Completely different internal structure — and that difference determines what queries each can answer.</a:t>
            </a:r>
            <a:endParaRPr lang="en-US" sz="1150" dirty="0"/>
          </a:p>
        </p:txBody>
      </p:sp>
      <p:sp>
        <p:nvSpPr>
          <p:cNvPr id="4" name="Shape 2"/>
          <p:cNvSpPr/>
          <p:nvPr/>
        </p:nvSpPr>
        <p:spPr>
          <a:xfrm>
            <a:off x="457200" y="896112"/>
            <a:ext cx="8229600" cy="201168"/>
          </a:xfrm>
          <a:prstGeom prst="rect">
            <a:avLst/>
          </a:prstGeom>
          <a:solidFill>
            <a:srgbClr val="1E293B"/>
          </a:solidFill>
          <a:ln w="12700">
            <a:solidFill>
              <a:srgbClr val="1E293B"/>
            </a:solidFill>
            <a:prstDash val="solid"/>
          </a:ln>
        </p:spPr>
        <p:txBody>
          <a:bodyPr/>
          <a:lstStyle/>
          <a:p>
            <a:endParaRPr lang="en-US"/>
          </a:p>
        </p:txBody>
      </p:sp>
      <p:sp>
        <p:nvSpPr>
          <p:cNvPr id="5" name="Text 3"/>
          <p:cNvSpPr/>
          <p:nvPr/>
        </p:nvSpPr>
        <p:spPr>
          <a:xfrm>
            <a:off x="548640" y="914400"/>
            <a:ext cx="8046720" cy="164592"/>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Sample data — products.price column from your products table (20 products, prices in NPR)</a:t>
            </a:r>
            <a:endParaRPr lang="en-US" sz="850" dirty="0"/>
          </a:p>
        </p:txBody>
      </p:sp>
      <p:sp>
        <p:nvSpPr>
          <p:cNvPr id="6" name="Shape 4"/>
          <p:cNvSpPr/>
          <p:nvPr/>
        </p:nvSpPr>
        <p:spPr>
          <a:xfrm>
            <a:off x="457200" y="1152144"/>
            <a:ext cx="4133088" cy="3858768"/>
          </a:xfrm>
          <a:prstGeom prst="rect">
            <a:avLst/>
          </a:prstGeom>
          <a:solidFill>
            <a:srgbClr val="F8FAFC"/>
          </a:solidFill>
          <a:ln w="12700">
            <a:solidFill>
              <a:srgbClr val="059669">
                <a:alpha val="60000"/>
              </a:srgbClr>
            </a:solidFill>
            <a:prstDash val="solid"/>
          </a:ln>
          <a:effectLst>
            <a:outerShdw blurRad="101600" dist="25400" dir="8100000" algn="bl" rotWithShape="0">
              <a:srgbClr val="000000">
                <a:alpha val="9000"/>
              </a:srgbClr>
            </a:outerShdw>
          </a:effectLst>
        </p:spPr>
        <p:txBody>
          <a:bodyPr/>
          <a:lstStyle/>
          <a:p>
            <a:endParaRPr lang="en-US"/>
          </a:p>
        </p:txBody>
      </p:sp>
      <p:sp>
        <p:nvSpPr>
          <p:cNvPr id="7" name="Shape 5"/>
          <p:cNvSpPr/>
          <p:nvPr/>
        </p:nvSpPr>
        <p:spPr>
          <a:xfrm>
            <a:off x="457200" y="1152144"/>
            <a:ext cx="4133088" cy="292608"/>
          </a:xfrm>
          <a:prstGeom prst="rect">
            <a:avLst/>
          </a:prstGeom>
          <a:solidFill>
            <a:srgbClr val="059669"/>
          </a:solidFill>
          <a:ln w="12700">
            <a:solidFill>
              <a:srgbClr val="059669"/>
            </a:solidFill>
            <a:prstDash val="solid"/>
          </a:ln>
        </p:spPr>
        <p:txBody>
          <a:bodyPr/>
          <a:lstStyle/>
          <a:p>
            <a:endParaRPr lang="en-US"/>
          </a:p>
        </p:txBody>
      </p:sp>
      <p:sp>
        <p:nvSpPr>
          <p:cNvPr id="8" name="Text 6"/>
          <p:cNvSpPr/>
          <p:nvPr/>
        </p:nvSpPr>
        <p:spPr>
          <a:xfrm>
            <a:off x="457200" y="1152144"/>
            <a:ext cx="413308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B-Tree Index  (Balanced Tree)</a:t>
            </a:r>
            <a:endParaRPr lang="en-US" sz="1300" dirty="0"/>
          </a:p>
        </p:txBody>
      </p:sp>
      <p:sp>
        <p:nvSpPr>
          <p:cNvPr id="9" name="Text 7"/>
          <p:cNvSpPr/>
          <p:nvPr/>
        </p:nvSpPr>
        <p:spPr>
          <a:xfrm>
            <a:off x="566928" y="1517904"/>
            <a:ext cx="3913632"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Stores values in SORTED ORDER inside a tree.</a:t>
            </a:r>
            <a:endParaRPr lang="en-US" sz="1000" dirty="0"/>
          </a:p>
        </p:txBody>
      </p:sp>
      <p:sp>
        <p:nvSpPr>
          <p:cNvPr id="10" name="Text 8"/>
          <p:cNvSpPr/>
          <p:nvPr/>
        </p:nvSpPr>
        <p:spPr>
          <a:xfrm>
            <a:off x="566928" y="1737360"/>
            <a:ext cx="3913632" cy="40233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PostgreSQL navigates the tree (left = smaller, right = larger)</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to find values. Because it is sorted, scanning a range</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is natural — just walk left to right.</a:t>
            </a:r>
            <a:endParaRPr lang="en-US" sz="900" dirty="0"/>
          </a:p>
        </p:txBody>
      </p:sp>
      <p:sp>
        <p:nvSpPr>
          <p:cNvPr id="11" name="Shape 9"/>
          <p:cNvSpPr/>
          <p:nvPr/>
        </p:nvSpPr>
        <p:spPr>
          <a:xfrm>
            <a:off x="566928" y="2212848"/>
            <a:ext cx="3913632" cy="969264"/>
          </a:xfrm>
          <a:prstGeom prst="rect">
            <a:avLst/>
          </a:prstGeom>
          <a:solidFill>
            <a:srgbClr val="059669">
              <a:alpha val="8000"/>
            </a:srgbClr>
          </a:solidFill>
          <a:ln w="12700">
            <a:solidFill>
              <a:srgbClr val="059669">
                <a:alpha val="28000"/>
              </a:srgbClr>
            </a:solidFill>
            <a:prstDash val="solid"/>
          </a:ln>
        </p:spPr>
        <p:txBody>
          <a:bodyPr/>
          <a:lstStyle/>
          <a:p>
            <a:endParaRPr lang="en-US"/>
          </a:p>
        </p:txBody>
      </p:sp>
      <p:sp>
        <p:nvSpPr>
          <p:cNvPr id="12" name="Text 10"/>
          <p:cNvSpPr/>
          <p:nvPr/>
        </p:nvSpPr>
        <p:spPr>
          <a:xfrm>
            <a:off x="658368" y="2249424"/>
            <a:ext cx="3730752" cy="164592"/>
          </a:xfrm>
          <a:prstGeom prst="rect">
            <a:avLst/>
          </a:prstGeom>
          <a:noFill/>
          <a:ln/>
        </p:spPr>
        <p:txBody>
          <a:bodyPr wrap="square" lIns="0" tIns="0" rIns="0" bIns="0" rtlCol="0" anchor="ctr"/>
          <a:lstStyle/>
          <a:p>
            <a:pPr marL="0" indent="0">
              <a:buNone/>
            </a:pPr>
            <a:r>
              <a:rPr lang="en-US" sz="850" b="1" dirty="0">
                <a:solidFill>
                  <a:srgbClr val="059669"/>
                </a:solidFill>
                <a:latin typeface="Calibri" pitchFamily="34" charset="0"/>
                <a:ea typeface="Calibri" pitchFamily="34" charset="-122"/>
                <a:cs typeface="Calibri" pitchFamily="34" charset="-120"/>
              </a:rPr>
              <a:t>How prices are stored in the B-Tree index:</a:t>
            </a:r>
            <a:endParaRPr lang="en-US" sz="850" dirty="0"/>
          </a:p>
        </p:txBody>
      </p:sp>
      <p:sp>
        <p:nvSpPr>
          <p:cNvPr id="13" name="Shape 11"/>
          <p:cNvSpPr/>
          <p:nvPr/>
        </p:nvSpPr>
        <p:spPr>
          <a:xfrm>
            <a:off x="621792"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14" name="Text 12"/>
          <p:cNvSpPr/>
          <p:nvPr/>
        </p:nvSpPr>
        <p:spPr>
          <a:xfrm>
            <a:off x="621792"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180</a:t>
            </a:r>
            <a:endParaRPr lang="en-US" sz="700" dirty="0"/>
          </a:p>
        </p:txBody>
      </p:sp>
      <p:sp>
        <p:nvSpPr>
          <p:cNvPr id="15" name="Shape 13"/>
          <p:cNvSpPr/>
          <p:nvPr/>
        </p:nvSpPr>
        <p:spPr>
          <a:xfrm>
            <a:off x="1152144"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16" name="Text 14"/>
          <p:cNvSpPr/>
          <p:nvPr/>
        </p:nvSpPr>
        <p:spPr>
          <a:xfrm>
            <a:off x="1152144"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4,500</a:t>
            </a:r>
            <a:endParaRPr lang="en-US" sz="700" dirty="0"/>
          </a:p>
        </p:txBody>
      </p:sp>
      <p:sp>
        <p:nvSpPr>
          <p:cNvPr id="17" name="Shape 15"/>
          <p:cNvSpPr/>
          <p:nvPr/>
        </p:nvSpPr>
        <p:spPr>
          <a:xfrm>
            <a:off x="1682496"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18" name="Text 16"/>
          <p:cNvSpPr/>
          <p:nvPr/>
        </p:nvSpPr>
        <p:spPr>
          <a:xfrm>
            <a:off x="1682496"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6,500</a:t>
            </a:r>
            <a:endParaRPr lang="en-US" sz="700" dirty="0"/>
          </a:p>
        </p:txBody>
      </p:sp>
      <p:sp>
        <p:nvSpPr>
          <p:cNvPr id="19" name="Shape 17"/>
          <p:cNvSpPr/>
          <p:nvPr/>
        </p:nvSpPr>
        <p:spPr>
          <a:xfrm>
            <a:off x="2212848"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0" name="Text 18"/>
          <p:cNvSpPr/>
          <p:nvPr/>
        </p:nvSpPr>
        <p:spPr>
          <a:xfrm>
            <a:off x="2212848"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8,500</a:t>
            </a:r>
            <a:endParaRPr lang="en-US" sz="700" dirty="0"/>
          </a:p>
        </p:txBody>
      </p:sp>
      <p:sp>
        <p:nvSpPr>
          <p:cNvPr id="21" name="Shape 19"/>
          <p:cNvSpPr/>
          <p:nvPr/>
        </p:nvSpPr>
        <p:spPr>
          <a:xfrm>
            <a:off x="2743200"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2" name="Text 20"/>
          <p:cNvSpPr/>
          <p:nvPr/>
        </p:nvSpPr>
        <p:spPr>
          <a:xfrm>
            <a:off x="2743200"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35,000</a:t>
            </a:r>
            <a:endParaRPr lang="en-US" sz="700" dirty="0"/>
          </a:p>
        </p:txBody>
      </p:sp>
      <p:sp>
        <p:nvSpPr>
          <p:cNvPr id="23" name="Shape 21"/>
          <p:cNvSpPr/>
          <p:nvPr/>
        </p:nvSpPr>
        <p:spPr>
          <a:xfrm>
            <a:off x="3273552"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4" name="Text 22"/>
          <p:cNvSpPr/>
          <p:nvPr/>
        </p:nvSpPr>
        <p:spPr>
          <a:xfrm>
            <a:off x="3273552"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45,000</a:t>
            </a:r>
            <a:endParaRPr lang="en-US" sz="700" dirty="0"/>
          </a:p>
        </p:txBody>
      </p:sp>
      <p:sp>
        <p:nvSpPr>
          <p:cNvPr id="25" name="Shape 23"/>
          <p:cNvSpPr/>
          <p:nvPr/>
        </p:nvSpPr>
        <p:spPr>
          <a:xfrm>
            <a:off x="3803904" y="2450592"/>
            <a:ext cx="475488" cy="256032"/>
          </a:xfrm>
          <a:prstGeom prst="rect">
            <a:avLst/>
          </a:prstGeom>
          <a:solidFill>
            <a:srgbClr val="059669">
              <a:alpha val="28000"/>
            </a:srgbClr>
          </a:solidFill>
          <a:ln w="12700">
            <a:solidFill>
              <a:srgbClr val="059669">
                <a:alpha val="45000"/>
              </a:srgbClr>
            </a:solidFill>
            <a:prstDash val="solid"/>
          </a:ln>
        </p:spPr>
        <p:txBody>
          <a:bodyPr/>
          <a:lstStyle/>
          <a:p>
            <a:endParaRPr lang="en-US"/>
          </a:p>
        </p:txBody>
      </p:sp>
      <p:sp>
        <p:nvSpPr>
          <p:cNvPr id="26" name="Text 24"/>
          <p:cNvSpPr/>
          <p:nvPr/>
        </p:nvSpPr>
        <p:spPr>
          <a:xfrm>
            <a:off x="3803904" y="2468880"/>
            <a:ext cx="475488" cy="219456"/>
          </a:xfrm>
          <a:prstGeom prst="rect">
            <a:avLst/>
          </a:prstGeom>
          <a:noFill/>
          <a:ln/>
        </p:spPr>
        <p:txBody>
          <a:bodyPr wrap="square" lIns="0" tIns="0" rIns="0" bIns="0" rtlCol="0" anchor="ctr"/>
          <a:lstStyle/>
          <a:p>
            <a:pPr marL="0" indent="0" algn="ctr">
              <a:buNone/>
            </a:pPr>
            <a:r>
              <a:rPr lang="en-US" sz="700" b="1" dirty="0">
                <a:solidFill>
                  <a:srgbClr val="FFFFFF"/>
                </a:solidFill>
                <a:latin typeface="Consolas" pitchFamily="34" charset="0"/>
                <a:ea typeface="Consolas" pitchFamily="34" charset="-122"/>
                <a:cs typeface="Consolas" pitchFamily="34" charset="-120"/>
              </a:rPr>
              <a:t>85,000</a:t>
            </a:r>
            <a:endParaRPr lang="en-US" sz="700" dirty="0"/>
          </a:p>
        </p:txBody>
      </p:sp>
      <p:sp>
        <p:nvSpPr>
          <p:cNvPr id="27" name="Text 25"/>
          <p:cNvSpPr/>
          <p:nvPr/>
        </p:nvSpPr>
        <p:spPr>
          <a:xfrm>
            <a:off x="621792" y="2743200"/>
            <a:ext cx="3767328" cy="164592"/>
          </a:xfrm>
          <a:prstGeom prst="rect">
            <a:avLst/>
          </a:prstGeom>
          <a:noFill/>
          <a:ln/>
        </p:spPr>
        <p:txBody>
          <a:bodyPr wrap="square" lIns="0" tIns="0" rIns="0" bIns="0" rtlCol="0" anchor="ctr"/>
          <a:lstStyle/>
          <a:p>
            <a:pPr marL="0" indent="0" algn="ctr">
              <a:buNone/>
            </a:pPr>
            <a:r>
              <a:rPr lang="en-US" sz="750" dirty="0">
                <a:solidFill>
                  <a:srgbClr val="059669"/>
                </a:solidFill>
                <a:latin typeface="Calibri" pitchFamily="34" charset="0"/>
                <a:ea typeface="Calibri" pitchFamily="34" charset="-122"/>
                <a:cs typeface="Calibri" pitchFamily="34" charset="-120"/>
              </a:rPr>
              <a:t>← ─────────── sorted smallest to largest ─────────── →</a:t>
            </a:r>
            <a:endParaRPr lang="en-US" sz="750" dirty="0"/>
          </a:p>
        </p:txBody>
      </p:sp>
      <p:sp>
        <p:nvSpPr>
          <p:cNvPr id="28" name="Text 26"/>
          <p:cNvSpPr/>
          <p:nvPr/>
        </p:nvSpPr>
        <p:spPr>
          <a:xfrm>
            <a:off x="621792" y="2907792"/>
            <a:ext cx="3767328" cy="219456"/>
          </a:xfrm>
          <a:prstGeom prst="rect">
            <a:avLst/>
          </a:prstGeom>
          <a:noFill/>
          <a:ln/>
        </p:spPr>
        <p:txBody>
          <a:bodyPr wrap="square" lIns="0" tIns="0" rIns="0" bIns="0" rtlCol="0" anchor="ctr"/>
          <a:lstStyle/>
          <a:p>
            <a:pPr marL="0" indent="0">
              <a:buNone/>
            </a:pPr>
            <a:r>
              <a:rPr lang="en-US" sz="800" b="1" dirty="0">
                <a:solidFill>
                  <a:srgbClr val="059669"/>
                </a:solidFill>
                <a:latin typeface="Calibri" pitchFamily="34" charset="0"/>
                <a:ea typeface="Calibri" pitchFamily="34" charset="-122"/>
                <a:cs typeface="Calibri" pitchFamily="34" charset="-120"/>
              </a:rPr>
              <a:t>To find price &gt; 8,500 → jump to 8,500 in tree → scan everything to the right</a:t>
            </a:r>
            <a:endParaRPr lang="en-US" sz="800" dirty="0"/>
          </a:p>
        </p:txBody>
      </p:sp>
      <p:sp>
        <p:nvSpPr>
          <p:cNvPr id="29" name="Text 27"/>
          <p:cNvSpPr/>
          <p:nvPr/>
        </p:nvSpPr>
        <p:spPr>
          <a:xfrm>
            <a:off x="566928" y="3255264"/>
            <a:ext cx="3913632" cy="182880"/>
          </a:xfrm>
          <a:prstGeom prst="rect">
            <a:avLst/>
          </a:prstGeom>
          <a:noFill/>
          <a:ln/>
        </p:spPr>
        <p:txBody>
          <a:bodyPr wrap="square" lIns="0" tIns="0" rIns="0" bIns="0" rtlCol="0" anchor="ctr"/>
          <a:lstStyle/>
          <a:p>
            <a:pPr marL="0" indent="0">
              <a:buNone/>
            </a:pPr>
            <a:r>
              <a:rPr lang="en-US" sz="950" b="1" dirty="0">
                <a:solidFill>
                  <a:srgbClr val="059669"/>
                </a:solidFill>
                <a:latin typeface="Calibri" pitchFamily="34" charset="0"/>
                <a:ea typeface="Calibri" pitchFamily="34" charset="-122"/>
                <a:cs typeface="Calibri" pitchFamily="34" charset="-120"/>
              </a:rPr>
              <a:t>Queries this index can answer:</a:t>
            </a:r>
            <a:endParaRPr lang="en-US" sz="950" dirty="0"/>
          </a:p>
        </p:txBody>
      </p:sp>
      <p:sp>
        <p:nvSpPr>
          <p:cNvPr id="30" name="Shape 28"/>
          <p:cNvSpPr/>
          <p:nvPr/>
        </p:nvSpPr>
        <p:spPr>
          <a:xfrm>
            <a:off x="566928" y="3474720"/>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31" name="Shape 29"/>
          <p:cNvSpPr/>
          <p:nvPr/>
        </p:nvSpPr>
        <p:spPr>
          <a:xfrm>
            <a:off x="566928" y="3474720"/>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32" name="Text 30"/>
          <p:cNvSpPr/>
          <p:nvPr/>
        </p:nvSpPr>
        <p:spPr>
          <a:xfrm>
            <a:off x="566928" y="3474720"/>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a:t>
            </a:r>
            <a:endParaRPr lang="en-US" sz="750" dirty="0"/>
          </a:p>
        </p:txBody>
      </p:sp>
      <p:sp>
        <p:nvSpPr>
          <p:cNvPr id="33" name="Text 31"/>
          <p:cNvSpPr/>
          <p:nvPr/>
        </p:nvSpPr>
        <p:spPr>
          <a:xfrm>
            <a:off x="1170432" y="3502152"/>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price = 8500</a:t>
            </a:r>
            <a:endParaRPr lang="en-US" sz="850" dirty="0"/>
          </a:p>
        </p:txBody>
      </p:sp>
      <p:sp>
        <p:nvSpPr>
          <p:cNvPr id="34" name="Text 32"/>
          <p:cNvSpPr/>
          <p:nvPr/>
        </p:nvSpPr>
        <p:spPr>
          <a:xfrm>
            <a:off x="3474720" y="3511296"/>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exact match</a:t>
            </a:r>
            <a:endParaRPr lang="en-US" sz="750" dirty="0"/>
          </a:p>
        </p:txBody>
      </p:sp>
      <p:sp>
        <p:nvSpPr>
          <p:cNvPr id="35" name="Shape 33"/>
          <p:cNvSpPr/>
          <p:nvPr/>
        </p:nvSpPr>
        <p:spPr>
          <a:xfrm>
            <a:off x="566928" y="3730752"/>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36" name="Shape 34"/>
          <p:cNvSpPr/>
          <p:nvPr/>
        </p:nvSpPr>
        <p:spPr>
          <a:xfrm>
            <a:off x="566928" y="3730752"/>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37" name="Text 35"/>
          <p:cNvSpPr/>
          <p:nvPr/>
        </p:nvSpPr>
        <p:spPr>
          <a:xfrm>
            <a:off x="566928" y="3730752"/>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&gt;  &lt;</a:t>
            </a:r>
            <a:endParaRPr lang="en-US" sz="750" dirty="0"/>
          </a:p>
        </p:txBody>
      </p:sp>
      <p:sp>
        <p:nvSpPr>
          <p:cNvPr id="38" name="Text 36"/>
          <p:cNvSpPr/>
          <p:nvPr/>
        </p:nvSpPr>
        <p:spPr>
          <a:xfrm>
            <a:off x="1170432" y="3758184"/>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price &gt; 10000</a:t>
            </a:r>
            <a:endParaRPr lang="en-US" sz="850" dirty="0"/>
          </a:p>
        </p:txBody>
      </p:sp>
      <p:sp>
        <p:nvSpPr>
          <p:cNvPr id="39" name="Text 37"/>
          <p:cNvSpPr/>
          <p:nvPr/>
        </p:nvSpPr>
        <p:spPr>
          <a:xfrm>
            <a:off x="3474720" y="3767328"/>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range scan</a:t>
            </a:r>
            <a:endParaRPr lang="en-US" sz="750" dirty="0"/>
          </a:p>
        </p:txBody>
      </p:sp>
      <p:sp>
        <p:nvSpPr>
          <p:cNvPr id="40" name="Shape 38"/>
          <p:cNvSpPr/>
          <p:nvPr/>
        </p:nvSpPr>
        <p:spPr>
          <a:xfrm>
            <a:off x="566928" y="3986784"/>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41" name="Shape 39"/>
          <p:cNvSpPr/>
          <p:nvPr/>
        </p:nvSpPr>
        <p:spPr>
          <a:xfrm>
            <a:off x="566928" y="3986784"/>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42" name="Text 40"/>
          <p:cNvSpPr/>
          <p:nvPr/>
        </p:nvSpPr>
        <p:spPr>
          <a:xfrm>
            <a:off x="566928" y="3986784"/>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BETWEEN</a:t>
            </a:r>
            <a:endParaRPr lang="en-US" sz="750" dirty="0"/>
          </a:p>
        </p:txBody>
      </p:sp>
      <p:sp>
        <p:nvSpPr>
          <p:cNvPr id="43" name="Text 41"/>
          <p:cNvSpPr/>
          <p:nvPr/>
        </p:nvSpPr>
        <p:spPr>
          <a:xfrm>
            <a:off x="1170432" y="4014216"/>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price BETWEEN 5000 AND 50000</a:t>
            </a:r>
            <a:endParaRPr lang="en-US" sz="850" dirty="0"/>
          </a:p>
        </p:txBody>
      </p:sp>
      <p:sp>
        <p:nvSpPr>
          <p:cNvPr id="44" name="Text 42"/>
          <p:cNvSpPr/>
          <p:nvPr/>
        </p:nvSpPr>
        <p:spPr>
          <a:xfrm>
            <a:off x="3474720" y="4023360"/>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range scan</a:t>
            </a:r>
            <a:endParaRPr lang="en-US" sz="750" dirty="0"/>
          </a:p>
        </p:txBody>
      </p:sp>
      <p:sp>
        <p:nvSpPr>
          <p:cNvPr id="45" name="Shape 43"/>
          <p:cNvSpPr/>
          <p:nvPr/>
        </p:nvSpPr>
        <p:spPr>
          <a:xfrm>
            <a:off x="566928" y="4242816"/>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46" name="Shape 44"/>
          <p:cNvSpPr/>
          <p:nvPr/>
        </p:nvSpPr>
        <p:spPr>
          <a:xfrm>
            <a:off x="566928" y="4242816"/>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47" name="Text 45"/>
          <p:cNvSpPr/>
          <p:nvPr/>
        </p:nvSpPr>
        <p:spPr>
          <a:xfrm>
            <a:off x="566928" y="4242816"/>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LIKE</a:t>
            </a:r>
            <a:endParaRPr lang="en-US" sz="750" dirty="0"/>
          </a:p>
        </p:txBody>
      </p:sp>
      <p:sp>
        <p:nvSpPr>
          <p:cNvPr id="48" name="Text 46"/>
          <p:cNvSpPr/>
          <p:nvPr/>
        </p:nvSpPr>
        <p:spPr>
          <a:xfrm>
            <a:off x="1170432" y="4270248"/>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WHERE name LIKE 'Ram%'</a:t>
            </a:r>
            <a:endParaRPr lang="en-US" sz="850" dirty="0"/>
          </a:p>
        </p:txBody>
      </p:sp>
      <p:sp>
        <p:nvSpPr>
          <p:cNvPr id="49" name="Text 47"/>
          <p:cNvSpPr/>
          <p:nvPr/>
        </p:nvSpPr>
        <p:spPr>
          <a:xfrm>
            <a:off x="3474720" y="4279392"/>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prefix scan</a:t>
            </a:r>
            <a:endParaRPr lang="en-US" sz="750" dirty="0"/>
          </a:p>
        </p:txBody>
      </p:sp>
      <p:sp>
        <p:nvSpPr>
          <p:cNvPr id="50" name="Shape 48"/>
          <p:cNvSpPr/>
          <p:nvPr/>
        </p:nvSpPr>
        <p:spPr>
          <a:xfrm>
            <a:off x="566928" y="4498848"/>
            <a:ext cx="3913632" cy="219456"/>
          </a:xfrm>
          <a:prstGeom prst="rect">
            <a:avLst/>
          </a:prstGeom>
          <a:solidFill>
            <a:srgbClr val="059669">
              <a:alpha val="10000"/>
            </a:srgbClr>
          </a:solidFill>
          <a:ln w="12700">
            <a:solidFill>
              <a:srgbClr val="059669">
                <a:alpha val="26000"/>
              </a:srgbClr>
            </a:solidFill>
            <a:prstDash val="solid"/>
          </a:ln>
        </p:spPr>
        <p:txBody>
          <a:bodyPr/>
          <a:lstStyle/>
          <a:p>
            <a:endParaRPr lang="en-US"/>
          </a:p>
        </p:txBody>
      </p:sp>
      <p:sp>
        <p:nvSpPr>
          <p:cNvPr id="51" name="Shape 49"/>
          <p:cNvSpPr/>
          <p:nvPr/>
        </p:nvSpPr>
        <p:spPr>
          <a:xfrm>
            <a:off x="566928" y="4498848"/>
            <a:ext cx="566928" cy="219456"/>
          </a:xfrm>
          <a:prstGeom prst="rect">
            <a:avLst/>
          </a:prstGeom>
          <a:solidFill>
            <a:srgbClr val="059669">
              <a:alpha val="32000"/>
            </a:srgbClr>
          </a:solidFill>
          <a:ln w="12700">
            <a:solidFill>
              <a:srgbClr val="059669">
                <a:alpha val="40000"/>
              </a:srgbClr>
            </a:solidFill>
            <a:prstDash val="solid"/>
          </a:ln>
        </p:spPr>
        <p:txBody>
          <a:bodyPr/>
          <a:lstStyle/>
          <a:p>
            <a:endParaRPr lang="en-US"/>
          </a:p>
        </p:txBody>
      </p:sp>
      <p:sp>
        <p:nvSpPr>
          <p:cNvPr id="52" name="Text 50"/>
          <p:cNvSpPr/>
          <p:nvPr/>
        </p:nvSpPr>
        <p:spPr>
          <a:xfrm>
            <a:off x="566928" y="4498848"/>
            <a:ext cx="566928" cy="219456"/>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ORDER</a:t>
            </a:r>
            <a:endParaRPr lang="en-US" sz="750" dirty="0"/>
          </a:p>
        </p:txBody>
      </p:sp>
      <p:sp>
        <p:nvSpPr>
          <p:cNvPr id="53" name="Text 51"/>
          <p:cNvSpPr/>
          <p:nvPr/>
        </p:nvSpPr>
        <p:spPr>
          <a:xfrm>
            <a:off x="1170432" y="4526280"/>
            <a:ext cx="2286000" cy="164592"/>
          </a:xfrm>
          <a:prstGeom prst="rect">
            <a:avLst/>
          </a:prstGeom>
          <a:noFill/>
          <a:ln/>
        </p:spPr>
        <p:txBody>
          <a:bodyPr wrap="square" lIns="0" tIns="0" rIns="0" bIns="0" rtlCol="0" anchor="ctr"/>
          <a:lstStyle/>
          <a:p>
            <a:pPr marL="0" indent="0">
              <a:buNone/>
            </a:pPr>
            <a:r>
              <a:rPr lang="en-US" sz="850" dirty="0">
                <a:solidFill>
                  <a:srgbClr val="059669"/>
                </a:solidFill>
                <a:latin typeface="Consolas" pitchFamily="34" charset="0"/>
                <a:ea typeface="Consolas" pitchFamily="34" charset="-122"/>
                <a:cs typeface="Consolas" pitchFamily="34" charset="-120"/>
              </a:rPr>
              <a:t>✓  ORDER BY price DESC</a:t>
            </a:r>
            <a:endParaRPr lang="en-US" sz="850" dirty="0"/>
          </a:p>
        </p:txBody>
      </p:sp>
      <p:sp>
        <p:nvSpPr>
          <p:cNvPr id="54" name="Text 52"/>
          <p:cNvSpPr/>
          <p:nvPr/>
        </p:nvSpPr>
        <p:spPr>
          <a:xfrm>
            <a:off x="3474720" y="4535424"/>
            <a:ext cx="950976" cy="146304"/>
          </a:xfrm>
          <a:prstGeom prst="rect">
            <a:avLst/>
          </a:prstGeom>
          <a:noFill/>
          <a:ln/>
        </p:spPr>
        <p:txBody>
          <a:bodyPr wrap="square" lIns="0" tIns="0" rIns="0" bIns="0" rtlCol="0" anchor="ctr"/>
          <a:lstStyle/>
          <a:p>
            <a:pPr marL="0" indent="0">
              <a:buNone/>
            </a:pPr>
            <a:r>
              <a:rPr lang="en-US" sz="750" dirty="0">
                <a:solidFill>
                  <a:srgbClr val="64748B"/>
                </a:solidFill>
                <a:latin typeface="Calibri" pitchFamily="34" charset="0"/>
                <a:ea typeface="Calibri" pitchFamily="34" charset="-122"/>
                <a:cs typeface="Calibri" pitchFamily="34" charset="-120"/>
              </a:rPr>
              <a:t>already sorted</a:t>
            </a:r>
            <a:endParaRPr lang="en-US" sz="750" dirty="0"/>
          </a:p>
        </p:txBody>
      </p:sp>
      <p:sp>
        <p:nvSpPr>
          <p:cNvPr id="55" name="Shape 53"/>
          <p:cNvSpPr/>
          <p:nvPr/>
        </p:nvSpPr>
        <p:spPr>
          <a:xfrm>
            <a:off x="4828032" y="1152144"/>
            <a:ext cx="3858768" cy="3858768"/>
          </a:xfrm>
          <a:prstGeom prst="rect">
            <a:avLst/>
          </a:prstGeom>
          <a:solidFill>
            <a:srgbClr val="F8FAFC"/>
          </a:solidFill>
          <a:ln w="12700">
            <a:solidFill>
              <a:srgbClr val="2563EB">
                <a:alpha val="60000"/>
              </a:srgbClr>
            </a:solidFill>
            <a:prstDash val="solid"/>
          </a:ln>
          <a:effectLst>
            <a:outerShdw blurRad="101600" dist="25400" dir="8100000" algn="bl" rotWithShape="0">
              <a:srgbClr val="000000">
                <a:alpha val="9000"/>
              </a:srgbClr>
            </a:outerShdw>
          </a:effectLst>
        </p:spPr>
        <p:txBody>
          <a:bodyPr/>
          <a:lstStyle/>
          <a:p>
            <a:endParaRPr lang="en-US"/>
          </a:p>
        </p:txBody>
      </p:sp>
      <p:sp>
        <p:nvSpPr>
          <p:cNvPr id="56" name="Shape 54"/>
          <p:cNvSpPr/>
          <p:nvPr/>
        </p:nvSpPr>
        <p:spPr>
          <a:xfrm>
            <a:off x="4828032" y="1152144"/>
            <a:ext cx="3858768" cy="292608"/>
          </a:xfrm>
          <a:prstGeom prst="rect">
            <a:avLst/>
          </a:prstGeom>
          <a:solidFill>
            <a:srgbClr val="2563EB"/>
          </a:solidFill>
          <a:ln w="12700">
            <a:solidFill>
              <a:srgbClr val="2563EB"/>
            </a:solidFill>
            <a:prstDash val="solid"/>
          </a:ln>
        </p:spPr>
        <p:txBody>
          <a:bodyPr/>
          <a:lstStyle/>
          <a:p>
            <a:endParaRPr lang="en-US"/>
          </a:p>
        </p:txBody>
      </p:sp>
      <p:sp>
        <p:nvSpPr>
          <p:cNvPr id="57" name="Text 55"/>
          <p:cNvSpPr/>
          <p:nvPr/>
        </p:nvSpPr>
        <p:spPr>
          <a:xfrm>
            <a:off x="4828032" y="1152144"/>
            <a:ext cx="3858768"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Hash Index</a:t>
            </a:r>
            <a:endParaRPr lang="en-US" sz="1300" dirty="0"/>
          </a:p>
        </p:txBody>
      </p:sp>
      <p:sp>
        <p:nvSpPr>
          <p:cNvPr id="58" name="Text 56"/>
          <p:cNvSpPr/>
          <p:nvPr/>
        </p:nvSpPr>
        <p:spPr>
          <a:xfrm>
            <a:off x="4937760" y="1517904"/>
            <a:ext cx="3639312" cy="201168"/>
          </a:xfrm>
          <a:prstGeom prst="rect">
            <a:avLst/>
          </a:prstGeom>
          <a:noFill/>
          <a:ln/>
        </p:spPr>
        <p:txBody>
          <a:bodyPr wrap="square" lIns="0" tIns="0" rIns="0" bIns="0" rtlCol="0" anchor="ctr"/>
          <a:lstStyle/>
          <a:p>
            <a:pPr marL="0" indent="0">
              <a:buNone/>
            </a:pPr>
            <a:r>
              <a:rPr lang="en-US" sz="1000" b="1" dirty="0">
                <a:solidFill>
                  <a:srgbClr val="2563EB"/>
                </a:solidFill>
                <a:latin typeface="Calibri" pitchFamily="34" charset="0"/>
                <a:ea typeface="Calibri" pitchFamily="34" charset="-122"/>
                <a:cs typeface="Calibri" pitchFamily="34" charset="-120"/>
              </a:rPr>
              <a:t>Converts each value into a HASH CODE (random number).</a:t>
            </a:r>
            <a:endParaRPr lang="en-US" sz="1000" dirty="0"/>
          </a:p>
        </p:txBody>
      </p:sp>
      <p:sp>
        <p:nvSpPr>
          <p:cNvPr id="59" name="Text 57"/>
          <p:cNvSpPr/>
          <p:nvPr/>
        </p:nvSpPr>
        <p:spPr>
          <a:xfrm>
            <a:off x="4937760" y="1737360"/>
            <a:ext cx="3639312" cy="402336"/>
          </a:xfrm>
          <a:prstGeom prst="rect">
            <a:avLst/>
          </a:prstGeom>
          <a:noFill/>
          <a:ln/>
        </p:spPr>
        <p:txBody>
          <a:bodyPr wrap="square" lIns="0" tIns="0" rIns="0" bIns="0" rtlCol="0" anchor="ctr"/>
          <a:lstStyle/>
          <a:p>
            <a:pPr marL="0" indent="0">
              <a:buNone/>
            </a:pPr>
            <a:r>
              <a:rPr lang="en-US" sz="900" dirty="0">
                <a:solidFill>
                  <a:srgbClr val="334155"/>
                </a:solidFill>
                <a:latin typeface="Calibri" pitchFamily="34" charset="0"/>
                <a:ea typeface="Calibri" pitchFamily="34" charset="-122"/>
                <a:cs typeface="Calibri" pitchFamily="34" charset="-120"/>
              </a:rPr>
              <a:t>PostgreSQL runs a formula on the value to get a number,</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then jumps directly to that storage location.</a:t>
            </a:r>
            <a:endParaRPr lang="en-US" sz="900" dirty="0"/>
          </a:p>
          <a:p>
            <a:pPr marL="0" indent="0">
              <a:buNone/>
            </a:pPr>
            <a:r>
              <a:rPr lang="en-US" sz="900" dirty="0">
                <a:solidFill>
                  <a:srgbClr val="334155"/>
                </a:solidFill>
                <a:latin typeface="Calibri" pitchFamily="34" charset="0"/>
                <a:ea typeface="Calibri" pitchFamily="34" charset="-122"/>
                <a:cs typeface="Calibri" pitchFamily="34" charset="-120"/>
              </a:rPr>
              <a:t>Values are NOT sorted — the hash codes are random.</a:t>
            </a:r>
            <a:endParaRPr lang="en-US" sz="900" dirty="0"/>
          </a:p>
        </p:txBody>
      </p:sp>
      <p:sp>
        <p:nvSpPr>
          <p:cNvPr id="60" name="Shape 58"/>
          <p:cNvSpPr/>
          <p:nvPr/>
        </p:nvSpPr>
        <p:spPr>
          <a:xfrm>
            <a:off x="4937760" y="2212848"/>
            <a:ext cx="3639312" cy="969264"/>
          </a:xfrm>
          <a:prstGeom prst="rect">
            <a:avLst/>
          </a:prstGeom>
          <a:solidFill>
            <a:srgbClr val="2563EB">
              <a:alpha val="8000"/>
            </a:srgbClr>
          </a:solidFill>
          <a:ln w="12700">
            <a:solidFill>
              <a:srgbClr val="2563EB">
                <a:alpha val="28000"/>
              </a:srgbClr>
            </a:solidFill>
            <a:prstDash val="solid"/>
          </a:ln>
        </p:spPr>
        <p:txBody>
          <a:bodyPr/>
          <a:lstStyle/>
          <a:p>
            <a:endParaRPr lang="en-US"/>
          </a:p>
        </p:txBody>
      </p:sp>
      <p:sp>
        <p:nvSpPr>
          <p:cNvPr id="61" name="Text 59"/>
          <p:cNvSpPr/>
          <p:nvPr/>
        </p:nvSpPr>
        <p:spPr>
          <a:xfrm>
            <a:off x="5029200" y="2249424"/>
            <a:ext cx="3456432" cy="164592"/>
          </a:xfrm>
          <a:prstGeom prst="rect">
            <a:avLst/>
          </a:prstGeom>
          <a:noFill/>
          <a:ln/>
        </p:spPr>
        <p:txBody>
          <a:bodyPr wrap="square" lIns="0" tIns="0" rIns="0" bIns="0" rtlCol="0" anchor="ctr"/>
          <a:lstStyle/>
          <a:p>
            <a:pPr marL="0" indent="0">
              <a:buNone/>
            </a:pPr>
            <a:r>
              <a:rPr lang="en-US" sz="850" b="1" dirty="0">
                <a:solidFill>
                  <a:srgbClr val="2563EB"/>
                </a:solidFill>
                <a:latin typeface="Calibri" pitchFamily="34" charset="0"/>
                <a:ea typeface="Calibri" pitchFamily="34" charset="-122"/>
                <a:cs typeface="Calibri" pitchFamily="34" charset="-120"/>
              </a:rPr>
              <a:t>How emails are stored in the Hash index:</a:t>
            </a:r>
            <a:endParaRPr lang="en-US" sz="850" dirty="0"/>
          </a:p>
        </p:txBody>
      </p:sp>
      <p:sp>
        <p:nvSpPr>
          <p:cNvPr id="62" name="Shape 60"/>
          <p:cNvSpPr/>
          <p:nvPr/>
        </p:nvSpPr>
        <p:spPr>
          <a:xfrm>
            <a:off x="5029200" y="2450592"/>
            <a:ext cx="3456432" cy="182880"/>
          </a:xfrm>
          <a:prstGeom prst="rect">
            <a:avLst/>
          </a:prstGeom>
          <a:solidFill>
            <a:srgbClr val="2563EB">
              <a:alpha val="15000"/>
            </a:srgbClr>
          </a:solidFill>
          <a:ln w="12700">
            <a:solidFill>
              <a:srgbClr val="2563EB">
                <a:alpha val="30000"/>
              </a:srgbClr>
            </a:solidFill>
            <a:prstDash val="solid"/>
          </a:ln>
        </p:spPr>
        <p:txBody>
          <a:bodyPr/>
          <a:lstStyle/>
          <a:p>
            <a:endParaRPr lang="en-US"/>
          </a:p>
        </p:txBody>
      </p:sp>
      <p:sp>
        <p:nvSpPr>
          <p:cNvPr id="63" name="Text 61"/>
          <p:cNvSpPr/>
          <p:nvPr/>
        </p:nvSpPr>
        <p:spPr>
          <a:xfrm>
            <a:off x="5102352" y="2468880"/>
            <a:ext cx="1645920" cy="146304"/>
          </a:xfrm>
          <a:prstGeom prst="rect">
            <a:avLst/>
          </a:prstGeom>
          <a:noFill/>
          <a:ln/>
        </p:spPr>
        <p:txBody>
          <a:bodyPr wrap="square" lIns="0" tIns="0" rIns="0" bIns="0" rtlCol="0" anchor="ctr"/>
          <a:lstStyle/>
          <a:p>
            <a:pPr marL="0" indent="0">
              <a:buNone/>
            </a:pPr>
            <a:r>
              <a:rPr lang="en-US" sz="800" dirty="0">
                <a:solidFill>
                  <a:srgbClr val="2563EB"/>
                </a:solidFill>
                <a:latin typeface="Consolas" pitchFamily="34" charset="0"/>
                <a:ea typeface="Consolas" pitchFamily="34" charset="-122"/>
                <a:cs typeface="Consolas" pitchFamily="34" charset="-120"/>
              </a:rPr>
              <a:t>ram@email.com</a:t>
            </a:r>
            <a:endParaRPr lang="en-US" sz="800" dirty="0"/>
          </a:p>
        </p:txBody>
      </p:sp>
      <p:sp>
        <p:nvSpPr>
          <p:cNvPr id="64" name="Text 62"/>
          <p:cNvSpPr/>
          <p:nvPr/>
        </p:nvSpPr>
        <p:spPr>
          <a:xfrm>
            <a:off x="6766560" y="2468880"/>
            <a:ext cx="1645920" cy="146304"/>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slot #4829</a:t>
            </a:r>
            <a:endParaRPr lang="en-US" sz="800" dirty="0"/>
          </a:p>
        </p:txBody>
      </p:sp>
      <p:sp>
        <p:nvSpPr>
          <p:cNvPr id="65" name="Shape 63"/>
          <p:cNvSpPr/>
          <p:nvPr/>
        </p:nvSpPr>
        <p:spPr>
          <a:xfrm>
            <a:off x="5029200" y="2651760"/>
            <a:ext cx="3456432" cy="182880"/>
          </a:xfrm>
          <a:prstGeom prst="rect">
            <a:avLst/>
          </a:prstGeom>
          <a:solidFill>
            <a:srgbClr val="2563EB">
              <a:alpha val="15000"/>
            </a:srgbClr>
          </a:solidFill>
          <a:ln w="12700">
            <a:solidFill>
              <a:srgbClr val="2563EB">
                <a:alpha val="30000"/>
              </a:srgbClr>
            </a:solidFill>
            <a:prstDash val="solid"/>
          </a:ln>
        </p:spPr>
        <p:txBody>
          <a:bodyPr/>
          <a:lstStyle/>
          <a:p>
            <a:endParaRPr lang="en-US"/>
          </a:p>
        </p:txBody>
      </p:sp>
      <p:sp>
        <p:nvSpPr>
          <p:cNvPr id="66" name="Text 64"/>
          <p:cNvSpPr/>
          <p:nvPr/>
        </p:nvSpPr>
        <p:spPr>
          <a:xfrm>
            <a:off x="5102352" y="2670048"/>
            <a:ext cx="1645920" cy="146304"/>
          </a:xfrm>
          <a:prstGeom prst="rect">
            <a:avLst/>
          </a:prstGeom>
          <a:noFill/>
          <a:ln/>
        </p:spPr>
        <p:txBody>
          <a:bodyPr wrap="square" lIns="0" tIns="0" rIns="0" bIns="0" rtlCol="0" anchor="ctr"/>
          <a:lstStyle/>
          <a:p>
            <a:pPr marL="0" indent="0">
              <a:buNone/>
            </a:pPr>
            <a:r>
              <a:rPr lang="en-US" sz="800" dirty="0">
                <a:solidFill>
                  <a:srgbClr val="2563EB"/>
                </a:solidFill>
                <a:latin typeface="Consolas" pitchFamily="34" charset="0"/>
                <a:ea typeface="Consolas" pitchFamily="34" charset="-122"/>
                <a:cs typeface="Consolas" pitchFamily="34" charset="-120"/>
              </a:rPr>
              <a:t>sita@email.com</a:t>
            </a:r>
            <a:endParaRPr lang="en-US" sz="800" dirty="0"/>
          </a:p>
        </p:txBody>
      </p:sp>
      <p:sp>
        <p:nvSpPr>
          <p:cNvPr id="67" name="Text 65"/>
          <p:cNvSpPr/>
          <p:nvPr/>
        </p:nvSpPr>
        <p:spPr>
          <a:xfrm>
            <a:off x="6766560" y="2670048"/>
            <a:ext cx="1645920" cy="146304"/>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slot #1103</a:t>
            </a:r>
            <a:endParaRPr lang="en-US" sz="800" dirty="0"/>
          </a:p>
        </p:txBody>
      </p:sp>
      <p:sp>
        <p:nvSpPr>
          <p:cNvPr id="68" name="Shape 66"/>
          <p:cNvSpPr/>
          <p:nvPr/>
        </p:nvSpPr>
        <p:spPr>
          <a:xfrm>
            <a:off x="5029200" y="2852928"/>
            <a:ext cx="3456432" cy="182880"/>
          </a:xfrm>
          <a:prstGeom prst="rect">
            <a:avLst/>
          </a:prstGeom>
          <a:solidFill>
            <a:srgbClr val="2563EB">
              <a:alpha val="15000"/>
            </a:srgbClr>
          </a:solidFill>
          <a:ln w="12700">
            <a:solidFill>
              <a:srgbClr val="2563EB">
                <a:alpha val="30000"/>
              </a:srgbClr>
            </a:solidFill>
            <a:prstDash val="solid"/>
          </a:ln>
        </p:spPr>
        <p:txBody>
          <a:bodyPr/>
          <a:lstStyle/>
          <a:p>
            <a:endParaRPr lang="en-US"/>
          </a:p>
        </p:txBody>
      </p:sp>
      <p:sp>
        <p:nvSpPr>
          <p:cNvPr id="69" name="Text 67"/>
          <p:cNvSpPr/>
          <p:nvPr/>
        </p:nvSpPr>
        <p:spPr>
          <a:xfrm>
            <a:off x="5102352" y="2871216"/>
            <a:ext cx="1645920" cy="146304"/>
          </a:xfrm>
          <a:prstGeom prst="rect">
            <a:avLst/>
          </a:prstGeom>
          <a:noFill/>
          <a:ln/>
        </p:spPr>
        <p:txBody>
          <a:bodyPr wrap="square" lIns="0" tIns="0" rIns="0" bIns="0" rtlCol="0" anchor="ctr"/>
          <a:lstStyle/>
          <a:p>
            <a:pPr marL="0" indent="0">
              <a:buNone/>
            </a:pPr>
            <a:r>
              <a:rPr lang="en-US" sz="800" dirty="0">
                <a:solidFill>
                  <a:srgbClr val="2563EB"/>
                </a:solidFill>
                <a:latin typeface="Consolas" pitchFamily="34" charset="0"/>
                <a:ea typeface="Consolas" pitchFamily="34" charset="-122"/>
                <a:cs typeface="Consolas" pitchFamily="34" charset="-120"/>
              </a:rPr>
              <a:t>hari@email.com</a:t>
            </a:r>
            <a:endParaRPr lang="en-US" sz="800" dirty="0"/>
          </a:p>
        </p:txBody>
      </p:sp>
      <p:sp>
        <p:nvSpPr>
          <p:cNvPr id="70" name="Text 68"/>
          <p:cNvSpPr/>
          <p:nvPr/>
        </p:nvSpPr>
        <p:spPr>
          <a:xfrm>
            <a:off x="6766560" y="2871216"/>
            <a:ext cx="1645920" cy="146304"/>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slot #7741</a:t>
            </a:r>
            <a:endParaRPr lang="en-US" sz="800" dirty="0"/>
          </a:p>
        </p:txBody>
      </p:sp>
      <p:sp>
        <p:nvSpPr>
          <p:cNvPr id="71" name="Text 69"/>
          <p:cNvSpPr/>
          <p:nvPr/>
        </p:nvSpPr>
        <p:spPr>
          <a:xfrm>
            <a:off x="5029200" y="2907792"/>
            <a:ext cx="3456432" cy="219456"/>
          </a:xfrm>
          <a:prstGeom prst="rect">
            <a:avLst/>
          </a:prstGeom>
          <a:noFill/>
          <a:ln/>
        </p:spPr>
        <p:txBody>
          <a:bodyPr wrap="square" lIns="0" tIns="0" rIns="0" bIns="0" rtlCol="0" anchor="ctr"/>
          <a:lstStyle/>
          <a:p>
            <a:pPr marL="0" indent="0">
              <a:buNone/>
            </a:pPr>
            <a:r>
              <a:rPr lang="en-US" sz="750" i="1" dirty="0">
                <a:solidFill>
                  <a:srgbClr val="64748B"/>
                </a:solidFill>
                <a:latin typeface="Calibri" pitchFamily="34" charset="0"/>
                <a:ea typeface="Calibri" pitchFamily="34" charset="-122"/>
                <a:cs typeface="Calibri" pitchFamily="34" charset="-120"/>
              </a:rPr>
              <a:t>slot #4829 has no relation to #4828 or #4830 — completely random</a:t>
            </a:r>
            <a:endParaRPr lang="en-US" sz="750" dirty="0"/>
          </a:p>
        </p:txBody>
      </p:sp>
      <p:sp>
        <p:nvSpPr>
          <p:cNvPr id="72" name="Text 70"/>
          <p:cNvSpPr/>
          <p:nvPr/>
        </p:nvSpPr>
        <p:spPr>
          <a:xfrm>
            <a:off x="4937760" y="3255264"/>
            <a:ext cx="3639312" cy="182880"/>
          </a:xfrm>
          <a:prstGeom prst="rect">
            <a:avLst/>
          </a:prstGeom>
          <a:noFill/>
          <a:ln/>
        </p:spPr>
        <p:txBody>
          <a:bodyPr wrap="square" lIns="0" tIns="0" rIns="0" bIns="0" rtlCol="0" anchor="ctr"/>
          <a:lstStyle/>
          <a:p>
            <a:pPr marL="0" indent="0">
              <a:buNone/>
            </a:pPr>
            <a:r>
              <a:rPr lang="en-US" sz="950" b="1" dirty="0">
                <a:solidFill>
                  <a:srgbClr val="2563EB"/>
                </a:solidFill>
                <a:latin typeface="Calibri" pitchFamily="34" charset="0"/>
                <a:ea typeface="Calibri" pitchFamily="34" charset="-122"/>
                <a:cs typeface="Calibri" pitchFamily="34" charset="-120"/>
              </a:rPr>
              <a:t>Works ONLY for exact match:</a:t>
            </a:r>
            <a:endParaRPr lang="en-US" sz="950" dirty="0"/>
          </a:p>
        </p:txBody>
      </p:sp>
      <p:sp>
        <p:nvSpPr>
          <p:cNvPr id="73" name="Shape 71"/>
          <p:cNvSpPr/>
          <p:nvPr/>
        </p:nvSpPr>
        <p:spPr>
          <a:xfrm>
            <a:off x="4937760" y="3474720"/>
            <a:ext cx="3639312" cy="347472"/>
          </a:xfrm>
          <a:prstGeom prst="rect">
            <a:avLst/>
          </a:prstGeom>
          <a:solidFill>
            <a:srgbClr val="059669">
              <a:alpha val="12000"/>
            </a:srgbClr>
          </a:solidFill>
          <a:ln w="12700">
            <a:solidFill>
              <a:srgbClr val="059669">
                <a:alpha val="30000"/>
              </a:srgbClr>
            </a:solidFill>
            <a:prstDash val="solid"/>
          </a:ln>
        </p:spPr>
        <p:txBody>
          <a:bodyPr/>
          <a:lstStyle/>
          <a:p>
            <a:endParaRPr lang="en-US"/>
          </a:p>
        </p:txBody>
      </p:sp>
      <p:sp>
        <p:nvSpPr>
          <p:cNvPr id="74" name="Text 72"/>
          <p:cNvSpPr/>
          <p:nvPr/>
        </p:nvSpPr>
        <p:spPr>
          <a:xfrm>
            <a:off x="5029200" y="3493008"/>
            <a:ext cx="3474720" cy="164592"/>
          </a:xfrm>
          <a:prstGeom prst="rect">
            <a:avLst/>
          </a:prstGeom>
          <a:noFill/>
          <a:ln/>
        </p:spPr>
        <p:txBody>
          <a:bodyPr wrap="square" lIns="0" tIns="0" rIns="0" bIns="0" rtlCol="0" anchor="ctr"/>
          <a:lstStyle/>
          <a:p>
            <a:pPr marL="0" indent="0">
              <a:buNone/>
            </a:pPr>
            <a:r>
              <a:rPr lang="en-US" sz="900" dirty="0">
                <a:solidFill>
                  <a:srgbClr val="059669"/>
                </a:solidFill>
                <a:latin typeface="Consolas" pitchFamily="34" charset="0"/>
                <a:ea typeface="Consolas" pitchFamily="34" charset="-122"/>
                <a:cs typeface="Consolas" pitchFamily="34" charset="-120"/>
              </a:rPr>
              <a:t>✓  WHERE email = 'ram@email.com'</a:t>
            </a:r>
            <a:endParaRPr lang="en-US" sz="900" dirty="0"/>
          </a:p>
        </p:txBody>
      </p:sp>
      <p:sp>
        <p:nvSpPr>
          <p:cNvPr id="75" name="Text 73"/>
          <p:cNvSpPr/>
          <p:nvPr/>
        </p:nvSpPr>
        <p:spPr>
          <a:xfrm>
            <a:off x="5029200" y="3657600"/>
            <a:ext cx="3474720" cy="146304"/>
          </a:xfrm>
          <a:prstGeom prst="rect">
            <a:avLst/>
          </a:prstGeom>
          <a:noFill/>
          <a:ln/>
        </p:spPr>
        <p:txBody>
          <a:bodyPr wrap="square" lIns="0" tIns="0" rIns="0" bIns="0" rtlCol="0" anchor="ctr"/>
          <a:lstStyle/>
          <a:p>
            <a:pPr marL="0" indent="0">
              <a:buNone/>
            </a:pPr>
            <a:r>
              <a:rPr lang="en-US" sz="850" dirty="0">
                <a:solidFill>
                  <a:srgbClr val="059669"/>
                </a:solidFill>
                <a:latin typeface="Calibri" pitchFamily="34" charset="0"/>
                <a:ea typeface="Calibri" pitchFamily="34" charset="-122"/>
                <a:cs typeface="Calibri" pitchFamily="34" charset="-120"/>
              </a:rPr>
              <a:t>→  hash code computed, jumps to slot instantly</a:t>
            </a:r>
            <a:endParaRPr lang="en-US" sz="850" dirty="0"/>
          </a:p>
        </p:txBody>
      </p:sp>
      <p:sp>
        <p:nvSpPr>
          <p:cNvPr id="76" name="Text 74"/>
          <p:cNvSpPr/>
          <p:nvPr/>
        </p:nvSpPr>
        <p:spPr>
          <a:xfrm>
            <a:off x="4937760" y="3840480"/>
            <a:ext cx="3639312" cy="18288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FAILS for range queries (falls back to full scan):</a:t>
            </a:r>
            <a:endParaRPr lang="en-US" sz="950" dirty="0"/>
          </a:p>
        </p:txBody>
      </p:sp>
      <p:sp>
        <p:nvSpPr>
          <p:cNvPr id="77" name="Shape 75"/>
          <p:cNvSpPr/>
          <p:nvPr/>
        </p:nvSpPr>
        <p:spPr>
          <a:xfrm>
            <a:off x="4937760" y="4041648"/>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78" name="Shape 76"/>
          <p:cNvSpPr/>
          <p:nvPr/>
        </p:nvSpPr>
        <p:spPr>
          <a:xfrm>
            <a:off x="4937760" y="4041648"/>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79" name="Text 77"/>
          <p:cNvSpPr/>
          <p:nvPr/>
        </p:nvSpPr>
        <p:spPr>
          <a:xfrm>
            <a:off x="4937760" y="4041648"/>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&gt;  &lt;</a:t>
            </a:r>
            <a:endParaRPr lang="en-US" sz="750" dirty="0"/>
          </a:p>
        </p:txBody>
      </p:sp>
      <p:sp>
        <p:nvSpPr>
          <p:cNvPr id="80" name="Text 78"/>
          <p:cNvSpPr/>
          <p:nvPr/>
        </p:nvSpPr>
        <p:spPr>
          <a:xfrm>
            <a:off x="5522976" y="4059936"/>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WHERE price &gt; 10000</a:t>
            </a:r>
            <a:endParaRPr lang="en-US" sz="800" dirty="0"/>
          </a:p>
        </p:txBody>
      </p:sp>
      <p:sp>
        <p:nvSpPr>
          <p:cNvPr id="81" name="Shape 79"/>
          <p:cNvSpPr/>
          <p:nvPr/>
        </p:nvSpPr>
        <p:spPr>
          <a:xfrm>
            <a:off x="4937760" y="4251960"/>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82" name="Shape 80"/>
          <p:cNvSpPr/>
          <p:nvPr/>
        </p:nvSpPr>
        <p:spPr>
          <a:xfrm>
            <a:off x="4937760" y="4251960"/>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83" name="Text 81"/>
          <p:cNvSpPr/>
          <p:nvPr/>
        </p:nvSpPr>
        <p:spPr>
          <a:xfrm>
            <a:off x="4937760" y="4251960"/>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BETWEEN</a:t>
            </a:r>
            <a:endParaRPr lang="en-US" sz="750" dirty="0"/>
          </a:p>
        </p:txBody>
      </p:sp>
      <p:sp>
        <p:nvSpPr>
          <p:cNvPr id="84" name="Text 82"/>
          <p:cNvSpPr/>
          <p:nvPr/>
        </p:nvSpPr>
        <p:spPr>
          <a:xfrm>
            <a:off x="5522976" y="4270248"/>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WHERE price BETWEEN 5000 AND 50000</a:t>
            </a:r>
            <a:endParaRPr lang="en-US" sz="800" dirty="0"/>
          </a:p>
        </p:txBody>
      </p:sp>
      <p:sp>
        <p:nvSpPr>
          <p:cNvPr id="85" name="Shape 83"/>
          <p:cNvSpPr/>
          <p:nvPr/>
        </p:nvSpPr>
        <p:spPr>
          <a:xfrm>
            <a:off x="4937760" y="4462272"/>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86" name="Shape 84"/>
          <p:cNvSpPr/>
          <p:nvPr/>
        </p:nvSpPr>
        <p:spPr>
          <a:xfrm>
            <a:off x="4937760" y="4462272"/>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87" name="Text 85"/>
          <p:cNvSpPr/>
          <p:nvPr/>
        </p:nvSpPr>
        <p:spPr>
          <a:xfrm>
            <a:off x="4937760" y="4462272"/>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LIKE</a:t>
            </a:r>
            <a:endParaRPr lang="en-US" sz="750" dirty="0"/>
          </a:p>
        </p:txBody>
      </p:sp>
      <p:sp>
        <p:nvSpPr>
          <p:cNvPr id="88" name="Text 86"/>
          <p:cNvSpPr/>
          <p:nvPr/>
        </p:nvSpPr>
        <p:spPr>
          <a:xfrm>
            <a:off x="5522976" y="4480560"/>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WHERE name LIKE 'Ram%'</a:t>
            </a:r>
            <a:endParaRPr lang="en-US" sz="800" dirty="0"/>
          </a:p>
        </p:txBody>
      </p:sp>
      <p:sp>
        <p:nvSpPr>
          <p:cNvPr id="89" name="Shape 87"/>
          <p:cNvSpPr/>
          <p:nvPr/>
        </p:nvSpPr>
        <p:spPr>
          <a:xfrm>
            <a:off x="4937760" y="4672584"/>
            <a:ext cx="3639312" cy="201168"/>
          </a:xfrm>
          <a:prstGeom prst="rect">
            <a:avLst/>
          </a:prstGeom>
          <a:solidFill>
            <a:srgbClr val="DC2626">
              <a:alpha val="9000"/>
            </a:srgbClr>
          </a:solidFill>
          <a:ln w="12700">
            <a:solidFill>
              <a:srgbClr val="DC2626">
                <a:alpha val="26000"/>
              </a:srgbClr>
            </a:solidFill>
            <a:prstDash val="solid"/>
          </a:ln>
        </p:spPr>
        <p:txBody>
          <a:bodyPr/>
          <a:lstStyle/>
          <a:p>
            <a:endParaRPr lang="en-US"/>
          </a:p>
        </p:txBody>
      </p:sp>
      <p:sp>
        <p:nvSpPr>
          <p:cNvPr id="90" name="Shape 88"/>
          <p:cNvSpPr/>
          <p:nvPr/>
        </p:nvSpPr>
        <p:spPr>
          <a:xfrm>
            <a:off x="4937760" y="4672584"/>
            <a:ext cx="548640" cy="201168"/>
          </a:xfrm>
          <a:prstGeom prst="rect">
            <a:avLst/>
          </a:prstGeom>
          <a:solidFill>
            <a:srgbClr val="DC2626">
              <a:alpha val="30000"/>
            </a:srgbClr>
          </a:solidFill>
          <a:ln w="12700">
            <a:solidFill>
              <a:srgbClr val="DC2626">
                <a:alpha val="40000"/>
              </a:srgbClr>
            </a:solidFill>
            <a:prstDash val="solid"/>
          </a:ln>
        </p:spPr>
        <p:txBody>
          <a:bodyPr/>
          <a:lstStyle/>
          <a:p>
            <a:endParaRPr lang="en-US"/>
          </a:p>
        </p:txBody>
      </p:sp>
      <p:sp>
        <p:nvSpPr>
          <p:cNvPr id="91" name="Text 89"/>
          <p:cNvSpPr/>
          <p:nvPr/>
        </p:nvSpPr>
        <p:spPr>
          <a:xfrm>
            <a:off x="4937760" y="4672584"/>
            <a:ext cx="548640" cy="201168"/>
          </a:xfrm>
          <a:prstGeom prst="rect">
            <a:avLst/>
          </a:prstGeom>
          <a:noFill/>
          <a:ln/>
        </p:spPr>
        <p:txBody>
          <a:bodyPr wrap="square" lIns="0" tIns="0" rIns="0" bIns="0" rtlCol="0" anchor="ctr"/>
          <a:lstStyle/>
          <a:p>
            <a:pPr marL="0" indent="0" algn="ctr">
              <a:buNone/>
            </a:pPr>
            <a:r>
              <a:rPr lang="en-US" sz="750" b="1" dirty="0">
                <a:solidFill>
                  <a:srgbClr val="FFFFFF"/>
                </a:solidFill>
                <a:latin typeface="Consolas" pitchFamily="34" charset="0"/>
                <a:ea typeface="Consolas" pitchFamily="34" charset="-122"/>
                <a:cs typeface="Consolas" pitchFamily="34" charset="-120"/>
              </a:rPr>
              <a:t>ORDER</a:t>
            </a:r>
            <a:endParaRPr lang="en-US" sz="750" dirty="0"/>
          </a:p>
        </p:txBody>
      </p:sp>
      <p:sp>
        <p:nvSpPr>
          <p:cNvPr id="92" name="Text 90"/>
          <p:cNvSpPr/>
          <p:nvPr/>
        </p:nvSpPr>
        <p:spPr>
          <a:xfrm>
            <a:off x="5522976" y="4690872"/>
            <a:ext cx="2999232" cy="164592"/>
          </a:xfrm>
          <a:prstGeom prst="rect">
            <a:avLst/>
          </a:prstGeom>
          <a:noFill/>
          <a:ln/>
        </p:spPr>
        <p:txBody>
          <a:bodyPr wrap="square" lIns="0" tIns="0" rIns="0" bIns="0" rtlCol="0" anchor="ctr"/>
          <a:lstStyle/>
          <a:p>
            <a:pPr marL="0" indent="0">
              <a:buNone/>
            </a:pPr>
            <a:r>
              <a:rPr lang="en-US" sz="800" dirty="0">
                <a:solidFill>
                  <a:srgbClr val="DC2626"/>
                </a:solidFill>
                <a:latin typeface="Consolas" pitchFamily="34" charset="0"/>
                <a:ea typeface="Consolas" pitchFamily="34" charset="-122"/>
                <a:cs typeface="Consolas" pitchFamily="34" charset="-120"/>
              </a:rPr>
              <a:t>✗  ORDER BY price DESC</a:t>
            </a:r>
            <a:endParaRPr lang="en-US" sz="800" dirty="0"/>
          </a:p>
        </p:txBody>
      </p:sp>
      <p:sp>
        <p:nvSpPr>
          <p:cNvPr id="93" name="Shape 91"/>
          <p:cNvSpPr/>
          <p:nvPr/>
        </p:nvSpPr>
        <p:spPr>
          <a:xfrm>
            <a:off x="4937760" y="4956048"/>
            <a:ext cx="3639312" cy="0"/>
          </a:xfrm>
          <a:prstGeom prst="rect">
            <a:avLst/>
          </a:prstGeom>
          <a:solidFill>
            <a:srgbClr val="FFFFFF"/>
          </a:solidFill>
          <a:ln w="12700">
            <a:solidFill>
              <a:srgbClr val="FFFFFF"/>
            </a:solidFill>
            <a:prstDash val="solid"/>
          </a:ln>
        </p:spPr>
        <p:txBody>
          <a:bodyPr/>
          <a:lstStyle/>
          <a:p>
            <a:endParaRPr lang="en-US"/>
          </a:p>
        </p:txBody>
      </p:sp>
      <p:sp>
        <p:nvSpPr>
          <p:cNvPr id="94" name="Shape 92"/>
          <p:cNvSpPr/>
          <p:nvPr/>
        </p:nvSpPr>
        <p:spPr>
          <a:xfrm>
            <a:off x="457200" y="4901184"/>
            <a:ext cx="8229600" cy="219456"/>
          </a:xfrm>
          <a:prstGeom prst="rect">
            <a:avLst/>
          </a:prstGeom>
          <a:solidFill>
            <a:srgbClr val="1E293B"/>
          </a:solidFill>
          <a:ln w="12700">
            <a:solidFill>
              <a:srgbClr val="1E293B"/>
            </a:solidFill>
            <a:prstDash val="solid"/>
          </a:ln>
        </p:spPr>
        <p:txBody>
          <a:bodyPr/>
          <a:lstStyle/>
          <a:p>
            <a:endParaRPr lang="en-US"/>
          </a:p>
        </p:txBody>
      </p:sp>
      <p:sp>
        <p:nvSpPr>
          <p:cNvPr id="95" name="Text 93"/>
          <p:cNvSpPr/>
          <p:nvPr/>
        </p:nvSpPr>
        <p:spPr>
          <a:xfrm>
            <a:off x="603504" y="4919472"/>
            <a:ext cx="7955280" cy="182880"/>
          </a:xfrm>
          <a:prstGeom prst="rect">
            <a:avLst/>
          </a:prstGeom>
          <a:noFill/>
          <a:ln/>
        </p:spPr>
        <p:txBody>
          <a:bodyPr wrap="square" lIns="0" tIns="0" rIns="0" bIns="0" rtlCol="0" anchor="ctr"/>
          <a:lstStyle/>
          <a:p>
            <a:pPr marL="0" indent="0">
              <a:buNone/>
            </a:pPr>
            <a:r>
              <a:rPr lang="en-US" sz="850" b="1" dirty="0">
                <a:solidFill>
                  <a:srgbClr val="FCD34D"/>
                </a:solidFill>
                <a:latin typeface="Calibri" pitchFamily="34" charset="0"/>
                <a:ea typeface="Calibri" pitchFamily="34" charset="-122"/>
                <a:cs typeface="Calibri" pitchFamily="34" charset="-120"/>
              </a:rPr>
              <a:t>Why Hash fails on ranges: </a:t>
            </a:r>
            <a:r>
              <a:rPr lang="en-US" sz="850" dirty="0">
                <a:solidFill>
                  <a:srgbClr val="FFFFFF"/>
                </a:solidFill>
                <a:latin typeface="Calibri" pitchFamily="34" charset="0"/>
                <a:ea typeface="Calibri" pitchFamily="34" charset="-122"/>
                <a:cs typeface="Calibri" pitchFamily="34" charset="-120"/>
              </a:rPr>
              <a:t>hash(8500)=3341 and hash(9000)=7829 — the numbers are random. There is no way to scan 'everything above 8500' because the hash codes have no order.</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Index Rules &amp; Best Practices</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Using the same 5-table database — customers, orders, products, order_items, daily_sales</a:t>
            </a:r>
            <a:endParaRPr lang="en-US" sz="1300" dirty="0"/>
          </a:p>
        </p:txBody>
      </p:sp>
      <p:sp>
        <p:nvSpPr>
          <p:cNvPr id="4" name="Shape 2"/>
          <p:cNvSpPr/>
          <p:nvPr/>
        </p:nvSpPr>
        <p:spPr>
          <a:xfrm>
            <a:off x="457200" y="969264"/>
            <a:ext cx="3931920" cy="4023360"/>
          </a:xfrm>
          <a:prstGeom prst="rect">
            <a:avLst/>
          </a:prstGeom>
          <a:solidFill>
            <a:srgbClr val="F8FAFC"/>
          </a:solidFill>
          <a:ln w="12700">
            <a:solidFill>
              <a:srgbClr val="059669">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5" name="Shape 3"/>
          <p:cNvSpPr/>
          <p:nvPr/>
        </p:nvSpPr>
        <p:spPr>
          <a:xfrm>
            <a:off x="457200" y="969264"/>
            <a:ext cx="3931920" cy="274320"/>
          </a:xfrm>
          <a:prstGeom prst="rect">
            <a:avLst/>
          </a:prstGeom>
          <a:solidFill>
            <a:srgbClr val="059669"/>
          </a:solidFill>
          <a:ln w="12700">
            <a:solidFill>
              <a:srgbClr val="059669"/>
            </a:solidFill>
            <a:prstDash val="solid"/>
          </a:ln>
        </p:spPr>
        <p:txBody>
          <a:bodyPr/>
          <a:lstStyle/>
          <a:p>
            <a:endParaRPr lang="en-US"/>
          </a:p>
        </p:txBody>
      </p:sp>
      <p:sp>
        <p:nvSpPr>
          <p:cNvPr id="6" name="Text 4"/>
          <p:cNvSpPr/>
          <p:nvPr/>
        </p:nvSpPr>
        <p:spPr>
          <a:xfrm>
            <a:off x="566928" y="969264"/>
            <a:ext cx="3712464"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When TO create an index</a:t>
            </a:r>
            <a:endParaRPr lang="en-US" sz="1200" dirty="0"/>
          </a:p>
        </p:txBody>
      </p:sp>
      <p:sp>
        <p:nvSpPr>
          <p:cNvPr id="7" name="Shape 5"/>
          <p:cNvSpPr/>
          <p:nvPr/>
        </p:nvSpPr>
        <p:spPr>
          <a:xfrm>
            <a:off x="566928" y="1335024"/>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8" name="Shape 6"/>
          <p:cNvSpPr/>
          <p:nvPr/>
        </p:nvSpPr>
        <p:spPr>
          <a:xfrm>
            <a:off x="566928" y="1335024"/>
            <a:ext cx="54864" cy="566928"/>
          </a:xfrm>
          <a:prstGeom prst="rect">
            <a:avLst/>
          </a:prstGeom>
          <a:solidFill>
            <a:srgbClr val="059669"/>
          </a:solidFill>
          <a:ln w="12700">
            <a:solidFill>
              <a:srgbClr val="059669"/>
            </a:solidFill>
            <a:prstDash val="solid"/>
          </a:ln>
        </p:spPr>
        <p:txBody>
          <a:bodyPr/>
          <a:lstStyle/>
          <a:p>
            <a:endParaRPr lang="en-US"/>
          </a:p>
        </p:txBody>
      </p:sp>
      <p:sp>
        <p:nvSpPr>
          <p:cNvPr id="9" name="Text 7"/>
          <p:cNvSpPr/>
          <p:nvPr/>
        </p:nvSpPr>
        <p:spPr>
          <a:xfrm>
            <a:off x="694944" y="1371600"/>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Columns used in WHERE</a:t>
            </a:r>
            <a:endParaRPr lang="en-US" sz="1000" dirty="0"/>
          </a:p>
        </p:txBody>
      </p:sp>
      <p:sp>
        <p:nvSpPr>
          <p:cNvPr id="10" name="Text 8"/>
          <p:cNvSpPr/>
          <p:nvPr/>
        </p:nvSpPr>
        <p:spPr>
          <a:xfrm>
            <a:off x="694944" y="1591056"/>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WHERE status = 'Processing'  →  CREATE INDEX ON orders(status)</a:t>
            </a:r>
            <a:endParaRPr lang="en-US" sz="850" dirty="0"/>
          </a:p>
        </p:txBody>
      </p:sp>
      <p:sp>
        <p:nvSpPr>
          <p:cNvPr id="11" name="Shape 9"/>
          <p:cNvSpPr/>
          <p:nvPr/>
        </p:nvSpPr>
        <p:spPr>
          <a:xfrm>
            <a:off x="566928" y="1993392"/>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12" name="Shape 10"/>
          <p:cNvSpPr/>
          <p:nvPr/>
        </p:nvSpPr>
        <p:spPr>
          <a:xfrm>
            <a:off x="566928" y="1993392"/>
            <a:ext cx="54864" cy="566928"/>
          </a:xfrm>
          <a:prstGeom prst="rect">
            <a:avLst/>
          </a:prstGeom>
          <a:solidFill>
            <a:srgbClr val="059669"/>
          </a:solidFill>
          <a:ln w="12700">
            <a:solidFill>
              <a:srgbClr val="059669"/>
            </a:solidFill>
            <a:prstDash val="solid"/>
          </a:ln>
        </p:spPr>
        <p:txBody>
          <a:bodyPr/>
          <a:lstStyle/>
          <a:p>
            <a:endParaRPr lang="en-US"/>
          </a:p>
        </p:txBody>
      </p:sp>
      <p:sp>
        <p:nvSpPr>
          <p:cNvPr id="13" name="Text 11"/>
          <p:cNvSpPr/>
          <p:nvPr/>
        </p:nvSpPr>
        <p:spPr>
          <a:xfrm>
            <a:off x="694944" y="2029968"/>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JOIN columns</a:t>
            </a:r>
            <a:endParaRPr lang="en-US" sz="1000" dirty="0"/>
          </a:p>
        </p:txBody>
      </p:sp>
      <p:sp>
        <p:nvSpPr>
          <p:cNvPr id="14" name="Text 12"/>
          <p:cNvSpPr/>
          <p:nvPr/>
        </p:nvSpPr>
        <p:spPr>
          <a:xfrm>
            <a:off x="694944" y="2249424"/>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JOIN orders o ON c.customer_id = o.customer_id  →  INDEX on customer_id</a:t>
            </a:r>
            <a:endParaRPr lang="en-US" sz="850" dirty="0"/>
          </a:p>
        </p:txBody>
      </p:sp>
      <p:sp>
        <p:nvSpPr>
          <p:cNvPr id="15" name="Shape 13"/>
          <p:cNvSpPr/>
          <p:nvPr/>
        </p:nvSpPr>
        <p:spPr>
          <a:xfrm>
            <a:off x="566928" y="2651760"/>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16" name="Shape 14"/>
          <p:cNvSpPr/>
          <p:nvPr/>
        </p:nvSpPr>
        <p:spPr>
          <a:xfrm>
            <a:off x="566928" y="2651760"/>
            <a:ext cx="54864" cy="566928"/>
          </a:xfrm>
          <a:prstGeom prst="rect">
            <a:avLst/>
          </a:prstGeom>
          <a:solidFill>
            <a:srgbClr val="059669"/>
          </a:solidFill>
          <a:ln w="12700">
            <a:solidFill>
              <a:srgbClr val="059669"/>
            </a:solidFill>
            <a:prstDash val="solid"/>
          </a:ln>
        </p:spPr>
        <p:txBody>
          <a:bodyPr/>
          <a:lstStyle/>
          <a:p>
            <a:endParaRPr lang="en-US"/>
          </a:p>
        </p:txBody>
      </p:sp>
      <p:sp>
        <p:nvSpPr>
          <p:cNvPr id="17" name="Text 15"/>
          <p:cNvSpPr/>
          <p:nvPr/>
        </p:nvSpPr>
        <p:spPr>
          <a:xfrm>
            <a:off x="694944" y="2688336"/>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ORDER BY columns</a:t>
            </a:r>
            <a:endParaRPr lang="en-US" sz="1000" dirty="0"/>
          </a:p>
        </p:txBody>
      </p:sp>
      <p:sp>
        <p:nvSpPr>
          <p:cNvPr id="18" name="Text 16"/>
          <p:cNvSpPr/>
          <p:nvPr/>
        </p:nvSpPr>
        <p:spPr>
          <a:xfrm>
            <a:off x="694944" y="2907792"/>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ORDER BY order_date DESC  →  CREATE INDEX ON orders(order_date)</a:t>
            </a:r>
            <a:endParaRPr lang="en-US" sz="850" dirty="0"/>
          </a:p>
        </p:txBody>
      </p:sp>
      <p:sp>
        <p:nvSpPr>
          <p:cNvPr id="19" name="Shape 17"/>
          <p:cNvSpPr/>
          <p:nvPr/>
        </p:nvSpPr>
        <p:spPr>
          <a:xfrm>
            <a:off x="566928" y="3310128"/>
            <a:ext cx="3712464" cy="566928"/>
          </a:xfrm>
          <a:prstGeom prst="rect">
            <a:avLst/>
          </a:prstGeom>
          <a:solidFill>
            <a:srgbClr val="059669">
              <a:alpha val="9000"/>
            </a:srgbClr>
          </a:solidFill>
          <a:ln w="12700">
            <a:solidFill>
              <a:srgbClr val="059669">
                <a:alpha val="30000"/>
              </a:srgbClr>
            </a:solidFill>
            <a:prstDash val="solid"/>
          </a:ln>
        </p:spPr>
        <p:txBody>
          <a:bodyPr/>
          <a:lstStyle/>
          <a:p>
            <a:endParaRPr lang="en-US"/>
          </a:p>
        </p:txBody>
      </p:sp>
      <p:sp>
        <p:nvSpPr>
          <p:cNvPr id="20" name="Shape 18"/>
          <p:cNvSpPr/>
          <p:nvPr/>
        </p:nvSpPr>
        <p:spPr>
          <a:xfrm>
            <a:off x="566928" y="3310128"/>
            <a:ext cx="54864" cy="566928"/>
          </a:xfrm>
          <a:prstGeom prst="rect">
            <a:avLst/>
          </a:prstGeom>
          <a:solidFill>
            <a:srgbClr val="059669"/>
          </a:solidFill>
          <a:ln w="12700">
            <a:solidFill>
              <a:srgbClr val="059669"/>
            </a:solidFill>
            <a:prstDash val="solid"/>
          </a:ln>
        </p:spPr>
        <p:txBody>
          <a:bodyPr/>
          <a:lstStyle/>
          <a:p>
            <a:endParaRPr lang="en-US"/>
          </a:p>
        </p:txBody>
      </p:sp>
      <p:sp>
        <p:nvSpPr>
          <p:cNvPr id="21" name="Text 19"/>
          <p:cNvSpPr/>
          <p:nvPr/>
        </p:nvSpPr>
        <p:spPr>
          <a:xfrm>
            <a:off x="694944" y="3346704"/>
            <a:ext cx="3474720" cy="201168"/>
          </a:xfrm>
          <a:prstGeom prst="rect">
            <a:avLst/>
          </a:prstGeom>
          <a:noFill/>
          <a:ln/>
        </p:spPr>
        <p:txBody>
          <a:bodyPr wrap="square" lIns="0" tIns="0" rIns="0" bIns="0" rtlCol="0" anchor="ctr"/>
          <a:lstStyle/>
          <a:p>
            <a:pPr marL="0" indent="0">
              <a:buNone/>
            </a:pPr>
            <a:r>
              <a:rPr lang="en-US" sz="1000" b="1" dirty="0">
                <a:solidFill>
                  <a:srgbClr val="059669"/>
                </a:solidFill>
                <a:latin typeface="Calibri" pitchFamily="34" charset="0"/>
                <a:ea typeface="Calibri" pitchFamily="34" charset="-122"/>
                <a:cs typeface="Calibri" pitchFamily="34" charset="-120"/>
              </a:rPr>
              <a:t>✓  Frequently searched FKs</a:t>
            </a:r>
            <a:endParaRPr lang="en-US" sz="1000" dirty="0"/>
          </a:p>
        </p:txBody>
      </p:sp>
      <p:sp>
        <p:nvSpPr>
          <p:cNvPr id="22" name="Text 20"/>
          <p:cNvSpPr/>
          <p:nvPr/>
        </p:nvSpPr>
        <p:spPr>
          <a:xfrm>
            <a:off x="694944" y="3566160"/>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onsolas" pitchFamily="34" charset="0"/>
                <a:ea typeface="Consolas" pitchFamily="34" charset="-122"/>
                <a:cs typeface="Consolas" pitchFamily="34" charset="-120"/>
              </a:rPr>
              <a:t>order_items.order_id → INDEX because every JOIN hits it</a:t>
            </a:r>
            <a:endParaRPr lang="en-US" sz="850" dirty="0"/>
          </a:p>
        </p:txBody>
      </p:sp>
      <p:sp>
        <p:nvSpPr>
          <p:cNvPr id="23" name="Shape 21"/>
          <p:cNvSpPr/>
          <p:nvPr/>
        </p:nvSpPr>
        <p:spPr>
          <a:xfrm>
            <a:off x="566928" y="4005072"/>
            <a:ext cx="3712464" cy="877824"/>
          </a:xfrm>
          <a:prstGeom prst="rect">
            <a:avLst/>
          </a:prstGeom>
          <a:solidFill>
            <a:srgbClr val="1E293B"/>
          </a:solidFill>
          <a:ln w="12700">
            <a:solidFill>
              <a:srgbClr val="1E293B"/>
            </a:solidFill>
            <a:prstDash val="solid"/>
          </a:ln>
        </p:spPr>
        <p:txBody>
          <a:bodyPr/>
          <a:lstStyle/>
          <a:p>
            <a:endParaRPr lang="en-US"/>
          </a:p>
        </p:txBody>
      </p:sp>
      <p:sp>
        <p:nvSpPr>
          <p:cNvPr id="24" name="Text 22"/>
          <p:cNvSpPr/>
          <p:nvPr/>
        </p:nvSpPr>
        <p:spPr>
          <a:xfrm>
            <a:off x="713232" y="4133088"/>
            <a:ext cx="3419856" cy="164592"/>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Index the most-queried column in orders table</a:t>
            </a:r>
            <a:endParaRPr lang="en-US" sz="800" dirty="0"/>
          </a:p>
        </p:txBody>
      </p:sp>
      <p:sp>
        <p:nvSpPr>
          <p:cNvPr id="25" name="Text 23"/>
          <p:cNvSpPr/>
          <p:nvPr/>
        </p:nvSpPr>
        <p:spPr>
          <a:xfrm>
            <a:off x="713232" y="4315968"/>
            <a:ext cx="3419856" cy="164592"/>
          </a:xfrm>
          <a:prstGeom prst="rect">
            <a:avLst/>
          </a:prstGeom>
          <a:noFill/>
          <a:ln/>
        </p:spPr>
        <p:txBody>
          <a:bodyPr wrap="square" lIns="0" tIns="0" rIns="0" bIns="0" rtlCol="0" anchor="ctr"/>
          <a:lstStyle/>
          <a:p>
            <a:pPr marL="0" indent="0">
              <a:buNone/>
            </a:pPr>
            <a:r>
              <a:rPr lang="en-US" sz="800" dirty="0">
                <a:solidFill>
                  <a:srgbClr val="6EE7B7"/>
                </a:solidFill>
                <a:latin typeface="Consolas" pitchFamily="34" charset="0"/>
                <a:ea typeface="Consolas" pitchFamily="34" charset="-122"/>
                <a:cs typeface="Consolas" pitchFamily="34" charset="-120"/>
              </a:rPr>
              <a:t>CREATE INDEX idx_order_status</a:t>
            </a:r>
            <a:endParaRPr lang="en-US" sz="800" dirty="0"/>
          </a:p>
        </p:txBody>
      </p:sp>
      <p:sp>
        <p:nvSpPr>
          <p:cNvPr id="26" name="Text 24"/>
          <p:cNvSpPr/>
          <p:nvPr/>
        </p:nvSpPr>
        <p:spPr>
          <a:xfrm>
            <a:off x="713232" y="4498848"/>
            <a:ext cx="3419856" cy="164592"/>
          </a:xfrm>
          <a:prstGeom prst="rect">
            <a:avLst/>
          </a:prstGeom>
          <a:noFill/>
          <a:ln/>
        </p:spPr>
        <p:txBody>
          <a:bodyPr wrap="square" lIns="0" tIns="0" rIns="0" bIns="0" rtlCol="0" anchor="ctr"/>
          <a:lstStyle/>
          <a:p>
            <a:pPr marL="0" indent="0">
              <a:buNone/>
            </a:pPr>
            <a:r>
              <a:rPr lang="en-US" sz="800" dirty="0">
                <a:solidFill>
                  <a:srgbClr val="93C5FD"/>
                </a:solidFill>
                <a:latin typeface="Consolas" pitchFamily="34" charset="0"/>
                <a:ea typeface="Consolas" pitchFamily="34" charset="-122"/>
                <a:cs typeface="Consolas" pitchFamily="34" charset="-120"/>
              </a:rPr>
              <a:t>ON orders (status);</a:t>
            </a:r>
            <a:endParaRPr lang="en-US" sz="800" dirty="0"/>
          </a:p>
        </p:txBody>
      </p:sp>
      <p:sp>
        <p:nvSpPr>
          <p:cNvPr id="27" name="Text 25"/>
          <p:cNvSpPr/>
          <p:nvPr/>
        </p:nvSpPr>
        <p:spPr>
          <a:xfrm>
            <a:off x="713232" y="4681728"/>
            <a:ext cx="3419856" cy="164592"/>
          </a:xfrm>
          <a:prstGeom prst="rect">
            <a:avLst/>
          </a:prstGeom>
          <a:noFill/>
          <a:ln/>
        </p:spPr>
        <p:txBody>
          <a:bodyPr wrap="square" lIns="0" tIns="0" rIns="0" bIns="0" rtlCol="0" anchor="ctr"/>
          <a:lstStyle/>
          <a:p>
            <a:pPr marL="0" indent="0">
              <a:buNone/>
            </a:pPr>
            <a:r>
              <a:rPr lang="en-US" sz="800" dirty="0">
                <a:solidFill>
                  <a:srgbClr val="64748B"/>
                </a:solidFill>
                <a:latin typeface="Consolas" pitchFamily="34" charset="0"/>
                <a:ea typeface="Consolas" pitchFamily="34" charset="-122"/>
                <a:cs typeface="Consolas" pitchFamily="34" charset="-120"/>
              </a:rPr>
              <a:t>-- Composite: city lookup + date range together</a:t>
            </a:r>
            <a:endParaRPr lang="en-US" sz="800" dirty="0"/>
          </a:p>
        </p:txBody>
      </p:sp>
      <p:sp>
        <p:nvSpPr>
          <p:cNvPr id="28" name="Shape 26"/>
          <p:cNvSpPr/>
          <p:nvPr/>
        </p:nvSpPr>
        <p:spPr>
          <a:xfrm>
            <a:off x="4754880" y="969264"/>
            <a:ext cx="3931920" cy="4023360"/>
          </a:xfrm>
          <a:prstGeom prst="rect">
            <a:avLst/>
          </a:prstGeom>
          <a:solidFill>
            <a:srgbClr val="F8FAFC"/>
          </a:solidFill>
          <a:ln w="12700">
            <a:solidFill>
              <a:srgbClr val="DC2626">
                <a:alpha val="58000"/>
              </a:srgbClr>
            </a:solidFill>
            <a:prstDash val="solid"/>
          </a:ln>
          <a:effectLst>
            <a:outerShdw blurRad="101600" dist="25400" dir="8100000" algn="bl" rotWithShape="0">
              <a:srgbClr val="000000">
                <a:alpha val="8000"/>
              </a:srgbClr>
            </a:outerShdw>
          </a:effectLst>
        </p:spPr>
        <p:txBody>
          <a:bodyPr/>
          <a:lstStyle/>
          <a:p>
            <a:endParaRPr lang="en-US"/>
          </a:p>
        </p:txBody>
      </p:sp>
      <p:sp>
        <p:nvSpPr>
          <p:cNvPr id="29" name="Shape 27"/>
          <p:cNvSpPr/>
          <p:nvPr/>
        </p:nvSpPr>
        <p:spPr>
          <a:xfrm>
            <a:off x="4754880" y="969264"/>
            <a:ext cx="3931920" cy="274320"/>
          </a:xfrm>
          <a:prstGeom prst="rect">
            <a:avLst/>
          </a:prstGeom>
          <a:solidFill>
            <a:srgbClr val="DC2626"/>
          </a:solidFill>
          <a:ln w="12700">
            <a:solidFill>
              <a:srgbClr val="DC2626"/>
            </a:solidFill>
            <a:prstDash val="solid"/>
          </a:ln>
        </p:spPr>
        <p:txBody>
          <a:bodyPr/>
          <a:lstStyle/>
          <a:p>
            <a:endParaRPr lang="en-US"/>
          </a:p>
        </p:txBody>
      </p:sp>
      <p:sp>
        <p:nvSpPr>
          <p:cNvPr id="30" name="Text 28"/>
          <p:cNvSpPr/>
          <p:nvPr/>
        </p:nvSpPr>
        <p:spPr>
          <a:xfrm>
            <a:off x="4864608" y="969264"/>
            <a:ext cx="3712464"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When NOT to create an index</a:t>
            </a:r>
            <a:endParaRPr lang="en-US" sz="1200" dirty="0"/>
          </a:p>
        </p:txBody>
      </p:sp>
      <p:sp>
        <p:nvSpPr>
          <p:cNvPr id="31" name="Shape 29"/>
          <p:cNvSpPr/>
          <p:nvPr/>
        </p:nvSpPr>
        <p:spPr>
          <a:xfrm>
            <a:off x="4864608" y="1335024"/>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32" name="Shape 30"/>
          <p:cNvSpPr/>
          <p:nvPr/>
        </p:nvSpPr>
        <p:spPr>
          <a:xfrm>
            <a:off x="4864608" y="1335024"/>
            <a:ext cx="54864" cy="566928"/>
          </a:xfrm>
          <a:prstGeom prst="rect">
            <a:avLst/>
          </a:prstGeom>
          <a:solidFill>
            <a:srgbClr val="DC2626"/>
          </a:solidFill>
          <a:ln w="12700">
            <a:solidFill>
              <a:srgbClr val="DC2626"/>
            </a:solidFill>
            <a:prstDash val="solid"/>
          </a:ln>
        </p:spPr>
        <p:txBody>
          <a:bodyPr/>
          <a:lstStyle/>
          <a:p>
            <a:endParaRPr lang="en-US"/>
          </a:p>
        </p:txBody>
      </p:sp>
      <p:sp>
        <p:nvSpPr>
          <p:cNvPr id="33" name="Text 31"/>
          <p:cNvSpPr/>
          <p:nvPr/>
        </p:nvSpPr>
        <p:spPr>
          <a:xfrm>
            <a:off x="4992624" y="1371600"/>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Small tables</a:t>
            </a:r>
            <a:endParaRPr lang="en-US" sz="1000" dirty="0"/>
          </a:p>
        </p:txBody>
      </p:sp>
      <p:sp>
        <p:nvSpPr>
          <p:cNvPr id="34" name="Text 32"/>
          <p:cNvSpPr/>
          <p:nvPr/>
        </p:nvSpPr>
        <p:spPr>
          <a:xfrm>
            <a:off x="4992624" y="1591056"/>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daily_sales has 31 rows — full scan is faster than using an index</a:t>
            </a:r>
            <a:endParaRPr lang="en-US" sz="850" dirty="0"/>
          </a:p>
        </p:txBody>
      </p:sp>
      <p:sp>
        <p:nvSpPr>
          <p:cNvPr id="35" name="Shape 33"/>
          <p:cNvSpPr/>
          <p:nvPr/>
        </p:nvSpPr>
        <p:spPr>
          <a:xfrm>
            <a:off x="4864608" y="1993392"/>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36" name="Shape 34"/>
          <p:cNvSpPr/>
          <p:nvPr/>
        </p:nvSpPr>
        <p:spPr>
          <a:xfrm>
            <a:off x="4864608" y="1993392"/>
            <a:ext cx="54864" cy="566928"/>
          </a:xfrm>
          <a:prstGeom prst="rect">
            <a:avLst/>
          </a:prstGeom>
          <a:solidFill>
            <a:srgbClr val="DC2626"/>
          </a:solidFill>
          <a:ln w="12700">
            <a:solidFill>
              <a:srgbClr val="DC2626"/>
            </a:solidFill>
            <a:prstDash val="solid"/>
          </a:ln>
        </p:spPr>
        <p:txBody>
          <a:bodyPr/>
          <a:lstStyle/>
          <a:p>
            <a:endParaRPr lang="en-US"/>
          </a:p>
        </p:txBody>
      </p:sp>
      <p:sp>
        <p:nvSpPr>
          <p:cNvPr id="37" name="Text 35"/>
          <p:cNvSpPr/>
          <p:nvPr/>
        </p:nvSpPr>
        <p:spPr>
          <a:xfrm>
            <a:off x="4992624" y="2029968"/>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Rarely queried cols</a:t>
            </a:r>
            <a:endParaRPr lang="en-US" sz="1000" dirty="0"/>
          </a:p>
        </p:txBody>
      </p:sp>
      <p:sp>
        <p:nvSpPr>
          <p:cNvPr id="38" name="Text 36"/>
          <p:cNvSpPr/>
          <p:nvPr/>
        </p:nvSpPr>
        <p:spPr>
          <a:xfrm>
            <a:off x="4992624" y="2249424"/>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customer.join_date — only queried once per year, not worth it</a:t>
            </a:r>
            <a:endParaRPr lang="en-US" sz="850" dirty="0"/>
          </a:p>
        </p:txBody>
      </p:sp>
      <p:sp>
        <p:nvSpPr>
          <p:cNvPr id="39" name="Shape 37"/>
          <p:cNvSpPr/>
          <p:nvPr/>
        </p:nvSpPr>
        <p:spPr>
          <a:xfrm>
            <a:off x="4864608" y="2651760"/>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40" name="Shape 38"/>
          <p:cNvSpPr/>
          <p:nvPr/>
        </p:nvSpPr>
        <p:spPr>
          <a:xfrm>
            <a:off x="4864608" y="2651760"/>
            <a:ext cx="54864" cy="566928"/>
          </a:xfrm>
          <a:prstGeom prst="rect">
            <a:avLst/>
          </a:prstGeom>
          <a:solidFill>
            <a:srgbClr val="DC2626"/>
          </a:solidFill>
          <a:ln w="12700">
            <a:solidFill>
              <a:srgbClr val="DC2626"/>
            </a:solidFill>
            <a:prstDash val="solid"/>
          </a:ln>
        </p:spPr>
        <p:txBody>
          <a:bodyPr/>
          <a:lstStyle/>
          <a:p>
            <a:endParaRPr lang="en-US"/>
          </a:p>
        </p:txBody>
      </p:sp>
      <p:sp>
        <p:nvSpPr>
          <p:cNvPr id="41" name="Text 39"/>
          <p:cNvSpPr/>
          <p:nvPr/>
        </p:nvSpPr>
        <p:spPr>
          <a:xfrm>
            <a:off x="4992624" y="2688336"/>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High-update columns</a:t>
            </a:r>
            <a:endParaRPr lang="en-US" sz="1000" dirty="0"/>
          </a:p>
        </p:txBody>
      </p:sp>
      <p:sp>
        <p:nvSpPr>
          <p:cNvPr id="42" name="Text 40"/>
          <p:cNvSpPr/>
          <p:nvPr/>
        </p:nvSpPr>
        <p:spPr>
          <a:xfrm>
            <a:off x="4992624" y="2907792"/>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orders.status changes often — index must rebuild on every update</a:t>
            </a:r>
            <a:endParaRPr lang="en-US" sz="850" dirty="0"/>
          </a:p>
        </p:txBody>
      </p:sp>
      <p:sp>
        <p:nvSpPr>
          <p:cNvPr id="43" name="Shape 41"/>
          <p:cNvSpPr/>
          <p:nvPr/>
        </p:nvSpPr>
        <p:spPr>
          <a:xfrm>
            <a:off x="4864608" y="3310128"/>
            <a:ext cx="3712464" cy="566928"/>
          </a:xfrm>
          <a:prstGeom prst="rect">
            <a:avLst/>
          </a:prstGeom>
          <a:solidFill>
            <a:srgbClr val="DC2626">
              <a:alpha val="8000"/>
            </a:srgbClr>
          </a:solidFill>
          <a:ln w="12700">
            <a:solidFill>
              <a:srgbClr val="DC2626">
                <a:alpha val="28000"/>
              </a:srgbClr>
            </a:solidFill>
            <a:prstDash val="solid"/>
          </a:ln>
        </p:spPr>
        <p:txBody>
          <a:bodyPr/>
          <a:lstStyle/>
          <a:p>
            <a:endParaRPr lang="en-US"/>
          </a:p>
        </p:txBody>
      </p:sp>
      <p:sp>
        <p:nvSpPr>
          <p:cNvPr id="44" name="Shape 42"/>
          <p:cNvSpPr/>
          <p:nvPr/>
        </p:nvSpPr>
        <p:spPr>
          <a:xfrm>
            <a:off x="4864608" y="3310128"/>
            <a:ext cx="54864" cy="566928"/>
          </a:xfrm>
          <a:prstGeom prst="rect">
            <a:avLst/>
          </a:prstGeom>
          <a:solidFill>
            <a:srgbClr val="DC2626"/>
          </a:solidFill>
          <a:ln w="12700">
            <a:solidFill>
              <a:srgbClr val="DC2626"/>
            </a:solidFill>
            <a:prstDash val="solid"/>
          </a:ln>
        </p:spPr>
        <p:txBody>
          <a:bodyPr/>
          <a:lstStyle/>
          <a:p>
            <a:endParaRPr lang="en-US"/>
          </a:p>
        </p:txBody>
      </p:sp>
      <p:sp>
        <p:nvSpPr>
          <p:cNvPr id="45" name="Text 43"/>
          <p:cNvSpPr/>
          <p:nvPr/>
        </p:nvSpPr>
        <p:spPr>
          <a:xfrm>
            <a:off x="4992624" y="3346704"/>
            <a:ext cx="3474720" cy="201168"/>
          </a:xfrm>
          <a:prstGeom prst="rect">
            <a:avLst/>
          </a:prstGeom>
          <a:noFill/>
          <a:ln/>
        </p:spPr>
        <p:txBody>
          <a:bodyPr wrap="square" lIns="0" tIns="0" rIns="0" bIns="0" rtlCol="0" anchor="ctr"/>
          <a:lstStyle/>
          <a:p>
            <a:pPr marL="0" indent="0">
              <a:buNone/>
            </a:pPr>
            <a:r>
              <a:rPr lang="en-US" sz="1000" b="1" dirty="0">
                <a:solidFill>
                  <a:srgbClr val="DC2626"/>
                </a:solidFill>
                <a:latin typeface="Calibri" pitchFamily="34" charset="0"/>
                <a:ea typeface="Calibri" pitchFamily="34" charset="-122"/>
                <a:cs typeface="Calibri" pitchFamily="34" charset="-120"/>
              </a:rPr>
              <a:t>✗  Low cardinality</a:t>
            </a:r>
            <a:endParaRPr lang="en-US" sz="1000" dirty="0"/>
          </a:p>
        </p:txBody>
      </p:sp>
      <p:sp>
        <p:nvSpPr>
          <p:cNvPr id="46" name="Text 44"/>
          <p:cNvSpPr/>
          <p:nvPr/>
        </p:nvSpPr>
        <p:spPr>
          <a:xfrm>
            <a:off x="4992624" y="3566160"/>
            <a:ext cx="3529584" cy="25603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gender column with only M/F — index barely narrows results down</a:t>
            </a:r>
            <a:endParaRPr lang="en-US" sz="850" dirty="0"/>
          </a:p>
        </p:txBody>
      </p:sp>
      <p:sp>
        <p:nvSpPr>
          <p:cNvPr id="47" name="Shape 45"/>
          <p:cNvSpPr/>
          <p:nvPr/>
        </p:nvSpPr>
        <p:spPr>
          <a:xfrm>
            <a:off x="4864608" y="4005072"/>
            <a:ext cx="3712464" cy="914400"/>
          </a:xfrm>
          <a:prstGeom prst="rect">
            <a:avLst/>
          </a:prstGeom>
          <a:solidFill>
            <a:srgbClr val="7C3AED">
              <a:alpha val="10000"/>
            </a:srgbClr>
          </a:solidFill>
          <a:ln w="12700">
            <a:solidFill>
              <a:srgbClr val="7C3AED">
                <a:alpha val="32000"/>
              </a:srgbClr>
            </a:solidFill>
            <a:prstDash val="solid"/>
          </a:ln>
        </p:spPr>
        <p:txBody>
          <a:bodyPr/>
          <a:lstStyle/>
          <a:p>
            <a:endParaRPr lang="en-US"/>
          </a:p>
        </p:txBody>
      </p:sp>
      <p:sp>
        <p:nvSpPr>
          <p:cNvPr id="48" name="Shape 46"/>
          <p:cNvSpPr/>
          <p:nvPr/>
        </p:nvSpPr>
        <p:spPr>
          <a:xfrm>
            <a:off x="4864608" y="4005072"/>
            <a:ext cx="54864" cy="914400"/>
          </a:xfrm>
          <a:prstGeom prst="rect">
            <a:avLst/>
          </a:prstGeom>
          <a:solidFill>
            <a:srgbClr val="7C3AED"/>
          </a:solidFill>
          <a:ln w="12700">
            <a:solidFill>
              <a:srgbClr val="7C3AED"/>
            </a:solidFill>
            <a:prstDash val="solid"/>
          </a:ln>
        </p:spPr>
        <p:txBody>
          <a:bodyPr/>
          <a:lstStyle/>
          <a:p>
            <a:endParaRPr lang="en-US"/>
          </a:p>
        </p:txBody>
      </p:sp>
      <p:sp>
        <p:nvSpPr>
          <p:cNvPr id="49" name="Text 47"/>
          <p:cNvSpPr/>
          <p:nvPr/>
        </p:nvSpPr>
        <p:spPr>
          <a:xfrm>
            <a:off x="4992624" y="4041648"/>
            <a:ext cx="3493008" cy="201168"/>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Pro Tip:</a:t>
            </a:r>
            <a:endParaRPr lang="en-US" sz="900" dirty="0"/>
          </a:p>
        </p:txBody>
      </p:sp>
      <p:sp>
        <p:nvSpPr>
          <p:cNvPr id="50" name="Text 48"/>
          <p:cNvSpPr/>
          <p:nvPr/>
        </p:nvSpPr>
        <p:spPr>
          <a:xfrm>
            <a:off x="4992624" y="4242816"/>
            <a:ext cx="3493008" cy="621792"/>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Every index SLOWS DOWN inserts and updates because PostgreSQL must update the index too. Only index columns you actually query frequently. Use EXPLAIN ANALYZE to confirm the index is being used.</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01168"/>
            <a:ext cx="8229600" cy="475488"/>
          </a:xfrm>
          <a:prstGeom prst="rect">
            <a:avLst/>
          </a:prstGeom>
          <a:noFill/>
          <a:ln/>
        </p:spPr>
        <p:txBody>
          <a:bodyPr wrap="square" lIns="0" tIns="0" rIns="0" bIns="0" rtlCol="0" anchor="ctr"/>
          <a:lstStyle/>
          <a:p>
            <a:pPr marL="0" indent="0">
              <a:buNone/>
            </a:pPr>
            <a:r>
              <a:rPr lang="en-US" sz="3600" b="1" dirty="0">
                <a:solidFill>
                  <a:srgbClr val="1E293B"/>
                </a:solidFill>
                <a:latin typeface="Calibri" pitchFamily="34" charset="0"/>
                <a:ea typeface="Calibri" pitchFamily="34" charset="-122"/>
                <a:cs typeface="Calibri" pitchFamily="34" charset="-120"/>
              </a:rPr>
              <a:t>Query Optimization — Complete Guide</a:t>
            </a:r>
            <a:endParaRPr lang="en-US" sz="3600" dirty="0"/>
          </a:p>
        </p:txBody>
      </p:sp>
      <p:sp>
        <p:nvSpPr>
          <p:cNvPr id="3" name="Text 1"/>
          <p:cNvSpPr/>
          <p:nvPr/>
        </p:nvSpPr>
        <p:spPr>
          <a:xfrm>
            <a:off x="457200" y="713232"/>
            <a:ext cx="8229600" cy="237744"/>
          </a:xfrm>
          <a:prstGeom prst="rect">
            <a:avLst/>
          </a:prstGeom>
          <a:noFill/>
          <a:ln/>
        </p:spPr>
        <p:txBody>
          <a:bodyPr wrap="square" lIns="0" tIns="0" rIns="0" bIns="0" rtlCol="0" anchor="ctr"/>
          <a:lstStyle/>
          <a:p>
            <a:pPr marL="0" indent="0">
              <a:buNone/>
            </a:pPr>
            <a:r>
              <a:rPr lang="en-US" sz="1300" dirty="0">
                <a:solidFill>
                  <a:srgbClr val="64748B"/>
                </a:solidFill>
                <a:latin typeface="Calibri" pitchFamily="34" charset="0"/>
                <a:ea typeface="Calibri" pitchFamily="34" charset="-122"/>
                <a:cs typeface="Calibri" pitchFamily="34" charset="-120"/>
              </a:rPr>
              <a:t>All techniques using the same database: customers · orders · order_items · products · daily_sales</a:t>
            </a:r>
            <a:endParaRPr lang="en-US" sz="1300" dirty="0"/>
          </a:p>
        </p:txBody>
      </p:sp>
      <p:sp>
        <p:nvSpPr>
          <p:cNvPr id="4" name="Shape 2"/>
          <p:cNvSpPr/>
          <p:nvPr/>
        </p:nvSpPr>
        <p:spPr>
          <a:xfrm>
            <a:off x="457200" y="969264"/>
            <a:ext cx="4160520" cy="804672"/>
          </a:xfrm>
          <a:prstGeom prst="rect">
            <a:avLst/>
          </a:prstGeom>
          <a:solidFill>
            <a:srgbClr val="F8FAFC"/>
          </a:solidFill>
          <a:ln w="12700">
            <a:solidFill>
              <a:srgbClr val="059669">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457200" y="969264"/>
            <a:ext cx="54864" cy="804672"/>
          </a:xfrm>
          <a:prstGeom prst="rect">
            <a:avLst/>
          </a:prstGeom>
          <a:solidFill>
            <a:srgbClr val="059669"/>
          </a:solidFill>
          <a:ln w="12700">
            <a:solidFill>
              <a:srgbClr val="059669"/>
            </a:solidFill>
            <a:prstDash val="solid"/>
          </a:ln>
        </p:spPr>
        <p:txBody>
          <a:bodyPr/>
          <a:lstStyle/>
          <a:p>
            <a:endParaRPr lang="en-US"/>
          </a:p>
        </p:txBody>
      </p:sp>
      <p:sp>
        <p:nvSpPr>
          <p:cNvPr id="6" name="Shape 4"/>
          <p:cNvSpPr/>
          <p:nvPr/>
        </p:nvSpPr>
        <p:spPr>
          <a:xfrm>
            <a:off x="566928" y="1024128"/>
            <a:ext cx="219456" cy="219456"/>
          </a:xfrm>
          <a:prstGeom prst="ellipse">
            <a:avLst/>
          </a:prstGeom>
          <a:solidFill>
            <a:srgbClr val="059669"/>
          </a:solidFill>
          <a:ln w="12700">
            <a:solidFill>
              <a:srgbClr val="059669"/>
            </a:solidFill>
            <a:prstDash val="solid"/>
          </a:ln>
        </p:spPr>
        <p:txBody>
          <a:bodyPr/>
          <a:lstStyle/>
          <a:p>
            <a:endParaRPr lang="en-US"/>
          </a:p>
        </p:txBody>
      </p:sp>
      <p:sp>
        <p:nvSpPr>
          <p:cNvPr id="7" name="Text 5"/>
          <p:cNvSpPr/>
          <p:nvPr/>
        </p:nvSpPr>
        <p:spPr>
          <a:xfrm>
            <a:off x="566928" y="1024128"/>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a:t>
            </a:r>
            <a:endParaRPr lang="en-US" sz="850" dirty="0"/>
          </a:p>
        </p:txBody>
      </p:sp>
      <p:sp>
        <p:nvSpPr>
          <p:cNvPr id="8" name="Text 6"/>
          <p:cNvSpPr/>
          <p:nvPr/>
        </p:nvSpPr>
        <p:spPr>
          <a:xfrm>
            <a:off x="859536" y="1033272"/>
            <a:ext cx="3666744" cy="182880"/>
          </a:xfrm>
          <a:prstGeom prst="rect">
            <a:avLst/>
          </a:prstGeom>
          <a:noFill/>
          <a:ln/>
        </p:spPr>
        <p:txBody>
          <a:bodyPr wrap="square" lIns="0" tIns="0" rIns="0" bIns="0" rtlCol="0" anchor="ctr"/>
          <a:lstStyle/>
          <a:p>
            <a:pPr marL="0" indent="0">
              <a:buNone/>
            </a:pPr>
            <a:r>
              <a:rPr lang="en-US" sz="900" b="1" dirty="0">
                <a:solidFill>
                  <a:srgbClr val="059669"/>
                </a:solidFill>
                <a:latin typeface="Calibri" pitchFamily="34" charset="0"/>
                <a:ea typeface="Calibri" pitchFamily="34" charset="-122"/>
                <a:cs typeface="Calibri" pitchFamily="34" charset="-120"/>
              </a:rPr>
              <a:t>SELECT only the columns you need</a:t>
            </a:r>
            <a:endParaRPr lang="en-US" sz="900" dirty="0"/>
          </a:p>
        </p:txBody>
      </p:sp>
      <p:sp>
        <p:nvSpPr>
          <p:cNvPr id="9" name="Text 7"/>
          <p:cNvSpPr/>
          <p:nvPr/>
        </p:nvSpPr>
        <p:spPr>
          <a:xfrm>
            <a:off x="585216" y="1243584"/>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SELECT * FROM orders</a:t>
            </a:r>
            <a:endParaRPr lang="en-US" sz="750" dirty="0"/>
          </a:p>
        </p:txBody>
      </p:sp>
      <p:sp>
        <p:nvSpPr>
          <p:cNvPr id="10" name="Text 8"/>
          <p:cNvSpPr/>
          <p:nvPr/>
        </p:nvSpPr>
        <p:spPr>
          <a:xfrm>
            <a:off x="585216" y="1389888"/>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SELECT order_id, status, order_date FROM orders</a:t>
            </a:r>
            <a:endParaRPr lang="en-US" sz="750" dirty="0"/>
          </a:p>
        </p:txBody>
      </p:sp>
      <p:sp>
        <p:nvSpPr>
          <p:cNvPr id="11" name="Text 9"/>
          <p:cNvSpPr/>
          <p:nvPr/>
        </p:nvSpPr>
        <p:spPr>
          <a:xfrm>
            <a:off x="585216" y="1554480"/>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SELECT * transfers ALL columns across the network. On a table with 20 columns, you may only need 3.</a:t>
            </a:r>
            <a:endParaRPr lang="en-US" sz="800" dirty="0"/>
          </a:p>
        </p:txBody>
      </p:sp>
      <p:sp>
        <p:nvSpPr>
          <p:cNvPr id="12" name="Shape 10"/>
          <p:cNvSpPr/>
          <p:nvPr/>
        </p:nvSpPr>
        <p:spPr>
          <a:xfrm>
            <a:off x="457200" y="1828800"/>
            <a:ext cx="4160520" cy="804672"/>
          </a:xfrm>
          <a:prstGeom prst="rect">
            <a:avLst/>
          </a:prstGeom>
          <a:solidFill>
            <a:srgbClr val="F8FAFC"/>
          </a:solidFill>
          <a:ln w="12700">
            <a:solidFill>
              <a:srgbClr val="2563EB">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457200" y="1828800"/>
            <a:ext cx="54864" cy="804672"/>
          </a:xfrm>
          <a:prstGeom prst="rect">
            <a:avLst/>
          </a:prstGeom>
          <a:solidFill>
            <a:srgbClr val="2563EB"/>
          </a:solidFill>
          <a:ln w="12700">
            <a:solidFill>
              <a:srgbClr val="2563EB"/>
            </a:solidFill>
            <a:prstDash val="solid"/>
          </a:ln>
        </p:spPr>
        <p:txBody>
          <a:bodyPr/>
          <a:lstStyle/>
          <a:p>
            <a:endParaRPr lang="en-US"/>
          </a:p>
        </p:txBody>
      </p:sp>
      <p:sp>
        <p:nvSpPr>
          <p:cNvPr id="14" name="Shape 12"/>
          <p:cNvSpPr/>
          <p:nvPr/>
        </p:nvSpPr>
        <p:spPr>
          <a:xfrm>
            <a:off x="566928" y="1883664"/>
            <a:ext cx="219456" cy="219456"/>
          </a:xfrm>
          <a:prstGeom prst="ellipse">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566928" y="1883664"/>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a:t>
            </a:r>
            <a:endParaRPr lang="en-US" sz="850" dirty="0"/>
          </a:p>
        </p:txBody>
      </p:sp>
      <p:sp>
        <p:nvSpPr>
          <p:cNvPr id="16" name="Text 14"/>
          <p:cNvSpPr/>
          <p:nvPr/>
        </p:nvSpPr>
        <p:spPr>
          <a:xfrm>
            <a:off x="859536" y="1892808"/>
            <a:ext cx="3666744" cy="182880"/>
          </a:xfrm>
          <a:prstGeom prst="rect">
            <a:avLst/>
          </a:prstGeom>
          <a:noFill/>
          <a:ln/>
        </p:spPr>
        <p:txBody>
          <a:bodyPr wrap="square" lIns="0" tIns="0" rIns="0" bIns="0" rtlCol="0" anchor="ctr"/>
          <a:lstStyle/>
          <a:p>
            <a:pPr marL="0" indent="0">
              <a:buNone/>
            </a:pPr>
            <a:r>
              <a:rPr lang="en-US" sz="900" b="1" dirty="0">
                <a:solidFill>
                  <a:srgbClr val="2563EB"/>
                </a:solidFill>
                <a:latin typeface="Calibri" pitchFamily="34" charset="0"/>
                <a:ea typeface="Calibri" pitchFamily="34" charset="-122"/>
                <a:cs typeface="Calibri" pitchFamily="34" charset="-120"/>
              </a:rPr>
              <a:t>Filter early with WHERE — before JOIN</a:t>
            </a:r>
            <a:endParaRPr lang="en-US" sz="900" dirty="0"/>
          </a:p>
        </p:txBody>
      </p:sp>
      <p:sp>
        <p:nvSpPr>
          <p:cNvPr id="17" name="Text 15"/>
          <p:cNvSpPr/>
          <p:nvPr/>
        </p:nvSpPr>
        <p:spPr>
          <a:xfrm>
            <a:off x="585216" y="2103120"/>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FROM customers c JOIN orders o ON c.customer_id=o.custom...</a:t>
            </a:r>
            <a:endParaRPr lang="en-US" sz="750" dirty="0"/>
          </a:p>
        </p:txBody>
      </p:sp>
      <p:sp>
        <p:nvSpPr>
          <p:cNvPr id="18" name="Text 16"/>
          <p:cNvSpPr/>
          <p:nvPr/>
        </p:nvSpPr>
        <p:spPr>
          <a:xfrm>
            <a:off x="585216" y="2249424"/>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FROM orders o WHERE o.status='Delivered' JOIN customers ...</a:t>
            </a:r>
            <a:endParaRPr lang="en-US" sz="750" dirty="0"/>
          </a:p>
        </p:txBody>
      </p:sp>
      <p:sp>
        <p:nvSpPr>
          <p:cNvPr id="19" name="Text 17"/>
          <p:cNvSpPr/>
          <p:nvPr/>
        </p:nvSpPr>
        <p:spPr>
          <a:xfrm>
            <a:off x="585216" y="2414016"/>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Filter first, then join. The smaller the table going into the JOIN, the faster the JOIN runs.</a:t>
            </a:r>
            <a:endParaRPr lang="en-US" sz="800" dirty="0"/>
          </a:p>
        </p:txBody>
      </p:sp>
      <p:sp>
        <p:nvSpPr>
          <p:cNvPr id="20" name="Shape 18"/>
          <p:cNvSpPr/>
          <p:nvPr/>
        </p:nvSpPr>
        <p:spPr>
          <a:xfrm>
            <a:off x="457200" y="2688336"/>
            <a:ext cx="4160520" cy="804672"/>
          </a:xfrm>
          <a:prstGeom prst="rect">
            <a:avLst/>
          </a:prstGeom>
          <a:solidFill>
            <a:srgbClr val="F8FAFC"/>
          </a:solidFill>
          <a:ln w="12700">
            <a:solidFill>
              <a:srgbClr val="7C3AED">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457200" y="2688336"/>
            <a:ext cx="54864" cy="804672"/>
          </a:xfrm>
          <a:prstGeom prst="rect">
            <a:avLst/>
          </a:prstGeom>
          <a:solidFill>
            <a:srgbClr val="7C3AED"/>
          </a:solidFill>
          <a:ln w="12700">
            <a:solidFill>
              <a:srgbClr val="7C3AED"/>
            </a:solidFill>
            <a:prstDash val="solid"/>
          </a:ln>
        </p:spPr>
        <p:txBody>
          <a:bodyPr/>
          <a:lstStyle/>
          <a:p>
            <a:endParaRPr lang="en-US"/>
          </a:p>
        </p:txBody>
      </p:sp>
      <p:sp>
        <p:nvSpPr>
          <p:cNvPr id="22" name="Shape 20"/>
          <p:cNvSpPr/>
          <p:nvPr/>
        </p:nvSpPr>
        <p:spPr>
          <a:xfrm>
            <a:off x="566928" y="2743200"/>
            <a:ext cx="219456" cy="219456"/>
          </a:xfrm>
          <a:prstGeom prst="ellipse">
            <a:avLst/>
          </a:prstGeom>
          <a:solidFill>
            <a:srgbClr val="7C3AED"/>
          </a:solidFill>
          <a:ln w="12700">
            <a:solidFill>
              <a:srgbClr val="7C3AED"/>
            </a:solidFill>
            <a:prstDash val="solid"/>
          </a:ln>
        </p:spPr>
        <p:txBody>
          <a:bodyPr/>
          <a:lstStyle/>
          <a:p>
            <a:endParaRPr lang="en-US"/>
          </a:p>
        </p:txBody>
      </p:sp>
      <p:sp>
        <p:nvSpPr>
          <p:cNvPr id="23" name="Text 21"/>
          <p:cNvSpPr/>
          <p:nvPr/>
        </p:nvSpPr>
        <p:spPr>
          <a:xfrm>
            <a:off x="566928" y="2743200"/>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a:t>
            </a:r>
            <a:endParaRPr lang="en-US" sz="850" dirty="0"/>
          </a:p>
        </p:txBody>
      </p:sp>
      <p:sp>
        <p:nvSpPr>
          <p:cNvPr id="24" name="Text 22"/>
          <p:cNvSpPr/>
          <p:nvPr/>
        </p:nvSpPr>
        <p:spPr>
          <a:xfrm>
            <a:off x="859536" y="2752344"/>
            <a:ext cx="3666744" cy="182880"/>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Use indexes on WHERE and JOIN columns</a:t>
            </a:r>
            <a:endParaRPr lang="en-US" sz="900" dirty="0"/>
          </a:p>
        </p:txBody>
      </p:sp>
      <p:sp>
        <p:nvSpPr>
          <p:cNvPr id="25" name="Text 23"/>
          <p:cNvSpPr/>
          <p:nvPr/>
        </p:nvSpPr>
        <p:spPr>
          <a:xfrm>
            <a:off x="585216" y="2962656"/>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 no index: Seq Scan 25 rows checked one by one</a:t>
            </a:r>
            <a:endParaRPr lang="en-US" sz="750" dirty="0"/>
          </a:p>
        </p:txBody>
      </p:sp>
      <p:sp>
        <p:nvSpPr>
          <p:cNvPr id="26" name="Text 24"/>
          <p:cNvSpPr/>
          <p:nvPr/>
        </p:nvSpPr>
        <p:spPr>
          <a:xfrm>
            <a:off x="585216" y="3108960"/>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CREATE INDEX idx_status ON orders(status);  -- Index Sca...</a:t>
            </a:r>
            <a:endParaRPr lang="en-US" sz="750" dirty="0"/>
          </a:p>
        </p:txBody>
      </p:sp>
      <p:sp>
        <p:nvSpPr>
          <p:cNvPr id="27" name="Text 25"/>
          <p:cNvSpPr/>
          <p:nvPr/>
        </p:nvSpPr>
        <p:spPr>
          <a:xfrm>
            <a:off x="585216" y="3273552"/>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Already covered in detail on the previous two slides.</a:t>
            </a:r>
            <a:endParaRPr lang="en-US" sz="800" dirty="0"/>
          </a:p>
        </p:txBody>
      </p:sp>
      <p:sp>
        <p:nvSpPr>
          <p:cNvPr id="28" name="Shape 26"/>
          <p:cNvSpPr/>
          <p:nvPr/>
        </p:nvSpPr>
        <p:spPr>
          <a:xfrm>
            <a:off x="457200" y="3547872"/>
            <a:ext cx="4160520" cy="804672"/>
          </a:xfrm>
          <a:prstGeom prst="rect">
            <a:avLst/>
          </a:prstGeom>
          <a:solidFill>
            <a:srgbClr val="F8FAFC"/>
          </a:solidFill>
          <a:ln w="12700">
            <a:solidFill>
              <a:srgbClr val="EA580C">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29" name="Shape 27"/>
          <p:cNvSpPr/>
          <p:nvPr/>
        </p:nvSpPr>
        <p:spPr>
          <a:xfrm>
            <a:off x="457200" y="3547872"/>
            <a:ext cx="54864" cy="804672"/>
          </a:xfrm>
          <a:prstGeom prst="rect">
            <a:avLst/>
          </a:prstGeom>
          <a:solidFill>
            <a:srgbClr val="EA580C"/>
          </a:solidFill>
          <a:ln w="12700">
            <a:solidFill>
              <a:srgbClr val="EA580C"/>
            </a:solidFill>
            <a:prstDash val="solid"/>
          </a:ln>
        </p:spPr>
        <p:txBody>
          <a:bodyPr/>
          <a:lstStyle/>
          <a:p>
            <a:endParaRPr lang="en-US"/>
          </a:p>
        </p:txBody>
      </p:sp>
      <p:sp>
        <p:nvSpPr>
          <p:cNvPr id="30" name="Shape 28"/>
          <p:cNvSpPr/>
          <p:nvPr/>
        </p:nvSpPr>
        <p:spPr>
          <a:xfrm>
            <a:off x="566928" y="3602736"/>
            <a:ext cx="219456" cy="219456"/>
          </a:xfrm>
          <a:prstGeom prst="ellipse">
            <a:avLst/>
          </a:prstGeom>
          <a:solidFill>
            <a:srgbClr val="EA580C"/>
          </a:solidFill>
          <a:ln w="12700">
            <a:solidFill>
              <a:srgbClr val="EA580C"/>
            </a:solidFill>
            <a:prstDash val="solid"/>
          </a:ln>
        </p:spPr>
        <p:txBody>
          <a:bodyPr/>
          <a:lstStyle/>
          <a:p>
            <a:endParaRPr lang="en-US"/>
          </a:p>
        </p:txBody>
      </p:sp>
      <p:sp>
        <p:nvSpPr>
          <p:cNvPr id="31" name="Text 29"/>
          <p:cNvSpPr/>
          <p:nvPr/>
        </p:nvSpPr>
        <p:spPr>
          <a:xfrm>
            <a:off x="566928" y="3602736"/>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a:t>
            </a:r>
            <a:endParaRPr lang="en-US" sz="850" dirty="0"/>
          </a:p>
        </p:txBody>
      </p:sp>
      <p:sp>
        <p:nvSpPr>
          <p:cNvPr id="32" name="Text 30"/>
          <p:cNvSpPr/>
          <p:nvPr/>
        </p:nvSpPr>
        <p:spPr>
          <a:xfrm>
            <a:off x="859536" y="3611880"/>
            <a:ext cx="3666744" cy="182880"/>
          </a:xfrm>
          <a:prstGeom prst="rect">
            <a:avLst/>
          </a:prstGeom>
          <a:noFill/>
          <a:ln/>
        </p:spPr>
        <p:txBody>
          <a:bodyPr wrap="square" lIns="0" tIns="0" rIns="0" bIns="0" rtlCol="0" anchor="ctr"/>
          <a:lstStyle/>
          <a:p>
            <a:pPr marL="0" indent="0">
              <a:buNone/>
            </a:pPr>
            <a:r>
              <a:rPr lang="en-US" sz="900" b="1" dirty="0">
                <a:solidFill>
                  <a:srgbClr val="EA580C"/>
                </a:solidFill>
                <a:latin typeface="Calibri" pitchFamily="34" charset="0"/>
                <a:ea typeface="Calibri" pitchFamily="34" charset="-122"/>
                <a:cs typeface="Calibri" pitchFamily="34" charset="-120"/>
              </a:rPr>
              <a:t>Use CTE or subquery instead of correlated nested query</a:t>
            </a:r>
            <a:endParaRPr lang="en-US" sz="900" dirty="0"/>
          </a:p>
        </p:txBody>
      </p:sp>
      <p:sp>
        <p:nvSpPr>
          <p:cNvPr id="33" name="Text 31"/>
          <p:cNvSpPr/>
          <p:nvPr/>
        </p:nvSpPr>
        <p:spPr>
          <a:xfrm>
            <a:off x="585216" y="3822192"/>
            <a:ext cx="3959352"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WHERE price=(SELECT MAX(p2.price) FROM products p2 WHERE...</a:t>
            </a:r>
            <a:endParaRPr lang="en-US" sz="750" dirty="0"/>
          </a:p>
        </p:txBody>
      </p:sp>
      <p:sp>
        <p:nvSpPr>
          <p:cNvPr id="34" name="Text 32"/>
          <p:cNvSpPr/>
          <p:nvPr/>
        </p:nvSpPr>
        <p:spPr>
          <a:xfrm>
            <a:off x="585216" y="3968496"/>
            <a:ext cx="3959352"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WITH cat_max AS (SELECT category, MAX(price) AS max_p FR...</a:t>
            </a:r>
            <a:endParaRPr lang="en-US" sz="750" dirty="0"/>
          </a:p>
        </p:txBody>
      </p:sp>
      <p:sp>
        <p:nvSpPr>
          <p:cNvPr id="35" name="Text 33"/>
          <p:cNvSpPr/>
          <p:nvPr/>
        </p:nvSpPr>
        <p:spPr>
          <a:xfrm>
            <a:off x="585216" y="4133088"/>
            <a:ext cx="3959352"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Correlated subquery runs once per row. CTE runs ONCE, result is cached. See slide 8.</a:t>
            </a:r>
            <a:endParaRPr lang="en-US" sz="800" dirty="0"/>
          </a:p>
        </p:txBody>
      </p:sp>
      <p:sp>
        <p:nvSpPr>
          <p:cNvPr id="36" name="Shape 34"/>
          <p:cNvSpPr/>
          <p:nvPr/>
        </p:nvSpPr>
        <p:spPr>
          <a:xfrm>
            <a:off x="4828032" y="969264"/>
            <a:ext cx="3858768" cy="804672"/>
          </a:xfrm>
          <a:prstGeom prst="rect">
            <a:avLst/>
          </a:prstGeom>
          <a:solidFill>
            <a:srgbClr val="F8FAFC"/>
          </a:solidFill>
          <a:ln w="12700">
            <a:solidFill>
              <a:srgbClr val="0D9488">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37" name="Shape 35"/>
          <p:cNvSpPr/>
          <p:nvPr/>
        </p:nvSpPr>
        <p:spPr>
          <a:xfrm>
            <a:off x="4828032" y="969264"/>
            <a:ext cx="54864" cy="804672"/>
          </a:xfrm>
          <a:prstGeom prst="rect">
            <a:avLst/>
          </a:prstGeom>
          <a:solidFill>
            <a:srgbClr val="0D9488"/>
          </a:solidFill>
          <a:ln w="12700">
            <a:solidFill>
              <a:srgbClr val="0D9488"/>
            </a:solidFill>
            <a:prstDash val="solid"/>
          </a:ln>
        </p:spPr>
        <p:txBody>
          <a:bodyPr/>
          <a:lstStyle/>
          <a:p>
            <a:endParaRPr lang="en-US"/>
          </a:p>
        </p:txBody>
      </p:sp>
      <p:sp>
        <p:nvSpPr>
          <p:cNvPr id="38" name="Shape 36"/>
          <p:cNvSpPr/>
          <p:nvPr/>
        </p:nvSpPr>
        <p:spPr>
          <a:xfrm>
            <a:off x="4937760" y="1024128"/>
            <a:ext cx="219456" cy="219456"/>
          </a:xfrm>
          <a:prstGeom prst="ellipse">
            <a:avLst/>
          </a:prstGeom>
          <a:solidFill>
            <a:srgbClr val="0D9488"/>
          </a:solidFill>
          <a:ln w="12700">
            <a:solidFill>
              <a:srgbClr val="0D9488"/>
            </a:solidFill>
            <a:prstDash val="solid"/>
          </a:ln>
        </p:spPr>
        <p:txBody>
          <a:bodyPr/>
          <a:lstStyle/>
          <a:p>
            <a:endParaRPr lang="en-US"/>
          </a:p>
        </p:txBody>
      </p:sp>
      <p:sp>
        <p:nvSpPr>
          <p:cNvPr id="39" name="Text 37"/>
          <p:cNvSpPr/>
          <p:nvPr/>
        </p:nvSpPr>
        <p:spPr>
          <a:xfrm>
            <a:off x="4937760" y="1024128"/>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a:t>
            </a:r>
            <a:endParaRPr lang="en-US" sz="850" dirty="0"/>
          </a:p>
        </p:txBody>
      </p:sp>
      <p:sp>
        <p:nvSpPr>
          <p:cNvPr id="40" name="Text 38"/>
          <p:cNvSpPr/>
          <p:nvPr/>
        </p:nvSpPr>
        <p:spPr>
          <a:xfrm>
            <a:off x="5230368" y="1033272"/>
            <a:ext cx="3364992" cy="182880"/>
          </a:xfrm>
          <a:prstGeom prst="rect">
            <a:avLst/>
          </a:prstGeom>
          <a:noFill/>
          <a:ln/>
        </p:spPr>
        <p:txBody>
          <a:bodyPr wrap="square" lIns="0" tIns="0" rIns="0" bIns="0"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Avoid functions on indexed columns in WHERE</a:t>
            </a:r>
            <a:endParaRPr lang="en-US" sz="900" dirty="0"/>
          </a:p>
        </p:txBody>
      </p:sp>
      <p:sp>
        <p:nvSpPr>
          <p:cNvPr id="41" name="Text 39"/>
          <p:cNvSpPr/>
          <p:nvPr/>
        </p:nvSpPr>
        <p:spPr>
          <a:xfrm>
            <a:off x="4956048" y="1243584"/>
            <a:ext cx="3657600"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WHERE EXTRACT(YEAR FROM order_date) = 2024   ← index on ...</a:t>
            </a:r>
            <a:endParaRPr lang="en-US" sz="750" dirty="0"/>
          </a:p>
        </p:txBody>
      </p:sp>
      <p:sp>
        <p:nvSpPr>
          <p:cNvPr id="42" name="Text 40"/>
          <p:cNvSpPr/>
          <p:nvPr/>
        </p:nvSpPr>
        <p:spPr>
          <a:xfrm>
            <a:off x="4956048" y="1389888"/>
            <a:ext cx="3657600"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WHERE order_date BETWEEN '2024-01-01' AND '2024-12-31'  ...</a:t>
            </a:r>
            <a:endParaRPr lang="en-US" sz="750" dirty="0"/>
          </a:p>
        </p:txBody>
      </p:sp>
      <p:sp>
        <p:nvSpPr>
          <p:cNvPr id="43" name="Text 41"/>
          <p:cNvSpPr/>
          <p:nvPr/>
        </p:nvSpPr>
        <p:spPr>
          <a:xfrm>
            <a:off x="4956048" y="1554480"/>
            <a:ext cx="365760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Wrapping a column in a function prevents PostgreSQL from using the index on it.</a:t>
            </a:r>
            <a:endParaRPr lang="en-US" sz="800" dirty="0"/>
          </a:p>
        </p:txBody>
      </p:sp>
      <p:sp>
        <p:nvSpPr>
          <p:cNvPr id="44" name="Shape 42"/>
          <p:cNvSpPr/>
          <p:nvPr/>
        </p:nvSpPr>
        <p:spPr>
          <a:xfrm>
            <a:off x="4828032" y="1828800"/>
            <a:ext cx="3858768" cy="804672"/>
          </a:xfrm>
          <a:prstGeom prst="rect">
            <a:avLst/>
          </a:prstGeom>
          <a:solidFill>
            <a:srgbClr val="F8FAFC"/>
          </a:solidFill>
          <a:ln w="12700">
            <a:solidFill>
              <a:srgbClr val="D97706">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45" name="Shape 43"/>
          <p:cNvSpPr/>
          <p:nvPr/>
        </p:nvSpPr>
        <p:spPr>
          <a:xfrm>
            <a:off x="4828032" y="1828800"/>
            <a:ext cx="54864" cy="804672"/>
          </a:xfrm>
          <a:prstGeom prst="rect">
            <a:avLst/>
          </a:prstGeom>
          <a:solidFill>
            <a:srgbClr val="D97706"/>
          </a:solidFill>
          <a:ln w="12700">
            <a:solidFill>
              <a:srgbClr val="D97706"/>
            </a:solidFill>
            <a:prstDash val="solid"/>
          </a:ln>
        </p:spPr>
        <p:txBody>
          <a:bodyPr/>
          <a:lstStyle/>
          <a:p>
            <a:endParaRPr lang="en-US"/>
          </a:p>
        </p:txBody>
      </p:sp>
      <p:sp>
        <p:nvSpPr>
          <p:cNvPr id="46" name="Shape 44"/>
          <p:cNvSpPr/>
          <p:nvPr/>
        </p:nvSpPr>
        <p:spPr>
          <a:xfrm>
            <a:off x="4937760" y="1883664"/>
            <a:ext cx="219456" cy="219456"/>
          </a:xfrm>
          <a:prstGeom prst="ellipse">
            <a:avLst/>
          </a:prstGeom>
          <a:solidFill>
            <a:srgbClr val="D97706"/>
          </a:solidFill>
          <a:ln w="12700">
            <a:solidFill>
              <a:srgbClr val="D97706"/>
            </a:solidFill>
            <a:prstDash val="solid"/>
          </a:ln>
        </p:spPr>
        <p:txBody>
          <a:bodyPr/>
          <a:lstStyle/>
          <a:p>
            <a:endParaRPr lang="en-US"/>
          </a:p>
        </p:txBody>
      </p:sp>
      <p:sp>
        <p:nvSpPr>
          <p:cNvPr id="47" name="Text 45"/>
          <p:cNvSpPr/>
          <p:nvPr/>
        </p:nvSpPr>
        <p:spPr>
          <a:xfrm>
            <a:off x="4937760" y="1883664"/>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a:t>
            </a:r>
            <a:endParaRPr lang="en-US" sz="850" dirty="0"/>
          </a:p>
        </p:txBody>
      </p:sp>
      <p:sp>
        <p:nvSpPr>
          <p:cNvPr id="48" name="Text 46"/>
          <p:cNvSpPr/>
          <p:nvPr/>
        </p:nvSpPr>
        <p:spPr>
          <a:xfrm>
            <a:off x="5230368" y="1892808"/>
            <a:ext cx="3364992" cy="182880"/>
          </a:xfrm>
          <a:prstGeom prst="rect">
            <a:avLst/>
          </a:prstGeom>
          <a:noFill/>
          <a:ln/>
        </p:spPr>
        <p:txBody>
          <a:bodyPr wrap="square" lIns="0" tIns="0" rIns="0" bIns="0" rtlCol="0" anchor="ctr"/>
          <a:lstStyle/>
          <a:p>
            <a:pPr marL="0" indent="0">
              <a:buNone/>
            </a:pPr>
            <a:r>
              <a:rPr lang="en-US" sz="900" b="1" dirty="0">
                <a:solidFill>
                  <a:srgbClr val="D97706"/>
                </a:solidFill>
                <a:latin typeface="Calibri" pitchFamily="34" charset="0"/>
                <a:ea typeface="Calibri" pitchFamily="34" charset="-122"/>
                <a:cs typeface="Calibri" pitchFamily="34" charset="-120"/>
              </a:rPr>
              <a:t>Use LIMIT when you only need the top N rows</a:t>
            </a:r>
            <a:endParaRPr lang="en-US" sz="900" dirty="0"/>
          </a:p>
        </p:txBody>
      </p:sp>
      <p:sp>
        <p:nvSpPr>
          <p:cNvPr id="49" name="Text 47"/>
          <p:cNvSpPr/>
          <p:nvPr/>
        </p:nvSpPr>
        <p:spPr>
          <a:xfrm>
            <a:off x="4956048" y="2103120"/>
            <a:ext cx="3657600"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SELECT * FROM daily_sales ORDER BY total_revenue DESC</a:t>
            </a:r>
            <a:endParaRPr lang="en-US" sz="750" dirty="0"/>
          </a:p>
        </p:txBody>
      </p:sp>
      <p:sp>
        <p:nvSpPr>
          <p:cNvPr id="50" name="Text 48"/>
          <p:cNvSpPr/>
          <p:nvPr/>
        </p:nvSpPr>
        <p:spPr>
          <a:xfrm>
            <a:off x="4956048" y="2249424"/>
            <a:ext cx="3657600"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SELECT * FROM daily_sales ORDER BY total_revenue DESC LI...</a:t>
            </a:r>
            <a:endParaRPr lang="en-US" sz="750" dirty="0"/>
          </a:p>
        </p:txBody>
      </p:sp>
      <p:sp>
        <p:nvSpPr>
          <p:cNvPr id="51" name="Text 49"/>
          <p:cNvSpPr/>
          <p:nvPr/>
        </p:nvSpPr>
        <p:spPr>
          <a:xfrm>
            <a:off x="4956048" y="2414016"/>
            <a:ext cx="365760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Without LIMIT, PostgreSQL sorts all 31 rows. With LIMIT 5, it stops as soon as it has enough.</a:t>
            </a:r>
            <a:endParaRPr lang="en-US" sz="800" dirty="0"/>
          </a:p>
        </p:txBody>
      </p:sp>
      <p:sp>
        <p:nvSpPr>
          <p:cNvPr id="52" name="Shape 50"/>
          <p:cNvSpPr/>
          <p:nvPr/>
        </p:nvSpPr>
        <p:spPr>
          <a:xfrm>
            <a:off x="4828032" y="2688336"/>
            <a:ext cx="3858768" cy="804672"/>
          </a:xfrm>
          <a:prstGeom prst="rect">
            <a:avLst/>
          </a:prstGeom>
          <a:solidFill>
            <a:srgbClr val="F8FAFC"/>
          </a:solidFill>
          <a:ln w="12700">
            <a:solidFill>
              <a:srgbClr val="1E293B">
                <a:alpha val="55000"/>
              </a:srgbClr>
            </a:solidFill>
            <a:prstDash val="solid"/>
          </a:ln>
          <a:effectLst>
            <a:outerShdw blurRad="50800" dist="12700" dir="8100000" algn="bl" rotWithShape="0">
              <a:srgbClr val="000000">
                <a:alpha val="6000"/>
              </a:srgbClr>
            </a:outerShdw>
          </a:effectLst>
        </p:spPr>
        <p:txBody>
          <a:bodyPr/>
          <a:lstStyle/>
          <a:p>
            <a:endParaRPr lang="en-US"/>
          </a:p>
        </p:txBody>
      </p:sp>
      <p:sp>
        <p:nvSpPr>
          <p:cNvPr id="53" name="Shape 51"/>
          <p:cNvSpPr/>
          <p:nvPr/>
        </p:nvSpPr>
        <p:spPr>
          <a:xfrm>
            <a:off x="4828032" y="2688336"/>
            <a:ext cx="54864" cy="804672"/>
          </a:xfrm>
          <a:prstGeom prst="rect">
            <a:avLst/>
          </a:prstGeom>
          <a:solidFill>
            <a:srgbClr val="1E293B"/>
          </a:solidFill>
          <a:ln w="12700">
            <a:solidFill>
              <a:srgbClr val="1E293B"/>
            </a:solidFill>
            <a:prstDash val="solid"/>
          </a:ln>
        </p:spPr>
        <p:txBody>
          <a:bodyPr/>
          <a:lstStyle/>
          <a:p>
            <a:endParaRPr lang="en-US"/>
          </a:p>
        </p:txBody>
      </p:sp>
      <p:sp>
        <p:nvSpPr>
          <p:cNvPr id="54" name="Shape 52"/>
          <p:cNvSpPr/>
          <p:nvPr/>
        </p:nvSpPr>
        <p:spPr>
          <a:xfrm>
            <a:off x="4937760" y="2743200"/>
            <a:ext cx="219456" cy="219456"/>
          </a:xfrm>
          <a:prstGeom prst="ellipse">
            <a:avLst/>
          </a:prstGeom>
          <a:solidFill>
            <a:srgbClr val="1E293B"/>
          </a:solidFill>
          <a:ln w="12700">
            <a:solidFill>
              <a:srgbClr val="1E293B"/>
            </a:solidFill>
            <a:prstDash val="solid"/>
          </a:ln>
        </p:spPr>
        <p:txBody>
          <a:bodyPr/>
          <a:lstStyle/>
          <a:p>
            <a:endParaRPr lang="en-US"/>
          </a:p>
        </p:txBody>
      </p:sp>
      <p:sp>
        <p:nvSpPr>
          <p:cNvPr id="55" name="Text 53"/>
          <p:cNvSpPr/>
          <p:nvPr/>
        </p:nvSpPr>
        <p:spPr>
          <a:xfrm>
            <a:off x="4937760" y="2743200"/>
            <a:ext cx="219456"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a:t>
            </a:r>
            <a:endParaRPr lang="en-US" sz="850" dirty="0"/>
          </a:p>
        </p:txBody>
      </p:sp>
      <p:sp>
        <p:nvSpPr>
          <p:cNvPr id="56" name="Text 54"/>
          <p:cNvSpPr/>
          <p:nvPr/>
        </p:nvSpPr>
        <p:spPr>
          <a:xfrm>
            <a:off x="5230368" y="2752344"/>
            <a:ext cx="3364992" cy="182880"/>
          </a:xfrm>
          <a:prstGeom prst="rect">
            <a:avLst/>
          </a:prstGeom>
          <a:noFill/>
          <a:ln/>
        </p:spPr>
        <p:txBody>
          <a:bodyPr wrap="square" lIns="0" tIns="0" rIns="0" bIns="0" rtlCol="0" anchor="ctr"/>
          <a:lstStyle/>
          <a:p>
            <a:pPr marL="0" indent="0">
              <a:buNone/>
            </a:pPr>
            <a:r>
              <a:rPr lang="en-US" sz="900" b="1" dirty="0">
                <a:solidFill>
                  <a:srgbClr val="1E293B"/>
                </a:solidFill>
                <a:latin typeface="Calibri" pitchFamily="34" charset="0"/>
                <a:ea typeface="Calibri" pitchFamily="34" charset="-122"/>
                <a:cs typeface="Calibri" pitchFamily="34" charset="-120"/>
              </a:rPr>
              <a:t>EXPLAIN ANALYZE — diagnose before you optimize</a:t>
            </a:r>
            <a:endParaRPr lang="en-US" sz="900" dirty="0"/>
          </a:p>
        </p:txBody>
      </p:sp>
      <p:sp>
        <p:nvSpPr>
          <p:cNvPr id="57" name="Text 55"/>
          <p:cNvSpPr/>
          <p:nvPr/>
        </p:nvSpPr>
        <p:spPr>
          <a:xfrm>
            <a:off x="4956048" y="2962656"/>
            <a:ext cx="3657600" cy="146304"/>
          </a:xfrm>
          <a:prstGeom prst="rect">
            <a:avLst/>
          </a:prstGeom>
          <a:noFill/>
          <a:ln/>
        </p:spPr>
        <p:txBody>
          <a:bodyPr wrap="square" lIns="0" tIns="0" rIns="0" bIns="0" rtlCol="0" anchor="ctr"/>
          <a:lstStyle/>
          <a:p>
            <a:pPr marL="0" indent="0">
              <a:buNone/>
            </a:pPr>
            <a:r>
              <a:rPr lang="en-US" sz="750" dirty="0">
                <a:solidFill>
                  <a:srgbClr val="DC2626"/>
                </a:solidFill>
                <a:latin typeface="Consolas" pitchFamily="34" charset="0"/>
                <a:ea typeface="Consolas" pitchFamily="34" charset="-122"/>
                <a:cs typeface="Consolas" pitchFamily="34" charset="-120"/>
              </a:rPr>
              <a:t>✗  -- Running queries blind without checking the plan</a:t>
            </a:r>
            <a:endParaRPr lang="en-US" sz="750" dirty="0"/>
          </a:p>
        </p:txBody>
      </p:sp>
      <p:sp>
        <p:nvSpPr>
          <p:cNvPr id="58" name="Text 56"/>
          <p:cNvSpPr/>
          <p:nvPr/>
        </p:nvSpPr>
        <p:spPr>
          <a:xfrm>
            <a:off x="4956048" y="3108960"/>
            <a:ext cx="3657600" cy="146304"/>
          </a:xfrm>
          <a:prstGeom prst="rect">
            <a:avLst/>
          </a:prstGeom>
          <a:noFill/>
          <a:ln/>
        </p:spPr>
        <p:txBody>
          <a:bodyPr wrap="square" lIns="0" tIns="0" rIns="0" bIns="0" rtlCol="0" anchor="ctr"/>
          <a:lstStyle/>
          <a:p>
            <a:pPr marL="0" indent="0">
              <a:buNone/>
            </a:pPr>
            <a:r>
              <a:rPr lang="en-US" sz="750" dirty="0">
                <a:solidFill>
                  <a:srgbClr val="059669"/>
                </a:solidFill>
                <a:latin typeface="Consolas" pitchFamily="34" charset="0"/>
                <a:ea typeface="Consolas" pitchFamily="34" charset="-122"/>
                <a:cs typeface="Consolas" pitchFamily="34" charset="-120"/>
              </a:rPr>
              <a:t>✓  EXPLAIN ANALYZE SELECT c.name, SUM(oi.unit_price) FROM c...</a:t>
            </a:r>
            <a:endParaRPr lang="en-US" sz="750" dirty="0"/>
          </a:p>
        </p:txBody>
      </p:sp>
      <p:sp>
        <p:nvSpPr>
          <p:cNvPr id="59" name="Text 57"/>
          <p:cNvSpPr/>
          <p:nvPr/>
        </p:nvSpPr>
        <p:spPr>
          <a:xfrm>
            <a:off x="4956048" y="3273552"/>
            <a:ext cx="365760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Shows Seq Scan vs Index Scan, actual rows, actual time. Always run this first before adding indexes.</a:t>
            </a:r>
            <a:endParaRPr lang="en-US" sz="800" dirty="0"/>
          </a:p>
        </p:txBody>
      </p:sp>
      <p:sp>
        <p:nvSpPr>
          <p:cNvPr id="60" name="Shape 58"/>
          <p:cNvSpPr/>
          <p:nvPr/>
        </p:nvSpPr>
        <p:spPr>
          <a:xfrm>
            <a:off x="457200" y="4443984"/>
            <a:ext cx="4160520" cy="658368"/>
          </a:xfrm>
          <a:prstGeom prst="rect">
            <a:avLst/>
          </a:prstGeom>
          <a:solidFill>
            <a:srgbClr val="7C3AED">
              <a:alpha val="10000"/>
            </a:srgbClr>
          </a:solidFill>
          <a:ln w="12700">
            <a:solidFill>
              <a:srgbClr val="7C3AED">
                <a:alpha val="32000"/>
              </a:srgbClr>
            </a:solidFill>
            <a:prstDash val="solid"/>
          </a:ln>
        </p:spPr>
        <p:txBody>
          <a:bodyPr/>
          <a:lstStyle/>
          <a:p>
            <a:endParaRPr lang="en-US"/>
          </a:p>
        </p:txBody>
      </p:sp>
      <p:sp>
        <p:nvSpPr>
          <p:cNvPr id="61" name="Shape 59"/>
          <p:cNvSpPr/>
          <p:nvPr/>
        </p:nvSpPr>
        <p:spPr>
          <a:xfrm>
            <a:off x="457200" y="4443984"/>
            <a:ext cx="54864" cy="658368"/>
          </a:xfrm>
          <a:prstGeom prst="rect">
            <a:avLst/>
          </a:prstGeom>
          <a:solidFill>
            <a:srgbClr val="7C3AED"/>
          </a:solidFill>
          <a:ln w="12700">
            <a:solidFill>
              <a:srgbClr val="7C3AED"/>
            </a:solidFill>
            <a:prstDash val="solid"/>
          </a:ln>
        </p:spPr>
        <p:txBody>
          <a:bodyPr/>
          <a:lstStyle/>
          <a:p>
            <a:endParaRPr lang="en-US"/>
          </a:p>
        </p:txBody>
      </p:sp>
      <p:sp>
        <p:nvSpPr>
          <p:cNvPr id="62" name="Text 60"/>
          <p:cNvSpPr/>
          <p:nvPr/>
        </p:nvSpPr>
        <p:spPr>
          <a:xfrm>
            <a:off x="603504" y="4480560"/>
            <a:ext cx="3877056" cy="201168"/>
          </a:xfrm>
          <a:prstGeom prst="rect">
            <a:avLst/>
          </a:prstGeom>
          <a:noFill/>
          <a:ln/>
        </p:spPr>
        <p:txBody>
          <a:bodyPr wrap="square" lIns="0" tIns="0" rIns="0" bIns="0" rtlCol="0" anchor="ctr"/>
          <a:lstStyle/>
          <a:p>
            <a:pPr marL="0" indent="0">
              <a:buNone/>
            </a:pPr>
            <a:r>
              <a:rPr lang="en-US" sz="900" b="1" dirty="0">
                <a:solidFill>
                  <a:srgbClr val="7C3AED"/>
                </a:solidFill>
                <a:latin typeface="Calibri" pitchFamily="34" charset="0"/>
                <a:ea typeface="Calibri" pitchFamily="34" charset="-122"/>
                <a:cs typeface="Calibri" pitchFamily="34" charset="-120"/>
              </a:rPr>
              <a:t>Pro Tip — optimization order:</a:t>
            </a:r>
            <a:endParaRPr lang="en-US" sz="900" dirty="0"/>
          </a:p>
        </p:txBody>
      </p:sp>
      <p:sp>
        <p:nvSpPr>
          <p:cNvPr id="63" name="Text 61"/>
          <p:cNvSpPr/>
          <p:nvPr/>
        </p:nvSpPr>
        <p:spPr>
          <a:xfrm>
            <a:off x="603504" y="4645152"/>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1. Run EXPLAIN ANALYZE first — identify the bottleneck</a:t>
            </a:r>
            <a:endParaRPr lang="en-US" sz="850" dirty="0"/>
          </a:p>
        </p:txBody>
      </p:sp>
      <p:sp>
        <p:nvSpPr>
          <p:cNvPr id="64" name="Text 62"/>
          <p:cNvSpPr/>
          <p:nvPr/>
        </p:nvSpPr>
        <p:spPr>
          <a:xfrm>
            <a:off x="603504" y="4809744"/>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2. Add WHERE filter / fix SELECT * first (free gains)</a:t>
            </a:r>
            <a:endParaRPr lang="en-US" sz="850" dirty="0"/>
          </a:p>
        </p:txBody>
      </p:sp>
      <p:sp>
        <p:nvSpPr>
          <p:cNvPr id="65" name="Text 63"/>
          <p:cNvSpPr/>
          <p:nvPr/>
        </p:nvSpPr>
        <p:spPr>
          <a:xfrm>
            <a:off x="603504" y="4974336"/>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3. Rewrite correlated subquery as CTE if you see it in plan</a:t>
            </a:r>
            <a:endParaRPr lang="en-US" sz="850" dirty="0"/>
          </a:p>
        </p:txBody>
      </p:sp>
      <p:sp>
        <p:nvSpPr>
          <p:cNvPr id="66" name="Text 64"/>
          <p:cNvSpPr/>
          <p:nvPr/>
        </p:nvSpPr>
        <p:spPr>
          <a:xfrm>
            <a:off x="603504" y="5138928"/>
            <a:ext cx="3877056" cy="182880"/>
          </a:xfrm>
          <a:prstGeom prst="rect">
            <a:avLst/>
          </a:prstGeom>
          <a:noFill/>
          <a:ln/>
        </p:spPr>
        <p:txBody>
          <a:bodyPr wrap="square" lIns="0" tIns="0" rIns="0" bIns="0" rtlCol="0" anchor="ctr"/>
          <a:lstStyle/>
          <a:p>
            <a:pPr marL="0" indent="0">
              <a:buNone/>
            </a:pPr>
            <a:r>
              <a:rPr lang="en-US" sz="850" dirty="0">
                <a:solidFill>
                  <a:srgbClr val="334155"/>
                </a:solidFill>
                <a:latin typeface="Calibri" pitchFamily="34" charset="0"/>
                <a:ea typeface="Calibri" pitchFamily="34" charset="-122"/>
                <a:cs typeface="Calibri" pitchFamily="34" charset="-120"/>
              </a:rPr>
              <a:t>4. Add index ONLY if EXPLAIN shows Seq Scan on large table</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Query Optimization Tips</a:t>
            </a:r>
            <a:endParaRPr lang="en-US" sz="3200" dirty="0"/>
          </a:p>
        </p:txBody>
      </p:sp>
      <p:sp>
        <p:nvSpPr>
          <p:cNvPr id="3" name="Text 1"/>
          <p:cNvSpPr/>
          <p:nvPr/>
        </p:nvSpPr>
        <p:spPr>
          <a:xfrm>
            <a:off x="457200" y="100584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1. SELECT only columns you need</a:t>
            </a:r>
            <a:endParaRPr lang="en-US" sz="1300" dirty="0"/>
          </a:p>
        </p:txBody>
      </p:sp>
      <p:sp>
        <p:nvSpPr>
          <p:cNvPr id="4" name="Text 2"/>
          <p:cNvSpPr/>
          <p:nvPr/>
        </p:nvSpPr>
        <p:spPr>
          <a:xfrm>
            <a:off x="640080" y="1325880"/>
            <a:ext cx="804672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SELECT *   ✓ SELECT name, city</a:t>
            </a:r>
            <a:endParaRPr lang="en-US" sz="1100" dirty="0"/>
          </a:p>
        </p:txBody>
      </p:sp>
      <p:sp>
        <p:nvSpPr>
          <p:cNvPr id="5" name="Text 3"/>
          <p:cNvSpPr/>
          <p:nvPr/>
        </p:nvSpPr>
        <p:spPr>
          <a:xfrm>
            <a:off x="457200" y="178308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2. Filter early with WHERE</a:t>
            </a:r>
            <a:endParaRPr lang="en-US" sz="1300" dirty="0"/>
          </a:p>
        </p:txBody>
      </p:sp>
      <p:sp>
        <p:nvSpPr>
          <p:cNvPr id="6" name="Text 4"/>
          <p:cNvSpPr/>
          <p:nvPr/>
        </p:nvSpPr>
        <p:spPr>
          <a:xfrm>
            <a:off x="640080" y="2103120"/>
            <a:ext cx="804672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Filter after JOIN   ✓ Filter before JOIN</a:t>
            </a:r>
            <a:endParaRPr lang="en-US" sz="1100" dirty="0"/>
          </a:p>
        </p:txBody>
      </p:sp>
      <p:sp>
        <p:nvSpPr>
          <p:cNvPr id="7" name="Text 5"/>
          <p:cNvSpPr/>
          <p:nvPr/>
        </p:nvSpPr>
        <p:spPr>
          <a:xfrm>
            <a:off x="457200" y="249174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3. Use indexes on frequently filtered columns</a:t>
            </a:r>
            <a:endParaRPr lang="en-US" sz="1300" dirty="0"/>
          </a:p>
        </p:txBody>
      </p:sp>
      <p:sp>
        <p:nvSpPr>
          <p:cNvPr id="8" name="Text 6"/>
          <p:cNvSpPr/>
          <p:nvPr/>
        </p:nvSpPr>
        <p:spPr>
          <a:xfrm>
            <a:off x="640080" y="2880360"/>
            <a:ext cx="8046720" cy="368166"/>
          </a:xfrm>
          <a:prstGeom prst="rect">
            <a:avLst/>
          </a:prstGeom>
          <a:noFill/>
          <a:ln/>
        </p:spPr>
        <p:txBody>
          <a:bodyPr wrap="square" rtlCol="0" anchor="ctr"/>
          <a:lstStyle/>
          <a:p>
            <a:r>
              <a:rPr lang="en-US" sz="1100" dirty="0">
                <a:solidFill>
                  <a:srgbClr val="64748B"/>
                </a:solidFill>
                <a:latin typeface="Calibri" pitchFamily="34" charset="0"/>
                <a:ea typeface="Calibri" pitchFamily="34" charset="-122"/>
                <a:cs typeface="Calibri" pitchFamily="34" charset="-120"/>
              </a:rPr>
              <a:t>❌ Full table scan   ✓ Index scan</a:t>
            </a:r>
            <a:br>
              <a:rPr lang="en-US" sz="1100" dirty="0">
                <a:solidFill>
                  <a:srgbClr val="64748B"/>
                </a:solidFill>
                <a:latin typeface="Calibri" pitchFamily="34" charset="0"/>
                <a:ea typeface="Calibri" pitchFamily="34" charset="-122"/>
                <a:cs typeface="Calibri" pitchFamily="34" charset="-120"/>
              </a:rPr>
            </a:br>
            <a:r>
              <a:rPr lang="en-US" sz="1100" dirty="0">
                <a:solidFill>
                  <a:srgbClr val="64748B"/>
                </a:solidFill>
                <a:latin typeface="Calibri" pitchFamily="34" charset="0"/>
                <a:ea typeface="Calibri" pitchFamily="34" charset="-122"/>
                <a:cs typeface="Calibri" pitchFamily="34" charset="-120"/>
              </a:rPr>
              <a:t>            CREATE INDEX </a:t>
            </a:r>
            <a:r>
              <a:rPr lang="en-US" sz="1100" dirty="0" err="1">
                <a:solidFill>
                  <a:srgbClr val="64748B"/>
                </a:solidFill>
                <a:latin typeface="Calibri" pitchFamily="34" charset="0"/>
                <a:ea typeface="Calibri" pitchFamily="34" charset="-122"/>
                <a:cs typeface="Calibri" pitchFamily="34" charset="-120"/>
              </a:rPr>
              <a:t>index_name</a:t>
            </a:r>
            <a:endParaRPr lang="en-US" sz="1100" dirty="0">
              <a:solidFill>
                <a:srgbClr val="64748B"/>
              </a:solidFill>
              <a:latin typeface="Calibri" pitchFamily="34" charset="0"/>
              <a:ea typeface="Calibri" pitchFamily="34" charset="-122"/>
              <a:cs typeface="Calibri" pitchFamily="34" charset="-120"/>
            </a:endParaRPr>
          </a:p>
          <a:p>
            <a:r>
              <a:rPr lang="en-US" sz="1100" dirty="0">
                <a:solidFill>
                  <a:srgbClr val="64748B"/>
                </a:solidFill>
                <a:latin typeface="Calibri" pitchFamily="34" charset="0"/>
                <a:ea typeface="Calibri" pitchFamily="34" charset="-122"/>
                <a:cs typeface="Calibri" pitchFamily="34" charset="-120"/>
              </a:rPr>
              <a:t>            ON </a:t>
            </a:r>
            <a:r>
              <a:rPr lang="en-US" sz="1100" dirty="0" err="1">
                <a:solidFill>
                  <a:srgbClr val="64748B"/>
                </a:solidFill>
                <a:latin typeface="Calibri" pitchFamily="34" charset="0"/>
                <a:ea typeface="Calibri" pitchFamily="34" charset="-122"/>
                <a:cs typeface="Calibri" pitchFamily="34" charset="-120"/>
              </a:rPr>
              <a:t>table_name</a:t>
            </a:r>
            <a:r>
              <a:rPr lang="en-US" sz="1100" dirty="0">
                <a:solidFill>
                  <a:srgbClr val="64748B"/>
                </a:solidFill>
                <a:latin typeface="Calibri" pitchFamily="34" charset="0"/>
                <a:ea typeface="Calibri" pitchFamily="34" charset="-122"/>
                <a:cs typeface="Calibri" pitchFamily="34" charset="-120"/>
              </a:rPr>
              <a:t> (column_name1, column_name2);</a:t>
            </a:r>
            <a:endParaRPr lang="en-US" sz="1100" dirty="0"/>
          </a:p>
        </p:txBody>
      </p:sp>
      <p:sp>
        <p:nvSpPr>
          <p:cNvPr id="9" name="Text 7"/>
          <p:cNvSpPr/>
          <p:nvPr/>
        </p:nvSpPr>
        <p:spPr>
          <a:xfrm>
            <a:off x="457200" y="3337560"/>
            <a:ext cx="8229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4. Check query status</a:t>
            </a:r>
            <a:endParaRPr lang="en-US" sz="1300" dirty="0"/>
          </a:p>
        </p:txBody>
      </p:sp>
      <p:sp>
        <p:nvSpPr>
          <p:cNvPr id="10" name="Text 8"/>
          <p:cNvSpPr/>
          <p:nvPr/>
        </p:nvSpPr>
        <p:spPr>
          <a:xfrm>
            <a:off x="640080" y="3657600"/>
            <a:ext cx="8046720" cy="32004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 Analyze(don’t run query and show plan) and Explain Analyze(runs query and show plan)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Key Takeaways</a:t>
            </a:r>
            <a:endParaRPr lang="en-US" sz="3200" dirty="0"/>
          </a:p>
        </p:txBody>
      </p:sp>
      <p:sp>
        <p:nvSpPr>
          <p:cNvPr id="3" name="Text 1"/>
          <p:cNvSpPr/>
          <p:nvPr/>
        </p:nvSpPr>
        <p:spPr>
          <a:xfrm>
            <a:off x="457200" y="9601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4" name="Text 2"/>
          <p:cNvSpPr/>
          <p:nvPr/>
        </p:nvSpPr>
        <p:spPr>
          <a:xfrm>
            <a:off x="914400" y="9601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Subquery runs ONCE, Nested Query runs for EACH row</a:t>
            </a:r>
            <a:endParaRPr lang="en-US" sz="1300" dirty="0"/>
          </a:p>
        </p:txBody>
      </p:sp>
      <p:sp>
        <p:nvSpPr>
          <p:cNvPr id="5" name="Text 3"/>
          <p:cNvSpPr/>
          <p:nvPr/>
        </p:nvSpPr>
        <p:spPr>
          <a:xfrm>
            <a:off x="457200" y="14173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914400" y="14173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CASE + GROUP BY = PIVOT (rows → columns)</a:t>
            </a:r>
            <a:endParaRPr lang="en-US" sz="1300" dirty="0"/>
          </a:p>
        </p:txBody>
      </p:sp>
      <p:sp>
        <p:nvSpPr>
          <p:cNvPr id="7" name="Text 5"/>
          <p:cNvSpPr/>
          <p:nvPr/>
        </p:nvSpPr>
        <p:spPr>
          <a:xfrm>
            <a:off x="457200" y="18745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14400" y="18745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Window functions calculate WITHOUT collapsing rows</a:t>
            </a:r>
            <a:endParaRPr lang="en-US" sz="1300" dirty="0"/>
          </a:p>
        </p:txBody>
      </p:sp>
      <p:sp>
        <p:nvSpPr>
          <p:cNvPr id="9" name="Text 7"/>
          <p:cNvSpPr/>
          <p:nvPr/>
        </p:nvSpPr>
        <p:spPr>
          <a:xfrm>
            <a:off x="457200" y="23317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0" name="Text 8"/>
          <p:cNvSpPr/>
          <p:nvPr/>
        </p:nvSpPr>
        <p:spPr>
          <a:xfrm>
            <a:off x="914400" y="23317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ROW_NUMBER, RANK, DENSE_RANK for numbering/ranking</a:t>
            </a:r>
            <a:endParaRPr lang="en-US" sz="1300" dirty="0"/>
          </a:p>
        </p:txBody>
      </p:sp>
      <p:sp>
        <p:nvSpPr>
          <p:cNvPr id="11" name="Text 9"/>
          <p:cNvSpPr/>
          <p:nvPr/>
        </p:nvSpPr>
        <p:spPr>
          <a:xfrm>
            <a:off x="457200" y="27889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14400" y="27889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LAG/LEAD access previous/next rows (time-series)</a:t>
            </a:r>
            <a:endParaRPr lang="en-US" sz="1300" dirty="0"/>
          </a:p>
        </p:txBody>
      </p:sp>
      <p:sp>
        <p:nvSpPr>
          <p:cNvPr id="13" name="Text 11"/>
          <p:cNvSpPr/>
          <p:nvPr/>
        </p:nvSpPr>
        <p:spPr>
          <a:xfrm>
            <a:off x="457200" y="32461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914400" y="32461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Running totals &amp; moving averages with SUM/AVG OVER</a:t>
            </a:r>
            <a:endParaRPr lang="en-US" sz="1300" dirty="0"/>
          </a:p>
        </p:txBody>
      </p:sp>
      <p:sp>
        <p:nvSpPr>
          <p:cNvPr id="15" name="Text 13"/>
          <p:cNvSpPr/>
          <p:nvPr/>
        </p:nvSpPr>
        <p:spPr>
          <a:xfrm>
            <a:off x="457200" y="37033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14400" y="37033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PARTITION BY restarts calculations per group</a:t>
            </a:r>
            <a:endParaRPr lang="en-US" sz="1300" dirty="0"/>
          </a:p>
        </p:txBody>
      </p:sp>
      <p:sp>
        <p:nvSpPr>
          <p:cNvPr id="17" name="Text 15"/>
          <p:cNvSpPr/>
          <p:nvPr/>
        </p:nvSpPr>
        <p:spPr>
          <a:xfrm>
            <a:off x="457200" y="4160520"/>
            <a:ext cx="365760" cy="365760"/>
          </a:xfrm>
          <a:prstGeom prst="rect">
            <a:avLst/>
          </a:prstGeom>
          <a:noFill/>
          <a:ln/>
        </p:spPr>
        <p:txBody>
          <a:bodyPr wrap="square" rtlCol="0" anchor="ctr"/>
          <a:lstStyle/>
          <a:p>
            <a:pPr marL="0" indent="0">
              <a:buNone/>
            </a:pPr>
            <a:r>
              <a:rPr lang="en-US" sz="1600" b="1" dirty="0">
                <a:solidFill>
                  <a:srgbClr val="059669"/>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914400" y="416052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CTEs make complex queries more readable</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1E293B"/>
                </a:solidFill>
                <a:latin typeface="Calibri" pitchFamily="34" charset="0"/>
                <a:ea typeface="Calibri" pitchFamily="34" charset="-122"/>
                <a:cs typeface="Calibri" pitchFamily="34" charset="-120"/>
              </a:rPr>
              <a:t>Hands-On Activity</a:t>
            </a:r>
            <a:endParaRPr lang="en-US" sz="3200" dirty="0"/>
          </a:p>
        </p:txBody>
      </p:sp>
      <p:sp>
        <p:nvSpPr>
          <p:cNvPr id="3" name="Text 1"/>
          <p:cNvSpPr/>
          <p:nvPr/>
        </p:nvSpPr>
        <p:spPr>
          <a:xfrm>
            <a:off x="457200" y="914400"/>
            <a:ext cx="8229600" cy="365760"/>
          </a:xfrm>
          <a:prstGeom prst="rect">
            <a:avLst/>
          </a:prstGeom>
          <a:noFill/>
          <a:ln/>
        </p:spPr>
        <p:txBody>
          <a:bodyPr wrap="square" rtlCol="0" anchor="ctr"/>
          <a:lstStyle/>
          <a:p>
            <a:pPr marL="0" indent="0">
              <a:buNone/>
            </a:pPr>
            <a:r>
              <a:rPr lang="en-US" sz="1800" b="1" dirty="0">
                <a:solidFill>
                  <a:srgbClr val="7C3AED"/>
                </a:solidFill>
                <a:latin typeface="Calibri" pitchFamily="34" charset="0"/>
                <a:ea typeface="Calibri" pitchFamily="34" charset="-122"/>
                <a:cs typeface="Calibri" pitchFamily="34" charset="-120"/>
              </a:rPr>
              <a:t>Analyze Customer Behavior Over Time</a:t>
            </a:r>
            <a:endParaRPr lang="en-US" sz="1800" dirty="0"/>
          </a:p>
        </p:txBody>
      </p:sp>
      <p:sp>
        <p:nvSpPr>
          <p:cNvPr id="4" name="Text 2"/>
          <p:cNvSpPr/>
          <p:nvPr/>
        </p:nvSpPr>
        <p:spPr>
          <a:xfrm>
            <a:off x="457200" y="1371600"/>
            <a:ext cx="8229600"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Using the sample database in DBeaver, write queries to:</a:t>
            </a:r>
            <a:endParaRPr lang="en-US" sz="1400" dirty="0"/>
          </a:p>
        </p:txBody>
      </p:sp>
      <p:sp>
        <p:nvSpPr>
          <p:cNvPr id="5" name="Text 3"/>
          <p:cNvSpPr/>
          <p:nvPr/>
        </p:nvSpPr>
        <p:spPr>
          <a:xfrm>
            <a:off x="457200" y="17830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914400" y="17830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Rank customers by total spending in each city</a:t>
            </a:r>
            <a:endParaRPr lang="en-US" sz="1300" dirty="0"/>
          </a:p>
        </p:txBody>
      </p:sp>
      <p:sp>
        <p:nvSpPr>
          <p:cNvPr id="7" name="Text 5"/>
          <p:cNvSpPr/>
          <p:nvPr/>
        </p:nvSpPr>
        <p:spPr>
          <a:xfrm>
            <a:off x="457200" y="22402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914400" y="22402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Find the most expensive product in each category</a:t>
            </a:r>
            <a:endParaRPr lang="en-US" sz="1300" dirty="0"/>
          </a:p>
        </p:txBody>
      </p:sp>
      <p:sp>
        <p:nvSpPr>
          <p:cNvPr id="9" name="Text 7"/>
          <p:cNvSpPr/>
          <p:nvPr/>
        </p:nvSpPr>
        <p:spPr>
          <a:xfrm>
            <a:off x="457200" y="26974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3.</a:t>
            </a:r>
            <a:endParaRPr lang="en-US" sz="1400" dirty="0"/>
          </a:p>
        </p:txBody>
      </p:sp>
      <p:sp>
        <p:nvSpPr>
          <p:cNvPr id="10" name="Text 8"/>
          <p:cNvSpPr/>
          <p:nvPr/>
        </p:nvSpPr>
        <p:spPr>
          <a:xfrm>
            <a:off x="914400" y="26974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Calculate day-over-day revenue change using LAG</a:t>
            </a:r>
            <a:endParaRPr lang="en-US" sz="1300" dirty="0"/>
          </a:p>
        </p:txBody>
      </p:sp>
      <p:sp>
        <p:nvSpPr>
          <p:cNvPr id="11" name="Text 9"/>
          <p:cNvSpPr/>
          <p:nvPr/>
        </p:nvSpPr>
        <p:spPr>
          <a:xfrm>
            <a:off x="457200" y="31546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4.</a:t>
            </a:r>
            <a:endParaRPr lang="en-US" sz="1400" dirty="0"/>
          </a:p>
        </p:txBody>
      </p:sp>
      <p:sp>
        <p:nvSpPr>
          <p:cNvPr id="12" name="Text 10"/>
          <p:cNvSpPr/>
          <p:nvPr/>
        </p:nvSpPr>
        <p:spPr>
          <a:xfrm>
            <a:off x="914400" y="31546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Create a running total of daily_sales</a:t>
            </a:r>
            <a:endParaRPr lang="en-US" sz="1300" dirty="0"/>
          </a:p>
        </p:txBody>
      </p:sp>
      <p:sp>
        <p:nvSpPr>
          <p:cNvPr id="13" name="Text 11"/>
          <p:cNvSpPr/>
          <p:nvPr/>
        </p:nvSpPr>
        <p:spPr>
          <a:xfrm>
            <a:off x="457200" y="36118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5.</a:t>
            </a:r>
            <a:endParaRPr lang="en-US" sz="1400" dirty="0"/>
          </a:p>
        </p:txBody>
      </p:sp>
      <p:sp>
        <p:nvSpPr>
          <p:cNvPr id="14" name="Text 12"/>
          <p:cNvSpPr/>
          <p:nvPr/>
        </p:nvSpPr>
        <p:spPr>
          <a:xfrm>
            <a:off x="914400" y="36118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PIVOT: Show order count by status for each city</a:t>
            </a:r>
            <a:endParaRPr lang="en-US" sz="1300" dirty="0"/>
          </a:p>
        </p:txBody>
      </p:sp>
      <p:sp>
        <p:nvSpPr>
          <p:cNvPr id="15" name="Text 13"/>
          <p:cNvSpPr/>
          <p:nvPr/>
        </p:nvSpPr>
        <p:spPr>
          <a:xfrm>
            <a:off x="457200" y="4069080"/>
            <a:ext cx="36576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6.</a:t>
            </a:r>
            <a:endParaRPr lang="en-US" sz="1400" dirty="0"/>
          </a:p>
        </p:txBody>
      </p:sp>
      <p:sp>
        <p:nvSpPr>
          <p:cNvPr id="16" name="Text 14"/>
          <p:cNvSpPr/>
          <p:nvPr/>
        </p:nvSpPr>
        <p:spPr>
          <a:xfrm>
            <a:off x="914400" y="4069080"/>
            <a:ext cx="7772400" cy="365760"/>
          </a:xfrm>
          <a:prstGeom prst="rect">
            <a:avLst/>
          </a:prstGeom>
          <a:noFill/>
          <a:ln/>
        </p:spPr>
        <p:txBody>
          <a:bodyPr wrap="square" rtlCol="0" anchor="ctr"/>
          <a:lstStyle/>
          <a:p>
            <a:pPr marL="0" indent="0">
              <a:buNone/>
            </a:pPr>
            <a:r>
              <a:rPr lang="en-US" sz="1300" dirty="0">
                <a:solidFill>
                  <a:srgbClr val="334155"/>
                </a:solidFill>
                <a:latin typeface="Calibri" pitchFamily="34" charset="0"/>
                <a:ea typeface="Calibri" pitchFamily="34" charset="-122"/>
                <a:cs typeface="Calibri" pitchFamily="34" charset="-120"/>
              </a:rPr>
              <a:t>Find top 3 products in each category using ROW_NUMBER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3341</TotalTime>
  <Words>5283</Words>
  <Application>Microsoft Office PowerPoint</Application>
  <PresentationFormat>On-screen Show (16:9)</PresentationFormat>
  <Paragraphs>938</Paragraphs>
  <Slides>33</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SQL &amp; Window Functions</dc:title>
  <dc:subject>PptxGenJS Presentation</dc:subject>
  <dc:creator>PptxGenJS</dc:creator>
  <cp:lastModifiedBy>Sauhar Khanal</cp:lastModifiedBy>
  <cp:revision>24</cp:revision>
  <dcterms:created xsi:type="dcterms:W3CDTF">2026-03-18T07:25:13Z</dcterms:created>
  <dcterms:modified xsi:type="dcterms:W3CDTF">2026-03-31T03:36:36Z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b2248cf-7f03-4ea3-bc21-100a3e94dc1a_Enabled">
    <vt:lpwstr>true</vt:lpwstr>
  </property>
  <property fmtid="{D5CDD505-2E9C-101B-9397-08002B2CF9AE}" pid="3" name="MSIP_Label_0b2248cf-7f03-4ea3-bc21-100a3e94dc1a_SetDate">
    <vt:lpwstr>2026-03-18T14:16:07Z</vt:lpwstr>
  </property>
  <property fmtid="{D5CDD505-2E9C-101B-9397-08002B2CF9AE}" pid="4" name="MSIP_Label_0b2248cf-7f03-4ea3-bc21-100a3e94dc1a_Method">
    <vt:lpwstr>Standard</vt:lpwstr>
  </property>
  <property fmtid="{D5CDD505-2E9C-101B-9397-08002B2CF9AE}" pid="5" name="MSIP_Label_0b2248cf-7f03-4ea3-bc21-100a3e94dc1a_Name">
    <vt:lpwstr>defa4170-0d19-0005-0004-bc88714345d2</vt:lpwstr>
  </property>
  <property fmtid="{D5CDD505-2E9C-101B-9397-08002B2CF9AE}" pid="6" name="MSIP_Label_0b2248cf-7f03-4ea3-bc21-100a3e94dc1a_SiteId">
    <vt:lpwstr>8ccadef0-d125-45d2-82b6-d3a9d60db293</vt:lpwstr>
  </property>
  <property fmtid="{D5CDD505-2E9C-101B-9397-08002B2CF9AE}" pid="7" name="MSIP_Label_0b2248cf-7f03-4ea3-bc21-100a3e94dc1a_ActionId">
    <vt:lpwstr>42a5d167-7617-4d0d-8ccb-1f9e5635ec47</vt:lpwstr>
  </property>
  <property fmtid="{D5CDD505-2E9C-101B-9397-08002B2CF9AE}" pid="8" name="MSIP_Label_0b2248cf-7f03-4ea3-bc21-100a3e94dc1a_ContentBits">
    <vt:lpwstr>0</vt:lpwstr>
  </property>
  <property fmtid="{D5CDD505-2E9C-101B-9397-08002B2CF9AE}" pid="9" name="MSIP_Label_0b2248cf-7f03-4ea3-bc21-100a3e94dc1a_Tag">
    <vt:lpwstr>10, 3, 0, 1</vt:lpwstr>
  </property>
</Properties>
</file>