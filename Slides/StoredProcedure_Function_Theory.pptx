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7" d="100"/>
          <a:sy n="217" d="100"/>
        </p:scale>
        <p:origin x="17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8195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2697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D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Titanic Dataset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301752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480560" y="502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Learn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434840" y="1005840"/>
            <a:ext cx="448056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53712" y="1143000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53712" y="1143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078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Function?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1353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single value — used inside SELECT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34840" y="1773936"/>
            <a:ext cx="448056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53712" y="1911096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53712" y="1911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18470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Stored Procedure?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21214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full job — called with CALL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34840" y="2542032"/>
            <a:ext cx="448056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53712" y="2679192"/>
            <a:ext cx="347472" cy="34747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53712" y="2679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26151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288950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 table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34840" y="3310128"/>
            <a:ext cx="448056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53712" y="3447288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53712" y="3447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83480" y="3383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to Remember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83480" y="3657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+ Snowflake tips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434840" y="4078224"/>
            <a:ext cx="448056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53712" y="4215384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53712" y="4215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83480" y="41513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83480" y="44256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which — simple flowchart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Function?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SkillShikshya  ·  Business Data Analytics with AI  ·  Snowflake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8412480" cy="804672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777240"/>
            <a:ext cx="91440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777240"/>
            <a:ext cx="8092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takes ONE or more values as input and returns exactly ONE value as output — per row.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719072"/>
            <a:ext cx="2651760" cy="18288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719072"/>
            <a:ext cx="265176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📥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02920" y="2286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Input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258775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pass column values to 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 classify_fare( Fare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 age_group( Age 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1719072"/>
            <a:ext cx="2651760" cy="18288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0" y="1719072"/>
            <a:ext cx="265176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3756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📤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337560" y="2286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ONE Value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37560" y="258775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Gives back one answer per row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 'Budget'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 'Adult'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35040" y="1719072"/>
            <a:ext cx="2651760" cy="18288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35040" y="1719072"/>
            <a:ext cx="265176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722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172200" y="2286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SELECT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72200" y="258775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 like a column in any query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classify_fare(Fare)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cleaned_titanic_dataset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639312"/>
            <a:ext cx="8412480" cy="658368"/>
          </a:xfrm>
          <a:prstGeom prst="rect">
            <a:avLst/>
          </a:prstGeom>
          <a:solidFill>
            <a:srgbClr val="ECFDF5"/>
          </a:solidFill>
          <a:ln w="9525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3639312"/>
            <a:ext cx="91440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4360" y="36758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Real Life Analogy: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3931920"/>
            <a:ext cx="8092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is like asking a calculator — you give it a number, it gives you one answer back instantly.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ask it the same question for every row in your table.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— Syntax Structure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SkillShikshya  ·  Business Data Analytics with AI  ·  Snowflake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STRUCTURE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078992"/>
            <a:ext cx="5029200" cy="19202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1704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OR REPLACE FUNCTION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139446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function_name( parameter   DATATYPE 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1618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 DATATYPE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184251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 SQL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206654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229057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$$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251460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 Your logic here (CASE statement, expression)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273862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$$;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94960" y="1303020"/>
            <a:ext cx="3200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42432" y="12573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Function name — you choose this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94960" y="1527048"/>
            <a:ext cx="3200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42432" y="14813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What it gives back (VARCHAR, FLOAT, INT...)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94960" y="1751076"/>
            <a:ext cx="3200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742432" y="170535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Always SQL for simple functions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94960" y="2199132"/>
            <a:ext cx="3200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742432" y="215341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$$ marks start and end of logic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30906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CALL — inside SELECT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364992"/>
            <a:ext cx="4023360" cy="777240"/>
          </a:xfrm>
          <a:prstGeom prst="rect">
            <a:avLst/>
          </a:prstGeom>
          <a:solidFill>
            <a:srgbClr val="ECFDF5"/>
          </a:solidFill>
          <a:ln w="9525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341071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Fare,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classify_fare(Fare)   AS FareLabel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cleaned_titanic_dataset;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3364992"/>
            <a:ext cx="4206240" cy="777240"/>
          </a:xfrm>
          <a:prstGeom prst="rect">
            <a:avLst/>
          </a:prstGeom>
          <a:solidFill>
            <a:srgbClr val="ECFDF5"/>
          </a:solidFill>
          <a:ln w="9525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36592" y="341071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age_group(Age)         AS AgeGroup,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COUNT(*)               AS Total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cleaned_titanic_dataset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age_group(Age);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224528"/>
            <a:ext cx="8412480" cy="566928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" y="427939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Key Rule: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874520" y="427939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can be used anywhere a column is used — in SELECT, WHERE, GROUP BY, or ORDER BY.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Functions Built on the Titanic Dataset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SkillShikshya  ·  Business Data Analytics with AI  ·  Snowflake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8412480" cy="6858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109728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8778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classify_fare( Fare 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06240" y="896112"/>
            <a:ext cx="960120" cy="2286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06240" y="89611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VARCHAR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94360" y="11704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fare category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0" y="1005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outputs:  Budget / Standard / Premium / Luxury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600200"/>
            <a:ext cx="8412480" cy="6858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1600200"/>
            <a:ext cx="109728" cy="685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16733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survival_risk( Age, Pclass 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06240" y="1691640"/>
            <a:ext cx="960120" cy="2286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06240" y="169164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VARCHAR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" y="196596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risk level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0" y="18013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outputs:  Very Low Risk / Low Risk / Medium Risk / High Risk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395728"/>
            <a:ext cx="8412480" cy="6858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2395728"/>
            <a:ext cx="109728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" y="2468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extract_title( Name 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06240" y="2487168"/>
            <a:ext cx="960120" cy="2286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206240" y="248716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VARCHAR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94360" y="27614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title from name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03520" y="259689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outputs:  Mr / Mrs / Miss / Master / Dr / Rev / Other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191256"/>
            <a:ext cx="8412480" cy="6858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65760" y="3191256"/>
            <a:ext cx="109728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94360" y="32644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age_group( Age 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206240" y="3282696"/>
            <a:ext cx="960120" cy="2286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206240" y="3282696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VARCHAR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94360" y="355701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age category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03520" y="33924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outputs:  Child / Teenager / Adult / Senior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986784"/>
            <a:ext cx="8412480" cy="6858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65760" y="3986784"/>
            <a:ext cx="109728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4360" y="40599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family_label( FamilySize 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206240" y="4078224"/>
            <a:ext cx="960120" cy="2286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206240" y="407822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VARCHAR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94360" y="435254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family type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03520" y="41879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outputs:  Solo Traveller / Small Family / Large Family / Very Large Family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Stored Procedure?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SkillShikshya  ·  Business Data Analytics with AI  ·  Snowflake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8412480" cy="804672"/>
          </a:xfrm>
          <a:prstGeom prst="rect">
            <a:avLst/>
          </a:prstGeom>
          <a:solidFill>
            <a:srgbClr val="ECFDF5"/>
          </a:solidFill>
          <a:ln w="9525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777240"/>
            <a:ext cx="91440" cy="8046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777240"/>
            <a:ext cx="8092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Stored Procedure runs a complete task — it can SELECT, filter, calculate and return a full table of results. It is always called using the CALL keyword.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719072"/>
            <a:ext cx="2651760" cy="18288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719072"/>
            <a:ext cx="265176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02920" y="2286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Multiple Steps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258775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have many SQL statements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Loops, conditions, calculations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inside one block of code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0" y="1719072"/>
            <a:ext cx="2651760" cy="18288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0" y="1719072"/>
            <a:ext cx="265176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3756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337560" y="2286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Full Table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37560" y="258775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back many rows and columns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full analysis report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Survival rate for all 3 classes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0" y="1719072"/>
            <a:ext cx="2651760" cy="18288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35040" y="1719072"/>
            <a:ext cx="265176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722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📞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172200" y="2286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with CALL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72200" y="258775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used inside SELECT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run separately: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survival_by_class()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639312"/>
            <a:ext cx="8412480" cy="658368"/>
          </a:xfrm>
          <a:prstGeom prst="rect">
            <a:avLst/>
          </a:prstGeom>
          <a:solidFill>
            <a:srgbClr val="ECFDF5"/>
          </a:solidFill>
          <a:ln w="9525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3639312"/>
            <a:ext cx="91440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4360" y="36758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Real Life Analogy: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3931920"/>
            <a:ext cx="8092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Stored Procedure is like a chef cooking a full meal — multiple steps happen, and a full plate is returned.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is just asking 'what is today's special?' — one question, one answer.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 — Syntax Structure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SkillShikshya  ·  Business Data Analytics with AI  ·  Snowflake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STRUCTURE  (LANGUAGE JAVASCRIPT — avoids type mismatch errors in Snowflake)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078992"/>
            <a:ext cx="4754880" cy="24231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152144"/>
            <a:ext cx="44805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OR REPLACE PROCEDURE proc_name()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303020"/>
            <a:ext cx="44805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 VARIANT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453896"/>
            <a:ext cx="44805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 JAVASCRIPT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604772"/>
            <a:ext cx="44805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1755648"/>
            <a:ext cx="44805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$$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1906524"/>
            <a:ext cx="44805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result = [];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2057400"/>
            <a:ext cx="44805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stmt = snowflake.createStatement({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2208276"/>
            <a:ext cx="44805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sqlText: `SELECT ... FROM table`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359152"/>
            <a:ext cx="44805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2510028"/>
            <a:ext cx="44805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res = stmt.execute();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2660904"/>
            <a:ext cx="44805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(res.next()) {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2811780"/>
            <a:ext cx="44805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result.push({ Col: res.getColumnValue('COL') });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2962656"/>
            <a:ext cx="44805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3113532"/>
            <a:ext cx="44805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result;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3264408"/>
            <a:ext cx="44805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$$;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03520" y="10789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PART MEANS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03520" y="138988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0" y="13898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OR REPLACE PROCEDURE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0" y="1572768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or updates the procedure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03520" y="1728216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0" y="172821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 VARIANT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0" y="1911096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any structure — avoids type errors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03520" y="206654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0" y="206654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 JAVASCRIPT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0" y="2249424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 JavaScript inside Snowflake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03520" y="240487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0" y="24048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$$  ...  $$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0" y="258775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the start and end of the code block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303520" y="274320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0" y="27432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snowflake.createStatement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0" y="292608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SQL query from inside JavaScript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03520" y="308152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0" y="308152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(res.next())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86400" y="3264408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through each row of the result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03520" y="3419856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86400" y="34198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result.push({...})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86400" y="3602736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each row into the result list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03520" y="375818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486400" y="37581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result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486400" y="3941064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the full list back as output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56032" y="4166499"/>
            <a:ext cx="8412480" cy="438912"/>
          </a:xfrm>
          <a:prstGeom prst="rect">
            <a:avLst/>
          </a:prstGeom>
          <a:solidFill>
            <a:srgbClr val="ECFDF5"/>
          </a:solidFill>
          <a:ln w="9525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65760" y="4224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CALL: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414683" y="42108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survival_by_class();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346037" y="42020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Never use a stored procedure inside SELECT — always use CALL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Stored Procedures Built on the Titanic Dataset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SkillShikshya  ·  Business Data Analytics with AI  ·  Snowflake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4114800" cy="89611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109728" cy="8961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89611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survival_by_class()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121615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count &amp; rate for Pclass 1, 2 and 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146304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survival_by_class(...);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828800"/>
            <a:ext cx="4114800" cy="89611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1828800"/>
            <a:ext cx="109728" cy="8961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19202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survival_by_gender()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224028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count &amp; rate for male and female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248716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survival_by_gender(...);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852928"/>
            <a:ext cx="4114800" cy="89611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2852928"/>
            <a:ext cx="109728" cy="8961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" y="294436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fare_category_summary()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326440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age, avg fare, survival rate per FareCategory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" y="351129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fare_category_summary(...);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877056"/>
            <a:ext cx="4114800" cy="89611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" y="3877056"/>
            <a:ext cx="109728" cy="8961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" y="396849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high_value_passengers(fare)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428853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passengers who paid above a given fare amount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" y="453542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high_value_passengers(...);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804672"/>
            <a:ext cx="4114800" cy="89611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63440" y="804672"/>
            <a:ext cx="109728" cy="8961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64608" y="89611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agegroup_survival_report()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64608" y="121615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rate by AgeGroup — Child, Adult, Senior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64608" y="146304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agegroup_survival_report(...);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828800"/>
            <a:ext cx="4114800" cy="89611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63440" y="1828800"/>
            <a:ext cx="109728" cy="8961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64608" y="19202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familytype_survival_report()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64608" y="224028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rate by FamilyType — Solo, Small, Large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64608" y="248716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familytype_survival_report(...);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2852928"/>
            <a:ext cx="4114800" cy="89611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663440" y="2852928"/>
            <a:ext cx="109728" cy="8961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64608" y="294436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deck_survival_report()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64608" y="326440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rate and avg fare grouped by Deck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64608" y="351129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deck_survival_report(...);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3877056"/>
            <a:ext cx="4114800" cy="89611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663440" y="3877056"/>
            <a:ext cx="109728" cy="8961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64608" y="396849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passenger_profile(id)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64608" y="428853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profile of one passenger by PassengerId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864608" y="453542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passenger_profile(...);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vs Stored Procedure — Key Differences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SkillShikshya  ·  Business Data Analytics with AI  ·  Snowflake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3291840" cy="420624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77724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703320" y="777240"/>
            <a:ext cx="182880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703320" y="77724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577840" y="777240"/>
            <a:ext cx="3200400" cy="420624"/>
          </a:xfrm>
          <a:prstGeom prst="rect">
            <a:avLst/>
          </a:prstGeom>
          <a:solidFill>
            <a:srgbClr val="059669"/>
          </a:solidFill>
          <a:ln w="9525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577840" y="77724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1252728"/>
            <a:ext cx="32918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703320" y="1252728"/>
            <a:ext cx="1828800" cy="53035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577840" y="1252728"/>
            <a:ext cx="32004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1298448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ONE value per row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49040" y="129844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15000" y="1298448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FULL table (many rows &amp; columns)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1847088"/>
            <a:ext cx="329184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703320" y="1847088"/>
            <a:ext cx="1828800" cy="53035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577840" y="1847088"/>
            <a:ext cx="320040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1892808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inside SELECT query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49040" y="189280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15000" y="1892808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with CALL keyword separately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441448"/>
            <a:ext cx="32918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703320" y="2441448"/>
            <a:ext cx="1828800" cy="53035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577840" y="2441448"/>
            <a:ext cx="32004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2487168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modify data — read only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49040" y="248716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15000" y="2487168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INSERT, UPDATE, DELETE data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3035808"/>
            <a:ext cx="329184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703320" y="3035808"/>
            <a:ext cx="1828800" cy="53035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577840" y="3035808"/>
            <a:ext cx="320040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2920" y="3081528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classify_fare(Fare)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749040" y="308152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715000" y="3081528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survival_by_class()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3630168"/>
            <a:ext cx="32918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703320" y="3630168"/>
            <a:ext cx="1828800" cy="53035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577840" y="3630168"/>
            <a:ext cx="32004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2920" y="3675888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'Budget', 'Luxury'...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749040" y="367588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715000" y="3675888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full survival report table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65760" y="4224528"/>
            <a:ext cx="329184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703320" y="4224528"/>
            <a:ext cx="1828800" cy="53035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577840" y="4224528"/>
            <a:ext cx="320040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2920" y="4270248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SQL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749040" y="427024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715000" y="4270248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JAVASCRIPT in Snowflake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to Remember &amp; Common Mistakes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SkillShikshya  ·  Business Data Analytics with AI  ·  Snowflake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8412480" cy="89611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109728" cy="8961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85953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FUNCTION RULES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133856"/>
            <a:ext cx="8092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Used like a column inside SELECT, WHERE, GROUP BY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Returns exactly ONE value per row — never a table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Read only — cannot insert, update or delete any data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Called like this:   SELECT classify_fare(Fare) FROM table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810512"/>
            <a:ext cx="8412480" cy="89611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1810512"/>
            <a:ext cx="109728" cy="8961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186537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STORED PROCEDURE RULES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139696"/>
            <a:ext cx="8092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Always called separately using CALL keyword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Returns multiple rows and columns — a full result set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Can insert, update and delete data in your tables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Use LANGUAGE JAVASCRIPT in Snowflake to avoid type errors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816352"/>
            <a:ext cx="8412480" cy="89611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816352"/>
            <a:ext cx="109728" cy="8961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287121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COMMON MISTAKE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3145536"/>
            <a:ext cx="8092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Never put a stored procedure inside a SELECT query — it will throw an error.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WRONG:   SELECT survival_by_class() FROM table;   ← ERROR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CORRECT: CALL survival_by_class();                 ← WORKS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822192"/>
            <a:ext cx="8412480" cy="89611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822192"/>
            <a:ext cx="109728" cy="8961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38770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SNOWFLAKE TIP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4151376"/>
            <a:ext cx="8092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 use LANGUAGE JAVASCRIPT for stored procedures in Snowflake.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LANGUAGE SQL with RETURNS TABLE often gives a 'type mismatch' error.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 procedures with RETURNS VARIANT always work reliably.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— Functions &amp; Stored Procedures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SkillShikshya  ·  Business Data Analytics with AI  ·  Snowflake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4114800" cy="347472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41148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89611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126187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Returns ONE value per row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166420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Used inside SELECT queries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2066544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Called like:  classify_fare(Fare)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246888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Read only — cannot change data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287121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5 functions built for Titanic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327355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classify_fare  |  survival_risk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36758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extract_title  |  age_group  |  family_label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804672"/>
            <a:ext cx="4114800" cy="3474720"/>
          </a:xfrm>
          <a:prstGeom prst="rect">
            <a:avLst/>
          </a:prstGeom>
          <a:solidFill>
            <a:srgbClr val="ECFDF5"/>
          </a:solidFill>
          <a:ln w="9525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804672"/>
            <a:ext cx="411480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89611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126187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Returns FULL table (many rows)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46320" y="166420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Called with CALL keyword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46320" y="2066544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Called like:  CALL proc_name()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46320" y="246888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Can INSERT, UPDATE, DELETE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46320" y="287121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8 procedures built for Titanic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46320" y="327355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survival_by_class  |  by_gender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0" y="36758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fare_summary  |  passenger_profile  ...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370832"/>
            <a:ext cx="8412480" cy="438912"/>
          </a:xfrm>
          <a:prstGeom prst="rect">
            <a:avLst/>
          </a:prstGeom>
          <a:solidFill>
            <a:srgbClr val="1E3A5F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437083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 =  one question, one answer, inside SELECT    |    STORED PROCEDURE  =  full task, full report, use CALL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1534</Words>
  <Application>Microsoft Office PowerPoint</Application>
  <PresentationFormat>On-screen Show (16:9)</PresentationFormat>
  <Paragraphs>256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Functions &amp; Stored Procedures — Snowflake</dc:title>
  <dc:subject>PptxGenJS Presentation</dc:subject>
  <dc:creator>PptxGenJS</dc:creator>
  <cp:lastModifiedBy>Sauhar Khanal</cp:lastModifiedBy>
  <cp:revision>4</cp:revision>
  <dcterms:created xsi:type="dcterms:W3CDTF">2026-05-05T14:01:08Z</dcterms:created>
  <dcterms:modified xsi:type="dcterms:W3CDTF">2026-05-05T14:44:39Z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b2248cf-7f03-4ea3-bc21-100a3e94dc1a_Enabled">
    <vt:lpwstr>true</vt:lpwstr>
  </property>
  <property fmtid="{D5CDD505-2E9C-101B-9397-08002B2CF9AE}" pid="3" name="MSIP_Label_0b2248cf-7f03-4ea3-bc21-100a3e94dc1a_SetDate">
    <vt:lpwstr>2026-05-05T14:40:30Z</vt:lpwstr>
  </property>
  <property fmtid="{D5CDD505-2E9C-101B-9397-08002B2CF9AE}" pid="4" name="MSIP_Label_0b2248cf-7f03-4ea3-bc21-100a3e94dc1a_Method">
    <vt:lpwstr>Standard</vt:lpwstr>
  </property>
  <property fmtid="{D5CDD505-2E9C-101B-9397-08002B2CF9AE}" pid="5" name="MSIP_Label_0b2248cf-7f03-4ea3-bc21-100a3e94dc1a_Name">
    <vt:lpwstr>defa4170-0d19-0005-0004-bc88714345d2</vt:lpwstr>
  </property>
  <property fmtid="{D5CDD505-2E9C-101B-9397-08002B2CF9AE}" pid="6" name="MSIP_Label_0b2248cf-7f03-4ea3-bc21-100a3e94dc1a_SiteId">
    <vt:lpwstr>8ccadef0-d125-45d2-82b6-d3a9d60db293</vt:lpwstr>
  </property>
  <property fmtid="{D5CDD505-2E9C-101B-9397-08002B2CF9AE}" pid="7" name="MSIP_Label_0b2248cf-7f03-4ea3-bc21-100a3e94dc1a_ActionId">
    <vt:lpwstr>158ac1d9-adb0-4d13-b558-64859b666250</vt:lpwstr>
  </property>
  <property fmtid="{D5CDD505-2E9C-101B-9397-08002B2CF9AE}" pid="8" name="MSIP_Label_0b2248cf-7f03-4ea3-bc21-100a3e94dc1a_ContentBits">
    <vt:lpwstr>0</vt:lpwstr>
  </property>
  <property fmtid="{D5CDD505-2E9C-101B-9397-08002B2CF9AE}" pid="9" name="MSIP_Label_0b2248cf-7f03-4ea3-bc21-100a3e94dc1a_Tag">
    <vt:lpwstr>10, 3, 0, 1</vt:lpwstr>
  </property>
</Properties>
</file>