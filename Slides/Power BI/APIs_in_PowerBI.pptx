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691640"/>
          </a:xfrm>
          <a:prstGeom prst="rect">
            <a:avLst/>
          </a:prstGeom>
          <a:solidFill>
            <a:srgbClr val="0F172A"/>
          </a:solidFill>
          <a:ln w="12700">
            <a:solidFill>
              <a:srgbClr val="0F172A"/>
            </a:solidFill>
            <a:prstDash val="solid"/>
          </a:ln>
        </p:spPr>
      </p:sp>
      <p:sp>
        <p:nvSpPr>
          <p:cNvPr id="3" name="Shape 1"/>
          <p:cNvSpPr/>
          <p:nvPr/>
        </p:nvSpPr>
        <p:spPr>
          <a:xfrm>
            <a:off x="0" y="1691640"/>
            <a:ext cx="9144000" cy="54864"/>
          </a:xfrm>
          <a:prstGeom prst="rect">
            <a:avLst/>
          </a:prstGeom>
          <a:solidFill>
            <a:srgbClr val="1D4ED8"/>
          </a:solidFill>
          <a:ln w="12700">
            <a:solidFill>
              <a:srgbClr val="1D4ED8"/>
            </a:solidFill>
            <a:prstDash val="solid"/>
          </a:ln>
        </p:spPr>
      </p:sp>
      <p:sp>
        <p:nvSpPr>
          <p:cNvPr id="4" name="Text 2"/>
          <p:cNvSpPr/>
          <p:nvPr/>
        </p:nvSpPr>
        <p:spPr>
          <a:xfrm>
            <a:off x="411480" y="146304"/>
            <a:ext cx="8321040" cy="713232"/>
          </a:xfrm>
          <a:prstGeom prst="rect">
            <a:avLst/>
          </a:prstGeom>
          <a:noFill/>
          <a:ln/>
        </p:spPr>
        <p:txBody>
          <a:bodyPr wrap="square" rtlCol="0" anchor="ctr"/>
          <a:lstStyle/>
          <a:p>
            <a:pPr indent="0" marL="0">
              <a:buNone/>
            </a:pPr>
            <a:r>
              <a:rPr lang="en-US" sz="4400" b="1" dirty="0">
                <a:solidFill>
                  <a:srgbClr val="FFFFFF"/>
                </a:solidFill>
                <a:latin typeface="Arial Black" pitchFamily="34" charset="0"/>
                <a:ea typeface="Arial Black" pitchFamily="34" charset="-122"/>
                <a:cs typeface="Arial Black" pitchFamily="34" charset="-120"/>
              </a:rPr>
              <a:t>APIs in Power BI</a:t>
            </a:r>
            <a:endParaRPr lang="en-US" sz="4400" dirty="0"/>
          </a:p>
        </p:txBody>
      </p:sp>
      <p:sp>
        <p:nvSpPr>
          <p:cNvPr id="5" name="Text 3"/>
          <p:cNvSpPr/>
          <p:nvPr/>
        </p:nvSpPr>
        <p:spPr>
          <a:xfrm>
            <a:off x="411480" y="877824"/>
            <a:ext cx="8321040" cy="292608"/>
          </a:xfrm>
          <a:prstGeom prst="rect">
            <a:avLst/>
          </a:prstGeom>
          <a:noFill/>
          <a:ln/>
        </p:spPr>
        <p:txBody>
          <a:bodyPr wrap="square" rtlCol="0" anchor="ctr"/>
          <a:lstStyle/>
          <a:p>
            <a:pPr indent="0" marL="0">
              <a:buNone/>
            </a:pPr>
            <a:r>
              <a:rPr lang="en-US" sz="1300" dirty="0">
                <a:solidFill>
                  <a:srgbClr val="94A3B8"/>
                </a:solidFill>
              </a:rPr>
              <a:t>Connect to live web data and bring it directly into your Power BI dashboard</a:t>
            </a:r>
            <a:endParaRPr lang="en-US" sz="1300" dirty="0"/>
          </a:p>
        </p:txBody>
      </p:sp>
      <p:sp>
        <p:nvSpPr>
          <p:cNvPr id="6" name="Text 4"/>
          <p:cNvSpPr/>
          <p:nvPr/>
        </p:nvSpPr>
        <p:spPr>
          <a:xfrm>
            <a:off x="411480" y="1225296"/>
            <a:ext cx="8321040" cy="237744"/>
          </a:xfrm>
          <a:prstGeom prst="rect">
            <a:avLst/>
          </a:prstGeom>
          <a:noFill/>
          <a:ln/>
        </p:spPr>
        <p:txBody>
          <a:bodyPr wrap="square" rtlCol="0" anchor="ctr"/>
          <a:lstStyle/>
          <a:p>
            <a:pPr indent="0" marL="0">
              <a:buNone/>
            </a:pPr>
            <a:r>
              <a:rPr lang="en-US" sz="1000" dirty="0">
                <a:solidFill>
                  <a:srgbClr val="64748B"/>
                </a:solidFill>
              </a:rPr>
              <a:t>Python requests  ·  pandas  ·  JSON  ·  Power BI Web Connector  ·  Dynamic Parameters</a:t>
            </a:r>
            <a:endParaRPr lang="en-US" sz="1000" dirty="0"/>
          </a:p>
        </p:txBody>
      </p:sp>
      <p:sp>
        <p:nvSpPr>
          <p:cNvPr id="7" name="Shape 5"/>
          <p:cNvSpPr/>
          <p:nvPr/>
        </p:nvSpPr>
        <p:spPr>
          <a:xfrm>
            <a:off x="411480" y="1901952"/>
            <a:ext cx="4206240" cy="1536192"/>
          </a:xfrm>
          <a:prstGeom prst="rect">
            <a:avLst/>
          </a:prstGeom>
          <a:solidFill>
            <a:srgbClr val="EFF6FF"/>
          </a:solidFill>
          <a:ln w="10160">
            <a:solidFill>
              <a:srgbClr val="1D4ED8"/>
            </a:solidFill>
            <a:prstDash val="solid"/>
          </a:ln>
        </p:spPr>
      </p:sp>
      <p:sp>
        <p:nvSpPr>
          <p:cNvPr id="8" name="Text 6"/>
          <p:cNvSpPr/>
          <p:nvPr/>
        </p:nvSpPr>
        <p:spPr>
          <a:xfrm>
            <a:off x="502920" y="1956816"/>
            <a:ext cx="4023360" cy="274320"/>
          </a:xfrm>
          <a:prstGeom prst="rect">
            <a:avLst/>
          </a:prstGeom>
          <a:noFill/>
          <a:ln/>
        </p:spPr>
        <p:txBody>
          <a:bodyPr wrap="square" rtlCol="0" anchor="ctr"/>
          <a:lstStyle/>
          <a:p>
            <a:pPr indent="0" marL="0">
              <a:buNone/>
            </a:pPr>
            <a:r>
              <a:rPr lang="en-US" sz="1200" b="1" dirty="0">
                <a:solidFill>
                  <a:srgbClr val="1D4ED8"/>
                </a:solidFill>
              </a:rPr>
              <a:t>What is an API?</a:t>
            </a:r>
            <a:endParaRPr lang="en-US" sz="1200" dirty="0"/>
          </a:p>
        </p:txBody>
      </p:sp>
      <p:sp>
        <p:nvSpPr>
          <p:cNvPr id="9" name="Text 7"/>
          <p:cNvSpPr/>
          <p:nvPr/>
        </p:nvSpPr>
        <p:spPr>
          <a:xfrm>
            <a:off x="502920" y="2249424"/>
            <a:ext cx="4023360" cy="1115568"/>
          </a:xfrm>
          <a:prstGeom prst="rect">
            <a:avLst/>
          </a:prstGeom>
          <a:noFill/>
          <a:ln/>
        </p:spPr>
        <p:txBody>
          <a:bodyPr wrap="square" rtlCol="0" anchor="ctr"/>
          <a:lstStyle/>
          <a:p>
            <a:pPr indent="0" marL="0">
              <a:buNone/>
            </a:pPr>
            <a:r>
              <a:rPr lang="en-US" sz="1000" dirty="0">
                <a:solidFill>
                  <a:srgbClr val="1E293B"/>
                </a:solidFill>
              </a:rPr>
              <a:t>API = Application Programming Interface. A way for your code to ask another website for data and get it back instantly in structured format (JSON) — no copy-pasting needed.</a:t>
            </a:r>
            <a:endParaRPr lang="en-US" sz="1000" dirty="0"/>
          </a:p>
        </p:txBody>
      </p:sp>
      <p:sp>
        <p:nvSpPr>
          <p:cNvPr id="10" name="Shape 8"/>
          <p:cNvSpPr/>
          <p:nvPr/>
        </p:nvSpPr>
        <p:spPr>
          <a:xfrm>
            <a:off x="4846320" y="1901952"/>
            <a:ext cx="3840480" cy="676656"/>
          </a:xfrm>
          <a:prstGeom prst="rect">
            <a:avLst/>
          </a:prstGeom>
          <a:solidFill>
            <a:srgbClr val="F0FDFA"/>
          </a:solidFill>
          <a:ln w="10160">
            <a:solidFill>
              <a:srgbClr val="0F766E"/>
            </a:solidFill>
            <a:prstDash val="solid"/>
          </a:ln>
        </p:spPr>
      </p:sp>
      <p:sp>
        <p:nvSpPr>
          <p:cNvPr id="11" name="Text 9"/>
          <p:cNvSpPr/>
          <p:nvPr/>
        </p:nvSpPr>
        <p:spPr>
          <a:xfrm>
            <a:off x="4956048" y="1938528"/>
            <a:ext cx="3657600" cy="237744"/>
          </a:xfrm>
          <a:prstGeom prst="rect">
            <a:avLst/>
          </a:prstGeom>
          <a:noFill/>
          <a:ln/>
        </p:spPr>
        <p:txBody>
          <a:bodyPr wrap="square" rtlCol="0" anchor="ctr"/>
          <a:lstStyle/>
          <a:p>
            <a:pPr indent="0" marL="0">
              <a:buNone/>
            </a:pPr>
            <a:r>
              <a:rPr lang="en-US" sz="1100" b="1" dirty="0">
                <a:solidFill>
                  <a:srgbClr val="0F766E"/>
                </a:solidFill>
              </a:rPr>
              <a:t>Universities API</a:t>
            </a:r>
            <a:endParaRPr lang="en-US" sz="1100" dirty="0"/>
          </a:p>
        </p:txBody>
      </p:sp>
      <p:sp>
        <p:nvSpPr>
          <p:cNvPr id="12" name="Text 10"/>
          <p:cNvSpPr/>
          <p:nvPr/>
        </p:nvSpPr>
        <p:spPr>
          <a:xfrm>
            <a:off x="4956048" y="2194560"/>
            <a:ext cx="3657600" cy="329184"/>
          </a:xfrm>
          <a:prstGeom prst="rect">
            <a:avLst/>
          </a:prstGeom>
          <a:noFill/>
          <a:ln/>
        </p:spPr>
        <p:txBody>
          <a:bodyPr wrap="square" rtlCol="0" anchor="ctr"/>
          <a:lstStyle/>
          <a:p>
            <a:pPr indent="0" marL="0">
              <a:buNone/>
            </a:pPr>
            <a:r>
              <a:rPr lang="en-US" sz="900" dirty="0">
                <a:solidFill>
                  <a:srgbClr val="475569"/>
                </a:solidFill>
                <a:latin typeface="Courier New" pitchFamily="34" charset="0"/>
                <a:ea typeface="Courier New" pitchFamily="34" charset="-122"/>
                <a:cs typeface="Courier New" pitchFamily="34" charset="-120"/>
              </a:rPr>
              <a:t>universities.hipolabs.com/search</a:t>
            </a:r>
            <a:endParaRPr lang="en-US" sz="900" dirty="0"/>
          </a:p>
        </p:txBody>
      </p:sp>
      <p:sp>
        <p:nvSpPr>
          <p:cNvPr id="13" name="Shape 11"/>
          <p:cNvSpPr/>
          <p:nvPr/>
        </p:nvSpPr>
        <p:spPr>
          <a:xfrm>
            <a:off x="4846320" y="2670048"/>
            <a:ext cx="3840480" cy="676656"/>
          </a:xfrm>
          <a:prstGeom prst="rect">
            <a:avLst/>
          </a:prstGeom>
          <a:solidFill>
            <a:srgbClr val="FFFBEB"/>
          </a:solidFill>
          <a:ln w="10160">
            <a:solidFill>
              <a:srgbClr val="B45309"/>
            </a:solidFill>
            <a:prstDash val="solid"/>
          </a:ln>
        </p:spPr>
      </p:sp>
      <p:sp>
        <p:nvSpPr>
          <p:cNvPr id="14" name="Text 12"/>
          <p:cNvSpPr/>
          <p:nvPr/>
        </p:nvSpPr>
        <p:spPr>
          <a:xfrm>
            <a:off x="4956048" y="2706624"/>
            <a:ext cx="3657600" cy="237744"/>
          </a:xfrm>
          <a:prstGeom prst="rect">
            <a:avLst/>
          </a:prstGeom>
          <a:noFill/>
          <a:ln/>
        </p:spPr>
        <p:txBody>
          <a:bodyPr wrap="square" rtlCol="0" anchor="ctr"/>
          <a:lstStyle/>
          <a:p>
            <a:pPr indent="0" marL="0">
              <a:buNone/>
            </a:pPr>
            <a:r>
              <a:rPr lang="en-US" sz="1100" b="1" dirty="0">
                <a:solidFill>
                  <a:srgbClr val="B45309"/>
                </a:solidFill>
              </a:rPr>
              <a:t>Bitget Live Price API</a:t>
            </a:r>
            <a:endParaRPr lang="en-US" sz="1100" dirty="0"/>
          </a:p>
        </p:txBody>
      </p:sp>
      <p:sp>
        <p:nvSpPr>
          <p:cNvPr id="15" name="Text 13"/>
          <p:cNvSpPr/>
          <p:nvPr/>
        </p:nvSpPr>
        <p:spPr>
          <a:xfrm>
            <a:off x="4956048" y="2962656"/>
            <a:ext cx="3657600" cy="329184"/>
          </a:xfrm>
          <a:prstGeom prst="rect">
            <a:avLst/>
          </a:prstGeom>
          <a:noFill/>
          <a:ln/>
        </p:spPr>
        <p:txBody>
          <a:bodyPr wrap="square" rtlCol="0" anchor="ctr"/>
          <a:lstStyle/>
          <a:p>
            <a:pPr indent="0" marL="0">
              <a:buNone/>
            </a:pPr>
            <a:r>
              <a:rPr lang="en-US" sz="900" dirty="0">
                <a:solidFill>
                  <a:srgbClr val="475569"/>
                </a:solidFill>
                <a:latin typeface="Courier New" pitchFamily="34" charset="0"/>
                <a:ea typeface="Courier New" pitchFamily="34" charset="-122"/>
                <a:cs typeface="Courier New" pitchFamily="34" charset="-120"/>
              </a:rPr>
              <a:t>api.bitget.com/api/v2/spot/market/tickers</a:t>
            </a:r>
            <a:endParaRPr lang="en-US" sz="900" dirty="0"/>
          </a:p>
        </p:txBody>
      </p:sp>
      <p:sp>
        <p:nvSpPr>
          <p:cNvPr id="16" name="Shape 14"/>
          <p:cNvSpPr/>
          <p:nvPr/>
        </p:nvSpPr>
        <p:spPr>
          <a:xfrm>
            <a:off x="411480" y="3511296"/>
            <a:ext cx="2048256" cy="310896"/>
          </a:xfrm>
          <a:prstGeom prst="rect">
            <a:avLst/>
          </a:prstGeom>
          <a:solidFill>
            <a:srgbClr val="EFF6FF"/>
          </a:solidFill>
          <a:ln w="10160">
            <a:solidFill>
              <a:srgbClr val="1D4ED8"/>
            </a:solidFill>
            <a:prstDash val="solid"/>
          </a:ln>
        </p:spPr>
      </p:sp>
      <p:sp>
        <p:nvSpPr>
          <p:cNvPr id="17" name="Text 15"/>
          <p:cNvSpPr/>
          <p:nvPr/>
        </p:nvSpPr>
        <p:spPr>
          <a:xfrm>
            <a:off x="466344" y="3511296"/>
            <a:ext cx="1956816" cy="310896"/>
          </a:xfrm>
          <a:prstGeom prst="rect">
            <a:avLst/>
          </a:prstGeom>
          <a:noFill/>
          <a:ln/>
        </p:spPr>
        <p:txBody>
          <a:bodyPr wrap="square" rtlCol="0" anchor="ctr"/>
          <a:lstStyle/>
          <a:p>
            <a:pPr indent="0" marL="0">
              <a:buNone/>
            </a:pPr>
            <a:r>
              <a:rPr lang="en-US" sz="850" b="1" dirty="0">
                <a:solidFill>
                  <a:srgbClr val="1D4ED8"/>
                </a:solidFill>
              </a:rPr>
              <a:t>01 What is an API + JSON</a:t>
            </a:r>
            <a:endParaRPr lang="en-US" sz="850" dirty="0"/>
          </a:p>
        </p:txBody>
      </p:sp>
      <p:sp>
        <p:nvSpPr>
          <p:cNvPr id="18" name="Shape 16"/>
          <p:cNvSpPr/>
          <p:nvPr/>
        </p:nvSpPr>
        <p:spPr>
          <a:xfrm>
            <a:off x="2587752" y="3511296"/>
            <a:ext cx="2048256" cy="310896"/>
          </a:xfrm>
          <a:prstGeom prst="rect">
            <a:avLst/>
          </a:prstGeom>
          <a:solidFill>
            <a:srgbClr val="F0FDFA"/>
          </a:solidFill>
          <a:ln w="10160">
            <a:solidFill>
              <a:srgbClr val="0F766E"/>
            </a:solidFill>
            <a:prstDash val="solid"/>
          </a:ln>
        </p:spPr>
      </p:sp>
      <p:sp>
        <p:nvSpPr>
          <p:cNvPr id="19" name="Text 17"/>
          <p:cNvSpPr/>
          <p:nvPr/>
        </p:nvSpPr>
        <p:spPr>
          <a:xfrm>
            <a:off x="2642616" y="3511296"/>
            <a:ext cx="1956816" cy="310896"/>
          </a:xfrm>
          <a:prstGeom prst="rect">
            <a:avLst/>
          </a:prstGeom>
          <a:noFill/>
          <a:ln/>
        </p:spPr>
        <p:txBody>
          <a:bodyPr wrap="square" rtlCol="0" anchor="ctr"/>
          <a:lstStyle/>
          <a:p>
            <a:pPr indent="0" marL="0">
              <a:buNone/>
            </a:pPr>
            <a:r>
              <a:rPr lang="en-US" sz="850" b="1" dirty="0">
                <a:solidFill>
                  <a:srgbClr val="0F766E"/>
                </a:solidFill>
              </a:rPr>
              <a:t>02 Python requests Library</a:t>
            </a:r>
            <a:endParaRPr lang="en-US" sz="850" dirty="0"/>
          </a:p>
        </p:txBody>
      </p:sp>
      <p:sp>
        <p:nvSpPr>
          <p:cNvPr id="20" name="Shape 18"/>
          <p:cNvSpPr/>
          <p:nvPr/>
        </p:nvSpPr>
        <p:spPr>
          <a:xfrm>
            <a:off x="4764024" y="3511296"/>
            <a:ext cx="2048256" cy="310896"/>
          </a:xfrm>
          <a:prstGeom prst="rect">
            <a:avLst/>
          </a:prstGeom>
          <a:solidFill>
            <a:srgbClr val="F0FDF4"/>
          </a:solidFill>
          <a:ln w="10160">
            <a:solidFill>
              <a:srgbClr val="15803D"/>
            </a:solidFill>
            <a:prstDash val="solid"/>
          </a:ln>
        </p:spPr>
      </p:sp>
      <p:sp>
        <p:nvSpPr>
          <p:cNvPr id="21" name="Text 19"/>
          <p:cNvSpPr/>
          <p:nvPr/>
        </p:nvSpPr>
        <p:spPr>
          <a:xfrm>
            <a:off x="4818888" y="3511296"/>
            <a:ext cx="1956816" cy="310896"/>
          </a:xfrm>
          <a:prstGeom prst="rect">
            <a:avLst/>
          </a:prstGeom>
          <a:noFill/>
          <a:ln/>
        </p:spPr>
        <p:txBody>
          <a:bodyPr wrap="square" rtlCol="0" anchor="ctr"/>
          <a:lstStyle/>
          <a:p>
            <a:pPr indent="0" marL="0">
              <a:buNone/>
            </a:pPr>
            <a:r>
              <a:rPr lang="en-US" sz="850" b="1" dirty="0">
                <a:solidFill>
                  <a:srgbClr val="15803D"/>
                </a:solidFill>
              </a:rPr>
              <a:t>03 Universities API — Python</a:t>
            </a:r>
            <a:endParaRPr lang="en-US" sz="850" dirty="0"/>
          </a:p>
        </p:txBody>
      </p:sp>
      <p:sp>
        <p:nvSpPr>
          <p:cNvPr id="22" name="Shape 20"/>
          <p:cNvSpPr/>
          <p:nvPr/>
        </p:nvSpPr>
        <p:spPr>
          <a:xfrm>
            <a:off x="6940296" y="3511296"/>
            <a:ext cx="2048256" cy="310896"/>
          </a:xfrm>
          <a:prstGeom prst="rect">
            <a:avLst/>
          </a:prstGeom>
          <a:solidFill>
            <a:srgbClr val="FFFBEB"/>
          </a:solidFill>
          <a:ln w="10160">
            <a:solidFill>
              <a:srgbClr val="B45309"/>
            </a:solidFill>
            <a:prstDash val="solid"/>
          </a:ln>
        </p:spPr>
      </p:sp>
      <p:sp>
        <p:nvSpPr>
          <p:cNvPr id="23" name="Text 21"/>
          <p:cNvSpPr/>
          <p:nvPr/>
        </p:nvSpPr>
        <p:spPr>
          <a:xfrm>
            <a:off x="6995160" y="3511296"/>
            <a:ext cx="1956816" cy="310896"/>
          </a:xfrm>
          <a:prstGeom prst="rect">
            <a:avLst/>
          </a:prstGeom>
          <a:noFill/>
          <a:ln/>
        </p:spPr>
        <p:txBody>
          <a:bodyPr wrap="square" rtlCol="0" anchor="ctr"/>
          <a:lstStyle/>
          <a:p>
            <a:pPr indent="0" marL="0">
              <a:buNone/>
            </a:pPr>
            <a:r>
              <a:rPr lang="en-US" sz="850" b="1" dirty="0">
                <a:solidFill>
                  <a:srgbClr val="B45309"/>
                </a:solidFill>
              </a:rPr>
              <a:t>04 Bitget Live Price API</a:t>
            </a:r>
            <a:endParaRPr lang="en-US" sz="850" dirty="0"/>
          </a:p>
        </p:txBody>
      </p:sp>
      <p:sp>
        <p:nvSpPr>
          <p:cNvPr id="24" name="Shape 22"/>
          <p:cNvSpPr/>
          <p:nvPr/>
        </p:nvSpPr>
        <p:spPr>
          <a:xfrm>
            <a:off x="411480" y="3895344"/>
            <a:ext cx="2048256" cy="310896"/>
          </a:xfrm>
          <a:prstGeom prst="rect">
            <a:avLst/>
          </a:prstGeom>
          <a:solidFill>
            <a:srgbClr val="F5F3FF"/>
          </a:solidFill>
          <a:ln w="10160">
            <a:solidFill>
              <a:srgbClr val="6D28D9"/>
            </a:solidFill>
            <a:prstDash val="solid"/>
          </a:ln>
        </p:spPr>
      </p:sp>
      <p:sp>
        <p:nvSpPr>
          <p:cNvPr id="25" name="Text 23"/>
          <p:cNvSpPr/>
          <p:nvPr/>
        </p:nvSpPr>
        <p:spPr>
          <a:xfrm>
            <a:off x="466344" y="3895344"/>
            <a:ext cx="1956816" cy="310896"/>
          </a:xfrm>
          <a:prstGeom prst="rect">
            <a:avLst/>
          </a:prstGeom>
          <a:noFill/>
          <a:ln/>
        </p:spPr>
        <p:txBody>
          <a:bodyPr wrap="square" rtlCol="0" anchor="ctr"/>
          <a:lstStyle/>
          <a:p>
            <a:pPr indent="0" marL="0">
              <a:buNone/>
            </a:pPr>
            <a:r>
              <a:rPr lang="en-US" sz="850" b="1" dirty="0">
                <a:solidFill>
                  <a:srgbClr val="6D28D9"/>
                </a:solidFill>
              </a:rPr>
              <a:t>05 Power BI — Parameters</a:t>
            </a:r>
            <a:endParaRPr lang="en-US" sz="850" dirty="0"/>
          </a:p>
        </p:txBody>
      </p:sp>
      <p:sp>
        <p:nvSpPr>
          <p:cNvPr id="26" name="Shape 24"/>
          <p:cNvSpPr/>
          <p:nvPr/>
        </p:nvSpPr>
        <p:spPr>
          <a:xfrm>
            <a:off x="2587752" y="3895344"/>
            <a:ext cx="2048256" cy="310896"/>
          </a:xfrm>
          <a:prstGeom prst="rect">
            <a:avLst/>
          </a:prstGeom>
          <a:solidFill>
            <a:srgbClr val="EFF6FF"/>
          </a:solidFill>
          <a:ln w="10160">
            <a:solidFill>
              <a:srgbClr val="1D4ED8"/>
            </a:solidFill>
            <a:prstDash val="solid"/>
          </a:ln>
        </p:spPr>
      </p:sp>
      <p:sp>
        <p:nvSpPr>
          <p:cNvPr id="27" name="Text 25"/>
          <p:cNvSpPr/>
          <p:nvPr/>
        </p:nvSpPr>
        <p:spPr>
          <a:xfrm>
            <a:off x="2642616" y="3895344"/>
            <a:ext cx="1956816" cy="310896"/>
          </a:xfrm>
          <a:prstGeom prst="rect">
            <a:avLst/>
          </a:prstGeom>
          <a:noFill/>
          <a:ln/>
        </p:spPr>
        <p:txBody>
          <a:bodyPr wrap="square" rtlCol="0" anchor="ctr"/>
          <a:lstStyle/>
          <a:p>
            <a:pPr indent="0" marL="0">
              <a:buNone/>
            </a:pPr>
            <a:r>
              <a:rPr lang="en-US" sz="850" b="1" dirty="0">
                <a:solidFill>
                  <a:srgbClr val="1D4ED8"/>
                </a:solidFill>
              </a:rPr>
              <a:t>06 Power BI — Connect API</a:t>
            </a:r>
            <a:endParaRPr lang="en-US" sz="850" dirty="0"/>
          </a:p>
        </p:txBody>
      </p:sp>
      <p:sp>
        <p:nvSpPr>
          <p:cNvPr id="28" name="Shape 26"/>
          <p:cNvSpPr/>
          <p:nvPr/>
        </p:nvSpPr>
        <p:spPr>
          <a:xfrm>
            <a:off x="4764024" y="3895344"/>
            <a:ext cx="2048256" cy="310896"/>
          </a:xfrm>
          <a:prstGeom prst="rect">
            <a:avLst/>
          </a:prstGeom>
          <a:solidFill>
            <a:srgbClr val="F0FDFA"/>
          </a:solidFill>
          <a:ln w="10160">
            <a:solidFill>
              <a:srgbClr val="0F766E"/>
            </a:solidFill>
            <a:prstDash val="solid"/>
          </a:ln>
        </p:spPr>
      </p:sp>
      <p:sp>
        <p:nvSpPr>
          <p:cNvPr id="29" name="Text 27"/>
          <p:cNvSpPr/>
          <p:nvPr/>
        </p:nvSpPr>
        <p:spPr>
          <a:xfrm>
            <a:off x="4818888" y="3895344"/>
            <a:ext cx="1956816" cy="310896"/>
          </a:xfrm>
          <a:prstGeom prst="rect">
            <a:avLst/>
          </a:prstGeom>
          <a:noFill/>
          <a:ln/>
        </p:spPr>
        <p:txBody>
          <a:bodyPr wrap="square" rtlCol="0" anchor="ctr"/>
          <a:lstStyle/>
          <a:p>
            <a:pPr indent="0" marL="0">
              <a:buNone/>
            </a:pPr>
            <a:r>
              <a:rPr lang="en-US" sz="850" b="1" dirty="0">
                <a:solidFill>
                  <a:srgbClr val="0F766E"/>
                </a:solidFill>
              </a:rPr>
              <a:t>07 Power BI — Live Dashboard</a:t>
            </a:r>
            <a:endParaRPr lang="en-US" sz="850" dirty="0"/>
          </a:p>
        </p:txBody>
      </p:sp>
      <p:sp>
        <p:nvSpPr>
          <p:cNvPr id="30" name="Shape 28"/>
          <p:cNvSpPr/>
          <p:nvPr/>
        </p:nvSpPr>
        <p:spPr>
          <a:xfrm>
            <a:off x="6940296" y="3895344"/>
            <a:ext cx="2048256" cy="310896"/>
          </a:xfrm>
          <a:prstGeom prst="rect">
            <a:avLst/>
          </a:prstGeom>
          <a:solidFill>
            <a:srgbClr val="F0FDF4"/>
          </a:solidFill>
          <a:ln w="10160">
            <a:solidFill>
              <a:srgbClr val="15803D"/>
            </a:solidFill>
            <a:prstDash val="solid"/>
          </a:ln>
        </p:spPr>
      </p:sp>
      <p:sp>
        <p:nvSpPr>
          <p:cNvPr id="31" name="Text 29"/>
          <p:cNvSpPr/>
          <p:nvPr/>
        </p:nvSpPr>
        <p:spPr>
          <a:xfrm>
            <a:off x="6995160" y="3895344"/>
            <a:ext cx="1956816" cy="310896"/>
          </a:xfrm>
          <a:prstGeom prst="rect">
            <a:avLst/>
          </a:prstGeom>
          <a:noFill/>
          <a:ln/>
        </p:spPr>
        <p:txBody>
          <a:bodyPr wrap="square" rtlCol="0" anchor="ctr"/>
          <a:lstStyle/>
          <a:p>
            <a:pPr indent="0" marL="0">
              <a:buNone/>
            </a:pPr>
            <a:r>
              <a:rPr lang="en-US" sz="850" b="1" dirty="0">
                <a:solidFill>
                  <a:srgbClr val="15803D"/>
                </a:solidFill>
              </a:rPr>
              <a:t>08 Full Code Reference</a:t>
            </a:r>
            <a:endParaRPr lang="en-US" sz="850" dirty="0"/>
          </a:p>
        </p:txBody>
      </p:sp>
      <p:sp>
        <p:nvSpPr>
          <p:cNvPr id="32" name="Shape 30"/>
          <p:cNvSpPr/>
          <p:nvPr/>
        </p:nvSpPr>
        <p:spPr>
          <a:xfrm>
            <a:off x="0" y="4773168"/>
            <a:ext cx="9144000" cy="370332"/>
          </a:xfrm>
          <a:prstGeom prst="rect">
            <a:avLst/>
          </a:prstGeom>
          <a:solidFill>
            <a:srgbClr val="F8FAFC"/>
          </a:solidFill>
          <a:ln w="12700">
            <a:solidFill>
              <a:srgbClr val="E2E8F0"/>
            </a:solidFill>
            <a:prstDash val="solid"/>
          </a:ln>
        </p:spPr>
      </p:sp>
      <p:sp>
        <p:nvSpPr>
          <p:cNvPr id="33" name="Text 31"/>
          <p:cNvSpPr/>
          <p:nvPr/>
        </p:nvSpPr>
        <p:spPr>
          <a:xfrm>
            <a:off x="274320" y="4773168"/>
            <a:ext cx="8595360" cy="370332"/>
          </a:xfrm>
          <a:prstGeom prst="rect">
            <a:avLst/>
          </a:prstGeom>
          <a:noFill/>
          <a:ln/>
        </p:spPr>
        <p:txBody>
          <a:bodyPr wrap="square" rtlCol="0" anchor="ctr"/>
          <a:lstStyle/>
          <a:p>
            <a:pPr algn="ctr" indent="0" marL="0">
              <a:buNone/>
            </a:pPr>
            <a:r>
              <a:rPr lang="en-US" sz="1000" dirty="0">
                <a:solidFill>
                  <a:srgbClr val="64748B"/>
                </a:solidFill>
              </a:rPr>
              <a:t>Power BI  ·  Business Data Analytics with AI  ·  APIs &amp; Live Data</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172A"/>
          </a:solidFill>
          <a:ln w="12700">
            <a:solidFill>
              <a:srgbClr val="0F172A"/>
            </a:solidFill>
            <a:prstDash val="solid"/>
          </a:ln>
        </p:spPr>
      </p:sp>
      <p:sp>
        <p:nvSpPr>
          <p:cNvPr id="3" name="Shape 1"/>
          <p:cNvSpPr/>
          <p:nvPr/>
        </p:nvSpPr>
        <p:spPr>
          <a:xfrm>
            <a:off x="0" y="0"/>
            <a:ext cx="64008" cy="640080"/>
          </a:xfrm>
          <a:prstGeom prst="rect">
            <a:avLst/>
          </a:prstGeom>
          <a:solidFill>
            <a:srgbClr val="1D4ED8"/>
          </a:solidFill>
          <a:ln w="12700">
            <a:solidFill>
              <a:srgbClr val="1D4ED8"/>
            </a:solidFill>
            <a:prstDash val="solid"/>
          </a:ln>
        </p:spPr>
      </p:sp>
      <p:sp>
        <p:nvSpPr>
          <p:cNvPr id="4" name="Text 2"/>
          <p:cNvSpPr/>
          <p:nvPr/>
        </p:nvSpPr>
        <p:spPr>
          <a:xfrm>
            <a:off x="109728" y="0"/>
            <a:ext cx="475488" cy="640080"/>
          </a:xfrm>
          <a:prstGeom prst="rect">
            <a:avLst/>
          </a:prstGeom>
          <a:noFill/>
          <a:ln/>
        </p:spPr>
        <p:txBody>
          <a:bodyPr wrap="square" rtlCol="0" anchor="ctr"/>
          <a:lstStyle/>
          <a:p>
            <a:pPr algn="ctr" indent="0" marL="0">
              <a:buNone/>
            </a:pPr>
            <a:r>
              <a:rPr lang="en-US" sz="1600" b="1" dirty="0">
                <a:solidFill>
                  <a:srgbClr val="FFFFFF"/>
                </a:solidFill>
              </a:rPr>
              <a:t>01</a:t>
            </a:r>
            <a:endParaRPr lang="en-US" sz="1600" dirty="0"/>
          </a:p>
        </p:txBody>
      </p:sp>
      <p:sp>
        <p:nvSpPr>
          <p:cNvPr id="5" name="Text 3"/>
          <p:cNvSpPr/>
          <p:nvPr/>
        </p:nvSpPr>
        <p:spPr>
          <a:xfrm>
            <a:off x="658368" y="18288"/>
            <a:ext cx="8138160" cy="347472"/>
          </a:xfrm>
          <a:prstGeom prst="rect">
            <a:avLst/>
          </a:prstGeom>
          <a:noFill/>
          <a:ln/>
        </p:spPr>
        <p:txBody>
          <a:bodyPr wrap="square" rtlCol="0" anchor="ctr"/>
          <a:lstStyle/>
          <a:p>
            <a:pPr indent="0" marL="0">
              <a:buNone/>
            </a:pPr>
            <a:r>
              <a:rPr lang="en-US" sz="1900" b="1" dirty="0">
                <a:solidFill>
                  <a:srgbClr val="FFFFFF"/>
                </a:solidFill>
              </a:rPr>
              <a:t>What is an API?  What is JSON?</a:t>
            </a:r>
            <a:endParaRPr lang="en-US" sz="1900" dirty="0"/>
          </a:p>
        </p:txBody>
      </p:sp>
      <p:sp>
        <p:nvSpPr>
          <p:cNvPr id="6" name="Text 4"/>
          <p:cNvSpPr/>
          <p:nvPr/>
        </p:nvSpPr>
        <p:spPr>
          <a:xfrm>
            <a:off x="658368" y="402336"/>
            <a:ext cx="8138160" cy="237744"/>
          </a:xfrm>
          <a:prstGeom prst="rect">
            <a:avLst/>
          </a:prstGeom>
          <a:noFill/>
          <a:ln/>
        </p:spPr>
        <p:txBody>
          <a:bodyPr wrap="square" rtlCol="0" anchor="ctr"/>
          <a:lstStyle/>
          <a:p>
            <a:pPr indent="0" marL="0">
              <a:buNone/>
            </a:pPr>
            <a:r>
              <a:rPr lang="en-US" sz="1000" dirty="0">
                <a:solidFill>
                  <a:srgbClr val="94A3B8"/>
                </a:solidFill>
              </a:rPr>
              <a:t>Two concepts every student must understand before writing API code</a:t>
            </a:r>
            <a:endParaRPr lang="en-US" sz="1000" dirty="0"/>
          </a:p>
        </p:txBody>
      </p:sp>
      <p:sp>
        <p:nvSpPr>
          <p:cNvPr id="7" name="Shape 5"/>
          <p:cNvSpPr/>
          <p:nvPr/>
        </p:nvSpPr>
        <p:spPr>
          <a:xfrm>
            <a:off x="256032" y="768096"/>
            <a:ext cx="8631936" cy="329184"/>
          </a:xfrm>
          <a:prstGeom prst="rect">
            <a:avLst/>
          </a:prstGeom>
          <a:solidFill>
            <a:srgbClr val="EFF6FF"/>
          </a:solidFill>
          <a:ln w="10160">
            <a:solidFill>
              <a:srgbClr val="1D4ED8"/>
            </a:solidFill>
            <a:prstDash val="solid"/>
          </a:ln>
        </p:spPr>
      </p:sp>
      <p:sp>
        <p:nvSpPr>
          <p:cNvPr id="8" name="Shape 6"/>
          <p:cNvSpPr/>
          <p:nvPr/>
        </p:nvSpPr>
        <p:spPr>
          <a:xfrm>
            <a:off x="256032" y="768096"/>
            <a:ext cx="54864" cy="329184"/>
          </a:xfrm>
          <a:prstGeom prst="rect">
            <a:avLst/>
          </a:prstGeom>
          <a:solidFill>
            <a:srgbClr val="1D4ED8"/>
          </a:solidFill>
          <a:ln w="12700">
            <a:solidFill>
              <a:srgbClr val="1D4ED8"/>
            </a:solidFill>
            <a:prstDash val="solid"/>
          </a:ln>
        </p:spPr>
      </p:sp>
      <p:sp>
        <p:nvSpPr>
          <p:cNvPr id="9" name="Text 7"/>
          <p:cNvSpPr/>
          <p:nvPr/>
        </p:nvSpPr>
        <p:spPr>
          <a:xfrm>
            <a:off x="384048" y="768096"/>
            <a:ext cx="8449056" cy="329184"/>
          </a:xfrm>
          <a:prstGeom prst="rect">
            <a:avLst/>
          </a:prstGeom>
          <a:noFill/>
          <a:ln/>
        </p:spPr>
        <p:txBody>
          <a:bodyPr wrap="square" rtlCol="0" anchor="ctr"/>
          <a:lstStyle/>
          <a:p>
            <a:pPr indent="0" marL="0">
              <a:buNone/>
            </a:pPr>
            <a:r>
              <a:rPr lang="en-US" sz="1000" dirty="0">
                <a:solidFill>
                  <a:srgbClr val="1E293B"/>
                </a:solidFill>
              </a:rPr>
              <a:t>API = doorway to another website's data.   JSON = the format the data comes back in.</a:t>
            </a:r>
            <a:endParaRPr lang="en-US" sz="1000" dirty="0"/>
          </a:p>
        </p:txBody>
      </p:sp>
      <p:sp>
        <p:nvSpPr>
          <p:cNvPr id="10" name="Text 8"/>
          <p:cNvSpPr/>
          <p:nvPr/>
        </p:nvSpPr>
        <p:spPr>
          <a:xfrm>
            <a:off x="256032" y="1225296"/>
            <a:ext cx="8686800" cy="256032"/>
          </a:xfrm>
          <a:prstGeom prst="rect">
            <a:avLst/>
          </a:prstGeom>
          <a:noFill/>
          <a:ln/>
        </p:spPr>
        <p:txBody>
          <a:bodyPr wrap="square" rtlCol="0" anchor="ctr"/>
          <a:lstStyle/>
          <a:p>
            <a:pPr indent="0" marL="0">
              <a:buNone/>
            </a:pPr>
            <a:r>
              <a:rPr lang="en-US" sz="1100" b="1" dirty="0">
                <a:solidFill>
                  <a:srgbClr val="1D4ED8"/>
                </a:solidFill>
              </a:rPr>
              <a:t>How an API call works:</a:t>
            </a:r>
            <a:endParaRPr lang="en-US" sz="1100" dirty="0"/>
          </a:p>
        </p:txBody>
      </p:sp>
      <p:sp>
        <p:nvSpPr>
          <p:cNvPr id="11" name="Shape 9"/>
          <p:cNvSpPr/>
          <p:nvPr/>
        </p:nvSpPr>
        <p:spPr>
          <a:xfrm>
            <a:off x="256032" y="1517904"/>
            <a:ext cx="3950208" cy="420624"/>
          </a:xfrm>
          <a:prstGeom prst="rect">
            <a:avLst/>
          </a:prstGeom>
          <a:solidFill>
            <a:srgbClr val="EFF6FF"/>
          </a:solidFill>
          <a:ln w="8890">
            <a:solidFill>
              <a:srgbClr val="1D4ED8"/>
            </a:solidFill>
            <a:prstDash val="solid"/>
          </a:ln>
        </p:spPr>
      </p:sp>
      <p:sp>
        <p:nvSpPr>
          <p:cNvPr id="12" name="Shape 10"/>
          <p:cNvSpPr/>
          <p:nvPr/>
        </p:nvSpPr>
        <p:spPr>
          <a:xfrm>
            <a:off x="256032" y="1517904"/>
            <a:ext cx="54864" cy="420624"/>
          </a:xfrm>
          <a:prstGeom prst="rect">
            <a:avLst/>
          </a:prstGeom>
          <a:solidFill>
            <a:srgbClr val="1D4ED8"/>
          </a:solidFill>
          <a:ln w="12700">
            <a:solidFill>
              <a:srgbClr val="1D4ED8"/>
            </a:solidFill>
            <a:prstDash val="solid"/>
          </a:ln>
        </p:spPr>
      </p:sp>
      <p:sp>
        <p:nvSpPr>
          <p:cNvPr id="13" name="Text 11"/>
          <p:cNvSpPr/>
          <p:nvPr/>
        </p:nvSpPr>
        <p:spPr>
          <a:xfrm>
            <a:off x="365760" y="1554480"/>
            <a:ext cx="3749040" cy="182880"/>
          </a:xfrm>
          <a:prstGeom prst="rect">
            <a:avLst/>
          </a:prstGeom>
          <a:noFill/>
          <a:ln/>
        </p:spPr>
        <p:txBody>
          <a:bodyPr wrap="square" rtlCol="0" anchor="ctr"/>
          <a:lstStyle/>
          <a:p>
            <a:pPr indent="0" marL="0">
              <a:buNone/>
            </a:pPr>
            <a:r>
              <a:rPr lang="en-US" sz="1000" b="1" dirty="0">
                <a:solidFill>
                  <a:srgbClr val="1D4ED8"/>
                </a:solidFill>
              </a:rPr>
              <a:t>Your Code</a:t>
            </a:r>
            <a:endParaRPr lang="en-US" sz="1000" dirty="0"/>
          </a:p>
        </p:txBody>
      </p:sp>
      <p:sp>
        <p:nvSpPr>
          <p:cNvPr id="14" name="Text 12"/>
          <p:cNvSpPr/>
          <p:nvPr/>
        </p:nvSpPr>
        <p:spPr>
          <a:xfrm>
            <a:off x="365760" y="1737360"/>
            <a:ext cx="3749040" cy="164592"/>
          </a:xfrm>
          <a:prstGeom prst="rect">
            <a:avLst/>
          </a:prstGeom>
          <a:noFill/>
          <a:ln/>
        </p:spPr>
        <p:txBody>
          <a:bodyPr wrap="square" rtlCol="0" anchor="ctr"/>
          <a:lstStyle/>
          <a:p>
            <a:pPr indent="0" marL="0">
              <a:buNone/>
            </a:pPr>
            <a:r>
              <a:rPr lang="en-US" sz="900" dirty="0">
                <a:solidFill>
                  <a:srgbClr val="1E293B"/>
                </a:solidFill>
              </a:rPr>
              <a:t>writes the URL and sends a request</a:t>
            </a:r>
            <a:endParaRPr lang="en-US" sz="900" dirty="0"/>
          </a:p>
        </p:txBody>
      </p:sp>
      <p:sp>
        <p:nvSpPr>
          <p:cNvPr id="15" name="Text 13"/>
          <p:cNvSpPr/>
          <p:nvPr/>
        </p:nvSpPr>
        <p:spPr>
          <a:xfrm>
            <a:off x="256032" y="1938528"/>
            <a:ext cx="3950208" cy="91440"/>
          </a:xfrm>
          <a:prstGeom prst="rect">
            <a:avLst/>
          </a:prstGeom>
          <a:noFill/>
          <a:ln/>
        </p:spPr>
        <p:txBody>
          <a:bodyPr wrap="square" rtlCol="0" anchor="ctr"/>
          <a:lstStyle/>
          <a:p>
            <a:pPr algn="ctr" indent="0" marL="0">
              <a:buNone/>
            </a:pPr>
            <a:r>
              <a:rPr lang="en-US" sz="900" dirty="0">
                <a:solidFill>
                  <a:srgbClr val="64748B"/>
                </a:solidFill>
              </a:rPr>
              <a:t>↓</a:t>
            </a:r>
            <a:endParaRPr lang="en-US" sz="900" dirty="0"/>
          </a:p>
        </p:txBody>
      </p:sp>
      <p:sp>
        <p:nvSpPr>
          <p:cNvPr id="16" name="Shape 14"/>
          <p:cNvSpPr/>
          <p:nvPr/>
        </p:nvSpPr>
        <p:spPr>
          <a:xfrm>
            <a:off x="256032" y="2029968"/>
            <a:ext cx="3950208" cy="420624"/>
          </a:xfrm>
          <a:prstGeom prst="rect">
            <a:avLst/>
          </a:prstGeom>
          <a:solidFill>
            <a:srgbClr val="F0FDFA"/>
          </a:solidFill>
          <a:ln w="8890">
            <a:solidFill>
              <a:srgbClr val="0F766E"/>
            </a:solidFill>
            <a:prstDash val="solid"/>
          </a:ln>
        </p:spPr>
      </p:sp>
      <p:sp>
        <p:nvSpPr>
          <p:cNvPr id="17" name="Shape 15"/>
          <p:cNvSpPr/>
          <p:nvPr/>
        </p:nvSpPr>
        <p:spPr>
          <a:xfrm>
            <a:off x="256032" y="2029968"/>
            <a:ext cx="54864" cy="420624"/>
          </a:xfrm>
          <a:prstGeom prst="rect">
            <a:avLst/>
          </a:prstGeom>
          <a:solidFill>
            <a:srgbClr val="0F766E"/>
          </a:solidFill>
          <a:ln w="12700">
            <a:solidFill>
              <a:srgbClr val="0F766E"/>
            </a:solidFill>
            <a:prstDash val="solid"/>
          </a:ln>
        </p:spPr>
      </p:sp>
      <p:sp>
        <p:nvSpPr>
          <p:cNvPr id="18" name="Text 16"/>
          <p:cNvSpPr/>
          <p:nvPr/>
        </p:nvSpPr>
        <p:spPr>
          <a:xfrm>
            <a:off x="365760" y="2066544"/>
            <a:ext cx="3749040" cy="182880"/>
          </a:xfrm>
          <a:prstGeom prst="rect">
            <a:avLst/>
          </a:prstGeom>
          <a:noFill/>
          <a:ln/>
        </p:spPr>
        <p:txBody>
          <a:bodyPr wrap="square" rtlCol="0" anchor="ctr"/>
          <a:lstStyle/>
          <a:p>
            <a:pPr indent="0" marL="0">
              <a:buNone/>
            </a:pPr>
            <a:r>
              <a:rPr lang="en-US" sz="1000" b="1" dirty="0">
                <a:solidFill>
                  <a:srgbClr val="0F766E"/>
                </a:solidFill>
              </a:rPr>
              <a:t>Internet</a:t>
            </a:r>
            <a:endParaRPr lang="en-US" sz="1000" dirty="0"/>
          </a:p>
        </p:txBody>
      </p:sp>
      <p:sp>
        <p:nvSpPr>
          <p:cNvPr id="19" name="Text 17"/>
          <p:cNvSpPr/>
          <p:nvPr/>
        </p:nvSpPr>
        <p:spPr>
          <a:xfrm>
            <a:off x="365760" y="2249424"/>
            <a:ext cx="3749040" cy="164592"/>
          </a:xfrm>
          <a:prstGeom prst="rect">
            <a:avLst/>
          </a:prstGeom>
          <a:noFill/>
          <a:ln/>
        </p:spPr>
        <p:txBody>
          <a:bodyPr wrap="square" rtlCol="0" anchor="ctr"/>
          <a:lstStyle/>
          <a:p>
            <a:pPr indent="0" marL="0">
              <a:buNone/>
            </a:pPr>
            <a:r>
              <a:rPr lang="en-US" sz="900" dirty="0">
                <a:solidFill>
                  <a:srgbClr val="1E293B"/>
                </a:solidFill>
              </a:rPr>
              <a:t>carries the request to the API server</a:t>
            </a:r>
            <a:endParaRPr lang="en-US" sz="900" dirty="0"/>
          </a:p>
        </p:txBody>
      </p:sp>
      <p:sp>
        <p:nvSpPr>
          <p:cNvPr id="20" name="Text 18"/>
          <p:cNvSpPr/>
          <p:nvPr/>
        </p:nvSpPr>
        <p:spPr>
          <a:xfrm>
            <a:off x="256032" y="2450592"/>
            <a:ext cx="3950208" cy="91440"/>
          </a:xfrm>
          <a:prstGeom prst="rect">
            <a:avLst/>
          </a:prstGeom>
          <a:noFill/>
          <a:ln/>
        </p:spPr>
        <p:txBody>
          <a:bodyPr wrap="square" rtlCol="0" anchor="ctr"/>
          <a:lstStyle/>
          <a:p>
            <a:pPr algn="ctr" indent="0" marL="0">
              <a:buNone/>
            </a:pPr>
            <a:r>
              <a:rPr lang="en-US" sz="900" dirty="0">
                <a:solidFill>
                  <a:srgbClr val="64748B"/>
                </a:solidFill>
              </a:rPr>
              <a:t>↓</a:t>
            </a:r>
            <a:endParaRPr lang="en-US" sz="900" dirty="0"/>
          </a:p>
        </p:txBody>
      </p:sp>
      <p:sp>
        <p:nvSpPr>
          <p:cNvPr id="21" name="Shape 19"/>
          <p:cNvSpPr/>
          <p:nvPr/>
        </p:nvSpPr>
        <p:spPr>
          <a:xfrm>
            <a:off x="256032" y="2542032"/>
            <a:ext cx="3950208" cy="420624"/>
          </a:xfrm>
          <a:prstGeom prst="rect">
            <a:avLst/>
          </a:prstGeom>
          <a:solidFill>
            <a:srgbClr val="F0FDF4"/>
          </a:solidFill>
          <a:ln w="8890">
            <a:solidFill>
              <a:srgbClr val="15803D"/>
            </a:solidFill>
            <a:prstDash val="solid"/>
          </a:ln>
        </p:spPr>
      </p:sp>
      <p:sp>
        <p:nvSpPr>
          <p:cNvPr id="22" name="Shape 20"/>
          <p:cNvSpPr/>
          <p:nvPr/>
        </p:nvSpPr>
        <p:spPr>
          <a:xfrm>
            <a:off x="256032" y="2542032"/>
            <a:ext cx="54864" cy="420624"/>
          </a:xfrm>
          <a:prstGeom prst="rect">
            <a:avLst/>
          </a:prstGeom>
          <a:solidFill>
            <a:srgbClr val="15803D"/>
          </a:solidFill>
          <a:ln w="12700">
            <a:solidFill>
              <a:srgbClr val="15803D"/>
            </a:solidFill>
            <a:prstDash val="solid"/>
          </a:ln>
        </p:spPr>
      </p:sp>
      <p:sp>
        <p:nvSpPr>
          <p:cNvPr id="23" name="Text 21"/>
          <p:cNvSpPr/>
          <p:nvPr/>
        </p:nvSpPr>
        <p:spPr>
          <a:xfrm>
            <a:off x="365760" y="2578608"/>
            <a:ext cx="3749040" cy="182880"/>
          </a:xfrm>
          <a:prstGeom prst="rect">
            <a:avLst/>
          </a:prstGeom>
          <a:noFill/>
          <a:ln/>
        </p:spPr>
        <p:txBody>
          <a:bodyPr wrap="square" rtlCol="0" anchor="ctr"/>
          <a:lstStyle/>
          <a:p>
            <a:pPr indent="0" marL="0">
              <a:buNone/>
            </a:pPr>
            <a:r>
              <a:rPr lang="en-US" sz="1000" b="1" dirty="0">
                <a:solidFill>
                  <a:srgbClr val="15803D"/>
                </a:solidFill>
              </a:rPr>
              <a:t>API Server</a:t>
            </a:r>
            <a:endParaRPr lang="en-US" sz="1000" dirty="0"/>
          </a:p>
        </p:txBody>
      </p:sp>
      <p:sp>
        <p:nvSpPr>
          <p:cNvPr id="24" name="Text 22"/>
          <p:cNvSpPr/>
          <p:nvPr/>
        </p:nvSpPr>
        <p:spPr>
          <a:xfrm>
            <a:off x="365760" y="2761488"/>
            <a:ext cx="3749040" cy="164592"/>
          </a:xfrm>
          <a:prstGeom prst="rect">
            <a:avLst/>
          </a:prstGeom>
          <a:noFill/>
          <a:ln/>
        </p:spPr>
        <p:txBody>
          <a:bodyPr wrap="square" rtlCol="0" anchor="ctr"/>
          <a:lstStyle/>
          <a:p>
            <a:pPr indent="0" marL="0">
              <a:buNone/>
            </a:pPr>
            <a:r>
              <a:rPr lang="en-US" sz="900" dirty="0">
                <a:solidFill>
                  <a:srgbClr val="1E293B"/>
                </a:solidFill>
              </a:rPr>
              <a:t>finds the data and prepares the answer</a:t>
            </a:r>
            <a:endParaRPr lang="en-US" sz="900" dirty="0"/>
          </a:p>
        </p:txBody>
      </p:sp>
      <p:sp>
        <p:nvSpPr>
          <p:cNvPr id="25" name="Text 23"/>
          <p:cNvSpPr/>
          <p:nvPr/>
        </p:nvSpPr>
        <p:spPr>
          <a:xfrm>
            <a:off x="256032" y="2962656"/>
            <a:ext cx="3950208" cy="91440"/>
          </a:xfrm>
          <a:prstGeom prst="rect">
            <a:avLst/>
          </a:prstGeom>
          <a:noFill/>
          <a:ln/>
        </p:spPr>
        <p:txBody>
          <a:bodyPr wrap="square" rtlCol="0" anchor="ctr"/>
          <a:lstStyle/>
          <a:p>
            <a:pPr algn="ctr" indent="0" marL="0">
              <a:buNone/>
            </a:pPr>
            <a:r>
              <a:rPr lang="en-US" sz="900" dirty="0">
                <a:solidFill>
                  <a:srgbClr val="64748B"/>
                </a:solidFill>
              </a:rPr>
              <a:t>↓</a:t>
            </a:r>
            <a:endParaRPr lang="en-US" sz="900" dirty="0"/>
          </a:p>
        </p:txBody>
      </p:sp>
      <p:sp>
        <p:nvSpPr>
          <p:cNvPr id="26" name="Shape 24"/>
          <p:cNvSpPr/>
          <p:nvPr/>
        </p:nvSpPr>
        <p:spPr>
          <a:xfrm>
            <a:off x="256032" y="3054096"/>
            <a:ext cx="3950208" cy="420624"/>
          </a:xfrm>
          <a:prstGeom prst="rect">
            <a:avLst/>
          </a:prstGeom>
          <a:solidFill>
            <a:srgbClr val="FFFBEB"/>
          </a:solidFill>
          <a:ln w="8890">
            <a:solidFill>
              <a:srgbClr val="B45309"/>
            </a:solidFill>
            <a:prstDash val="solid"/>
          </a:ln>
        </p:spPr>
      </p:sp>
      <p:sp>
        <p:nvSpPr>
          <p:cNvPr id="27" name="Shape 25"/>
          <p:cNvSpPr/>
          <p:nvPr/>
        </p:nvSpPr>
        <p:spPr>
          <a:xfrm>
            <a:off x="256032" y="3054096"/>
            <a:ext cx="54864" cy="420624"/>
          </a:xfrm>
          <a:prstGeom prst="rect">
            <a:avLst/>
          </a:prstGeom>
          <a:solidFill>
            <a:srgbClr val="B45309"/>
          </a:solidFill>
          <a:ln w="12700">
            <a:solidFill>
              <a:srgbClr val="B45309"/>
            </a:solidFill>
            <a:prstDash val="solid"/>
          </a:ln>
        </p:spPr>
      </p:sp>
      <p:sp>
        <p:nvSpPr>
          <p:cNvPr id="28" name="Text 26"/>
          <p:cNvSpPr/>
          <p:nvPr/>
        </p:nvSpPr>
        <p:spPr>
          <a:xfrm>
            <a:off x="365760" y="3090672"/>
            <a:ext cx="3749040" cy="182880"/>
          </a:xfrm>
          <a:prstGeom prst="rect">
            <a:avLst/>
          </a:prstGeom>
          <a:noFill/>
          <a:ln/>
        </p:spPr>
        <p:txBody>
          <a:bodyPr wrap="square" rtlCol="0" anchor="ctr"/>
          <a:lstStyle/>
          <a:p>
            <a:pPr indent="0" marL="0">
              <a:buNone/>
            </a:pPr>
            <a:r>
              <a:rPr lang="en-US" sz="1000" b="1" dirty="0">
                <a:solidFill>
                  <a:srgbClr val="B45309"/>
                </a:solidFill>
              </a:rPr>
              <a:t>JSON Response</a:t>
            </a:r>
            <a:endParaRPr lang="en-US" sz="1000" dirty="0"/>
          </a:p>
        </p:txBody>
      </p:sp>
      <p:sp>
        <p:nvSpPr>
          <p:cNvPr id="29" name="Text 27"/>
          <p:cNvSpPr/>
          <p:nvPr/>
        </p:nvSpPr>
        <p:spPr>
          <a:xfrm>
            <a:off x="365760" y="3273552"/>
            <a:ext cx="3749040" cy="164592"/>
          </a:xfrm>
          <a:prstGeom prst="rect">
            <a:avLst/>
          </a:prstGeom>
          <a:noFill/>
          <a:ln/>
        </p:spPr>
        <p:txBody>
          <a:bodyPr wrap="square" rtlCol="0" anchor="ctr"/>
          <a:lstStyle/>
          <a:p>
            <a:pPr indent="0" marL="0">
              <a:buNone/>
            </a:pPr>
            <a:r>
              <a:rPr lang="en-US" sz="900" dirty="0">
                <a:solidFill>
                  <a:srgbClr val="1E293B"/>
                </a:solidFill>
              </a:rPr>
              <a:t>sent back to your code</a:t>
            </a:r>
            <a:endParaRPr lang="en-US" sz="900" dirty="0"/>
          </a:p>
        </p:txBody>
      </p:sp>
      <p:sp>
        <p:nvSpPr>
          <p:cNvPr id="30" name="Text 28"/>
          <p:cNvSpPr/>
          <p:nvPr/>
        </p:nvSpPr>
        <p:spPr>
          <a:xfrm>
            <a:off x="256032" y="3474720"/>
            <a:ext cx="3950208" cy="91440"/>
          </a:xfrm>
          <a:prstGeom prst="rect">
            <a:avLst/>
          </a:prstGeom>
          <a:noFill/>
          <a:ln/>
        </p:spPr>
        <p:txBody>
          <a:bodyPr wrap="square" rtlCol="0" anchor="ctr"/>
          <a:lstStyle/>
          <a:p>
            <a:pPr algn="ctr" indent="0" marL="0">
              <a:buNone/>
            </a:pPr>
            <a:r>
              <a:rPr lang="en-US" sz="900" dirty="0">
                <a:solidFill>
                  <a:srgbClr val="64748B"/>
                </a:solidFill>
              </a:rPr>
              <a:t>↓</a:t>
            </a:r>
            <a:endParaRPr lang="en-US" sz="900" dirty="0"/>
          </a:p>
        </p:txBody>
      </p:sp>
      <p:sp>
        <p:nvSpPr>
          <p:cNvPr id="31" name="Shape 29"/>
          <p:cNvSpPr/>
          <p:nvPr/>
        </p:nvSpPr>
        <p:spPr>
          <a:xfrm>
            <a:off x="256032" y="3566160"/>
            <a:ext cx="3950208" cy="420624"/>
          </a:xfrm>
          <a:prstGeom prst="rect">
            <a:avLst/>
          </a:prstGeom>
          <a:solidFill>
            <a:srgbClr val="F5F3FF"/>
          </a:solidFill>
          <a:ln w="8890">
            <a:solidFill>
              <a:srgbClr val="6D28D9"/>
            </a:solidFill>
            <a:prstDash val="solid"/>
          </a:ln>
        </p:spPr>
      </p:sp>
      <p:sp>
        <p:nvSpPr>
          <p:cNvPr id="32" name="Shape 30"/>
          <p:cNvSpPr/>
          <p:nvPr/>
        </p:nvSpPr>
        <p:spPr>
          <a:xfrm>
            <a:off x="256032" y="3566160"/>
            <a:ext cx="54864" cy="420624"/>
          </a:xfrm>
          <a:prstGeom prst="rect">
            <a:avLst/>
          </a:prstGeom>
          <a:solidFill>
            <a:srgbClr val="6D28D9"/>
          </a:solidFill>
          <a:ln w="12700">
            <a:solidFill>
              <a:srgbClr val="6D28D9"/>
            </a:solidFill>
            <a:prstDash val="solid"/>
          </a:ln>
        </p:spPr>
      </p:sp>
      <p:sp>
        <p:nvSpPr>
          <p:cNvPr id="33" name="Text 31"/>
          <p:cNvSpPr/>
          <p:nvPr/>
        </p:nvSpPr>
        <p:spPr>
          <a:xfrm>
            <a:off x="365760" y="3602736"/>
            <a:ext cx="3749040" cy="182880"/>
          </a:xfrm>
          <a:prstGeom prst="rect">
            <a:avLst/>
          </a:prstGeom>
          <a:noFill/>
          <a:ln/>
        </p:spPr>
        <p:txBody>
          <a:bodyPr wrap="square" rtlCol="0" anchor="ctr"/>
          <a:lstStyle/>
          <a:p>
            <a:pPr indent="0" marL="0">
              <a:buNone/>
            </a:pPr>
            <a:r>
              <a:rPr lang="en-US" sz="1000" b="1" dirty="0">
                <a:solidFill>
                  <a:srgbClr val="6D28D9"/>
                </a:solidFill>
              </a:rPr>
              <a:t>pandas</a:t>
            </a:r>
            <a:endParaRPr lang="en-US" sz="1000" dirty="0"/>
          </a:p>
        </p:txBody>
      </p:sp>
      <p:sp>
        <p:nvSpPr>
          <p:cNvPr id="34" name="Text 32"/>
          <p:cNvSpPr/>
          <p:nvPr/>
        </p:nvSpPr>
        <p:spPr>
          <a:xfrm>
            <a:off x="365760" y="3785616"/>
            <a:ext cx="3749040" cy="164592"/>
          </a:xfrm>
          <a:prstGeom prst="rect">
            <a:avLst/>
          </a:prstGeom>
          <a:noFill/>
          <a:ln/>
        </p:spPr>
        <p:txBody>
          <a:bodyPr wrap="square" rtlCol="0" anchor="ctr"/>
          <a:lstStyle/>
          <a:p>
            <a:pPr indent="0" marL="0">
              <a:buNone/>
            </a:pPr>
            <a:r>
              <a:rPr lang="en-US" sz="900" dirty="0">
                <a:solidFill>
                  <a:srgbClr val="1E293B"/>
                </a:solidFill>
              </a:rPr>
              <a:t>converts the JSON into a DataFrame</a:t>
            </a:r>
            <a:endParaRPr lang="en-US" sz="900" dirty="0"/>
          </a:p>
        </p:txBody>
      </p:sp>
      <p:sp>
        <p:nvSpPr>
          <p:cNvPr id="35" name="Text 33"/>
          <p:cNvSpPr/>
          <p:nvPr/>
        </p:nvSpPr>
        <p:spPr>
          <a:xfrm>
            <a:off x="4572000" y="1225296"/>
            <a:ext cx="8686800" cy="256032"/>
          </a:xfrm>
          <a:prstGeom prst="rect">
            <a:avLst/>
          </a:prstGeom>
          <a:noFill/>
          <a:ln/>
        </p:spPr>
        <p:txBody>
          <a:bodyPr wrap="square" rtlCol="0" anchor="ctr"/>
          <a:lstStyle/>
          <a:p>
            <a:pPr indent="0" marL="0">
              <a:buNone/>
            </a:pPr>
            <a:r>
              <a:rPr lang="en-US" sz="1100" b="1" dirty="0">
                <a:solidFill>
                  <a:srgbClr val="0F766E"/>
                </a:solidFill>
              </a:rPr>
              <a:t>What JSON looks like:</a:t>
            </a:r>
            <a:endParaRPr lang="en-US" sz="1100" dirty="0"/>
          </a:p>
        </p:txBody>
      </p:sp>
      <p:sp>
        <p:nvSpPr>
          <p:cNvPr id="36" name="Shape 34"/>
          <p:cNvSpPr/>
          <p:nvPr/>
        </p:nvSpPr>
        <p:spPr>
          <a:xfrm>
            <a:off x="4572000" y="1517904"/>
            <a:ext cx="4315968" cy="1664208"/>
          </a:xfrm>
          <a:prstGeom prst="rect">
            <a:avLst/>
          </a:prstGeom>
          <a:solidFill>
            <a:srgbClr val="0F172A"/>
          </a:solidFill>
          <a:ln w="6350">
            <a:solidFill>
              <a:srgbClr val="334155"/>
            </a:solidFill>
            <a:prstDash val="solid"/>
          </a:ln>
        </p:spPr>
      </p:sp>
      <p:sp>
        <p:nvSpPr>
          <p:cNvPr id="37" name="Shape 35"/>
          <p:cNvSpPr/>
          <p:nvPr/>
        </p:nvSpPr>
        <p:spPr>
          <a:xfrm>
            <a:off x="4572000" y="1517904"/>
            <a:ext cx="54864" cy="1664208"/>
          </a:xfrm>
          <a:prstGeom prst="rect">
            <a:avLst/>
          </a:prstGeom>
          <a:solidFill>
            <a:srgbClr val="1D4ED8"/>
          </a:solidFill>
          <a:ln w="12700">
            <a:solidFill>
              <a:srgbClr val="1D4ED8"/>
            </a:solidFill>
            <a:prstDash val="solid"/>
          </a:ln>
        </p:spPr>
      </p:sp>
      <p:sp>
        <p:nvSpPr>
          <p:cNvPr id="38" name="Text 36"/>
          <p:cNvSpPr/>
          <p:nvPr/>
        </p:nvSpPr>
        <p:spPr>
          <a:xfrm>
            <a:off x="4700016" y="1591056"/>
            <a:ext cx="4133088" cy="1536192"/>
          </a:xfrm>
          <a:prstGeom prst="rect">
            <a:avLst/>
          </a:prstGeom>
          <a:noFill/>
          <a:ln/>
        </p:spPr>
        <p:txBody>
          <a:bodyPr wrap="square" rtlCol="0" anchor="t"/>
          <a:lstStyle/>
          <a:p>
            <a:pPr indent="0" marL="0">
              <a:buNone/>
            </a:pPr>
            <a:r>
              <a:rPr lang="en-US" sz="950" dirty="0">
                <a:solidFill>
                  <a:srgbClr val="E2E8F0"/>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"name":   "Kathmandu University",</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"country": "Nepal",</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"web_pages": [</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"http://www.ku.edu.np/"</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"alpha_two_code": "NP"</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a:t>
            </a:r>
            <a:endParaRPr lang="en-US" sz="950" dirty="0"/>
          </a:p>
        </p:txBody>
      </p:sp>
      <p:sp>
        <p:nvSpPr>
          <p:cNvPr id="39" name="Text 37"/>
          <p:cNvSpPr/>
          <p:nvPr/>
        </p:nvSpPr>
        <p:spPr>
          <a:xfrm>
            <a:off x="4572000" y="3273552"/>
            <a:ext cx="8686800" cy="256032"/>
          </a:xfrm>
          <a:prstGeom prst="rect">
            <a:avLst/>
          </a:prstGeom>
          <a:noFill/>
          <a:ln/>
        </p:spPr>
        <p:txBody>
          <a:bodyPr wrap="square" rtlCol="0" anchor="ctr"/>
          <a:lstStyle/>
          <a:p>
            <a:pPr indent="0" marL="0">
              <a:buNone/>
            </a:pPr>
            <a:r>
              <a:rPr lang="en-US" sz="1100" b="1" dirty="0">
                <a:solidFill>
                  <a:srgbClr val="0F766E"/>
                </a:solidFill>
              </a:rPr>
              <a:t>How to read JSON:</a:t>
            </a:r>
            <a:endParaRPr lang="en-US" sz="1100" dirty="0"/>
          </a:p>
        </p:txBody>
      </p:sp>
      <p:sp>
        <p:nvSpPr>
          <p:cNvPr id="40" name="Shape 38"/>
          <p:cNvSpPr/>
          <p:nvPr/>
        </p:nvSpPr>
        <p:spPr>
          <a:xfrm>
            <a:off x="4572000" y="3566160"/>
            <a:ext cx="4315968" cy="237744"/>
          </a:xfrm>
          <a:prstGeom prst="rect">
            <a:avLst/>
          </a:prstGeom>
          <a:solidFill>
            <a:srgbClr val="F0FDFA"/>
          </a:solidFill>
          <a:ln w="6350">
            <a:solidFill>
              <a:srgbClr val="E2E8F0"/>
            </a:solidFill>
            <a:prstDash val="solid"/>
          </a:ln>
        </p:spPr>
      </p:sp>
      <p:sp>
        <p:nvSpPr>
          <p:cNvPr id="41" name="Text 39"/>
          <p:cNvSpPr/>
          <p:nvPr/>
        </p:nvSpPr>
        <p:spPr>
          <a:xfrm>
            <a:off x="4663440" y="3566160"/>
            <a:ext cx="1463040" cy="237744"/>
          </a:xfrm>
          <a:prstGeom prst="rect">
            <a:avLst/>
          </a:prstGeom>
          <a:noFill/>
          <a:ln/>
        </p:spPr>
        <p:txBody>
          <a:bodyPr wrap="square" rtlCol="0" anchor="ctr"/>
          <a:lstStyle/>
          <a:p>
            <a:pPr indent="0" marL="0">
              <a:buNone/>
            </a:pPr>
            <a:r>
              <a:rPr lang="en-US" sz="950" b="1" dirty="0">
                <a:solidFill>
                  <a:srgbClr val="0F766E"/>
                </a:solidFill>
                <a:latin typeface="Courier New" pitchFamily="34" charset="0"/>
                <a:ea typeface="Courier New" pitchFamily="34" charset="-122"/>
                <a:cs typeface="Courier New" pitchFamily="34" charset="-120"/>
              </a:rPr>
              <a:t>{ }</a:t>
            </a:r>
            <a:endParaRPr lang="en-US" sz="950" dirty="0"/>
          </a:p>
        </p:txBody>
      </p:sp>
      <p:sp>
        <p:nvSpPr>
          <p:cNvPr id="42" name="Text 40"/>
          <p:cNvSpPr/>
          <p:nvPr/>
        </p:nvSpPr>
        <p:spPr>
          <a:xfrm>
            <a:off x="6163056" y="3566160"/>
            <a:ext cx="2651760" cy="237744"/>
          </a:xfrm>
          <a:prstGeom prst="rect">
            <a:avLst/>
          </a:prstGeom>
          <a:noFill/>
          <a:ln/>
        </p:spPr>
        <p:txBody>
          <a:bodyPr wrap="square" rtlCol="0" anchor="ctr"/>
          <a:lstStyle/>
          <a:p>
            <a:pPr indent="0" marL="0">
              <a:buNone/>
            </a:pPr>
            <a:r>
              <a:rPr lang="en-US" sz="900" dirty="0">
                <a:solidFill>
                  <a:srgbClr val="1E293B"/>
                </a:solidFill>
              </a:rPr>
              <a:t>= one object (one row of data)</a:t>
            </a:r>
            <a:endParaRPr lang="en-US" sz="900" dirty="0"/>
          </a:p>
        </p:txBody>
      </p:sp>
      <p:sp>
        <p:nvSpPr>
          <p:cNvPr id="43" name="Shape 41"/>
          <p:cNvSpPr/>
          <p:nvPr/>
        </p:nvSpPr>
        <p:spPr>
          <a:xfrm>
            <a:off x="4572000" y="3840480"/>
            <a:ext cx="4315968" cy="237744"/>
          </a:xfrm>
          <a:prstGeom prst="rect">
            <a:avLst/>
          </a:prstGeom>
          <a:solidFill>
            <a:srgbClr val="FFFFFF"/>
          </a:solidFill>
          <a:ln w="6350">
            <a:solidFill>
              <a:srgbClr val="E2E8F0"/>
            </a:solidFill>
            <a:prstDash val="solid"/>
          </a:ln>
        </p:spPr>
      </p:sp>
      <p:sp>
        <p:nvSpPr>
          <p:cNvPr id="44" name="Text 42"/>
          <p:cNvSpPr/>
          <p:nvPr/>
        </p:nvSpPr>
        <p:spPr>
          <a:xfrm>
            <a:off x="4663440" y="3840480"/>
            <a:ext cx="1463040" cy="237744"/>
          </a:xfrm>
          <a:prstGeom prst="rect">
            <a:avLst/>
          </a:prstGeom>
          <a:noFill/>
          <a:ln/>
        </p:spPr>
        <p:txBody>
          <a:bodyPr wrap="square" rtlCol="0" anchor="ctr"/>
          <a:lstStyle/>
          <a:p>
            <a:pPr indent="0" marL="0">
              <a:buNone/>
            </a:pPr>
            <a:r>
              <a:rPr lang="en-US" sz="950" b="1" dirty="0">
                <a:solidFill>
                  <a:srgbClr val="0F766E"/>
                </a:solidFill>
                <a:latin typeface="Courier New" pitchFamily="34" charset="0"/>
                <a:ea typeface="Courier New" pitchFamily="34" charset="-122"/>
                <a:cs typeface="Courier New" pitchFamily="34" charset="-120"/>
              </a:rPr>
              <a:t>[ ]</a:t>
            </a:r>
            <a:endParaRPr lang="en-US" sz="950" dirty="0"/>
          </a:p>
        </p:txBody>
      </p:sp>
      <p:sp>
        <p:nvSpPr>
          <p:cNvPr id="45" name="Text 43"/>
          <p:cNvSpPr/>
          <p:nvPr/>
        </p:nvSpPr>
        <p:spPr>
          <a:xfrm>
            <a:off x="6163056" y="3840480"/>
            <a:ext cx="2651760" cy="237744"/>
          </a:xfrm>
          <a:prstGeom prst="rect">
            <a:avLst/>
          </a:prstGeom>
          <a:noFill/>
          <a:ln/>
        </p:spPr>
        <p:txBody>
          <a:bodyPr wrap="square" rtlCol="0" anchor="ctr"/>
          <a:lstStyle/>
          <a:p>
            <a:pPr indent="0" marL="0">
              <a:buNone/>
            </a:pPr>
            <a:r>
              <a:rPr lang="en-US" sz="900" dirty="0">
                <a:solidFill>
                  <a:srgbClr val="1E293B"/>
                </a:solidFill>
              </a:rPr>
              <a:t>= a list of objects (many rows)</a:t>
            </a:r>
            <a:endParaRPr lang="en-US" sz="900" dirty="0"/>
          </a:p>
        </p:txBody>
      </p:sp>
      <p:sp>
        <p:nvSpPr>
          <p:cNvPr id="46" name="Shape 44"/>
          <p:cNvSpPr/>
          <p:nvPr/>
        </p:nvSpPr>
        <p:spPr>
          <a:xfrm>
            <a:off x="4572000" y="4114800"/>
            <a:ext cx="4315968" cy="237744"/>
          </a:xfrm>
          <a:prstGeom prst="rect">
            <a:avLst/>
          </a:prstGeom>
          <a:solidFill>
            <a:srgbClr val="F0FDFA"/>
          </a:solidFill>
          <a:ln w="6350">
            <a:solidFill>
              <a:srgbClr val="E2E8F0"/>
            </a:solidFill>
            <a:prstDash val="solid"/>
          </a:ln>
        </p:spPr>
      </p:sp>
      <p:sp>
        <p:nvSpPr>
          <p:cNvPr id="47" name="Text 45"/>
          <p:cNvSpPr/>
          <p:nvPr/>
        </p:nvSpPr>
        <p:spPr>
          <a:xfrm>
            <a:off x="4663440" y="4114800"/>
            <a:ext cx="1463040" cy="237744"/>
          </a:xfrm>
          <a:prstGeom prst="rect">
            <a:avLst/>
          </a:prstGeom>
          <a:noFill/>
          <a:ln/>
        </p:spPr>
        <p:txBody>
          <a:bodyPr wrap="square" rtlCol="0" anchor="ctr"/>
          <a:lstStyle/>
          <a:p>
            <a:pPr indent="0" marL="0">
              <a:buNone/>
            </a:pPr>
            <a:r>
              <a:rPr lang="en-US" sz="950" b="1" dirty="0">
                <a:solidFill>
                  <a:srgbClr val="0F766E"/>
                </a:solidFill>
                <a:latin typeface="Courier New" pitchFamily="34" charset="0"/>
                <a:ea typeface="Courier New" pitchFamily="34" charset="-122"/>
                <a:cs typeface="Courier New" pitchFamily="34" charset="-120"/>
              </a:rPr>
              <a:t>"key": "value"</a:t>
            </a:r>
            <a:endParaRPr lang="en-US" sz="950" dirty="0"/>
          </a:p>
        </p:txBody>
      </p:sp>
      <p:sp>
        <p:nvSpPr>
          <p:cNvPr id="48" name="Text 46"/>
          <p:cNvSpPr/>
          <p:nvPr/>
        </p:nvSpPr>
        <p:spPr>
          <a:xfrm>
            <a:off x="6163056" y="4114800"/>
            <a:ext cx="2651760" cy="237744"/>
          </a:xfrm>
          <a:prstGeom prst="rect">
            <a:avLst/>
          </a:prstGeom>
          <a:noFill/>
          <a:ln/>
        </p:spPr>
        <p:txBody>
          <a:bodyPr wrap="square" rtlCol="0" anchor="ctr"/>
          <a:lstStyle/>
          <a:p>
            <a:pPr indent="0" marL="0">
              <a:buNone/>
            </a:pPr>
            <a:r>
              <a:rPr lang="en-US" sz="900" dirty="0">
                <a:solidFill>
                  <a:srgbClr val="1E293B"/>
                </a:solidFill>
              </a:rPr>
              <a:t>= a field name and its data</a:t>
            </a:r>
            <a:endParaRPr lang="en-US" sz="900" dirty="0"/>
          </a:p>
        </p:txBody>
      </p:sp>
      <p:sp>
        <p:nvSpPr>
          <p:cNvPr id="49" name="Shape 47"/>
          <p:cNvSpPr/>
          <p:nvPr/>
        </p:nvSpPr>
        <p:spPr>
          <a:xfrm>
            <a:off x="4572000" y="4389120"/>
            <a:ext cx="4315968" cy="237744"/>
          </a:xfrm>
          <a:prstGeom prst="rect">
            <a:avLst/>
          </a:prstGeom>
          <a:solidFill>
            <a:srgbClr val="FFFFFF"/>
          </a:solidFill>
          <a:ln w="6350">
            <a:solidFill>
              <a:srgbClr val="E2E8F0"/>
            </a:solidFill>
            <a:prstDash val="solid"/>
          </a:ln>
        </p:spPr>
      </p:sp>
      <p:sp>
        <p:nvSpPr>
          <p:cNvPr id="50" name="Text 48"/>
          <p:cNvSpPr/>
          <p:nvPr/>
        </p:nvSpPr>
        <p:spPr>
          <a:xfrm>
            <a:off x="4663440" y="4389120"/>
            <a:ext cx="1463040" cy="237744"/>
          </a:xfrm>
          <a:prstGeom prst="rect">
            <a:avLst/>
          </a:prstGeom>
          <a:noFill/>
          <a:ln/>
        </p:spPr>
        <p:txBody>
          <a:bodyPr wrap="square" rtlCol="0" anchor="ctr"/>
          <a:lstStyle/>
          <a:p>
            <a:pPr indent="0" marL="0">
              <a:buNone/>
            </a:pPr>
            <a:r>
              <a:rPr lang="en-US" sz="950" b="1" dirty="0">
                <a:solidFill>
                  <a:srgbClr val="0F766E"/>
                </a:solidFill>
                <a:latin typeface="Courier New" pitchFamily="34" charset="0"/>
                <a:ea typeface="Courier New" pitchFamily="34" charset="-122"/>
                <a:cs typeface="Courier New" pitchFamily="34" charset="-120"/>
              </a:rPr>
              <a:t>pd.DataFrame(data)</a:t>
            </a:r>
            <a:endParaRPr lang="en-US" sz="950" dirty="0"/>
          </a:p>
        </p:txBody>
      </p:sp>
      <p:sp>
        <p:nvSpPr>
          <p:cNvPr id="51" name="Text 49"/>
          <p:cNvSpPr/>
          <p:nvPr/>
        </p:nvSpPr>
        <p:spPr>
          <a:xfrm>
            <a:off x="6163056" y="4389120"/>
            <a:ext cx="2651760" cy="237744"/>
          </a:xfrm>
          <a:prstGeom prst="rect">
            <a:avLst/>
          </a:prstGeom>
          <a:noFill/>
          <a:ln/>
        </p:spPr>
        <p:txBody>
          <a:bodyPr wrap="square" rtlCol="0" anchor="ctr"/>
          <a:lstStyle/>
          <a:p>
            <a:pPr indent="0" marL="0">
              <a:buNone/>
            </a:pPr>
            <a:r>
              <a:rPr lang="en-US" sz="900" dirty="0">
                <a:solidFill>
                  <a:srgbClr val="1E293B"/>
                </a:solidFill>
              </a:rPr>
              <a:t>= converts to a table</a:t>
            </a:r>
            <a:endParaRPr lang="en-US" sz="900" dirty="0"/>
          </a:p>
        </p:txBody>
      </p:sp>
      <p:sp>
        <p:nvSpPr>
          <p:cNvPr id="52" name="Shape 50"/>
          <p:cNvSpPr/>
          <p:nvPr/>
        </p:nvSpPr>
        <p:spPr>
          <a:xfrm>
            <a:off x="256032" y="4700016"/>
            <a:ext cx="8631936" cy="329184"/>
          </a:xfrm>
          <a:prstGeom prst="rect">
            <a:avLst/>
          </a:prstGeom>
          <a:solidFill>
            <a:srgbClr val="FFFBEB"/>
          </a:solidFill>
          <a:ln w="10160">
            <a:solidFill>
              <a:srgbClr val="B45309"/>
            </a:solidFill>
            <a:prstDash val="solid"/>
          </a:ln>
        </p:spPr>
      </p:sp>
      <p:sp>
        <p:nvSpPr>
          <p:cNvPr id="53" name="Shape 51"/>
          <p:cNvSpPr/>
          <p:nvPr/>
        </p:nvSpPr>
        <p:spPr>
          <a:xfrm>
            <a:off x="256032" y="4700016"/>
            <a:ext cx="54864" cy="329184"/>
          </a:xfrm>
          <a:prstGeom prst="rect">
            <a:avLst/>
          </a:prstGeom>
          <a:solidFill>
            <a:srgbClr val="B45309"/>
          </a:solidFill>
          <a:ln w="12700">
            <a:solidFill>
              <a:srgbClr val="B45309"/>
            </a:solidFill>
            <a:prstDash val="solid"/>
          </a:ln>
        </p:spPr>
      </p:sp>
      <p:sp>
        <p:nvSpPr>
          <p:cNvPr id="54" name="Text 52"/>
          <p:cNvSpPr/>
          <p:nvPr/>
        </p:nvSpPr>
        <p:spPr>
          <a:xfrm>
            <a:off x="384048" y="4700016"/>
            <a:ext cx="8449056" cy="329184"/>
          </a:xfrm>
          <a:prstGeom prst="rect">
            <a:avLst/>
          </a:prstGeom>
          <a:noFill/>
          <a:ln/>
        </p:spPr>
        <p:txBody>
          <a:bodyPr wrap="square" rtlCol="0" anchor="ctr"/>
          <a:lstStyle/>
          <a:p>
            <a:pPr indent="0" marL="0">
              <a:buNone/>
            </a:pPr>
            <a:r>
              <a:rPr lang="en-US" sz="1000" dirty="0">
                <a:solidFill>
                  <a:srgbClr val="1E293B"/>
                </a:solidFill>
              </a:rPr>
              <a:t>Remember:  URL = the question.   JSON = the answer.   pandas turns the answer into a table.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172A"/>
          </a:solidFill>
          <a:ln w="12700">
            <a:solidFill>
              <a:srgbClr val="0F172A"/>
            </a:solidFill>
            <a:prstDash val="solid"/>
          </a:ln>
        </p:spPr>
      </p:sp>
      <p:sp>
        <p:nvSpPr>
          <p:cNvPr id="3" name="Shape 1"/>
          <p:cNvSpPr/>
          <p:nvPr/>
        </p:nvSpPr>
        <p:spPr>
          <a:xfrm>
            <a:off x="0" y="0"/>
            <a:ext cx="64008" cy="640080"/>
          </a:xfrm>
          <a:prstGeom prst="rect">
            <a:avLst/>
          </a:prstGeom>
          <a:solidFill>
            <a:srgbClr val="0F766E"/>
          </a:solidFill>
          <a:ln w="12700">
            <a:solidFill>
              <a:srgbClr val="0F766E"/>
            </a:solidFill>
            <a:prstDash val="solid"/>
          </a:ln>
        </p:spPr>
      </p:sp>
      <p:sp>
        <p:nvSpPr>
          <p:cNvPr id="4" name="Text 2"/>
          <p:cNvSpPr/>
          <p:nvPr/>
        </p:nvSpPr>
        <p:spPr>
          <a:xfrm>
            <a:off x="109728" y="0"/>
            <a:ext cx="475488" cy="640080"/>
          </a:xfrm>
          <a:prstGeom prst="rect">
            <a:avLst/>
          </a:prstGeom>
          <a:noFill/>
          <a:ln/>
        </p:spPr>
        <p:txBody>
          <a:bodyPr wrap="square" rtlCol="0" anchor="ctr"/>
          <a:lstStyle/>
          <a:p>
            <a:pPr algn="ctr" indent="0" marL="0">
              <a:buNone/>
            </a:pPr>
            <a:r>
              <a:rPr lang="en-US" sz="1600" b="1" dirty="0">
                <a:solidFill>
                  <a:srgbClr val="FFFFFF"/>
                </a:solidFill>
              </a:rPr>
              <a:t>02</a:t>
            </a:r>
            <a:endParaRPr lang="en-US" sz="1600" dirty="0"/>
          </a:p>
        </p:txBody>
      </p:sp>
      <p:sp>
        <p:nvSpPr>
          <p:cNvPr id="5" name="Text 3"/>
          <p:cNvSpPr/>
          <p:nvPr/>
        </p:nvSpPr>
        <p:spPr>
          <a:xfrm>
            <a:off x="658368" y="18288"/>
            <a:ext cx="8138160" cy="347472"/>
          </a:xfrm>
          <a:prstGeom prst="rect">
            <a:avLst/>
          </a:prstGeom>
          <a:noFill/>
          <a:ln/>
        </p:spPr>
        <p:txBody>
          <a:bodyPr wrap="square" rtlCol="0" anchor="ctr"/>
          <a:lstStyle/>
          <a:p>
            <a:pPr indent="0" marL="0">
              <a:buNone/>
            </a:pPr>
            <a:r>
              <a:rPr lang="en-US" sz="1900" b="1" dirty="0">
                <a:solidFill>
                  <a:srgbClr val="FFFFFF"/>
                </a:solidFill>
              </a:rPr>
              <a:t>Python requests Library — 4 Things to Know</a:t>
            </a:r>
            <a:endParaRPr lang="en-US" sz="1900" dirty="0"/>
          </a:p>
        </p:txBody>
      </p:sp>
      <p:sp>
        <p:nvSpPr>
          <p:cNvPr id="6" name="Text 4"/>
          <p:cNvSpPr/>
          <p:nvPr/>
        </p:nvSpPr>
        <p:spPr>
          <a:xfrm>
            <a:off x="658368" y="402336"/>
            <a:ext cx="8138160" cy="237744"/>
          </a:xfrm>
          <a:prstGeom prst="rect">
            <a:avLst/>
          </a:prstGeom>
          <a:noFill/>
          <a:ln/>
        </p:spPr>
        <p:txBody>
          <a:bodyPr wrap="square" rtlCol="0" anchor="ctr"/>
          <a:lstStyle/>
          <a:p>
            <a:pPr indent="0" marL="0">
              <a:buNone/>
            </a:pPr>
            <a:r>
              <a:rPr lang="en-US" sz="1000" dirty="0">
                <a:solidFill>
                  <a:srgbClr val="94A3B8"/>
                </a:solidFill>
              </a:rPr>
              <a:t>requests.get(url) sends a request and gives you back the response</a:t>
            </a:r>
            <a:endParaRPr lang="en-US" sz="1000" dirty="0"/>
          </a:p>
        </p:txBody>
      </p:sp>
      <p:sp>
        <p:nvSpPr>
          <p:cNvPr id="7" name="Shape 5"/>
          <p:cNvSpPr/>
          <p:nvPr/>
        </p:nvSpPr>
        <p:spPr>
          <a:xfrm>
            <a:off x="256032" y="768096"/>
            <a:ext cx="8631936" cy="329184"/>
          </a:xfrm>
          <a:prstGeom prst="rect">
            <a:avLst/>
          </a:prstGeom>
          <a:solidFill>
            <a:srgbClr val="F0FDFA"/>
          </a:solidFill>
          <a:ln w="10160">
            <a:solidFill>
              <a:srgbClr val="0F766E"/>
            </a:solidFill>
            <a:prstDash val="solid"/>
          </a:ln>
        </p:spPr>
      </p:sp>
      <p:sp>
        <p:nvSpPr>
          <p:cNvPr id="8" name="Shape 6"/>
          <p:cNvSpPr/>
          <p:nvPr/>
        </p:nvSpPr>
        <p:spPr>
          <a:xfrm>
            <a:off x="256032" y="768096"/>
            <a:ext cx="54864" cy="329184"/>
          </a:xfrm>
          <a:prstGeom prst="rect">
            <a:avLst/>
          </a:prstGeom>
          <a:solidFill>
            <a:srgbClr val="0F766E"/>
          </a:solidFill>
          <a:ln w="12700">
            <a:solidFill>
              <a:srgbClr val="0F766E"/>
            </a:solidFill>
            <a:prstDash val="solid"/>
          </a:ln>
        </p:spPr>
      </p:sp>
      <p:sp>
        <p:nvSpPr>
          <p:cNvPr id="9" name="Text 7"/>
          <p:cNvSpPr/>
          <p:nvPr/>
        </p:nvSpPr>
        <p:spPr>
          <a:xfrm>
            <a:off x="384048" y="768096"/>
            <a:ext cx="8449056" cy="329184"/>
          </a:xfrm>
          <a:prstGeom prst="rect">
            <a:avLst/>
          </a:prstGeom>
          <a:noFill/>
          <a:ln/>
        </p:spPr>
        <p:txBody>
          <a:bodyPr wrap="square" rtlCol="0" anchor="ctr"/>
          <a:lstStyle/>
          <a:p>
            <a:pPr indent="0" marL="0">
              <a:buNone/>
            </a:pPr>
            <a:r>
              <a:rPr lang="en-US" sz="1000" dirty="0">
                <a:solidFill>
                  <a:srgbClr val="1E293B"/>
                </a:solidFill>
              </a:rPr>
              <a:t>Install if needed:   pip install requests   then:   import requests</a:t>
            </a:r>
            <a:endParaRPr lang="en-US" sz="1000" dirty="0"/>
          </a:p>
        </p:txBody>
      </p:sp>
      <p:sp>
        <p:nvSpPr>
          <p:cNvPr id="10" name="Text 8"/>
          <p:cNvSpPr/>
          <p:nvPr/>
        </p:nvSpPr>
        <p:spPr>
          <a:xfrm>
            <a:off x="256032" y="1188720"/>
            <a:ext cx="8686800" cy="256032"/>
          </a:xfrm>
          <a:prstGeom prst="rect">
            <a:avLst/>
          </a:prstGeom>
          <a:noFill/>
          <a:ln/>
        </p:spPr>
        <p:txBody>
          <a:bodyPr wrap="square" rtlCol="0" anchor="ctr"/>
          <a:lstStyle/>
          <a:p>
            <a:pPr indent="0" marL="0">
              <a:buNone/>
            </a:pPr>
            <a:r>
              <a:rPr lang="en-US" sz="1100" b="1" dirty="0">
                <a:solidFill>
                  <a:srgbClr val="0F766E"/>
                </a:solidFill>
              </a:rPr>
              <a:t>Key functions:</a:t>
            </a:r>
            <a:endParaRPr lang="en-US" sz="1100" dirty="0"/>
          </a:p>
        </p:txBody>
      </p:sp>
      <p:sp>
        <p:nvSpPr>
          <p:cNvPr id="11" name="Shape 9"/>
          <p:cNvSpPr/>
          <p:nvPr/>
        </p:nvSpPr>
        <p:spPr>
          <a:xfrm>
            <a:off x="256032" y="1481328"/>
            <a:ext cx="4206240" cy="530352"/>
          </a:xfrm>
          <a:prstGeom prst="rect">
            <a:avLst/>
          </a:prstGeom>
          <a:solidFill>
            <a:srgbClr val="F0FDFA"/>
          </a:solidFill>
          <a:ln w="8890">
            <a:solidFill>
              <a:srgbClr val="0F766E"/>
            </a:solidFill>
            <a:prstDash val="solid"/>
          </a:ln>
        </p:spPr>
      </p:sp>
      <p:sp>
        <p:nvSpPr>
          <p:cNvPr id="12" name="Shape 10"/>
          <p:cNvSpPr/>
          <p:nvPr/>
        </p:nvSpPr>
        <p:spPr>
          <a:xfrm>
            <a:off x="256032" y="1481328"/>
            <a:ext cx="54864" cy="530352"/>
          </a:xfrm>
          <a:prstGeom prst="rect">
            <a:avLst/>
          </a:prstGeom>
          <a:solidFill>
            <a:srgbClr val="0F766E"/>
          </a:solidFill>
          <a:ln w="12700">
            <a:solidFill>
              <a:srgbClr val="0F766E"/>
            </a:solidFill>
            <a:prstDash val="solid"/>
          </a:ln>
        </p:spPr>
      </p:sp>
      <p:sp>
        <p:nvSpPr>
          <p:cNvPr id="13" name="Text 11"/>
          <p:cNvSpPr/>
          <p:nvPr/>
        </p:nvSpPr>
        <p:spPr>
          <a:xfrm>
            <a:off x="365760" y="1517904"/>
            <a:ext cx="4005072" cy="201168"/>
          </a:xfrm>
          <a:prstGeom prst="rect">
            <a:avLst/>
          </a:prstGeom>
          <a:noFill/>
          <a:ln/>
        </p:spPr>
        <p:txBody>
          <a:bodyPr wrap="square" rtlCol="0" anchor="ctr"/>
          <a:lstStyle/>
          <a:p>
            <a:pPr indent="0" marL="0">
              <a:buNone/>
            </a:pPr>
            <a:r>
              <a:rPr lang="en-US" sz="950" b="1" dirty="0">
                <a:solidFill>
                  <a:srgbClr val="0F766E"/>
                </a:solidFill>
                <a:latin typeface="Courier New" pitchFamily="34" charset="0"/>
                <a:ea typeface="Courier New" pitchFamily="34" charset="-122"/>
                <a:cs typeface="Courier New" pitchFamily="34" charset="-120"/>
              </a:rPr>
              <a:t>requests.get( url )</a:t>
            </a:r>
            <a:endParaRPr lang="en-US" sz="950" dirty="0"/>
          </a:p>
        </p:txBody>
      </p:sp>
      <p:sp>
        <p:nvSpPr>
          <p:cNvPr id="14" name="Text 12"/>
          <p:cNvSpPr/>
          <p:nvPr/>
        </p:nvSpPr>
        <p:spPr>
          <a:xfrm>
            <a:off x="365760" y="1755648"/>
            <a:ext cx="4005072" cy="219456"/>
          </a:xfrm>
          <a:prstGeom prst="rect">
            <a:avLst/>
          </a:prstGeom>
          <a:noFill/>
          <a:ln/>
        </p:spPr>
        <p:txBody>
          <a:bodyPr wrap="square" rtlCol="0" anchor="ctr"/>
          <a:lstStyle/>
          <a:p>
            <a:pPr indent="0" marL="0">
              <a:buNone/>
            </a:pPr>
            <a:r>
              <a:rPr lang="en-US" sz="900" dirty="0">
                <a:solidFill>
                  <a:srgbClr val="1E293B"/>
                </a:solidFill>
              </a:rPr>
              <a:t>Sends a GET request to the URL. Returns a response object with status, data etc.</a:t>
            </a:r>
            <a:endParaRPr lang="en-US" sz="900" dirty="0"/>
          </a:p>
        </p:txBody>
      </p:sp>
      <p:sp>
        <p:nvSpPr>
          <p:cNvPr id="15" name="Shape 13"/>
          <p:cNvSpPr/>
          <p:nvPr/>
        </p:nvSpPr>
        <p:spPr>
          <a:xfrm>
            <a:off x="256032" y="2103120"/>
            <a:ext cx="4206240" cy="530352"/>
          </a:xfrm>
          <a:prstGeom prst="rect">
            <a:avLst/>
          </a:prstGeom>
          <a:solidFill>
            <a:srgbClr val="F0FDFA"/>
          </a:solidFill>
          <a:ln w="8890">
            <a:solidFill>
              <a:srgbClr val="0F766E"/>
            </a:solidFill>
            <a:prstDash val="solid"/>
          </a:ln>
        </p:spPr>
      </p:sp>
      <p:sp>
        <p:nvSpPr>
          <p:cNvPr id="16" name="Shape 14"/>
          <p:cNvSpPr/>
          <p:nvPr/>
        </p:nvSpPr>
        <p:spPr>
          <a:xfrm>
            <a:off x="256032" y="2103120"/>
            <a:ext cx="54864" cy="530352"/>
          </a:xfrm>
          <a:prstGeom prst="rect">
            <a:avLst/>
          </a:prstGeom>
          <a:solidFill>
            <a:srgbClr val="0F766E"/>
          </a:solidFill>
          <a:ln w="12700">
            <a:solidFill>
              <a:srgbClr val="0F766E"/>
            </a:solidFill>
            <a:prstDash val="solid"/>
          </a:ln>
        </p:spPr>
      </p:sp>
      <p:sp>
        <p:nvSpPr>
          <p:cNvPr id="17" name="Text 15"/>
          <p:cNvSpPr/>
          <p:nvPr/>
        </p:nvSpPr>
        <p:spPr>
          <a:xfrm>
            <a:off x="365760" y="2139696"/>
            <a:ext cx="4005072" cy="201168"/>
          </a:xfrm>
          <a:prstGeom prst="rect">
            <a:avLst/>
          </a:prstGeom>
          <a:noFill/>
          <a:ln/>
        </p:spPr>
        <p:txBody>
          <a:bodyPr wrap="square" rtlCol="0" anchor="ctr"/>
          <a:lstStyle/>
          <a:p>
            <a:pPr indent="0" marL="0">
              <a:buNone/>
            </a:pPr>
            <a:r>
              <a:rPr lang="en-US" sz="950" b="1" dirty="0">
                <a:solidFill>
                  <a:srgbClr val="0F766E"/>
                </a:solidFill>
                <a:latin typeface="Courier New" pitchFamily="34" charset="0"/>
                <a:ea typeface="Courier New" pitchFamily="34" charset="-122"/>
                <a:cs typeface="Courier New" pitchFamily="34" charset="-120"/>
              </a:rPr>
              <a:t>response.status_code</a:t>
            </a:r>
            <a:endParaRPr lang="en-US" sz="950" dirty="0"/>
          </a:p>
        </p:txBody>
      </p:sp>
      <p:sp>
        <p:nvSpPr>
          <p:cNvPr id="18" name="Text 16"/>
          <p:cNvSpPr/>
          <p:nvPr/>
        </p:nvSpPr>
        <p:spPr>
          <a:xfrm>
            <a:off x="365760" y="2377440"/>
            <a:ext cx="4005072" cy="219456"/>
          </a:xfrm>
          <a:prstGeom prst="rect">
            <a:avLst/>
          </a:prstGeom>
          <a:noFill/>
          <a:ln/>
        </p:spPr>
        <p:txBody>
          <a:bodyPr wrap="square" rtlCol="0" anchor="ctr"/>
          <a:lstStyle/>
          <a:p>
            <a:pPr indent="0" marL="0">
              <a:buNone/>
            </a:pPr>
            <a:r>
              <a:rPr lang="en-US" sz="900" dirty="0">
                <a:solidFill>
                  <a:srgbClr val="1E293B"/>
                </a:solidFill>
              </a:rPr>
              <a:t>200 = success.   404 = not found.   500 = server error.   Always check this first.</a:t>
            </a:r>
            <a:endParaRPr lang="en-US" sz="900" dirty="0"/>
          </a:p>
        </p:txBody>
      </p:sp>
      <p:sp>
        <p:nvSpPr>
          <p:cNvPr id="19" name="Shape 17"/>
          <p:cNvSpPr/>
          <p:nvPr/>
        </p:nvSpPr>
        <p:spPr>
          <a:xfrm>
            <a:off x="256032" y="2724912"/>
            <a:ext cx="4206240" cy="530352"/>
          </a:xfrm>
          <a:prstGeom prst="rect">
            <a:avLst/>
          </a:prstGeom>
          <a:solidFill>
            <a:srgbClr val="F0FDFA"/>
          </a:solidFill>
          <a:ln w="8890">
            <a:solidFill>
              <a:srgbClr val="0F766E"/>
            </a:solidFill>
            <a:prstDash val="solid"/>
          </a:ln>
        </p:spPr>
      </p:sp>
      <p:sp>
        <p:nvSpPr>
          <p:cNvPr id="20" name="Shape 18"/>
          <p:cNvSpPr/>
          <p:nvPr/>
        </p:nvSpPr>
        <p:spPr>
          <a:xfrm>
            <a:off x="256032" y="2724912"/>
            <a:ext cx="54864" cy="530352"/>
          </a:xfrm>
          <a:prstGeom prst="rect">
            <a:avLst/>
          </a:prstGeom>
          <a:solidFill>
            <a:srgbClr val="0F766E"/>
          </a:solidFill>
          <a:ln w="12700">
            <a:solidFill>
              <a:srgbClr val="0F766E"/>
            </a:solidFill>
            <a:prstDash val="solid"/>
          </a:ln>
        </p:spPr>
      </p:sp>
      <p:sp>
        <p:nvSpPr>
          <p:cNvPr id="21" name="Text 19"/>
          <p:cNvSpPr/>
          <p:nvPr/>
        </p:nvSpPr>
        <p:spPr>
          <a:xfrm>
            <a:off x="365760" y="2761488"/>
            <a:ext cx="4005072" cy="201168"/>
          </a:xfrm>
          <a:prstGeom prst="rect">
            <a:avLst/>
          </a:prstGeom>
          <a:noFill/>
          <a:ln/>
        </p:spPr>
        <p:txBody>
          <a:bodyPr wrap="square" rtlCol="0" anchor="ctr"/>
          <a:lstStyle/>
          <a:p>
            <a:pPr indent="0" marL="0">
              <a:buNone/>
            </a:pPr>
            <a:r>
              <a:rPr lang="en-US" sz="950" b="1" dirty="0">
                <a:solidFill>
                  <a:srgbClr val="0F766E"/>
                </a:solidFill>
                <a:latin typeface="Courier New" pitchFamily="34" charset="0"/>
                <a:ea typeface="Courier New" pitchFamily="34" charset="-122"/>
                <a:cs typeface="Courier New" pitchFamily="34" charset="-120"/>
              </a:rPr>
              <a:t>response.json()</a:t>
            </a:r>
            <a:endParaRPr lang="en-US" sz="950" dirty="0"/>
          </a:p>
        </p:txBody>
      </p:sp>
      <p:sp>
        <p:nvSpPr>
          <p:cNvPr id="22" name="Text 20"/>
          <p:cNvSpPr/>
          <p:nvPr/>
        </p:nvSpPr>
        <p:spPr>
          <a:xfrm>
            <a:off x="365760" y="2999232"/>
            <a:ext cx="4005072" cy="219456"/>
          </a:xfrm>
          <a:prstGeom prst="rect">
            <a:avLst/>
          </a:prstGeom>
          <a:noFill/>
          <a:ln/>
        </p:spPr>
        <p:txBody>
          <a:bodyPr wrap="square" rtlCol="0" anchor="ctr"/>
          <a:lstStyle/>
          <a:p>
            <a:pPr indent="0" marL="0">
              <a:buNone/>
            </a:pPr>
            <a:r>
              <a:rPr lang="en-US" sz="900" dirty="0">
                <a:solidFill>
                  <a:srgbClr val="1E293B"/>
                </a:solidFill>
              </a:rPr>
              <a:t>Converts the JSON response into a Python dictionary or list you can work with.</a:t>
            </a:r>
            <a:endParaRPr lang="en-US" sz="900" dirty="0"/>
          </a:p>
        </p:txBody>
      </p:sp>
      <p:sp>
        <p:nvSpPr>
          <p:cNvPr id="23" name="Shape 21"/>
          <p:cNvSpPr/>
          <p:nvPr/>
        </p:nvSpPr>
        <p:spPr>
          <a:xfrm>
            <a:off x="256032" y="3346704"/>
            <a:ext cx="4206240" cy="530352"/>
          </a:xfrm>
          <a:prstGeom prst="rect">
            <a:avLst/>
          </a:prstGeom>
          <a:solidFill>
            <a:srgbClr val="F0FDFA"/>
          </a:solidFill>
          <a:ln w="8890">
            <a:solidFill>
              <a:srgbClr val="0F766E"/>
            </a:solidFill>
            <a:prstDash val="solid"/>
          </a:ln>
        </p:spPr>
      </p:sp>
      <p:sp>
        <p:nvSpPr>
          <p:cNvPr id="24" name="Shape 22"/>
          <p:cNvSpPr/>
          <p:nvPr/>
        </p:nvSpPr>
        <p:spPr>
          <a:xfrm>
            <a:off x="256032" y="3346704"/>
            <a:ext cx="54864" cy="530352"/>
          </a:xfrm>
          <a:prstGeom prst="rect">
            <a:avLst/>
          </a:prstGeom>
          <a:solidFill>
            <a:srgbClr val="0F766E"/>
          </a:solidFill>
          <a:ln w="12700">
            <a:solidFill>
              <a:srgbClr val="0F766E"/>
            </a:solidFill>
            <a:prstDash val="solid"/>
          </a:ln>
        </p:spPr>
      </p:sp>
      <p:sp>
        <p:nvSpPr>
          <p:cNvPr id="25" name="Text 23"/>
          <p:cNvSpPr/>
          <p:nvPr/>
        </p:nvSpPr>
        <p:spPr>
          <a:xfrm>
            <a:off x="365760" y="3383280"/>
            <a:ext cx="4005072" cy="201168"/>
          </a:xfrm>
          <a:prstGeom prst="rect">
            <a:avLst/>
          </a:prstGeom>
          <a:noFill/>
          <a:ln/>
        </p:spPr>
        <p:txBody>
          <a:bodyPr wrap="square" rtlCol="0" anchor="ctr"/>
          <a:lstStyle/>
          <a:p>
            <a:pPr indent="0" marL="0">
              <a:buNone/>
            </a:pPr>
            <a:r>
              <a:rPr lang="en-US" sz="950" b="1" dirty="0">
                <a:solidFill>
                  <a:srgbClr val="0F766E"/>
                </a:solidFill>
                <a:latin typeface="Courier New" pitchFamily="34" charset="0"/>
                <a:ea typeface="Courier New" pitchFamily="34" charset="-122"/>
                <a:cs typeface="Courier New" pitchFamily="34" charset="-120"/>
              </a:rPr>
              <a:t>params = { 'country': 'Nepal' }</a:t>
            </a:r>
            <a:endParaRPr lang="en-US" sz="950" dirty="0"/>
          </a:p>
        </p:txBody>
      </p:sp>
      <p:sp>
        <p:nvSpPr>
          <p:cNvPr id="26" name="Text 24"/>
          <p:cNvSpPr/>
          <p:nvPr/>
        </p:nvSpPr>
        <p:spPr>
          <a:xfrm>
            <a:off x="365760" y="3621024"/>
            <a:ext cx="4005072" cy="219456"/>
          </a:xfrm>
          <a:prstGeom prst="rect">
            <a:avLst/>
          </a:prstGeom>
          <a:noFill/>
          <a:ln/>
        </p:spPr>
        <p:txBody>
          <a:bodyPr wrap="square" rtlCol="0" anchor="ctr"/>
          <a:lstStyle/>
          <a:p>
            <a:pPr indent="0" marL="0">
              <a:buNone/>
            </a:pPr>
            <a:r>
              <a:rPr lang="en-US" sz="900" dirty="0">
                <a:solidFill>
                  <a:srgbClr val="1E293B"/>
                </a:solidFill>
              </a:rPr>
              <a:t>Adds query parameters to the URL automatically:  ?country=Nepal</a:t>
            </a:r>
            <a:endParaRPr lang="en-US" sz="900" dirty="0"/>
          </a:p>
        </p:txBody>
      </p:sp>
      <p:sp>
        <p:nvSpPr>
          <p:cNvPr id="27" name="Text 25"/>
          <p:cNvSpPr/>
          <p:nvPr/>
        </p:nvSpPr>
        <p:spPr>
          <a:xfrm>
            <a:off x="4645152" y="1188720"/>
            <a:ext cx="8686800" cy="256032"/>
          </a:xfrm>
          <a:prstGeom prst="rect">
            <a:avLst/>
          </a:prstGeom>
          <a:noFill/>
          <a:ln/>
        </p:spPr>
        <p:txBody>
          <a:bodyPr wrap="square" rtlCol="0" anchor="ctr"/>
          <a:lstStyle/>
          <a:p>
            <a:pPr indent="0" marL="0">
              <a:buNone/>
            </a:pPr>
            <a:r>
              <a:rPr lang="en-US" sz="1100" b="1" dirty="0">
                <a:solidFill>
                  <a:srgbClr val="0F766E"/>
                </a:solidFill>
              </a:rPr>
              <a:t>Simple example — fetch a web page:</a:t>
            </a:r>
            <a:endParaRPr lang="en-US" sz="1100" dirty="0"/>
          </a:p>
        </p:txBody>
      </p:sp>
      <p:sp>
        <p:nvSpPr>
          <p:cNvPr id="28" name="Shape 26"/>
          <p:cNvSpPr/>
          <p:nvPr/>
        </p:nvSpPr>
        <p:spPr>
          <a:xfrm>
            <a:off x="4645152" y="1481328"/>
            <a:ext cx="4242816" cy="987552"/>
          </a:xfrm>
          <a:prstGeom prst="rect">
            <a:avLst/>
          </a:prstGeom>
          <a:solidFill>
            <a:srgbClr val="0F172A"/>
          </a:solidFill>
          <a:ln w="6350">
            <a:solidFill>
              <a:srgbClr val="334155"/>
            </a:solidFill>
            <a:prstDash val="solid"/>
          </a:ln>
        </p:spPr>
      </p:sp>
      <p:sp>
        <p:nvSpPr>
          <p:cNvPr id="29" name="Shape 27"/>
          <p:cNvSpPr/>
          <p:nvPr/>
        </p:nvSpPr>
        <p:spPr>
          <a:xfrm>
            <a:off x="4645152" y="1481328"/>
            <a:ext cx="54864" cy="987552"/>
          </a:xfrm>
          <a:prstGeom prst="rect">
            <a:avLst/>
          </a:prstGeom>
          <a:solidFill>
            <a:srgbClr val="1D4ED8"/>
          </a:solidFill>
          <a:ln w="12700">
            <a:solidFill>
              <a:srgbClr val="1D4ED8"/>
            </a:solidFill>
            <a:prstDash val="solid"/>
          </a:ln>
        </p:spPr>
      </p:sp>
      <p:sp>
        <p:nvSpPr>
          <p:cNvPr id="30" name="Text 28"/>
          <p:cNvSpPr/>
          <p:nvPr/>
        </p:nvSpPr>
        <p:spPr>
          <a:xfrm>
            <a:off x="4773168" y="1554480"/>
            <a:ext cx="4059936" cy="859536"/>
          </a:xfrm>
          <a:prstGeom prst="rect">
            <a:avLst/>
          </a:prstGeom>
          <a:noFill/>
          <a:ln/>
        </p:spPr>
        <p:txBody>
          <a:bodyPr wrap="square" rtlCol="0" anchor="t"/>
          <a:lstStyle/>
          <a:p>
            <a:pPr indent="0" marL="0">
              <a:buNone/>
            </a:pPr>
            <a:r>
              <a:rPr lang="en-US" sz="950" dirty="0">
                <a:solidFill>
                  <a:srgbClr val="E2E8F0"/>
                </a:solidFill>
                <a:latin typeface="Courier New" pitchFamily="34" charset="0"/>
                <a:ea typeface="Courier New" pitchFamily="34" charset="-122"/>
                <a:cs typeface="Courier New" pitchFamily="34" charset="-120"/>
              </a:rPr>
              <a:t>import requests</a:t>
            </a:r>
            <a:endParaRPr lang="en-US" sz="950" dirty="0"/>
          </a:p>
          <a:p>
            <a:pPr indent="0" marL="0">
              <a:buNone/>
            </a:pP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x = requests.get('https://w3schools.com/python/demopage.htm')</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print(x.text)</a:t>
            </a:r>
            <a:endParaRPr lang="en-US" sz="950" dirty="0"/>
          </a:p>
        </p:txBody>
      </p:sp>
      <p:sp>
        <p:nvSpPr>
          <p:cNvPr id="31" name="Shape 29"/>
          <p:cNvSpPr/>
          <p:nvPr/>
        </p:nvSpPr>
        <p:spPr>
          <a:xfrm>
            <a:off x="4645152" y="2523744"/>
            <a:ext cx="4242816" cy="274320"/>
          </a:xfrm>
          <a:prstGeom prst="rect">
            <a:avLst/>
          </a:prstGeom>
          <a:solidFill>
            <a:srgbClr val="F0FDF4"/>
          </a:solidFill>
          <a:ln w="8890">
            <a:solidFill>
              <a:srgbClr val="15803D"/>
            </a:solidFill>
            <a:prstDash val="solid"/>
          </a:ln>
        </p:spPr>
      </p:sp>
      <p:sp>
        <p:nvSpPr>
          <p:cNvPr id="32" name="Text 30"/>
          <p:cNvSpPr/>
          <p:nvPr/>
        </p:nvSpPr>
        <p:spPr>
          <a:xfrm>
            <a:off x="4754880" y="2523744"/>
            <a:ext cx="4059936" cy="274320"/>
          </a:xfrm>
          <a:prstGeom prst="rect">
            <a:avLst/>
          </a:prstGeom>
          <a:noFill/>
          <a:ln/>
        </p:spPr>
        <p:txBody>
          <a:bodyPr wrap="square" rtlCol="0" anchor="ctr"/>
          <a:lstStyle/>
          <a:p>
            <a:pPr indent="0" marL="0">
              <a:buNone/>
            </a:pPr>
            <a:r>
              <a:rPr lang="en-US" sz="950" b="1" dirty="0">
                <a:solidFill>
                  <a:srgbClr val="15803D"/>
                </a:solidFill>
              </a:rPr>
              <a:t>Result:  Returns the HTML of the page as a text string</a:t>
            </a:r>
            <a:endParaRPr lang="en-US" sz="950" dirty="0"/>
          </a:p>
        </p:txBody>
      </p:sp>
      <p:sp>
        <p:nvSpPr>
          <p:cNvPr id="33" name="Text 31"/>
          <p:cNvSpPr/>
          <p:nvPr/>
        </p:nvSpPr>
        <p:spPr>
          <a:xfrm>
            <a:off x="4645152" y="2944368"/>
            <a:ext cx="8686800" cy="256032"/>
          </a:xfrm>
          <a:prstGeom prst="rect">
            <a:avLst/>
          </a:prstGeom>
          <a:noFill/>
          <a:ln/>
        </p:spPr>
        <p:txBody>
          <a:bodyPr wrap="square" rtlCol="0" anchor="ctr"/>
          <a:lstStyle/>
          <a:p>
            <a:pPr indent="0" marL="0">
              <a:buNone/>
            </a:pPr>
            <a:r>
              <a:rPr lang="en-US" sz="1100" b="1" dirty="0">
                <a:solidFill>
                  <a:srgbClr val="0F766E"/>
                </a:solidFill>
              </a:rPr>
              <a:t>Using params — adds ?country=Nepal to the URL:</a:t>
            </a:r>
            <a:endParaRPr lang="en-US" sz="1100" dirty="0"/>
          </a:p>
        </p:txBody>
      </p:sp>
      <p:sp>
        <p:nvSpPr>
          <p:cNvPr id="34" name="Shape 32"/>
          <p:cNvSpPr/>
          <p:nvPr/>
        </p:nvSpPr>
        <p:spPr>
          <a:xfrm>
            <a:off x="4645152" y="3236976"/>
            <a:ext cx="4242816" cy="1243584"/>
          </a:xfrm>
          <a:prstGeom prst="rect">
            <a:avLst/>
          </a:prstGeom>
          <a:solidFill>
            <a:srgbClr val="0F172A"/>
          </a:solidFill>
          <a:ln w="6350">
            <a:solidFill>
              <a:srgbClr val="334155"/>
            </a:solidFill>
            <a:prstDash val="solid"/>
          </a:ln>
        </p:spPr>
      </p:sp>
      <p:sp>
        <p:nvSpPr>
          <p:cNvPr id="35" name="Shape 33"/>
          <p:cNvSpPr/>
          <p:nvPr/>
        </p:nvSpPr>
        <p:spPr>
          <a:xfrm>
            <a:off x="4645152" y="3236976"/>
            <a:ext cx="54864" cy="1243584"/>
          </a:xfrm>
          <a:prstGeom prst="rect">
            <a:avLst/>
          </a:prstGeom>
          <a:solidFill>
            <a:srgbClr val="1D4ED8"/>
          </a:solidFill>
          <a:ln w="12700">
            <a:solidFill>
              <a:srgbClr val="1D4ED8"/>
            </a:solidFill>
            <a:prstDash val="solid"/>
          </a:ln>
        </p:spPr>
      </p:sp>
      <p:sp>
        <p:nvSpPr>
          <p:cNvPr id="36" name="Text 34"/>
          <p:cNvSpPr/>
          <p:nvPr/>
        </p:nvSpPr>
        <p:spPr>
          <a:xfrm>
            <a:off x="4773168" y="3310128"/>
            <a:ext cx="4059936" cy="1115568"/>
          </a:xfrm>
          <a:prstGeom prst="rect">
            <a:avLst/>
          </a:prstGeom>
          <a:noFill/>
          <a:ln/>
        </p:spPr>
        <p:txBody>
          <a:bodyPr wrap="square" rtlCol="0" anchor="t"/>
          <a:lstStyle/>
          <a:p>
            <a:pPr indent="0" marL="0">
              <a:buNone/>
            </a:pPr>
            <a:r>
              <a:rPr lang="en-US" sz="950" dirty="0">
                <a:solidFill>
                  <a:srgbClr val="E2E8F0"/>
                </a:solidFill>
                <a:latin typeface="Courier New" pitchFamily="34" charset="0"/>
                <a:ea typeface="Courier New" pitchFamily="34" charset="-122"/>
                <a:cs typeface="Courier New" pitchFamily="34" charset="-120"/>
              </a:rPr>
              <a:t>import requests</a:t>
            </a:r>
            <a:endParaRPr lang="en-US" sz="950" dirty="0"/>
          </a:p>
          <a:p>
            <a:pPr indent="0" marL="0">
              <a:buNone/>
            </a:pP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base_url = "http://universities.hipolabs.com/search"</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params   = { 'country': 'Nepal' }</a:t>
            </a:r>
            <a:endParaRPr lang="en-US" sz="950" dirty="0"/>
          </a:p>
          <a:p>
            <a:pPr indent="0" marL="0">
              <a:buNone/>
            </a:pP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response = requests.get(base_url, params=params)</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data     = response.json()</a:t>
            </a:r>
            <a:endParaRPr lang="en-US" sz="950" dirty="0"/>
          </a:p>
        </p:txBody>
      </p:sp>
      <p:sp>
        <p:nvSpPr>
          <p:cNvPr id="37" name="Shape 35"/>
          <p:cNvSpPr/>
          <p:nvPr/>
        </p:nvSpPr>
        <p:spPr>
          <a:xfrm>
            <a:off x="4645152" y="4535424"/>
            <a:ext cx="4242816" cy="274320"/>
          </a:xfrm>
          <a:prstGeom prst="rect">
            <a:avLst/>
          </a:prstGeom>
          <a:solidFill>
            <a:srgbClr val="F0FDF4"/>
          </a:solidFill>
          <a:ln w="8890">
            <a:solidFill>
              <a:srgbClr val="15803D"/>
            </a:solidFill>
            <a:prstDash val="solid"/>
          </a:ln>
        </p:spPr>
      </p:sp>
      <p:sp>
        <p:nvSpPr>
          <p:cNvPr id="38" name="Text 36"/>
          <p:cNvSpPr/>
          <p:nvPr/>
        </p:nvSpPr>
        <p:spPr>
          <a:xfrm>
            <a:off x="4754880" y="4535424"/>
            <a:ext cx="4059936" cy="274320"/>
          </a:xfrm>
          <a:prstGeom prst="rect">
            <a:avLst/>
          </a:prstGeom>
          <a:noFill/>
          <a:ln/>
        </p:spPr>
        <p:txBody>
          <a:bodyPr wrap="square" rtlCol="0" anchor="ctr"/>
          <a:lstStyle/>
          <a:p>
            <a:pPr indent="0" marL="0">
              <a:buNone/>
            </a:pPr>
            <a:r>
              <a:rPr lang="en-US" sz="950" b="1" dirty="0">
                <a:solidFill>
                  <a:srgbClr val="15803D"/>
                </a:solidFill>
              </a:rPr>
              <a:t>Result:  URL becomes:  .../search?country=Nepal</a:t>
            </a:r>
            <a:endParaRPr lang="en-US" sz="950" dirty="0"/>
          </a:p>
        </p:txBody>
      </p:sp>
      <p:sp>
        <p:nvSpPr>
          <p:cNvPr id="39" name="Shape 37"/>
          <p:cNvSpPr/>
          <p:nvPr/>
        </p:nvSpPr>
        <p:spPr>
          <a:xfrm>
            <a:off x="256032" y="4700016"/>
            <a:ext cx="8631936" cy="329184"/>
          </a:xfrm>
          <a:prstGeom prst="rect">
            <a:avLst/>
          </a:prstGeom>
          <a:solidFill>
            <a:srgbClr val="EFF6FF"/>
          </a:solidFill>
          <a:ln w="10160">
            <a:solidFill>
              <a:srgbClr val="1D4ED8"/>
            </a:solidFill>
            <a:prstDash val="solid"/>
          </a:ln>
        </p:spPr>
      </p:sp>
      <p:sp>
        <p:nvSpPr>
          <p:cNvPr id="40" name="Shape 38"/>
          <p:cNvSpPr/>
          <p:nvPr/>
        </p:nvSpPr>
        <p:spPr>
          <a:xfrm>
            <a:off x="256032" y="4700016"/>
            <a:ext cx="54864" cy="329184"/>
          </a:xfrm>
          <a:prstGeom prst="rect">
            <a:avLst/>
          </a:prstGeom>
          <a:solidFill>
            <a:srgbClr val="1D4ED8"/>
          </a:solidFill>
          <a:ln w="12700">
            <a:solidFill>
              <a:srgbClr val="1D4ED8"/>
            </a:solidFill>
            <a:prstDash val="solid"/>
          </a:ln>
        </p:spPr>
      </p:sp>
      <p:sp>
        <p:nvSpPr>
          <p:cNvPr id="41" name="Text 39"/>
          <p:cNvSpPr/>
          <p:nvPr/>
        </p:nvSpPr>
        <p:spPr>
          <a:xfrm>
            <a:off x="384048" y="4700016"/>
            <a:ext cx="8449056" cy="329184"/>
          </a:xfrm>
          <a:prstGeom prst="rect">
            <a:avLst/>
          </a:prstGeom>
          <a:noFill/>
          <a:ln/>
        </p:spPr>
        <p:txBody>
          <a:bodyPr wrap="square" rtlCol="0" anchor="ctr"/>
          <a:lstStyle/>
          <a:p>
            <a:pPr indent="0" marL="0">
              <a:buNone/>
            </a:pPr>
            <a:r>
              <a:rPr lang="en-US" sz="1000" dirty="0">
                <a:solidFill>
                  <a:srgbClr val="1E293B"/>
                </a:solidFill>
              </a:rPr>
              <a:t>params saves you from building URLs manually. Power BI uses the same pattern for dynamic connections.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172A"/>
          </a:solidFill>
          <a:ln w="12700">
            <a:solidFill>
              <a:srgbClr val="0F172A"/>
            </a:solidFill>
            <a:prstDash val="solid"/>
          </a:ln>
        </p:spPr>
      </p:sp>
      <p:sp>
        <p:nvSpPr>
          <p:cNvPr id="3" name="Shape 1"/>
          <p:cNvSpPr/>
          <p:nvPr/>
        </p:nvSpPr>
        <p:spPr>
          <a:xfrm>
            <a:off x="0" y="0"/>
            <a:ext cx="64008" cy="640080"/>
          </a:xfrm>
          <a:prstGeom prst="rect">
            <a:avLst/>
          </a:prstGeom>
          <a:solidFill>
            <a:srgbClr val="15803D"/>
          </a:solidFill>
          <a:ln w="12700">
            <a:solidFill>
              <a:srgbClr val="15803D"/>
            </a:solidFill>
            <a:prstDash val="solid"/>
          </a:ln>
        </p:spPr>
      </p:sp>
      <p:sp>
        <p:nvSpPr>
          <p:cNvPr id="4" name="Text 2"/>
          <p:cNvSpPr/>
          <p:nvPr/>
        </p:nvSpPr>
        <p:spPr>
          <a:xfrm>
            <a:off x="109728" y="0"/>
            <a:ext cx="475488" cy="640080"/>
          </a:xfrm>
          <a:prstGeom prst="rect">
            <a:avLst/>
          </a:prstGeom>
          <a:noFill/>
          <a:ln/>
        </p:spPr>
        <p:txBody>
          <a:bodyPr wrap="square" rtlCol="0" anchor="ctr"/>
          <a:lstStyle/>
          <a:p>
            <a:pPr algn="ctr" indent="0" marL="0">
              <a:buNone/>
            </a:pPr>
            <a:r>
              <a:rPr lang="en-US" sz="1600" b="1" dirty="0">
                <a:solidFill>
                  <a:srgbClr val="FFFFFF"/>
                </a:solidFill>
              </a:rPr>
              <a:t>03</a:t>
            </a:r>
            <a:endParaRPr lang="en-US" sz="1600" dirty="0"/>
          </a:p>
        </p:txBody>
      </p:sp>
      <p:sp>
        <p:nvSpPr>
          <p:cNvPr id="5" name="Text 3"/>
          <p:cNvSpPr/>
          <p:nvPr/>
        </p:nvSpPr>
        <p:spPr>
          <a:xfrm>
            <a:off x="658368" y="18288"/>
            <a:ext cx="8138160" cy="347472"/>
          </a:xfrm>
          <a:prstGeom prst="rect">
            <a:avLst/>
          </a:prstGeom>
          <a:noFill/>
          <a:ln/>
        </p:spPr>
        <p:txBody>
          <a:bodyPr wrap="square" rtlCol="0" anchor="ctr"/>
          <a:lstStyle/>
          <a:p>
            <a:pPr indent="0" marL="0">
              <a:buNone/>
            </a:pPr>
            <a:r>
              <a:rPr lang="en-US" sz="1900" b="1" dirty="0">
                <a:solidFill>
                  <a:srgbClr val="FFFFFF"/>
                </a:solidFill>
              </a:rPr>
              <a:t>Universities API — Get Data by Country</a:t>
            </a:r>
            <a:endParaRPr lang="en-US" sz="1900" dirty="0"/>
          </a:p>
        </p:txBody>
      </p:sp>
      <p:sp>
        <p:nvSpPr>
          <p:cNvPr id="6" name="Text 4"/>
          <p:cNvSpPr/>
          <p:nvPr/>
        </p:nvSpPr>
        <p:spPr>
          <a:xfrm>
            <a:off x="658368" y="402336"/>
            <a:ext cx="8138160" cy="237744"/>
          </a:xfrm>
          <a:prstGeom prst="rect">
            <a:avLst/>
          </a:prstGeom>
          <a:noFill/>
          <a:ln/>
        </p:spPr>
        <p:txBody>
          <a:bodyPr wrap="square" rtlCol="0" anchor="ctr"/>
          <a:lstStyle/>
          <a:p>
            <a:pPr indent="0" marL="0">
              <a:buNone/>
            </a:pPr>
            <a:r>
              <a:rPr lang="en-US" sz="1000" dirty="0">
                <a:solidFill>
                  <a:srgbClr val="94A3B8"/>
                </a:solidFill>
              </a:rPr>
              <a:t>API:   http://universities.hipolabs.com/search?country=Nepal</a:t>
            </a:r>
            <a:endParaRPr lang="en-US" sz="1000" dirty="0"/>
          </a:p>
        </p:txBody>
      </p:sp>
      <p:sp>
        <p:nvSpPr>
          <p:cNvPr id="7" name="Shape 5"/>
          <p:cNvSpPr/>
          <p:nvPr/>
        </p:nvSpPr>
        <p:spPr>
          <a:xfrm>
            <a:off x="256032" y="768096"/>
            <a:ext cx="8631936" cy="329184"/>
          </a:xfrm>
          <a:prstGeom prst="rect">
            <a:avLst/>
          </a:prstGeom>
          <a:solidFill>
            <a:srgbClr val="F0FDF4"/>
          </a:solidFill>
          <a:ln w="10160">
            <a:solidFill>
              <a:srgbClr val="15803D"/>
            </a:solidFill>
            <a:prstDash val="solid"/>
          </a:ln>
        </p:spPr>
      </p:sp>
      <p:sp>
        <p:nvSpPr>
          <p:cNvPr id="8" name="Shape 6"/>
          <p:cNvSpPr/>
          <p:nvPr/>
        </p:nvSpPr>
        <p:spPr>
          <a:xfrm>
            <a:off x="256032" y="768096"/>
            <a:ext cx="54864" cy="329184"/>
          </a:xfrm>
          <a:prstGeom prst="rect">
            <a:avLst/>
          </a:prstGeom>
          <a:solidFill>
            <a:srgbClr val="15803D"/>
          </a:solidFill>
          <a:ln w="12700">
            <a:solidFill>
              <a:srgbClr val="15803D"/>
            </a:solidFill>
            <a:prstDash val="solid"/>
          </a:ln>
        </p:spPr>
      </p:sp>
      <p:sp>
        <p:nvSpPr>
          <p:cNvPr id="9" name="Text 7"/>
          <p:cNvSpPr/>
          <p:nvPr/>
        </p:nvSpPr>
        <p:spPr>
          <a:xfrm>
            <a:off x="384048" y="768096"/>
            <a:ext cx="8449056" cy="329184"/>
          </a:xfrm>
          <a:prstGeom prst="rect">
            <a:avLst/>
          </a:prstGeom>
          <a:noFill/>
          <a:ln/>
        </p:spPr>
        <p:txBody>
          <a:bodyPr wrap="square" rtlCol="0" anchor="ctr"/>
          <a:lstStyle/>
          <a:p>
            <a:pPr indent="0" marL="0">
              <a:buNone/>
            </a:pPr>
            <a:r>
              <a:rPr lang="en-US" sz="1000" dirty="0">
                <a:solidFill>
                  <a:srgbClr val="1E293B"/>
                </a:solidFill>
              </a:rPr>
              <a:t>Pass any country name as a parameter — the API returns all universities in that country as JSON.</a:t>
            </a:r>
            <a:endParaRPr lang="en-US" sz="1000" dirty="0"/>
          </a:p>
        </p:txBody>
      </p:sp>
      <p:sp>
        <p:nvSpPr>
          <p:cNvPr id="10" name="Text 8"/>
          <p:cNvSpPr/>
          <p:nvPr/>
        </p:nvSpPr>
        <p:spPr>
          <a:xfrm>
            <a:off x="256032" y="1188720"/>
            <a:ext cx="8686800" cy="256032"/>
          </a:xfrm>
          <a:prstGeom prst="rect">
            <a:avLst/>
          </a:prstGeom>
          <a:noFill/>
          <a:ln/>
        </p:spPr>
        <p:txBody>
          <a:bodyPr wrap="square" rtlCol="0" anchor="ctr"/>
          <a:lstStyle/>
          <a:p>
            <a:pPr indent="0" marL="0">
              <a:buNone/>
            </a:pPr>
            <a:r>
              <a:rPr lang="en-US" sz="1100" b="1" dirty="0">
                <a:solidFill>
                  <a:srgbClr val="15803D"/>
                </a:solidFill>
              </a:rPr>
              <a:t>How the code works — 6 steps:</a:t>
            </a:r>
            <a:endParaRPr lang="en-US" sz="1100" dirty="0"/>
          </a:p>
        </p:txBody>
      </p:sp>
      <p:sp>
        <p:nvSpPr>
          <p:cNvPr id="11" name="Shape 9"/>
          <p:cNvSpPr/>
          <p:nvPr/>
        </p:nvSpPr>
        <p:spPr>
          <a:xfrm>
            <a:off x="256032" y="1481328"/>
            <a:ext cx="8631936" cy="420624"/>
          </a:xfrm>
          <a:prstGeom prst="rect">
            <a:avLst/>
          </a:prstGeom>
          <a:solidFill>
            <a:srgbClr val="F0FDF4"/>
          </a:solidFill>
          <a:ln w="7620">
            <a:solidFill>
              <a:srgbClr val="15803D"/>
            </a:solidFill>
            <a:prstDash val="solid"/>
          </a:ln>
        </p:spPr>
      </p:sp>
      <p:sp>
        <p:nvSpPr>
          <p:cNvPr id="12" name="Shape 10"/>
          <p:cNvSpPr/>
          <p:nvPr/>
        </p:nvSpPr>
        <p:spPr>
          <a:xfrm>
            <a:off x="256032" y="1481328"/>
            <a:ext cx="54864" cy="420624"/>
          </a:xfrm>
          <a:prstGeom prst="rect">
            <a:avLst/>
          </a:prstGeom>
          <a:solidFill>
            <a:srgbClr val="15803D"/>
          </a:solidFill>
          <a:ln w="12700">
            <a:solidFill>
              <a:srgbClr val="15803D"/>
            </a:solidFill>
            <a:prstDash val="solid"/>
          </a:ln>
        </p:spPr>
      </p:sp>
      <p:sp>
        <p:nvSpPr>
          <p:cNvPr id="13" name="Shape 11"/>
          <p:cNvSpPr/>
          <p:nvPr/>
        </p:nvSpPr>
        <p:spPr>
          <a:xfrm>
            <a:off x="347472" y="1563624"/>
            <a:ext cx="256032" cy="256032"/>
          </a:xfrm>
          <a:prstGeom prst="rect">
            <a:avLst/>
          </a:prstGeom>
          <a:solidFill>
            <a:srgbClr val="15803D"/>
          </a:solidFill>
          <a:ln w="12700">
            <a:solidFill>
              <a:srgbClr val="15803D"/>
            </a:solidFill>
            <a:prstDash val="solid"/>
          </a:ln>
        </p:spPr>
      </p:sp>
      <p:sp>
        <p:nvSpPr>
          <p:cNvPr id="14" name="Text 12"/>
          <p:cNvSpPr/>
          <p:nvPr/>
        </p:nvSpPr>
        <p:spPr>
          <a:xfrm>
            <a:off x="347472" y="1563624"/>
            <a:ext cx="256032" cy="256032"/>
          </a:xfrm>
          <a:prstGeom prst="rect">
            <a:avLst/>
          </a:prstGeom>
          <a:noFill/>
          <a:ln/>
        </p:spPr>
        <p:txBody>
          <a:bodyPr wrap="square" rtlCol="0" anchor="ctr"/>
          <a:lstStyle/>
          <a:p>
            <a:pPr algn="ctr" indent="0" marL="0">
              <a:buNone/>
            </a:pPr>
            <a:r>
              <a:rPr lang="en-US" sz="1000" b="1" dirty="0">
                <a:solidFill>
                  <a:srgbClr val="FFFFFF"/>
                </a:solidFill>
              </a:rPr>
              <a:t>1</a:t>
            </a:r>
            <a:endParaRPr lang="en-US" sz="1000" dirty="0"/>
          </a:p>
        </p:txBody>
      </p:sp>
      <p:sp>
        <p:nvSpPr>
          <p:cNvPr id="15" name="Text 13"/>
          <p:cNvSpPr/>
          <p:nvPr/>
        </p:nvSpPr>
        <p:spPr>
          <a:xfrm>
            <a:off x="676656" y="1481328"/>
            <a:ext cx="8138160" cy="420624"/>
          </a:xfrm>
          <a:prstGeom prst="rect">
            <a:avLst/>
          </a:prstGeom>
          <a:noFill/>
          <a:ln/>
        </p:spPr>
        <p:txBody>
          <a:bodyPr wrap="square" rtlCol="0" anchor="ctr"/>
          <a:lstStyle/>
          <a:p>
            <a:pPr indent="0" marL="0">
              <a:buNone/>
            </a:pPr>
            <a:r>
              <a:rPr lang="en-US" sz="1000" dirty="0">
                <a:solidFill>
                  <a:srgbClr val="1E293B"/>
                </a:solidFill>
              </a:rPr>
              <a:t>Import requests and pandas</a:t>
            </a:r>
            <a:endParaRPr lang="en-US" sz="1000" dirty="0"/>
          </a:p>
        </p:txBody>
      </p:sp>
      <p:sp>
        <p:nvSpPr>
          <p:cNvPr id="16" name="Shape 14"/>
          <p:cNvSpPr/>
          <p:nvPr/>
        </p:nvSpPr>
        <p:spPr>
          <a:xfrm>
            <a:off x="256032" y="1956816"/>
            <a:ext cx="8631936" cy="420624"/>
          </a:xfrm>
          <a:prstGeom prst="rect">
            <a:avLst/>
          </a:prstGeom>
          <a:solidFill>
            <a:srgbClr val="F0FDF4"/>
          </a:solidFill>
          <a:ln w="7620">
            <a:solidFill>
              <a:srgbClr val="15803D"/>
            </a:solidFill>
            <a:prstDash val="solid"/>
          </a:ln>
        </p:spPr>
      </p:sp>
      <p:sp>
        <p:nvSpPr>
          <p:cNvPr id="17" name="Shape 15"/>
          <p:cNvSpPr/>
          <p:nvPr/>
        </p:nvSpPr>
        <p:spPr>
          <a:xfrm>
            <a:off x="256032" y="1956816"/>
            <a:ext cx="54864" cy="420624"/>
          </a:xfrm>
          <a:prstGeom prst="rect">
            <a:avLst/>
          </a:prstGeom>
          <a:solidFill>
            <a:srgbClr val="15803D"/>
          </a:solidFill>
          <a:ln w="12700">
            <a:solidFill>
              <a:srgbClr val="15803D"/>
            </a:solidFill>
            <a:prstDash val="solid"/>
          </a:ln>
        </p:spPr>
      </p:sp>
      <p:sp>
        <p:nvSpPr>
          <p:cNvPr id="18" name="Shape 16"/>
          <p:cNvSpPr/>
          <p:nvPr/>
        </p:nvSpPr>
        <p:spPr>
          <a:xfrm>
            <a:off x="347472" y="2039112"/>
            <a:ext cx="256032" cy="256032"/>
          </a:xfrm>
          <a:prstGeom prst="rect">
            <a:avLst/>
          </a:prstGeom>
          <a:solidFill>
            <a:srgbClr val="15803D"/>
          </a:solidFill>
          <a:ln w="12700">
            <a:solidFill>
              <a:srgbClr val="15803D"/>
            </a:solidFill>
            <a:prstDash val="solid"/>
          </a:ln>
        </p:spPr>
      </p:sp>
      <p:sp>
        <p:nvSpPr>
          <p:cNvPr id="19" name="Text 17"/>
          <p:cNvSpPr/>
          <p:nvPr/>
        </p:nvSpPr>
        <p:spPr>
          <a:xfrm>
            <a:off x="347472" y="2039112"/>
            <a:ext cx="256032" cy="256032"/>
          </a:xfrm>
          <a:prstGeom prst="rect">
            <a:avLst/>
          </a:prstGeom>
          <a:noFill/>
          <a:ln/>
        </p:spPr>
        <p:txBody>
          <a:bodyPr wrap="square" rtlCol="0" anchor="ctr"/>
          <a:lstStyle/>
          <a:p>
            <a:pPr algn="ctr" indent="0" marL="0">
              <a:buNone/>
            </a:pPr>
            <a:r>
              <a:rPr lang="en-US" sz="1000" b="1" dirty="0">
                <a:solidFill>
                  <a:srgbClr val="FFFFFF"/>
                </a:solidFill>
              </a:rPr>
              <a:t>2</a:t>
            </a:r>
            <a:endParaRPr lang="en-US" sz="1000" dirty="0"/>
          </a:p>
        </p:txBody>
      </p:sp>
      <p:sp>
        <p:nvSpPr>
          <p:cNvPr id="20" name="Text 18"/>
          <p:cNvSpPr/>
          <p:nvPr/>
        </p:nvSpPr>
        <p:spPr>
          <a:xfrm>
            <a:off x="676656" y="1956816"/>
            <a:ext cx="8138160" cy="420624"/>
          </a:xfrm>
          <a:prstGeom prst="rect">
            <a:avLst/>
          </a:prstGeom>
          <a:noFill/>
          <a:ln/>
        </p:spPr>
        <p:txBody>
          <a:bodyPr wrap="square" rtlCol="0" anchor="ctr"/>
          <a:lstStyle/>
          <a:p>
            <a:pPr indent="0" marL="0">
              <a:buNone/>
            </a:pPr>
            <a:r>
              <a:rPr lang="en-US" sz="1000" dirty="0">
                <a:solidFill>
                  <a:srgbClr val="1E293B"/>
                </a:solidFill>
              </a:rPr>
              <a:t>Define the base URL of the API</a:t>
            </a:r>
            <a:endParaRPr lang="en-US" sz="1000" dirty="0"/>
          </a:p>
        </p:txBody>
      </p:sp>
      <p:sp>
        <p:nvSpPr>
          <p:cNvPr id="21" name="Shape 19"/>
          <p:cNvSpPr/>
          <p:nvPr/>
        </p:nvSpPr>
        <p:spPr>
          <a:xfrm>
            <a:off x="256032" y="2432304"/>
            <a:ext cx="8631936" cy="420624"/>
          </a:xfrm>
          <a:prstGeom prst="rect">
            <a:avLst/>
          </a:prstGeom>
          <a:solidFill>
            <a:srgbClr val="F0FDF4"/>
          </a:solidFill>
          <a:ln w="7620">
            <a:solidFill>
              <a:srgbClr val="15803D"/>
            </a:solidFill>
            <a:prstDash val="solid"/>
          </a:ln>
        </p:spPr>
      </p:sp>
      <p:sp>
        <p:nvSpPr>
          <p:cNvPr id="22" name="Shape 20"/>
          <p:cNvSpPr/>
          <p:nvPr/>
        </p:nvSpPr>
        <p:spPr>
          <a:xfrm>
            <a:off x="256032" y="2432304"/>
            <a:ext cx="54864" cy="420624"/>
          </a:xfrm>
          <a:prstGeom prst="rect">
            <a:avLst/>
          </a:prstGeom>
          <a:solidFill>
            <a:srgbClr val="15803D"/>
          </a:solidFill>
          <a:ln w="12700">
            <a:solidFill>
              <a:srgbClr val="15803D"/>
            </a:solidFill>
            <a:prstDash val="solid"/>
          </a:ln>
        </p:spPr>
      </p:sp>
      <p:sp>
        <p:nvSpPr>
          <p:cNvPr id="23" name="Shape 21"/>
          <p:cNvSpPr/>
          <p:nvPr/>
        </p:nvSpPr>
        <p:spPr>
          <a:xfrm>
            <a:off x="347472" y="2514600"/>
            <a:ext cx="256032" cy="256032"/>
          </a:xfrm>
          <a:prstGeom prst="rect">
            <a:avLst/>
          </a:prstGeom>
          <a:solidFill>
            <a:srgbClr val="15803D"/>
          </a:solidFill>
          <a:ln w="12700">
            <a:solidFill>
              <a:srgbClr val="15803D"/>
            </a:solidFill>
            <a:prstDash val="solid"/>
          </a:ln>
        </p:spPr>
      </p:sp>
      <p:sp>
        <p:nvSpPr>
          <p:cNvPr id="24" name="Text 22"/>
          <p:cNvSpPr/>
          <p:nvPr/>
        </p:nvSpPr>
        <p:spPr>
          <a:xfrm>
            <a:off x="347472" y="2514600"/>
            <a:ext cx="256032" cy="256032"/>
          </a:xfrm>
          <a:prstGeom prst="rect">
            <a:avLst/>
          </a:prstGeom>
          <a:noFill/>
          <a:ln/>
        </p:spPr>
        <p:txBody>
          <a:bodyPr wrap="square" rtlCol="0" anchor="ctr"/>
          <a:lstStyle/>
          <a:p>
            <a:pPr algn="ctr" indent="0" marL="0">
              <a:buNone/>
            </a:pPr>
            <a:r>
              <a:rPr lang="en-US" sz="1000" b="1" dirty="0">
                <a:solidFill>
                  <a:srgbClr val="FFFFFF"/>
                </a:solidFill>
              </a:rPr>
              <a:t>3</a:t>
            </a:r>
            <a:endParaRPr lang="en-US" sz="1000" dirty="0"/>
          </a:p>
        </p:txBody>
      </p:sp>
      <p:sp>
        <p:nvSpPr>
          <p:cNvPr id="25" name="Text 23"/>
          <p:cNvSpPr/>
          <p:nvPr/>
        </p:nvSpPr>
        <p:spPr>
          <a:xfrm>
            <a:off x="676656" y="2432304"/>
            <a:ext cx="8138160" cy="420624"/>
          </a:xfrm>
          <a:prstGeom prst="rect">
            <a:avLst/>
          </a:prstGeom>
          <a:noFill/>
          <a:ln/>
        </p:spPr>
        <p:txBody>
          <a:bodyPr wrap="square" rtlCol="0" anchor="ctr"/>
          <a:lstStyle/>
          <a:p>
            <a:pPr indent="0" marL="0">
              <a:buNone/>
            </a:pPr>
            <a:r>
              <a:rPr lang="en-US" sz="1000" dirty="0">
                <a:solidFill>
                  <a:srgbClr val="1E293B"/>
                </a:solidFill>
              </a:rPr>
              <a:t>Create a params dictionary: {'country': country_name}</a:t>
            </a:r>
            <a:endParaRPr lang="en-US" sz="1000" dirty="0"/>
          </a:p>
        </p:txBody>
      </p:sp>
      <p:sp>
        <p:nvSpPr>
          <p:cNvPr id="26" name="Shape 24"/>
          <p:cNvSpPr/>
          <p:nvPr/>
        </p:nvSpPr>
        <p:spPr>
          <a:xfrm>
            <a:off x="256032" y="2907792"/>
            <a:ext cx="8631936" cy="420624"/>
          </a:xfrm>
          <a:prstGeom prst="rect">
            <a:avLst/>
          </a:prstGeom>
          <a:solidFill>
            <a:srgbClr val="F0FDF4"/>
          </a:solidFill>
          <a:ln w="7620">
            <a:solidFill>
              <a:srgbClr val="15803D"/>
            </a:solidFill>
            <a:prstDash val="solid"/>
          </a:ln>
        </p:spPr>
      </p:sp>
      <p:sp>
        <p:nvSpPr>
          <p:cNvPr id="27" name="Shape 25"/>
          <p:cNvSpPr/>
          <p:nvPr/>
        </p:nvSpPr>
        <p:spPr>
          <a:xfrm>
            <a:off x="256032" y="2907792"/>
            <a:ext cx="54864" cy="420624"/>
          </a:xfrm>
          <a:prstGeom prst="rect">
            <a:avLst/>
          </a:prstGeom>
          <a:solidFill>
            <a:srgbClr val="15803D"/>
          </a:solidFill>
          <a:ln w="12700">
            <a:solidFill>
              <a:srgbClr val="15803D"/>
            </a:solidFill>
            <a:prstDash val="solid"/>
          </a:ln>
        </p:spPr>
      </p:sp>
      <p:sp>
        <p:nvSpPr>
          <p:cNvPr id="28" name="Shape 26"/>
          <p:cNvSpPr/>
          <p:nvPr/>
        </p:nvSpPr>
        <p:spPr>
          <a:xfrm>
            <a:off x="347472" y="2990088"/>
            <a:ext cx="256032" cy="256032"/>
          </a:xfrm>
          <a:prstGeom prst="rect">
            <a:avLst/>
          </a:prstGeom>
          <a:solidFill>
            <a:srgbClr val="15803D"/>
          </a:solidFill>
          <a:ln w="12700">
            <a:solidFill>
              <a:srgbClr val="15803D"/>
            </a:solidFill>
            <a:prstDash val="solid"/>
          </a:ln>
        </p:spPr>
      </p:sp>
      <p:sp>
        <p:nvSpPr>
          <p:cNvPr id="29" name="Text 27"/>
          <p:cNvSpPr/>
          <p:nvPr/>
        </p:nvSpPr>
        <p:spPr>
          <a:xfrm>
            <a:off x="347472" y="2990088"/>
            <a:ext cx="256032" cy="256032"/>
          </a:xfrm>
          <a:prstGeom prst="rect">
            <a:avLst/>
          </a:prstGeom>
          <a:noFill/>
          <a:ln/>
        </p:spPr>
        <p:txBody>
          <a:bodyPr wrap="square" rtlCol="0" anchor="ctr"/>
          <a:lstStyle/>
          <a:p>
            <a:pPr algn="ctr" indent="0" marL="0">
              <a:buNone/>
            </a:pPr>
            <a:r>
              <a:rPr lang="en-US" sz="1000" b="1" dirty="0">
                <a:solidFill>
                  <a:srgbClr val="FFFFFF"/>
                </a:solidFill>
              </a:rPr>
              <a:t>4</a:t>
            </a:r>
            <a:endParaRPr lang="en-US" sz="1000" dirty="0"/>
          </a:p>
        </p:txBody>
      </p:sp>
      <p:sp>
        <p:nvSpPr>
          <p:cNvPr id="30" name="Text 28"/>
          <p:cNvSpPr/>
          <p:nvPr/>
        </p:nvSpPr>
        <p:spPr>
          <a:xfrm>
            <a:off x="676656" y="2907792"/>
            <a:ext cx="8138160" cy="420624"/>
          </a:xfrm>
          <a:prstGeom prst="rect">
            <a:avLst/>
          </a:prstGeom>
          <a:noFill/>
          <a:ln/>
        </p:spPr>
        <p:txBody>
          <a:bodyPr wrap="square" rtlCol="0" anchor="ctr"/>
          <a:lstStyle/>
          <a:p>
            <a:pPr indent="0" marL="0">
              <a:buNone/>
            </a:pPr>
            <a:r>
              <a:rPr lang="en-US" sz="1000" dirty="0">
                <a:solidFill>
                  <a:srgbClr val="1E293B"/>
                </a:solidFill>
              </a:rPr>
              <a:t>Call requests.get(base_url, params=params)</a:t>
            </a:r>
            <a:endParaRPr lang="en-US" sz="1000" dirty="0"/>
          </a:p>
        </p:txBody>
      </p:sp>
      <p:sp>
        <p:nvSpPr>
          <p:cNvPr id="31" name="Shape 29"/>
          <p:cNvSpPr/>
          <p:nvPr/>
        </p:nvSpPr>
        <p:spPr>
          <a:xfrm>
            <a:off x="256032" y="3383280"/>
            <a:ext cx="8631936" cy="420624"/>
          </a:xfrm>
          <a:prstGeom prst="rect">
            <a:avLst/>
          </a:prstGeom>
          <a:solidFill>
            <a:srgbClr val="F0FDF4"/>
          </a:solidFill>
          <a:ln w="7620">
            <a:solidFill>
              <a:srgbClr val="15803D"/>
            </a:solidFill>
            <a:prstDash val="solid"/>
          </a:ln>
        </p:spPr>
      </p:sp>
      <p:sp>
        <p:nvSpPr>
          <p:cNvPr id="32" name="Shape 30"/>
          <p:cNvSpPr/>
          <p:nvPr/>
        </p:nvSpPr>
        <p:spPr>
          <a:xfrm>
            <a:off x="256032" y="3383280"/>
            <a:ext cx="54864" cy="420624"/>
          </a:xfrm>
          <a:prstGeom prst="rect">
            <a:avLst/>
          </a:prstGeom>
          <a:solidFill>
            <a:srgbClr val="15803D"/>
          </a:solidFill>
          <a:ln w="12700">
            <a:solidFill>
              <a:srgbClr val="15803D"/>
            </a:solidFill>
            <a:prstDash val="solid"/>
          </a:ln>
        </p:spPr>
      </p:sp>
      <p:sp>
        <p:nvSpPr>
          <p:cNvPr id="33" name="Shape 31"/>
          <p:cNvSpPr/>
          <p:nvPr/>
        </p:nvSpPr>
        <p:spPr>
          <a:xfrm>
            <a:off x="347472" y="3465576"/>
            <a:ext cx="256032" cy="256032"/>
          </a:xfrm>
          <a:prstGeom prst="rect">
            <a:avLst/>
          </a:prstGeom>
          <a:solidFill>
            <a:srgbClr val="15803D"/>
          </a:solidFill>
          <a:ln w="12700">
            <a:solidFill>
              <a:srgbClr val="15803D"/>
            </a:solidFill>
            <a:prstDash val="solid"/>
          </a:ln>
        </p:spPr>
      </p:sp>
      <p:sp>
        <p:nvSpPr>
          <p:cNvPr id="34" name="Text 32"/>
          <p:cNvSpPr/>
          <p:nvPr/>
        </p:nvSpPr>
        <p:spPr>
          <a:xfrm>
            <a:off x="347472" y="3465576"/>
            <a:ext cx="256032" cy="256032"/>
          </a:xfrm>
          <a:prstGeom prst="rect">
            <a:avLst/>
          </a:prstGeom>
          <a:noFill/>
          <a:ln/>
        </p:spPr>
        <p:txBody>
          <a:bodyPr wrap="square" rtlCol="0" anchor="ctr"/>
          <a:lstStyle/>
          <a:p>
            <a:pPr algn="ctr" indent="0" marL="0">
              <a:buNone/>
            </a:pPr>
            <a:r>
              <a:rPr lang="en-US" sz="1000" b="1" dirty="0">
                <a:solidFill>
                  <a:srgbClr val="FFFFFF"/>
                </a:solidFill>
              </a:rPr>
              <a:t>5</a:t>
            </a:r>
            <a:endParaRPr lang="en-US" sz="1000" dirty="0"/>
          </a:p>
        </p:txBody>
      </p:sp>
      <p:sp>
        <p:nvSpPr>
          <p:cNvPr id="35" name="Text 33"/>
          <p:cNvSpPr/>
          <p:nvPr/>
        </p:nvSpPr>
        <p:spPr>
          <a:xfrm>
            <a:off x="676656" y="3383280"/>
            <a:ext cx="8138160" cy="420624"/>
          </a:xfrm>
          <a:prstGeom prst="rect">
            <a:avLst/>
          </a:prstGeom>
          <a:noFill/>
          <a:ln/>
        </p:spPr>
        <p:txBody>
          <a:bodyPr wrap="square" rtlCol="0" anchor="ctr"/>
          <a:lstStyle/>
          <a:p>
            <a:pPr indent="0" marL="0">
              <a:buNone/>
            </a:pPr>
            <a:r>
              <a:rPr lang="en-US" sz="1000" dirty="0">
                <a:solidFill>
                  <a:srgbClr val="1E293B"/>
                </a:solidFill>
              </a:rPr>
              <a:t>Call .json() on the response to get Python data</a:t>
            </a:r>
            <a:endParaRPr lang="en-US" sz="1000" dirty="0"/>
          </a:p>
        </p:txBody>
      </p:sp>
      <p:sp>
        <p:nvSpPr>
          <p:cNvPr id="36" name="Shape 34"/>
          <p:cNvSpPr/>
          <p:nvPr/>
        </p:nvSpPr>
        <p:spPr>
          <a:xfrm>
            <a:off x="256032" y="3858768"/>
            <a:ext cx="8631936" cy="420624"/>
          </a:xfrm>
          <a:prstGeom prst="rect">
            <a:avLst/>
          </a:prstGeom>
          <a:solidFill>
            <a:srgbClr val="F0FDF4"/>
          </a:solidFill>
          <a:ln w="7620">
            <a:solidFill>
              <a:srgbClr val="15803D"/>
            </a:solidFill>
            <a:prstDash val="solid"/>
          </a:ln>
        </p:spPr>
      </p:sp>
      <p:sp>
        <p:nvSpPr>
          <p:cNvPr id="37" name="Shape 35"/>
          <p:cNvSpPr/>
          <p:nvPr/>
        </p:nvSpPr>
        <p:spPr>
          <a:xfrm>
            <a:off x="256032" y="3858768"/>
            <a:ext cx="54864" cy="420624"/>
          </a:xfrm>
          <a:prstGeom prst="rect">
            <a:avLst/>
          </a:prstGeom>
          <a:solidFill>
            <a:srgbClr val="15803D"/>
          </a:solidFill>
          <a:ln w="12700">
            <a:solidFill>
              <a:srgbClr val="15803D"/>
            </a:solidFill>
            <a:prstDash val="solid"/>
          </a:ln>
        </p:spPr>
      </p:sp>
      <p:sp>
        <p:nvSpPr>
          <p:cNvPr id="38" name="Shape 36"/>
          <p:cNvSpPr/>
          <p:nvPr/>
        </p:nvSpPr>
        <p:spPr>
          <a:xfrm>
            <a:off x="347472" y="3941064"/>
            <a:ext cx="256032" cy="256032"/>
          </a:xfrm>
          <a:prstGeom prst="rect">
            <a:avLst/>
          </a:prstGeom>
          <a:solidFill>
            <a:srgbClr val="15803D"/>
          </a:solidFill>
          <a:ln w="12700">
            <a:solidFill>
              <a:srgbClr val="15803D"/>
            </a:solidFill>
            <a:prstDash val="solid"/>
          </a:ln>
        </p:spPr>
      </p:sp>
      <p:sp>
        <p:nvSpPr>
          <p:cNvPr id="39" name="Text 37"/>
          <p:cNvSpPr/>
          <p:nvPr/>
        </p:nvSpPr>
        <p:spPr>
          <a:xfrm>
            <a:off x="347472" y="3941064"/>
            <a:ext cx="256032" cy="256032"/>
          </a:xfrm>
          <a:prstGeom prst="rect">
            <a:avLst/>
          </a:prstGeom>
          <a:noFill/>
          <a:ln/>
        </p:spPr>
        <p:txBody>
          <a:bodyPr wrap="square" rtlCol="0" anchor="ctr"/>
          <a:lstStyle/>
          <a:p>
            <a:pPr algn="ctr" indent="0" marL="0">
              <a:buNone/>
            </a:pPr>
            <a:r>
              <a:rPr lang="en-US" sz="1000" b="1" dirty="0">
                <a:solidFill>
                  <a:srgbClr val="FFFFFF"/>
                </a:solidFill>
              </a:rPr>
              <a:t>6</a:t>
            </a:r>
            <a:endParaRPr lang="en-US" sz="1000" dirty="0"/>
          </a:p>
        </p:txBody>
      </p:sp>
      <p:sp>
        <p:nvSpPr>
          <p:cNvPr id="40" name="Text 38"/>
          <p:cNvSpPr/>
          <p:nvPr/>
        </p:nvSpPr>
        <p:spPr>
          <a:xfrm>
            <a:off x="676656" y="3858768"/>
            <a:ext cx="8138160" cy="420624"/>
          </a:xfrm>
          <a:prstGeom prst="rect">
            <a:avLst/>
          </a:prstGeom>
          <a:noFill/>
          <a:ln/>
        </p:spPr>
        <p:txBody>
          <a:bodyPr wrap="square" rtlCol="0" anchor="ctr"/>
          <a:lstStyle/>
          <a:p>
            <a:pPr indent="0" marL="0">
              <a:buNone/>
            </a:pPr>
            <a:r>
              <a:rPr lang="en-US" sz="1000" dirty="0">
                <a:solidFill>
                  <a:srgbClr val="1E293B"/>
                </a:solidFill>
              </a:rPr>
              <a:t>Pass data to pd.DataFrame() — done!</a:t>
            </a:r>
            <a:endParaRPr lang="en-US" sz="1000" dirty="0"/>
          </a:p>
        </p:txBody>
      </p:sp>
      <p:sp>
        <p:nvSpPr>
          <p:cNvPr id="41" name="Text 39"/>
          <p:cNvSpPr/>
          <p:nvPr/>
        </p:nvSpPr>
        <p:spPr>
          <a:xfrm>
            <a:off x="4645152" y="1188720"/>
            <a:ext cx="8686800" cy="256032"/>
          </a:xfrm>
          <a:prstGeom prst="rect">
            <a:avLst/>
          </a:prstGeom>
          <a:noFill/>
          <a:ln/>
        </p:spPr>
        <p:txBody>
          <a:bodyPr wrap="square" rtlCol="0" anchor="ctr"/>
          <a:lstStyle/>
          <a:p>
            <a:pPr indent="0" marL="0">
              <a:buNone/>
            </a:pPr>
            <a:r>
              <a:rPr lang="en-US" sz="1100" b="1" dirty="0">
                <a:solidFill>
                  <a:srgbClr val="15803D"/>
                </a:solidFill>
              </a:rPr>
              <a:t>Complete Python code:</a:t>
            </a:r>
            <a:endParaRPr lang="en-US" sz="1100" dirty="0"/>
          </a:p>
        </p:txBody>
      </p:sp>
      <p:sp>
        <p:nvSpPr>
          <p:cNvPr id="42" name="Shape 40"/>
          <p:cNvSpPr/>
          <p:nvPr/>
        </p:nvSpPr>
        <p:spPr>
          <a:xfrm>
            <a:off x="4645152" y="1481328"/>
            <a:ext cx="4242816" cy="2267712"/>
          </a:xfrm>
          <a:prstGeom prst="rect">
            <a:avLst/>
          </a:prstGeom>
          <a:solidFill>
            <a:srgbClr val="0F172A"/>
          </a:solidFill>
          <a:ln w="6350">
            <a:solidFill>
              <a:srgbClr val="334155"/>
            </a:solidFill>
            <a:prstDash val="solid"/>
          </a:ln>
        </p:spPr>
      </p:sp>
      <p:sp>
        <p:nvSpPr>
          <p:cNvPr id="43" name="Shape 41"/>
          <p:cNvSpPr/>
          <p:nvPr/>
        </p:nvSpPr>
        <p:spPr>
          <a:xfrm>
            <a:off x="4645152" y="1481328"/>
            <a:ext cx="54864" cy="2267712"/>
          </a:xfrm>
          <a:prstGeom prst="rect">
            <a:avLst/>
          </a:prstGeom>
          <a:solidFill>
            <a:srgbClr val="1D4ED8"/>
          </a:solidFill>
          <a:ln w="12700">
            <a:solidFill>
              <a:srgbClr val="1D4ED8"/>
            </a:solidFill>
            <a:prstDash val="solid"/>
          </a:ln>
        </p:spPr>
      </p:sp>
      <p:sp>
        <p:nvSpPr>
          <p:cNvPr id="44" name="Text 42"/>
          <p:cNvSpPr/>
          <p:nvPr/>
        </p:nvSpPr>
        <p:spPr>
          <a:xfrm>
            <a:off x="4773168" y="1554480"/>
            <a:ext cx="4059936" cy="2139696"/>
          </a:xfrm>
          <a:prstGeom prst="rect">
            <a:avLst/>
          </a:prstGeom>
          <a:noFill/>
          <a:ln/>
        </p:spPr>
        <p:txBody>
          <a:bodyPr wrap="square" rtlCol="0" anchor="t"/>
          <a:lstStyle/>
          <a:p>
            <a:pPr indent="0" marL="0">
              <a:buNone/>
            </a:pPr>
            <a:r>
              <a:rPr lang="en-US" sz="950" dirty="0">
                <a:solidFill>
                  <a:srgbClr val="E2E8F0"/>
                </a:solidFill>
                <a:latin typeface="Courier New" pitchFamily="34" charset="0"/>
                <a:ea typeface="Courier New" pitchFamily="34" charset="-122"/>
                <a:cs typeface="Courier New" pitchFamily="34" charset="-120"/>
              </a:rPr>
              <a:t>import requests</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import pandas as pd</a:t>
            </a:r>
            <a:endParaRPr lang="en-US" sz="950" dirty="0"/>
          </a:p>
          <a:p>
            <a:pPr indent="0" marL="0">
              <a:buNone/>
            </a:pP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def get_universities(country_name):</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base_url = "http://universities.hipolabs.com/search"</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params   = {'country': country_name}</a:t>
            </a:r>
            <a:endParaRPr lang="en-US" sz="950" dirty="0"/>
          </a:p>
          <a:p>
            <a:pPr indent="0" marL="0">
              <a:buNone/>
            </a:pP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response = requests.get(base_url, params=params)</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data     = response.json()</a:t>
            </a:r>
            <a:endParaRPr lang="en-US" sz="950" dirty="0"/>
          </a:p>
          <a:p>
            <a:pPr indent="0" marL="0">
              <a:buNone/>
            </a:pP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df = pd.DataFrame(data)</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print(df)</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return df</a:t>
            </a:r>
            <a:endParaRPr lang="en-US" sz="950" dirty="0"/>
          </a:p>
          <a:p>
            <a:pPr indent="0" marL="0">
              <a:buNone/>
            </a:pP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Call with any country:</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get_universities("Nepal")</a:t>
            </a:r>
            <a:endParaRPr lang="en-US" sz="950" dirty="0"/>
          </a:p>
        </p:txBody>
      </p:sp>
      <p:sp>
        <p:nvSpPr>
          <p:cNvPr id="45" name="Text 43"/>
          <p:cNvSpPr/>
          <p:nvPr/>
        </p:nvSpPr>
        <p:spPr>
          <a:xfrm>
            <a:off x="4645152" y="3840480"/>
            <a:ext cx="8686800" cy="256032"/>
          </a:xfrm>
          <a:prstGeom prst="rect">
            <a:avLst/>
          </a:prstGeom>
          <a:noFill/>
          <a:ln/>
        </p:spPr>
        <p:txBody>
          <a:bodyPr wrap="square" rtlCol="0" anchor="ctr"/>
          <a:lstStyle/>
          <a:p>
            <a:pPr indent="0" marL="0">
              <a:buNone/>
            </a:pPr>
            <a:r>
              <a:rPr lang="en-US" sz="1100" b="1" dirty="0">
                <a:solidFill>
                  <a:srgbClr val="15803D"/>
                </a:solidFill>
              </a:rPr>
              <a:t>Sample output — Nepal:</a:t>
            </a:r>
            <a:endParaRPr lang="en-US" sz="1100" dirty="0"/>
          </a:p>
        </p:txBody>
      </p:sp>
      <p:sp>
        <p:nvSpPr>
          <p:cNvPr id="46" name="Shape 44"/>
          <p:cNvSpPr/>
          <p:nvPr/>
        </p:nvSpPr>
        <p:spPr>
          <a:xfrm>
            <a:off x="4645152" y="4114800"/>
            <a:ext cx="4242816" cy="548640"/>
          </a:xfrm>
          <a:prstGeom prst="rect">
            <a:avLst/>
          </a:prstGeom>
          <a:solidFill>
            <a:srgbClr val="0F172A"/>
          </a:solidFill>
          <a:ln w="6350">
            <a:solidFill>
              <a:srgbClr val="334155"/>
            </a:solidFill>
            <a:prstDash val="solid"/>
          </a:ln>
        </p:spPr>
      </p:sp>
      <p:sp>
        <p:nvSpPr>
          <p:cNvPr id="47" name="Shape 45"/>
          <p:cNvSpPr/>
          <p:nvPr/>
        </p:nvSpPr>
        <p:spPr>
          <a:xfrm>
            <a:off x="4645152" y="4114800"/>
            <a:ext cx="54864" cy="548640"/>
          </a:xfrm>
          <a:prstGeom prst="rect">
            <a:avLst/>
          </a:prstGeom>
          <a:solidFill>
            <a:srgbClr val="1D4ED8"/>
          </a:solidFill>
          <a:ln w="12700">
            <a:solidFill>
              <a:srgbClr val="1D4ED8"/>
            </a:solidFill>
            <a:prstDash val="solid"/>
          </a:ln>
        </p:spPr>
      </p:sp>
      <p:sp>
        <p:nvSpPr>
          <p:cNvPr id="48" name="Text 46"/>
          <p:cNvSpPr/>
          <p:nvPr/>
        </p:nvSpPr>
        <p:spPr>
          <a:xfrm>
            <a:off x="4773168" y="4187952"/>
            <a:ext cx="4059936" cy="420624"/>
          </a:xfrm>
          <a:prstGeom prst="rect">
            <a:avLst/>
          </a:prstGeom>
          <a:noFill/>
          <a:ln/>
        </p:spPr>
        <p:txBody>
          <a:bodyPr wrap="square" rtlCol="0" anchor="t"/>
          <a:lstStyle/>
          <a:p>
            <a:pPr indent="0" marL="0">
              <a:buNone/>
            </a:pPr>
            <a:r>
              <a:rPr lang="en-US" sz="950" dirty="0">
                <a:solidFill>
                  <a:srgbClr val="E2E8F0"/>
                </a:solidFill>
                <a:latin typeface="Courier New" pitchFamily="34" charset="0"/>
                <a:ea typeface="Courier New" pitchFamily="34" charset="-122"/>
                <a:cs typeface="Courier New" pitchFamily="34" charset="-120"/>
              </a:rPr>
              <a:t>   name                     country  alpha_two_code</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0  Agriculture Forestry Univ Nepal    NP</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1  Kathmandu University       Nepal    NP</a:t>
            </a:r>
            <a:endParaRPr lang="en-US" sz="950" dirty="0"/>
          </a:p>
        </p:txBody>
      </p:sp>
      <p:sp>
        <p:nvSpPr>
          <p:cNvPr id="49" name="Shape 47"/>
          <p:cNvSpPr/>
          <p:nvPr/>
        </p:nvSpPr>
        <p:spPr>
          <a:xfrm>
            <a:off x="256032" y="4773168"/>
            <a:ext cx="8631936" cy="329184"/>
          </a:xfrm>
          <a:prstGeom prst="rect">
            <a:avLst/>
          </a:prstGeom>
          <a:solidFill>
            <a:srgbClr val="F0FDF4"/>
          </a:solidFill>
          <a:ln w="10160">
            <a:solidFill>
              <a:srgbClr val="15803D"/>
            </a:solidFill>
            <a:prstDash val="solid"/>
          </a:ln>
        </p:spPr>
      </p:sp>
      <p:sp>
        <p:nvSpPr>
          <p:cNvPr id="50" name="Shape 48"/>
          <p:cNvSpPr/>
          <p:nvPr/>
        </p:nvSpPr>
        <p:spPr>
          <a:xfrm>
            <a:off x="256032" y="4773168"/>
            <a:ext cx="54864" cy="329184"/>
          </a:xfrm>
          <a:prstGeom prst="rect">
            <a:avLst/>
          </a:prstGeom>
          <a:solidFill>
            <a:srgbClr val="15803D"/>
          </a:solidFill>
          <a:ln w="12700">
            <a:solidFill>
              <a:srgbClr val="15803D"/>
            </a:solidFill>
            <a:prstDash val="solid"/>
          </a:ln>
        </p:spPr>
      </p:sp>
      <p:sp>
        <p:nvSpPr>
          <p:cNvPr id="51" name="Text 49"/>
          <p:cNvSpPr/>
          <p:nvPr/>
        </p:nvSpPr>
        <p:spPr>
          <a:xfrm>
            <a:off x="384048" y="4773168"/>
            <a:ext cx="8449056" cy="329184"/>
          </a:xfrm>
          <a:prstGeom prst="rect">
            <a:avLst/>
          </a:prstGeom>
          <a:noFill/>
          <a:ln/>
        </p:spPr>
        <p:txBody>
          <a:bodyPr wrap="square" rtlCol="0" anchor="ctr"/>
          <a:lstStyle/>
          <a:p>
            <a:pPr indent="0" marL="0">
              <a:buNone/>
            </a:pPr>
            <a:r>
              <a:rPr lang="en-US" sz="1000" dirty="0">
                <a:solidFill>
                  <a:srgbClr val="1E293B"/>
                </a:solidFill>
              </a:rPr>
              <a:t>Change  "Nepal"  to  "India"  or  "USA"  and run again — you get that country's universities.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172A"/>
          </a:solidFill>
          <a:ln w="12700">
            <a:solidFill>
              <a:srgbClr val="0F172A"/>
            </a:solidFill>
            <a:prstDash val="solid"/>
          </a:ln>
        </p:spPr>
      </p:sp>
      <p:sp>
        <p:nvSpPr>
          <p:cNvPr id="3" name="Shape 1"/>
          <p:cNvSpPr/>
          <p:nvPr/>
        </p:nvSpPr>
        <p:spPr>
          <a:xfrm>
            <a:off x="0" y="0"/>
            <a:ext cx="64008" cy="640080"/>
          </a:xfrm>
          <a:prstGeom prst="rect">
            <a:avLst/>
          </a:prstGeom>
          <a:solidFill>
            <a:srgbClr val="B45309"/>
          </a:solidFill>
          <a:ln w="12700">
            <a:solidFill>
              <a:srgbClr val="B45309"/>
            </a:solidFill>
            <a:prstDash val="solid"/>
          </a:ln>
        </p:spPr>
      </p:sp>
      <p:sp>
        <p:nvSpPr>
          <p:cNvPr id="4" name="Text 2"/>
          <p:cNvSpPr/>
          <p:nvPr/>
        </p:nvSpPr>
        <p:spPr>
          <a:xfrm>
            <a:off x="109728" y="0"/>
            <a:ext cx="475488" cy="640080"/>
          </a:xfrm>
          <a:prstGeom prst="rect">
            <a:avLst/>
          </a:prstGeom>
          <a:noFill/>
          <a:ln/>
        </p:spPr>
        <p:txBody>
          <a:bodyPr wrap="square" rtlCol="0" anchor="ctr"/>
          <a:lstStyle/>
          <a:p>
            <a:pPr algn="ctr" indent="0" marL="0">
              <a:buNone/>
            </a:pPr>
            <a:r>
              <a:rPr lang="en-US" sz="1600" b="1" dirty="0">
                <a:solidFill>
                  <a:srgbClr val="FFFFFF"/>
                </a:solidFill>
              </a:rPr>
              <a:t>04</a:t>
            </a:r>
            <a:endParaRPr lang="en-US" sz="1600" dirty="0"/>
          </a:p>
        </p:txBody>
      </p:sp>
      <p:sp>
        <p:nvSpPr>
          <p:cNvPr id="5" name="Text 3"/>
          <p:cNvSpPr/>
          <p:nvPr/>
        </p:nvSpPr>
        <p:spPr>
          <a:xfrm>
            <a:off x="658368" y="18288"/>
            <a:ext cx="8138160" cy="347472"/>
          </a:xfrm>
          <a:prstGeom prst="rect">
            <a:avLst/>
          </a:prstGeom>
          <a:noFill/>
          <a:ln/>
        </p:spPr>
        <p:txBody>
          <a:bodyPr wrap="square" rtlCol="0" anchor="ctr"/>
          <a:lstStyle/>
          <a:p>
            <a:pPr indent="0" marL="0">
              <a:buNone/>
            </a:pPr>
            <a:r>
              <a:rPr lang="en-US" sz="1900" b="1" dirty="0">
                <a:solidFill>
                  <a:srgbClr val="FFFFFF"/>
                </a:solidFill>
              </a:rPr>
              <a:t>Bitget Live Price API — Real-time Bitcoin Price</a:t>
            </a:r>
            <a:endParaRPr lang="en-US" sz="1900" dirty="0"/>
          </a:p>
        </p:txBody>
      </p:sp>
      <p:sp>
        <p:nvSpPr>
          <p:cNvPr id="6" name="Text 4"/>
          <p:cNvSpPr/>
          <p:nvPr/>
        </p:nvSpPr>
        <p:spPr>
          <a:xfrm>
            <a:off x="658368" y="402336"/>
            <a:ext cx="8138160" cy="237744"/>
          </a:xfrm>
          <a:prstGeom prst="rect">
            <a:avLst/>
          </a:prstGeom>
          <a:noFill/>
          <a:ln/>
        </p:spPr>
        <p:txBody>
          <a:bodyPr wrap="square" rtlCol="0" anchor="ctr"/>
          <a:lstStyle/>
          <a:p>
            <a:pPr indent="0" marL="0">
              <a:buNone/>
            </a:pPr>
            <a:r>
              <a:rPr lang="en-US" sz="1000" dirty="0">
                <a:solidFill>
                  <a:srgbClr val="94A3B8"/>
                </a:solidFill>
              </a:rPr>
              <a:t>API:   https://api.bitget.com/api/v2/spot/market/tickers?symbol=BTCUSDT</a:t>
            </a:r>
            <a:endParaRPr lang="en-US" sz="1000" dirty="0"/>
          </a:p>
        </p:txBody>
      </p:sp>
      <p:sp>
        <p:nvSpPr>
          <p:cNvPr id="7" name="Shape 5"/>
          <p:cNvSpPr/>
          <p:nvPr/>
        </p:nvSpPr>
        <p:spPr>
          <a:xfrm>
            <a:off x="256032" y="768096"/>
            <a:ext cx="8631936" cy="329184"/>
          </a:xfrm>
          <a:prstGeom prst="rect">
            <a:avLst/>
          </a:prstGeom>
          <a:solidFill>
            <a:srgbClr val="FFFBEB"/>
          </a:solidFill>
          <a:ln w="10160">
            <a:solidFill>
              <a:srgbClr val="B45309"/>
            </a:solidFill>
            <a:prstDash val="solid"/>
          </a:ln>
        </p:spPr>
      </p:sp>
      <p:sp>
        <p:nvSpPr>
          <p:cNvPr id="8" name="Shape 6"/>
          <p:cNvSpPr/>
          <p:nvPr/>
        </p:nvSpPr>
        <p:spPr>
          <a:xfrm>
            <a:off x="256032" y="768096"/>
            <a:ext cx="54864" cy="329184"/>
          </a:xfrm>
          <a:prstGeom prst="rect">
            <a:avLst/>
          </a:prstGeom>
          <a:solidFill>
            <a:srgbClr val="B45309"/>
          </a:solidFill>
          <a:ln w="12700">
            <a:solidFill>
              <a:srgbClr val="B45309"/>
            </a:solidFill>
            <a:prstDash val="solid"/>
          </a:ln>
        </p:spPr>
      </p:sp>
      <p:sp>
        <p:nvSpPr>
          <p:cNvPr id="9" name="Text 7"/>
          <p:cNvSpPr/>
          <p:nvPr/>
        </p:nvSpPr>
        <p:spPr>
          <a:xfrm>
            <a:off x="384048" y="768096"/>
            <a:ext cx="8449056" cy="329184"/>
          </a:xfrm>
          <a:prstGeom prst="rect">
            <a:avLst/>
          </a:prstGeom>
          <a:noFill/>
          <a:ln/>
        </p:spPr>
        <p:txBody>
          <a:bodyPr wrap="square" rtlCol="0" anchor="ctr"/>
          <a:lstStyle/>
          <a:p>
            <a:pPr indent="0" marL="0">
              <a:buNone/>
            </a:pPr>
            <a:r>
              <a:rPr lang="en-US" sz="1000" dirty="0">
                <a:solidFill>
                  <a:srgbClr val="1E293B"/>
                </a:solidFill>
              </a:rPr>
              <a:t>This API returns the LIVE Bitcoin price — the number changes every second. This is real-time data.</a:t>
            </a:r>
            <a:endParaRPr lang="en-US" sz="1000" dirty="0"/>
          </a:p>
        </p:txBody>
      </p:sp>
      <p:sp>
        <p:nvSpPr>
          <p:cNvPr id="10" name="Text 8"/>
          <p:cNvSpPr/>
          <p:nvPr/>
        </p:nvSpPr>
        <p:spPr>
          <a:xfrm>
            <a:off x="256032" y="1188720"/>
            <a:ext cx="8686800" cy="256032"/>
          </a:xfrm>
          <a:prstGeom prst="rect">
            <a:avLst/>
          </a:prstGeom>
          <a:noFill/>
          <a:ln/>
        </p:spPr>
        <p:txBody>
          <a:bodyPr wrap="square" rtlCol="0" anchor="ctr"/>
          <a:lstStyle/>
          <a:p>
            <a:pPr indent="0" marL="0">
              <a:buNone/>
            </a:pPr>
            <a:r>
              <a:rPr lang="en-US" sz="1100" b="1" dirty="0">
                <a:solidFill>
                  <a:srgbClr val="B45309"/>
                </a:solidFill>
              </a:rPr>
              <a:t>Fields returned by the API:</a:t>
            </a:r>
            <a:endParaRPr lang="en-US" sz="1100" dirty="0"/>
          </a:p>
        </p:txBody>
      </p:sp>
      <p:sp>
        <p:nvSpPr>
          <p:cNvPr id="11" name="Shape 9"/>
          <p:cNvSpPr/>
          <p:nvPr/>
        </p:nvSpPr>
        <p:spPr>
          <a:xfrm>
            <a:off x="256032" y="1481328"/>
            <a:ext cx="4206240" cy="512064"/>
          </a:xfrm>
          <a:prstGeom prst="rect">
            <a:avLst/>
          </a:prstGeom>
          <a:solidFill>
            <a:srgbClr val="FFFBEB"/>
          </a:solidFill>
          <a:ln w="10160">
            <a:solidFill>
              <a:srgbClr val="B45309"/>
            </a:solidFill>
            <a:prstDash val="solid"/>
          </a:ln>
        </p:spPr>
      </p:sp>
      <p:sp>
        <p:nvSpPr>
          <p:cNvPr id="12" name="Shape 10"/>
          <p:cNvSpPr/>
          <p:nvPr/>
        </p:nvSpPr>
        <p:spPr>
          <a:xfrm>
            <a:off x="256032" y="1481328"/>
            <a:ext cx="54864" cy="512064"/>
          </a:xfrm>
          <a:prstGeom prst="rect">
            <a:avLst/>
          </a:prstGeom>
          <a:solidFill>
            <a:srgbClr val="B45309"/>
          </a:solidFill>
          <a:ln w="12700">
            <a:solidFill>
              <a:srgbClr val="B45309"/>
            </a:solidFill>
            <a:prstDash val="solid"/>
          </a:ln>
        </p:spPr>
      </p:sp>
      <p:sp>
        <p:nvSpPr>
          <p:cNvPr id="13" name="Text 11"/>
          <p:cNvSpPr/>
          <p:nvPr/>
        </p:nvSpPr>
        <p:spPr>
          <a:xfrm>
            <a:off x="365760" y="1517904"/>
            <a:ext cx="4041648" cy="201168"/>
          </a:xfrm>
          <a:prstGeom prst="rect">
            <a:avLst/>
          </a:prstGeom>
          <a:noFill/>
          <a:ln/>
        </p:spPr>
        <p:txBody>
          <a:bodyPr wrap="square" rtlCol="0" anchor="ctr"/>
          <a:lstStyle/>
          <a:p>
            <a:pPr indent="0" marL="0">
              <a:buNone/>
            </a:pPr>
            <a:r>
              <a:rPr lang="en-US" sz="1000" b="1" dirty="0">
                <a:solidFill>
                  <a:srgbClr val="B45309"/>
                </a:solidFill>
                <a:latin typeface="Courier New" pitchFamily="34" charset="0"/>
                <a:ea typeface="Courier New" pitchFamily="34" charset="-122"/>
                <a:cs typeface="Courier New" pitchFamily="34" charset="-120"/>
              </a:rPr>
              <a:t>symbol</a:t>
            </a:r>
            <a:endParaRPr lang="en-US" sz="1000" dirty="0"/>
          </a:p>
        </p:txBody>
      </p:sp>
      <p:sp>
        <p:nvSpPr>
          <p:cNvPr id="14" name="Text 12"/>
          <p:cNvSpPr/>
          <p:nvPr/>
        </p:nvSpPr>
        <p:spPr>
          <a:xfrm>
            <a:off x="365760" y="1737360"/>
            <a:ext cx="4041648" cy="201168"/>
          </a:xfrm>
          <a:prstGeom prst="rect">
            <a:avLst/>
          </a:prstGeom>
          <a:noFill/>
          <a:ln/>
        </p:spPr>
        <p:txBody>
          <a:bodyPr wrap="square" rtlCol="0" anchor="ctr"/>
          <a:lstStyle/>
          <a:p>
            <a:pPr indent="0" marL="0">
              <a:buNone/>
            </a:pPr>
            <a:r>
              <a:rPr lang="en-US" sz="900" dirty="0">
                <a:solidFill>
                  <a:srgbClr val="1E293B"/>
                </a:solidFill>
              </a:rPr>
              <a:t>Trading pair — e.g. BTCUSDT = Bitcoin vs USD Tether</a:t>
            </a:r>
            <a:endParaRPr lang="en-US" sz="900" dirty="0"/>
          </a:p>
        </p:txBody>
      </p:sp>
      <p:sp>
        <p:nvSpPr>
          <p:cNvPr id="15" name="Shape 13"/>
          <p:cNvSpPr/>
          <p:nvPr/>
        </p:nvSpPr>
        <p:spPr>
          <a:xfrm>
            <a:off x="256032" y="2066544"/>
            <a:ext cx="4206240" cy="512064"/>
          </a:xfrm>
          <a:prstGeom prst="rect">
            <a:avLst/>
          </a:prstGeom>
          <a:solidFill>
            <a:srgbClr val="FFFBEB"/>
          </a:solidFill>
          <a:ln w="10160">
            <a:solidFill>
              <a:srgbClr val="B45309"/>
            </a:solidFill>
            <a:prstDash val="solid"/>
          </a:ln>
        </p:spPr>
      </p:sp>
      <p:sp>
        <p:nvSpPr>
          <p:cNvPr id="16" name="Shape 14"/>
          <p:cNvSpPr/>
          <p:nvPr/>
        </p:nvSpPr>
        <p:spPr>
          <a:xfrm>
            <a:off x="256032" y="2066544"/>
            <a:ext cx="54864" cy="512064"/>
          </a:xfrm>
          <a:prstGeom prst="rect">
            <a:avLst/>
          </a:prstGeom>
          <a:solidFill>
            <a:srgbClr val="B45309"/>
          </a:solidFill>
          <a:ln w="12700">
            <a:solidFill>
              <a:srgbClr val="B45309"/>
            </a:solidFill>
            <a:prstDash val="solid"/>
          </a:ln>
        </p:spPr>
      </p:sp>
      <p:sp>
        <p:nvSpPr>
          <p:cNvPr id="17" name="Text 15"/>
          <p:cNvSpPr/>
          <p:nvPr/>
        </p:nvSpPr>
        <p:spPr>
          <a:xfrm>
            <a:off x="365760" y="2103120"/>
            <a:ext cx="4041648" cy="201168"/>
          </a:xfrm>
          <a:prstGeom prst="rect">
            <a:avLst/>
          </a:prstGeom>
          <a:noFill/>
          <a:ln/>
        </p:spPr>
        <p:txBody>
          <a:bodyPr wrap="square" rtlCol="0" anchor="ctr"/>
          <a:lstStyle/>
          <a:p>
            <a:pPr indent="0" marL="0">
              <a:buNone/>
            </a:pPr>
            <a:r>
              <a:rPr lang="en-US" sz="1000" b="1" dirty="0">
                <a:solidFill>
                  <a:srgbClr val="B45309"/>
                </a:solidFill>
                <a:latin typeface="Courier New" pitchFamily="34" charset="0"/>
                <a:ea typeface="Courier New" pitchFamily="34" charset="-122"/>
                <a:cs typeface="Courier New" pitchFamily="34" charset="-120"/>
              </a:rPr>
              <a:t>lastPr</a:t>
            </a:r>
            <a:endParaRPr lang="en-US" sz="1000" dirty="0"/>
          </a:p>
        </p:txBody>
      </p:sp>
      <p:sp>
        <p:nvSpPr>
          <p:cNvPr id="18" name="Text 16"/>
          <p:cNvSpPr/>
          <p:nvPr/>
        </p:nvSpPr>
        <p:spPr>
          <a:xfrm>
            <a:off x="365760" y="2322576"/>
            <a:ext cx="4041648" cy="201168"/>
          </a:xfrm>
          <a:prstGeom prst="rect">
            <a:avLst/>
          </a:prstGeom>
          <a:noFill/>
          <a:ln/>
        </p:spPr>
        <p:txBody>
          <a:bodyPr wrap="square" rtlCol="0" anchor="ctr"/>
          <a:lstStyle/>
          <a:p>
            <a:pPr indent="0" marL="0">
              <a:buNone/>
            </a:pPr>
            <a:r>
              <a:rPr lang="en-US" sz="900" dirty="0">
                <a:solidFill>
                  <a:srgbClr val="1E293B"/>
                </a:solidFill>
              </a:rPr>
              <a:t>Last traded price — the CURRENT live Bitcoin price</a:t>
            </a:r>
            <a:endParaRPr lang="en-US" sz="900" dirty="0"/>
          </a:p>
        </p:txBody>
      </p:sp>
      <p:sp>
        <p:nvSpPr>
          <p:cNvPr id="19" name="Shape 17"/>
          <p:cNvSpPr/>
          <p:nvPr/>
        </p:nvSpPr>
        <p:spPr>
          <a:xfrm>
            <a:off x="256032" y="2651760"/>
            <a:ext cx="4206240" cy="512064"/>
          </a:xfrm>
          <a:prstGeom prst="rect">
            <a:avLst/>
          </a:prstGeom>
          <a:solidFill>
            <a:srgbClr val="FFFBEB"/>
          </a:solidFill>
          <a:ln w="10160">
            <a:solidFill>
              <a:srgbClr val="B45309"/>
            </a:solidFill>
            <a:prstDash val="solid"/>
          </a:ln>
        </p:spPr>
      </p:sp>
      <p:sp>
        <p:nvSpPr>
          <p:cNvPr id="20" name="Shape 18"/>
          <p:cNvSpPr/>
          <p:nvPr/>
        </p:nvSpPr>
        <p:spPr>
          <a:xfrm>
            <a:off x="256032" y="2651760"/>
            <a:ext cx="54864" cy="512064"/>
          </a:xfrm>
          <a:prstGeom prst="rect">
            <a:avLst/>
          </a:prstGeom>
          <a:solidFill>
            <a:srgbClr val="B45309"/>
          </a:solidFill>
          <a:ln w="12700">
            <a:solidFill>
              <a:srgbClr val="B45309"/>
            </a:solidFill>
            <a:prstDash val="solid"/>
          </a:ln>
        </p:spPr>
      </p:sp>
      <p:sp>
        <p:nvSpPr>
          <p:cNvPr id="21" name="Text 19"/>
          <p:cNvSpPr/>
          <p:nvPr/>
        </p:nvSpPr>
        <p:spPr>
          <a:xfrm>
            <a:off x="365760" y="2688336"/>
            <a:ext cx="4041648" cy="201168"/>
          </a:xfrm>
          <a:prstGeom prst="rect">
            <a:avLst/>
          </a:prstGeom>
          <a:noFill/>
          <a:ln/>
        </p:spPr>
        <p:txBody>
          <a:bodyPr wrap="square" rtlCol="0" anchor="ctr"/>
          <a:lstStyle/>
          <a:p>
            <a:pPr indent="0" marL="0">
              <a:buNone/>
            </a:pPr>
            <a:r>
              <a:rPr lang="en-US" sz="1000" b="1" dirty="0">
                <a:solidFill>
                  <a:srgbClr val="B45309"/>
                </a:solidFill>
                <a:latin typeface="Courier New" pitchFamily="34" charset="0"/>
                <a:ea typeface="Courier New" pitchFamily="34" charset="-122"/>
                <a:cs typeface="Courier New" pitchFamily="34" charset="-120"/>
              </a:rPr>
              <a:t>high24h</a:t>
            </a:r>
            <a:endParaRPr lang="en-US" sz="1000" dirty="0"/>
          </a:p>
        </p:txBody>
      </p:sp>
      <p:sp>
        <p:nvSpPr>
          <p:cNvPr id="22" name="Text 20"/>
          <p:cNvSpPr/>
          <p:nvPr/>
        </p:nvSpPr>
        <p:spPr>
          <a:xfrm>
            <a:off x="365760" y="2907792"/>
            <a:ext cx="4041648" cy="201168"/>
          </a:xfrm>
          <a:prstGeom prst="rect">
            <a:avLst/>
          </a:prstGeom>
          <a:noFill/>
          <a:ln/>
        </p:spPr>
        <p:txBody>
          <a:bodyPr wrap="square" rtlCol="0" anchor="ctr"/>
          <a:lstStyle/>
          <a:p>
            <a:pPr indent="0" marL="0">
              <a:buNone/>
            </a:pPr>
            <a:r>
              <a:rPr lang="en-US" sz="900" dirty="0">
                <a:solidFill>
                  <a:srgbClr val="1E293B"/>
                </a:solidFill>
              </a:rPr>
              <a:t>Highest price in the last 24 hours</a:t>
            </a:r>
            <a:endParaRPr lang="en-US" sz="900" dirty="0"/>
          </a:p>
        </p:txBody>
      </p:sp>
      <p:sp>
        <p:nvSpPr>
          <p:cNvPr id="23" name="Shape 21"/>
          <p:cNvSpPr/>
          <p:nvPr/>
        </p:nvSpPr>
        <p:spPr>
          <a:xfrm>
            <a:off x="256032" y="3236976"/>
            <a:ext cx="4206240" cy="512064"/>
          </a:xfrm>
          <a:prstGeom prst="rect">
            <a:avLst/>
          </a:prstGeom>
          <a:solidFill>
            <a:srgbClr val="FFFBEB"/>
          </a:solidFill>
          <a:ln w="10160">
            <a:solidFill>
              <a:srgbClr val="B45309"/>
            </a:solidFill>
            <a:prstDash val="solid"/>
          </a:ln>
        </p:spPr>
      </p:sp>
      <p:sp>
        <p:nvSpPr>
          <p:cNvPr id="24" name="Shape 22"/>
          <p:cNvSpPr/>
          <p:nvPr/>
        </p:nvSpPr>
        <p:spPr>
          <a:xfrm>
            <a:off x="256032" y="3236976"/>
            <a:ext cx="54864" cy="512064"/>
          </a:xfrm>
          <a:prstGeom prst="rect">
            <a:avLst/>
          </a:prstGeom>
          <a:solidFill>
            <a:srgbClr val="B45309"/>
          </a:solidFill>
          <a:ln w="12700">
            <a:solidFill>
              <a:srgbClr val="B45309"/>
            </a:solidFill>
            <a:prstDash val="solid"/>
          </a:ln>
        </p:spPr>
      </p:sp>
      <p:sp>
        <p:nvSpPr>
          <p:cNvPr id="25" name="Text 23"/>
          <p:cNvSpPr/>
          <p:nvPr/>
        </p:nvSpPr>
        <p:spPr>
          <a:xfrm>
            <a:off x="365760" y="3273552"/>
            <a:ext cx="4041648" cy="201168"/>
          </a:xfrm>
          <a:prstGeom prst="rect">
            <a:avLst/>
          </a:prstGeom>
          <a:noFill/>
          <a:ln/>
        </p:spPr>
        <p:txBody>
          <a:bodyPr wrap="square" rtlCol="0" anchor="ctr"/>
          <a:lstStyle/>
          <a:p>
            <a:pPr indent="0" marL="0">
              <a:buNone/>
            </a:pPr>
            <a:r>
              <a:rPr lang="en-US" sz="1000" b="1" dirty="0">
                <a:solidFill>
                  <a:srgbClr val="B45309"/>
                </a:solidFill>
                <a:latin typeface="Courier New" pitchFamily="34" charset="0"/>
                <a:ea typeface="Courier New" pitchFamily="34" charset="-122"/>
                <a:cs typeface="Courier New" pitchFamily="34" charset="-120"/>
              </a:rPr>
              <a:t>low24h</a:t>
            </a:r>
            <a:endParaRPr lang="en-US" sz="1000" dirty="0"/>
          </a:p>
        </p:txBody>
      </p:sp>
      <p:sp>
        <p:nvSpPr>
          <p:cNvPr id="26" name="Text 24"/>
          <p:cNvSpPr/>
          <p:nvPr/>
        </p:nvSpPr>
        <p:spPr>
          <a:xfrm>
            <a:off x="365760" y="3493008"/>
            <a:ext cx="4041648" cy="201168"/>
          </a:xfrm>
          <a:prstGeom prst="rect">
            <a:avLst/>
          </a:prstGeom>
          <a:noFill/>
          <a:ln/>
        </p:spPr>
        <p:txBody>
          <a:bodyPr wrap="square" rtlCol="0" anchor="ctr"/>
          <a:lstStyle/>
          <a:p>
            <a:pPr indent="0" marL="0">
              <a:buNone/>
            </a:pPr>
            <a:r>
              <a:rPr lang="en-US" sz="900" dirty="0">
                <a:solidFill>
                  <a:srgbClr val="1E293B"/>
                </a:solidFill>
              </a:rPr>
              <a:t>Lowest price in the last 24 hours</a:t>
            </a:r>
            <a:endParaRPr lang="en-US" sz="900" dirty="0"/>
          </a:p>
        </p:txBody>
      </p:sp>
      <p:sp>
        <p:nvSpPr>
          <p:cNvPr id="27" name="Shape 25"/>
          <p:cNvSpPr/>
          <p:nvPr/>
        </p:nvSpPr>
        <p:spPr>
          <a:xfrm>
            <a:off x="256032" y="3822192"/>
            <a:ext cx="4206240" cy="512064"/>
          </a:xfrm>
          <a:prstGeom prst="rect">
            <a:avLst/>
          </a:prstGeom>
          <a:solidFill>
            <a:srgbClr val="FFFBEB"/>
          </a:solidFill>
          <a:ln w="10160">
            <a:solidFill>
              <a:srgbClr val="B45309"/>
            </a:solidFill>
            <a:prstDash val="solid"/>
          </a:ln>
        </p:spPr>
      </p:sp>
      <p:sp>
        <p:nvSpPr>
          <p:cNvPr id="28" name="Shape 26"/>
          <p:cNvSpPr/>
          <p:nvPr/>
        </p:nvSpPr>
        <p:spPr>
          <a:xfrm>
            <a:off x="256032" y="3822192"/>
            <a:ext cx="54864" cy="512064"/>
          </a:xfrm>
          <a:prstGeom prst="rect">
            <a:avLst/>
          </a:prstGeom>
          <a:solidFill>
            <a:srgbClr val="B45309"/>
          </a:solidFill>
          <a:ln w="12700">
            <a:solidFill>
              <a:srgbClr val="B45309"/>
            </a:solidFill>
            <a:prstDash val="solid"/>
          </a:ln>
        </p:spPr>
      </p:sp>
      <p:sp>
        <p:nvSpPr>
          <p:cNvPr id="29" name="Text 27"/>
          <p:cNvSpPr/>
          <p:nvPr/>
        </p:nvSpPr>
        <p:spPr>
          <a:xfrm>
            <a:off x="365760" y="3858768"/>
            <a:ext cx="4041648" cy="201168"/>
          </a:xfrm>
          <a:prstGeom prst="rect">
            <a:avLst/>
          </a:prstGeom>
          <a:noFill/>
          <a:ln/>
        </p:spPr>
        <p:txBody>
          <a:bodyPr wrap="square" rtlCol="0" anchor="ctr"/>
          <a:lstStyle/>
          <a:p>
            <a:pPr indent="0" marL="0">
              <a:buNone/>
            </a:pPr>
            <a:r>
              <a:rPr lang="en-US" sz="1000" b="1" dirty="0">
                <a:solidFill>
                  <a:srgbClr val="B45309"/>
                </a:solidFill>
                <a:latin typeface="Courier New" pitchFamily="34" charset="0"/>
                <a:ea typeface="Courier New" pitchFamily="34" charset="-122"/>
                <a:cs typeface="Courier New" pitchFamily="34" charset="-120"/>
              </a:rPr>
              <a:t>ts</a:t>
            </a:r>
            <a:endParaRPr lang="en-US" sz="1000" dirty="0"/>
          </a:p>
        </p:txBody>
      </p:sp>
      <p:sp>
        <p:nvSpPr>
          <p:cNvPr id="30" name="Text 28"/>
          <p:cNvSpPr/>
          <p:nvPr/>
        </p:nvSpPr>
        <p:spPr>
          <a:xfrm>
            <a:off x="365760" y="4078224"/>
            <a:ext cx="4041648" cy="201168"/>
          </a:xfrm>
          <a:prstGeom prst="rect">
            <a:avLst/>
          </a:prstGeom>
          <a:noFill/>
          <a:ln/>
        </p:spPr>
        <p:txBody>
          <a:bodyPr wrap="square" rtlCol="0" anchor="ctr"/>
          <a:lstStyle/>
          <a:p>
            <a:pPr indent="0" marL="0">
              <a:buNone/>
            </a:pPr>
            <a:r>
              <a:rPr lang="en-US" sz="900" dirty="0">
                <a:solidFill>
                  <a:srgbClr val="1E293B"/>
                </a:solidFill>
              </a:rPr>
              <a:t>Timestamp — when this price was recorded (Unix ms)</a:t>
            </a:r>
            <a:endParaRPr lang="en-US" sz="900" dirty="0"/>
          </a:p>
        </p:txBody>
      </p:sp>
      <p:sp>
        <p:nvSpPr>
          <p:cNvPr id="31" name="Text 29"/>
          <p:cNvSpPr/>
          <p:nvPr/>
        </p:nvSpPr>
        <p:spPr>
          <a:xfrm>
            <a:off x="4645152" y="1188720"/>
            <a:ext cx="8686800" cy="256032"/>
          </a:xfrm>
          <a:prstGeom prst="rect">
            <a:avLst/>
          </a:prstGeom>
          <a:noFill/>
          <a:ln/>
        </p:spPr>
        <p:txBody>
          <a:bodyPr wrap="square" rtlCol="0" anchor="ctr"/>
          <a:lstStyle/>
          <a:p>
            <a:pPr indent="0" marL="0">
              <a:buNone/>
            </a:pPr>
            <a:r>
              <a:rPr lang="en-US" sz="1100" b="1" dirty="0">
                <a:solidFill>
                  <a:srgbClr val="B45309"/>
                </a:solidFill>
              </a:rPr>
              <a:t>Complete Python code:</a:t>
            </a:r>
            <a:endParaRPr lang="en-US" sz="1100" dirty="0"/>
          </a:p>
        </p:txBody>
      </p:sp>
      <p:sp>
        <p:nvSpPr>
          <p:cNvPr id="32" name="Shape 30"/>
          <p:cNvSpPr/>
          <p:nvPr/>
        </p:nvSpPr>
        <p:spPr>
          <a:xfrm>
            <a:off x="4645152" y="1481328"/>
            <a:ext cx="4242816" cy="2706624"/>
          </a:xfrm>
          <a:prstGeom prst="rect">
            <a:avLst/>
          </a:prstGeom>
          <a:solidFill>
            <a:srgbClr val="0F172A"/>
          </a:solidFill>
          <a:ln w="6350">
            <a:solidFill>
              <a:srgbClr val="334155"/>
            </a:solidFill>
            <a:prstDash val="solid"/>
          </a:ln>
        </p:spPr>
      </p:sp>
      <p:sp>
        <p:nvSpPr>
          <p:cNvPr id="33" name="Shape 31"/>
          <p:cNvSpPr/>
          <p:nvPr/>
        </p:nvSpPr>
        <p:spPr>
          <a:xfrm>
            <a:off x="4645152" y="1481328"/>
            <a:ext cx="54864" cy="2706624"/>
          </a:xfrm>
          <a:prstGeom prst="rect">
            <a:avLst/>
          </a:prstGeom>
          <a:solidFill>
            <a:srgbClr val="1D4ED8"/>
          </a:solidFill>
          <a:ln w="12700">
            <a:solidFill>
              <a:srgbClr val="1D4ED8"/>
            </a:solidFill>
            <a:prstDash val="solid"/>
          </a:ln>
        </p:spPr>
      </p:sp>
      <p:sp>
        <p:nvSpPr>
          <p:cNvPr id="34" name="Text 32"/>
          <p:cNvSpPr/>
          <p:nvPr/>
        </p:nvSpPr>
        <p:spPr>
          <a:xfrm>
            <a:off x="4773168" y="1554480"/>
            <a:ext cx="4059936" cy="2578608"/>
          </a:xfrm>
          <a:prstGeom prst="rect">
            <a:avLst/>
          </a:prstGeom>
          <a:noFill/>
          <a:ln/>
        </p:spPr>
        <p:txBody>
          <a:bodyPr wrap="square" rtlCol="0" anchor="t"/>
          <a:lstStyle/>
          <a:p>
            <a:pPr indent="0" marL="0">
              <a:buNone/>
            </a:pPr>
            <a:r>
              <a:rPr lang="en-US" sz="950" dirty="0">
                <a:solidFill>
                  <a:srgbClr val="E2E8F0"/>
                </a:solidFill>
                <a:latin typeface="Courier New" pitchFamily="34" charset="0"/>
                <a:ea typeface="Courier New" pitchFamily="34" charset="-122"/>
                <a:cs typeface="Courier New" pitchFamily="34" charset="-120"/>
              </a:rPr>
              <a:t>import requests</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import pandas as pd</a:t>
            </a:r>
            <a:endParaRPr lang="en-US" sz="950" dirty="0"/>
          </a:p>
          <a:p>
            <a:pPr indent="0" marL="0">
              <a:buNone/>
            </a:pP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def fetch_bitget_price(symbol="BTCUSDT"):</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url = (</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"https://api.bitget.com/api/v2/"</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f"spot/market/tickers?symbol={symbol}"</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response = requests.get(url)</a:t>
            </a:r>
            <a:endParaRPr lang="en-US" sz="950" dirty="0"/>
          </a:p>
          <a:p>
            <a:pPr indent="0" marL="0">
              <a:buNone/>
            </a:pP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if response.status_code == 200:</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data        = response.json()</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ticker_list = data.get('data', [])</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df          = pd.DataFrame(ticker_list)</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return df[['symbol','lastPr',</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'high24h','low24h','ts']]</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else:</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return "Error: " + str(response.status_code)</a:t>
            </a:r>
            <a:endParaRPr lang="en-US" sz="950" dirty="0"/>
          </a:p>
          <a:p>
            <a:pPr indent="0" marL="0">
              <a:buNone/>
            </a:pP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print(fetch_bitget_price("BTCUSDT"))</a:t>
            </a:r>
            <a:endParaRPr lang="en-US" sz="950" dirty="0"/>
          </a:p>
        </p:txBody>
      </p:sp>
      <p:sp>
        <p:nvSpPr>
          <p:cNvPr id="35" name="Text 33"/>
          <p:cNvSpPr/>
          <p:nvPr/>
        </p:nvSpPr>
        <p:spPr>
          <a:xfrm>
            <a:off x="4645152" y="4279392"/>
            <a:ext cx="8686800" cy="256032"/>
          </a:xfrm>
          <a:prstGeom prst="rect">
            <a:avLst/>
          </a:prstGeom>
          <a:noFill/>
          <a:ln/>
        </p:spPr>
        <p:txBody>
          <a:bodyPr wrap="square" rtlCol="0" anchor="ctr"/>
          <a:lstStyle/>
          <a:p>
            <a:pPr indent="0" marL="0">
              <a:buNone/>
            </a:pPr>
            <a:r>
              <a:rPr lang="en-US" sz="1100" b="1" dirty="0">
                <a:solidFill>
                  <a:srgbClr val="B45309"/>
                </a:solidFill>
              </a:rPr>
              <a:t>Live output:</a:t>
            </a:r>
            <a:endParaRPr lang="en-US" sz="1100" dirty="0"/>
          </a:p>
        </p:txBody>
      </p:sp>
      <p:sp>
        <p:nvSpPr>
          <p:cNvPr id="36" name="Shape 34"/>
          <p:cNvSpPr/>
          <p:nvPr/>
        </p:nvSpPr>
        <p:spPr>
          <a:xfrm>
            <a:off x="4645152" y="4553712"/>
            <a:ext cx="4242816" cy="457200"/>
          </a:xfrm>
          <a:prstGeom prst="rect">
            <a:avLst/>
          </a:prstGeom>
          <a:solidFill>
            <a:srgbClr val="0F172A"/>
          </a:solidFill>
          <a:ln w="6350">
            <a:solidFill>
              <a:srgbClr val="334155"/>
            </a:solidFill>
            <a:prstDash val="solid"/>
          </a:ln>
        </p:spPr>
      </p:sp>
      <p:sp>
        <p:nvSpPr>
          <p:cNvPr id="37" name="Shape 35"/>
          <p:cNvSpPr/>
          <p:nvPr/>
        </p:nvSpPr>
        <p:spPr>
          <a:xfrm>
            <a:off x="4645152" y="4553712"/>
            <a:ext cx="54864" cy="457200"/>
          </a:xfrm>
          <a:prstGeom prst="rect">
            <a:avLst/>
          </a:prstGeom>
          <a:solidFill>
            <a:srgbClr val="1D4ED8"/>
          </a:solidFill>
          <a:ln w="12700">
            <a:solidFill>
              <a:srgbClr val="1D4ED8"/>
            </a:solidFill>
            <a:prstDash val="solid"/>
          </a:ln>
        </p:spPr>
      </p:sp>
      <p:sp>
        <p:nvSpPr>
          <p:cNvPr id="38" name="Text 36"/>
          <p:cNvSpPr/>
          <p:nvPr/>
        </p:nvSpPr>
        <p:spPr>
          <a:xfrm>
            <a:off x="4773168" y="4626864"/>
            <a:ext cx="4059936" cy="329184"/>
          </a:xfrm>
          <a:prstGeom prst="rect">
            <a:avLst/>
          </a:prstGeom>
          <a:noFill/>
          <a:ln/>
        </p:spPr>
        <p:txBody>
          <a:bodyPr wrap="square" rtlCol="0" anchor="t"/>
          <a:lstStyle/>
          <a:p>
            <a:pPr indent="0" marL="0">
              <a:buNone/>
            </a:pPr>
            <a:r>
              <a:rPr lang="en-US" sz="950" dirty="0">
                <a:solidFill>
                  <a:srgbClr val="E2E8F0"/>
                </a:solidFill>
                <a:latin typeface="Courier New" pitchFamily="34" charset="0"/>
                <a:ea typeface="Courier New" pitchFamily="34" charset="-122"/>
                <a:cs typeface="Courier New" pitchFamily="34" charset="-120"/>
              </a:rPr>
              <a:t>   symbol   lastPr    high24h   low24h    ts</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0  BTCUSDT  78373.13  81009.24  78373.22  1778915561171</a:t>
            </a:r>
            <a:endParaRPr lang="en-US" sz="950" dirty="0"/>
          </a:p>
        </p:txBody>
      </p:sp>
      <p:sp>
        <p:nvSpPr>
          <p:cNvPr id="39" name="Shape 37"/>
          <p:cNvSpPr/>
          <p:nvPr/>
        </p:nvSpPr>
        <p:spPr>
          <a:xfrm>
            <a:off x="256032" y="5138928"/>
            <a:ext cx="8631936" cy="329184"/>
          </a:xfrm>
          <a:prstGeom prst="rect">
            <a:avLst/>
          </a:prstGeom>
          <a:solidFill>
            <a:srgbClr val="FFFBEB"/>
          </a:solidFill>
          <a:ln w="10160">
            <a:solidFill>
              <a:srgbClr val="B45309"/>
            </a:solidFill>
            <a:prstDash val="solid"/>
          </a:ln>
        </p:spPr>
      </p:sp>
      <p:sp>
        <p:nvSpPr>
          <p:cNvPr id="40" name="Shape 38"/>
          <p:cNvSpPr/>
          <p:nvPr/>
        </p:nvSpPr>
        <p:spPr>
          <a:xfrm>
            <a:off x="256032" y="5138928"/>
            <a:ext cx="54864" cy="329184"/>
          </a:xfrm>
          <a:prstGeom prst="rect">
            <a:avLst/>
          </a:prstGeom>
          <a:solidFill>
            <a:srgbClr val="B45309"/>
          </a:solidFill>
          <a:ln w="12700">
            <a:solidFill>
              <a:srgbClr val="B45309"/>
            </a:solidFill>
            <a:prstDash val="solid"/>
          </a:ln>
        </p:spPr>
      </p:sp>
      <p:sp>
        <p:nvSpPr>
          <p:cNvPr id="41" name="Text 39"/>
          <p:cNvSpPr/>
          <p:nvPr/>
        </p:nvSpPr>
        <p:spPr>
          <a:xfrm>
            <a:off x="384048" y="5138928"/>
            <a:ext cx="8449056" cy="329184"/>
          </a:xfrm>
          <a:prstGeom prst="rect">
            <a:avLst/>
          </a:prstGeom>
          <a:noFill/>
          <a:ln/>
        </p:spPr>
        <p:txBody>
          <a:bodyPr wrap="square" rtlCol="0" anchor="ctr"/>
          <a:lstStyle/>
          <a:p>
            <a:pPr indent="0" marL="0">
              <a:buNone/>
            </a:pPr>
            <a:r>
              <a:rPr lang="en-US" sz="1000" dirty="0">
                <a:solidFill>
                  <a:srgbClr val="1E293B"/>
                </a:solidFill>
              </a:rPr>
              <a:t>Run the same code 30 seconds later — lastPr will be a different number. That is what LIVE data means.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172A"/>
          </a:solidFill>
          <a:ln w="12700">
            <a:solidFill>
              <a:srgbClr val="0F172A"/>
            </a:solidFill>
            <a:prstDash val="solid"/>
          </a:ln>
        </p:spPr>
      </p:sp>
      <p:sp>
        <p:nvSpPr>
          <p:cNvPr id="3" name="Shape 1"/>
          <p:cNvSpPr/>
          <p:nvPr/>
        </p:nvSpPr>
        <p:spPr>
          <a:xfrm>
            <a:off x="0" y="0"/>
            <a:ext cx="64008" cy="640080"/>
          </a:xfrm>
          <a:prstGeom prst="rect">
            <a:avLst/>
          </a:prstGeom>
          <a:solidFill>
            <a:srgbClr val="6D28D9"/>
          </a:solidFill>
          <a:ln w="12700">
            <a:solidFill>
              <a:srgbClr val="6D28D9"/>
            </a:solidFill>
            <a:prstDash val="solid"/>
          </a:ln>
        </p:spPr>
      </p:sp>
      <p:sp>
        <p:nvSpPr>
          <p:cNvPr id="4" name="Text 2"/>
          <p:cNvSpPr/>
          <p:nvPr/>
        </p:nvSpPr>
        <p:spPr>
          <a:xfrm>
            <a:off x="109728" y="0"/>
            <a:ext cx="475488" cy="640080"/>
          </a:xfrm>
          <a:prstGeom prst="rect">
            <a:avLst/>
          </a:prstGeom>
          <a:noFill/>
          <a:ln/>
        </p:spPr>
        <p:txBody>
          <a:bodyPr wrap="square" rtlCol="0" anchor="ctr"/>
          <a:lstStyle/>
          <a:p>
            <a:pPr algn="ctr" indent="0" marL="0">
              <a:buNone/>
            </a:pPr>
            <a:r>
              <a:rPr lang="en-US" sz="1600" b="1" dirty="0">
                <a:solidFill>
                  <a:srgbClr val="FFFFFF"/>
                </a:solidFill>
              </a:rPr>
              <a:t>05</a:t>
            </a:r>
            <a:endParaRPr lang="en-US" sz="1600" dirty="0"/>
          </a:p>
        </p:txBody>
      </p:sp>
      <p:sp>
        <p:nvSpPr>
          <p:cNvPr id="5" name="Text 3"/>
          <p:cNvSpPr/>
          <p:nvPr/>
        </p:nvSpPr>
        <p:spPr>
          <a:xfrm>
            <a:off x="658368" y="18288"/>
            <a:ext cx="8138160" cy="347472"/>
          </a:xfrm>
          <a:prstGeom prst="rect">
            <a:avLst/>
          </a:prstGeom>
          <a:noFill/>
          <a:ln/>
        </p:spPr>
        <p:txBody>
          <a:bodyPr wrap="square" rtlCol="0" anchor="ctr"/>
          <a:lstStyle/>
          <a:p>
            <a:pPr indent="0" marL="0">
              <a:buNone/>
            </a:pPr>
            <a:r>
              <a:rPr lang="en-US" sz="1900" b="1" dirty="0">
                <a:solidFill>
                  <a:srgbClr val="FFFFFF"/>
                </a:solidFill>
              </a:rPr>
              <a:t>Power BI — Phase 1: Create a Dynamic Parameter</a:t>
            </a:r>
            <a:endParaRPr lang="en-US" sz="1900" dirty="0"/>
          </a:p>
        </p:txBody>
      </p:sp>
      <p:sp>
        <p:nvSpPr>
          <p:cNvPr id="6" name="Text 4"/>
          <p:cNvSpPr/>
          <p:nvPr/>
        </p:nvSpPr>
        <p:spPr>
          <a:xfrm>
            <a:off x="658368" y="402336"/>
            <a:ext cx="8138160" cy="237744"/>
          </a:xfrm>
          <a:prstGeom prst="rect">
            <a:avLst/>
          </a:prstGeom>
          <a:noFill/>
          <a:ln/>
        </p:spPr>
        <p:txBody>
          <a:bodyPr wrap="square" rtlCol="0" anchor="ctr"/>
          <a:lstStyle/>
          <a:p>
            <a:pPr indent="0" marL="0">
              <a:buNone/>
            </a:pPr>
            <a:r>
              <a:rPr lang="en-US" sz="1000" dirty="0">
                <a:solidFill>
                  <a:srgbClr val="94A3B8"/>
                </a:solidFill>
              </a:rPr>
              <a:t>A Parameter lets users change the country name without editing any code</a:t>
            </a:r>
            <a:endParaRPr lang="en-US" sz="1000" dirty="0"/>
          </a:p>
        </p:txBody>
      </p:sp>
      <p:sp>
        <p:nvSpPr>
          <p:cNvPr id="7" name="Shape 5"/>
          <p:cNvSpPr/>
          <p:nvPr/>
        </p:nvSpPr>
        <p:spPr>
          <a:xfrm>
            <a:off x="256032" y="768096"/>
            <a:ext cx="8631936" cy="329184"/>
          </a:xfrm>
          <a:prstGeom prst="rect">
            <a:avLst/>
          </a:prstGeom>
          <a:solidFill>
            <a:srgbClr val="F5F3FF"/>
          </a:solidFill>
          <a:ln w="10160">
            <a:solidFill>
              <a:srgbClr val="6D28D9"/>
            </a:solidFill>
            <a:prstDash val="solid"/>
          </a:ln>
        </p:spPr>
      </p:sp>
      <p:sp>
        <p:nvSpPr>
          <p:cNvPr id="8" name="Shape 6"/>
          <p:cNvSpPr/>
          <p:nvPr/>
        </p:nvSpPr>
        <p:spPr>
          <a:xfrm>
            <a:off x="256032" y="768096"/>
            <a:ext cx="54864" cy="329184"/>
          </a:xfrm>
          <a:prstGeom prst="rect">
            <a:avLst/>
          </a:prstGeom>
          <a:solidFill>
            <a:srgbClr val="6D28D9"/>
          </a:solidFill>
          <a:ln w="12700">
            <a:solidFill>
              <a:srgbClr val="6D28D9"/>
            </a:solidFill>
            <a:prstDash val="solid"/>
          </a:ln>
        </p:spPr>
      </p:sp>
      <p:sp>
        <p:nvSpPr>
          <p:cNvPr id="9" name="Text 7"/>
          <p:cNvSpPr/>
          <p:nvPr/>
        </p:nvSpPr>
        <p:spPr>
          <a:xfrm>
            <a:off x="384048" y="768096"/>
            <a:ext cx="8449056" cy="329184"/>
          </a:xfrm>
          <a:prstGeom prst="rect">
            <a:avLst/>
          </a:prstGeom>
          <a:noFill/>
          <a:ln/>
        </p:spPr>
        <p:txBody>
          <a:bodyPr wrap="square" rtlCol="0" anchor="ctr"/>
          <a:lstStyle/>
          <a:p>
            <a:pPr indent="0" marL="0">
              <a:buNone/>
            </a:pPr>
            <a:r>
              <a:rPr lang="en-US" sz="1000" dirty="0">
                <a:solidFill>
                  <a:srgbClr val="1E293B"/>
                </a:solidFill>
              </a:rPr>
              <a:t>Instead of hardcoding  "Nepal"  in the URL, a Parameter lets users type any country name and refresh.</a:t>
            </a:r>
            <a:endParaRPr lang="en-US" sz="1000" dirty="0"/>
          </a:p>
        </p:txBody>
      </p:sp>
      <p:sp>
        <p:nvSpPr>
          <p:cNvPr id="10" name="Text 8"/>
          <p:cNvSpPr/>
          <p:nvPr/>
        </p:nvSpPr>
        <p:spPr>
          <a:xfrm>
            <a:off x="256032" y="1188720"/>
            <a:ext cx="8686800" cy="256032"/>
          </a:xfrm>
          <a:prstGeom prst="rect">
            <a:avLst/>
          </a:prstGeom>
          <a:noFill/>
          <a:ln/>
        </p:spPr>
        <p:txBody>
          <a:bodyPr wrap="square" rtlCol="0" anchor="ctr"/>
          <a:lstStyle/>
          <a:p>
            <a:pPr indent="0" marL="0">
              <a:buNone/>
            </a:pPr>
            <a:r>
              <a:rPr lang="en-US" sz="1100" b="1" dirty="0">
                <a:solidFill>
                  <a:srgbClr val="6D28D9"/>
                </a:solidFill>
              </a:rPr>
              <a:t>What is a Parameter in Power BI?</a:t>
            </a:r>
            <a:endParaRPr lang="en-US" sz="1100" dirty="0"/>
          </a:p>
        </p:txBody>
      </p:sp>
      <p:sp>
        <p:nvSpPr>
          <p:cNvPr id="11" name="Shape 9"/>
          <p:cNvSpPr/>
          <p:nvPr/>
        </p:nvSpPr>
        <p:spPr>
          <a:xfrm>
            <a:off x="256032" y="1481328"/>
            <a:ext cx="4206240" cy="914400"/>
          </a:xfrm>
          <a:prstGeom prst="rect">
            <a:avLst/>
          </a:prstGeom>
          <a:solidFill>
            <a:srgbClr val="F5F3FF"/>
          </a:solidFill>
          <a:ln w="10160">
            <a:solidFill>
              <a:srgbClr val="6D28D9"/>
            </a:solidFill>
            <a:prstDash val="solid"/>
          </a:ln>
        </p:spPr>
      </p:sp>
      <p:sp>
        <p:nvSpPr>
          <p:cNvPr id="12" name="Shape 10"/>
          <p:cNvSpPr/>
          <p:nvPr/>
        </p:nvSpPr>
        <p:spPr>
          <a:xfrm>
            <a:off x="256032" y="1481328"/>
            <a:ext cx="54864" cy="914400"/>
          </a:xfrm>
          <a:prstGeom prst="rect">
            <a:avLst/>
          </a:prstGeom>
          <a:solidFill>
            <a:srgbClr val="6D28D9"/>
          </a:solidFill>
          <a:ln w="12700">
            <a:solidFill>
              <a:srgbClr val="6D28D9"/>
            </a:solidFill>
            <a:prstDash val="solid"/>
          </a:ln>
        </p:spPr>
      </p:sp>
      <p:sp>
        <p:nvSpPr>
          <p:cNvPr id="13" name="Text 11"/>
          <p:cNvSpPr/>
          <p:nvPr/>
        </p:nvSpPr>
        <p:spPr>
          <a:xfrm>
            <a:off x="365760" y="1517904"/>
            <a:ext cx="4005072" cy="822960"/>
          </a:xfrm>
          <a:prstGeom prst="rect">
            <a:avLst/>
          </a:prstGeom>
          <a:noFill/>
          <a:ln/>
        </p:spPr>
        <p:txBody>
          <a:bodyPr wrap="square" rtlCol="0" anchor="ctr"/>
          <a:lstStyle/>
          <a:p>
            <a:pPr indent="0" marL="0">
              <a:buNone/>
            </a:pPr>
            <a:r>
              <a:rPr lang="en-US" sz="950" dirty="0">
                <a:solidFill>
                  <a:srgbClr val="1E293B"/>
                </a:solidFill>
              </a:rPr>
              <a:t>A Parameter is like a variable in Power BI — it stores a value you can change from the UI without touching the query code. When you change CountryParam from Nepal to India and click Refresh, the API is called with India and the table updates automatically.</a:t>
            </a:r>
            <a:endParaRPr lang="en-US" sz="950" dirty="0"/>
          </a:p>
        </p:txBody>
      </p:sp>
      <p:sp>
        <p:nvSpPr>
          <p:cNvPr id="14" name="Text 12"/>
          <p:cNvSpPr/>
          <p:nvPr/>
        </p:nvSpPr>
        <p:spPr>
          <a:xfrm>
            <a:off x="256032" y="2523744"/>
            <a:ext cx="8686800" cy="256032"/>
          </a:xfrm>
          <a:prstGeom prst="rect">
            <a:avLst/>
          </a:prstGeom>
          <a:noFill/>
          <a:ln/>
        </p:spPr>
        <p:txBody>
          <a:bodyPr wrap="square" rtlCol="0" anchor="ctr"/>
          <a:lstStyle/>
          <a:p>
            <a:pPr indent="0" marL="0">
              <a:buNone/>
            </a:pPr>
            <a:r>
              <a:rPr lang="en-US" sz="1100" b="1" dirty="0">
                <a:solidFill>
                  <a:srgbClr val="6D28D9"/>
                </a:solidFill>
              </a:rPr>
              <a:t>Parameter settings to use:</a:t>
            </a:r>
            <a:endParaRPr lang="en-US" sz="1100" dirty="0"/>
          </a:p>
        </p:txBody>
      </p:sp>
      <p:sp>
        <p:nvSpPr>
          <p:cNvPr id="15" name="Shape 13"/>
          <p:cNvSpPr/>
          <p:nvPr/>
        </p:nvSpPr>
        <p:spPr>
          <a:xfrm>
            <a:off x="256032" y="2816352"/>
            <a:ext cx="4206240" cy="329184"/>
          </a:xfrm>
          <a:prstGeom prst="rect">
            <a:avLst/>
          </a:prstGeom>
          <a:solidFill>
            <a:srgbClr val="F5F3FF"/>
          </a:solidFill>
          <a:ln w="6350">
            <a:solidFill>
              <a:srgbClr val="E2E8F0"/>
            </a:solidFill>
            <a:prstDash val="solid"/>
          </a:ln>
        </p:spPr>
      </p:sp>
      <p:sp>
        <p:nvSpPr>
          <p:cNvPr id="16" name="Shape 14"/>
          <p:cNvSpPr/>
          <p:nvPr/>
        </p:nvSpPr>
        <p:spPr>
          <a:xfrm>
            <a:off x="256032" y="2816352"/>
            <a:ext cx="54864" cy="329184"/>
          </a:xfrm>
          <a:prstGeom prst="rect">
            <a:avLst/>
          </a:prstGeom>
          <a:solidFill>
            <a:srgbClr val="6D28D9"/>
          </a:solidFill>
          <a:ln w="12700">
            <a:solidFill>
              <a:srgbClr val="6D28D9"/>
            </a:solidFill>
            <a:prstDash val="solid"/>
          </a:ln>
        </p:spPr>
      </p:sp>
      <p:sp>
        <p:nvSpPr>
          <p:cNvPr id="17" name="Text 15"/>
          <p:cNvSpPr/>
          <p:nvPr/>
        </p:nvSpPr>
        <p:spPr>
          <a:xfrm>
            <a:off x="365760" y="2816352"/>
            <a:ext cx="1097280" cy="329184"/>
          </a:xfrm>
          <a:prstGeom prst="rect">
            <a:avLst/>
          </a:prstGeom>
          <a:noFill/>
          <a:ln/>
        </p:spPr>
        <p:txBody>
          <a:bodyPr wrap="square" rtlCol="0" anchor="ctr"/>
          <a:lstStyle/>
          <a:p>
            <a:pPr indent="0" marL="0">
              <a:buNone/>
            </a:pPr>
            <a:r>
              <a:rPr lang="en-US" sz="1000" b="1" dirty="0">
                <a:solidFill>
                  <a:srgbClr val="6D28D9"/>
                </a:solidFill>
              </a:rPr>
              <a:t>Name:</a:t>
            </a:r>
            <a:endParaRPr lang="en-US" sz="1000" dirty="0"/>
          </a:p>
        </p:txBody>
      </p:sp>
      <p:sp>
        <p:nvSpPr>
          <p:cNvPr id="18" name="Text 16"/>
          <p:cNvSpPr/>
          <p:nvPr/>
        </p:nvSpPr>
        <p:spPr>
          <a:xfrm>
            <a:off x="1499616" y="2816352"/>
            <a:ext cx="2871216" cy="329184"/>
          </a:xfrm>
          <a:prstGeom prst="rect">
            <a:avLst/>
          </a:prstGeom>
          <a:noFill/>
          <a:ln/>
        </p:spPr>
        <p:txBody>
          <a:bodyPr wrap="square" rtlCol="0" anchor="ctr"/>
          <a:lstStyle/>
          <a:p>
            <a:pPr indent="0" marL="0">
              <a:buNone/>
            </a:pPr>
            <a:r>
              <a:rPr lang="en-US" sz="1000" dirty="0">
                <a:solidFill>
                  <a:srgbClr val="1E293B"/>
                </a:solidFill>
                <a:latin typeface="Courier New" pitchFamily="34" charset="0"/>
                <a:ea typeface="Courier New" pitchFamily="34" charset="-122"/>
                <a:cs typeface="Courier New" pitchFamily="34" charset="-120"/>
              </a:rPr>
              <a:t>CountryParam</a:t>
            </a:r>
            <a:endParaRPr lang="en-US" sz="1000" dirty="0"/>
          </a:p>
        </p:txBody>
      </p:sp>
      <p:sp>
        <p:nvSpPr>
          <p:cNvPr id="19" name="Shape 17"/>
          <p:cNvSpPr/>
          <p:nvPr/>
        </p:nvSpPr>
        <p:spPr>
          <a:xfrm>
            <a:off x="256032" y="3218688"/>
            <a:ext cx="4206240" cy="329184"/>
          </a:xfrm>
          <a:prstGeom prst="rect">
            <a:avLst/>
          </a:prstGeom>
          <a:solidFill>
            <a:srgbClr val="FFFFFF"/>
          </a:solidFill>
          <a:ln w="6350">
            <a:solidFill>
              <a:srgbClr val="E2E8F0"/>
            </a:solidFill>
            <a:prstDash val="solid"/>
          </a:ln>
        </p:spPr>
      </p:sp>
      <p:sp>
        <p:nvSpPr>
          <p:cNvPr id="20" name="Shape 18"/>
          <p:cNvSpPr/>
          <p:nvPr/>
        </p:nvSpPr>
        <p:spPr>
          <a:xfrm>
            <a:off x="256032" y="3218688"/>
            <a:ext cx="54864" cy="329184"/>
          </a:xfrm>
          <a:prstGeom prst="rect">
            <a:avLst/>
          </a:prstGeom>
          <a:solidFill>
            <a:srgbClr val="6D28D9"/>
          </a:solidFill>
          <a:ln w="12700">
            <a:solidFill>
              <a:srgbClr val="6D28D9"/>
            </a:solidFill>
            <a:prstDash val="solid"/>
          </a:ln>
        </p:spPr>
      </p:sp>
      <p:sp>
        <p:nvSpPr>
          <p:cNvPr id="21" name="Text 19"/>
          <p:cNvSpPr/>
          <p:nvPr/>
        </p:nvSpPr>
        <p:spPr>
          <a:xfrm>
            <a:off x="365760" y="3218688"/>
            <a:ext cx="1097280" cy="329184"/>
          </a:xfrm>
          <a:prstGeom prst="rect">
            <a:avLst/>
          </a:prstGeom>
          <a:noFill/>
          <a:ln/>
        </p:spPr>
        <p:txBody>
          <a:bodyPr wrap="square" rtlCol="0" anchor="ctr"/>
          <a:lstStyle/>
          <a:p>
            <a:pPr indent="0" marL="0">
              <a:buNone/>
            </a:pPr>
            <a:r>
              <a:rPr lang="en-US" sz="1000" b="1" dirty="0">
                <a:solidFill>
                  <a:srgbClr val="6D28D9"/>
                </a:solidFill>
              </a:rPr>
              <a:t>Type:</a:t>
            </a:r>
            <a:endParaRPr lang="en-US" sz="1000" dirty="0"/>
          </a:p>
        </p:txBody>
      </p:sp>
      <p:sp>
        <p:nvSpPr>
          <p:cNvPr id="22" name="Text 20"/>
          <p:cNvSpPr/>
          <p:nvPr/>
        </p:nvSpPr>
        <p:spPr>
          <a:xfrm>
            <a:off x="1499616" y="3218688"/>
            <a:ext cx="2871216" cy="329184"/>
          </a:xfrm>
          <a:prstGeom prst="rect">
            <a:avLst/>
          </a:prstGeom>
          <a:noFill/>
          <a:ln/>
        </p:spPr>
        <p:txBody>
          <a:bodyPr wrap="square" rtlCol="0" anchor="ctr"/>
          <a:lstStyle/>
          <a:p>
            <a:pPr indent="0" marL="0">
              <a:buNone/>
            </a:pPr>
            <a:r>
              <a:rPr lang="en-US" sz="1000" dirty="0">
                <a:solidFill>
                  <a:srgbClr val="1E293B"/>
                </a:solidFill>
                <a:latin typeface="Courier New" pitchFamily="34" charset="0"/>
                <a:ea typeface="Courier New" pitchFamily="34" charset="-122"/>
                <a:cs typeface="Courier New" pitchFamily="34" charset="-120"/>
              </a:rPr>
              <a:t>Text</a:t>
            </a:r>
            <a:endParaRPr lang="en-US" sz="1000" dirty="0"/>
          </a:p>
        </p:txBody>
      </p:sp>
      <p:sp>
        <p:nvSpPr>
          <p:cNvPr id="23" name="Shape 21"/>
          <p:cNvSpPr/>
          <p:nvPr/>
        </p:nvSpPr>
        <p:spPr>
          <a:xfrm>
            <a:off x="256032" y="3621024"/>
            <a:ext cx="4206240" cy="329184"/>
          </a:xfrm>
          <a:prstGeom prst="rect">
            <a:avLst/>
          </a:prstGeom>
          <a:solidFill>
            <a:srgbClr val="F5F3FF"/>
          </a:solidFill>
          <a:ln w="6350">
            <a:solidFill>
              <a:srgbClr val="E2E8F0"/>
            </a:solidFill>
            <a:prstDash val="solid"/>
          </a:ln>
        </p:spPr>
      </p:sp>
      <p:sp>
        <p:nvSpPr>
          <p:cNvPr id="24" name="Shape 22"/>
          <p:cNvSpPr/>
          <p:nvPr/>
        </p:nvSpPr>
        <p:spPr>
          <a:xfrm>
            <a:off x="256032" y="3621024"/>
            <a:ext cx="54864" cy="329184"/>
          </a:xfrm>
          <a:prstGeom prst="rect">
            <a:avLst/>
          </a:prstGeom>
          <a:solidFill>
            <a:srgbClr val="6D28D9"/>
          </a:solidFill>
          <a:ln w="12700">
            <a:solidFill>
              <a:srgbClr val="6D28D9"/>
            </a:solidFill>
            <a:prstDash val="solid"/>
          </a:ln>
        </p:spPr>
      </p:sp>
      <p:sp>
        <p:nvSpPr>
          <p:cNvPr id="25" name="Text 23"/>
          <p:cNvSpPr/>
          <p:nvPr/>
        </p:nvSpPr>
        <p:spPr>
          <a:xfrm>
            <a:off x="365760" y="3621024"/>
            <a:ext cx="1097280" cy="329184"/>
          </a:xfrm>
          <a:prstGeom prst="rect">
            <a:avLst/>
          </a:prstGeom>
          <a:noFill/>
          <a:ln/>
        </p:spPr>
        <p:txBody>
          <a:bodyPr wrap="square" rtlCol="0" anchor="ctr"/>
          <a:lstStyle/>
          <a:p>
            <a:pPr indent="0" marL="0">
              <a:buNone/>
            </a:pPr>
            <a:r>
              <a:rPr lang="en-US" sz="1000" b="1" dirty="0">
                <a:solidFill>
                  <a:srgbClr val="6D28D9"/>
                </a:solidFill>
              </a:rPr>
              <a:t>Current Value:</a:t>
            </a:r>
            <a:endParaRPr lang="en-US" sz="1000" dirty="0"/>
          </a:p>
        </p:txBody>
      </p:sp>
      <p:sp>
        <p:nvSpPr>
          <p:cNvPr id="26" name="Text 24"/>
          <p:cNvSpPr/>
          <p:nvPr/>
        </p:nvSpPr>
        <p:spPr>
          <a:xfrm>
            <a:off x="1499616" y="3621024"/>
            <a:ext cx="2871216" cy="329184"/>
          </a:xfrm>
          <a:prstGeom prst="rect">
            <a:avLst/>
          </a:prstGeom>
          <a:noFill/>
          <a:ln/>
        </p:spPr>
        <p:txBody>
          <a:bodyPr wrap="square" rtlCol="0" anchor="ctr"/>
          <a:lstStyle/>
          <a:p>
            <a:pPr indent="0" marL="0">
              <a:buNone/>
            </a:pPr>
            <a:r>
              <a:rPr lang="en-US" sz="1000" dirty="0">
                <a:solidFill>
                  <a:srgbClr val="1E293B"/>
                </a:solidFill>
                <a:latin typeface="Courier New" pitchFamily="34" charset="0"/>
                <a:ea typeface="Courier New" pitchFamily="34" charset="-122"/>
                <a:cs typeface="Courier New" pitchFamily="34" charset="-120"/>
              </a:rPr>
              <a:t>Nepal</a:t>
            </a:r>
            <a:endParaRPr lang="en-US" sz="1000" dirty="0"/>
          </a:p>
        </p:txBody>
      </p:sp>
      <p:sp>
        <p:nvSpPr>
          <p:cNvPr id="27" name="Text 25"/>
          <p:cNvSpPr/>
          <p:nvPr/>
        </p:nvSpPr>
        <p:spPr>
          <a:xfrm>
            <a:off x="4645152" y="1188720"/>
            <a:ext cx="8686800" cy="256032"/>
          </a:xfrm>
          <a:prstGeom prst="rect">
            <a:avLst/>
          </a:prstGeom>
          <a:noFill/>
          <a:ln/>
        </p:spPr>
        <p:txBody>
          <a:bodyPr wrap="square" rtlCol="0" anchor="ctr"/>
          <a:lstStyle/>
          <a:p>
            <a:pPr indent="0" marL="0">
              <a:buNone/>
            </a:pPr>
            <a:r>
              <a:rPr lang="en-US" sz="1100" b="1" dirty="0">
                <a:solidFill>
                  <a:srgbClr val="6D28D9"/>
                </a:solidFill>
              </a:rPr>
              <a:t>Steps in Power BI:</a:t>
            </a:r>
            <a:endParaRPr lang="en-US" sz="1100" dirty="0"/>
          </a:p>
        </p:txBody>
      </p:sp>
      <p:sp>
        <p:nvSpPr>
          <p:cNvPr id="28" name="Shape 26"/>
          <p:cNvSpPr/>
          <p:nvPr/>
        </p:nvSpPr>
        <p:spPr>
          <a:xfrm>
            <a:off x="4645152" y="1481328"/>
            <a:ext cx="4242816" cy="292608"/>
          </a:xfrm>
          <a:prstGeom prst="rect">
            <a:avLst/>
          </a:prstGeom>
          <a:solidFill>
            <a:srgbClr val="F5F3FF"/>
          </a:solidFill>
          <a:ln w="6350">
            <a:solidFill>
              <a:srgbClr val="E2E8F0"/>
            </a:solidFill>
            <a:prstDash val="solid"/>
          </a:ln>
        </p:spPr>
      </p:sp>
      <p:sp>
        <p:nvSpPr>
          <p:cNvPr id="29" name="Shape 27"/>
          <p:cNvSpPr/>
          <p:nvPr/>
        </p:nvSpPr>
        <p:spPr>
          <a:xfrm>
            <a:off x="4645152" y="1481328"/>
            <a:ext cx="54864" cy="292608"/>
          </a:xfrm>
          <a:prstGeom prst="rect">
            <a:avLst/>
          </a:prstGeom>
          <a:solidFill>
            <a:srgbClr val="6D28D9"/>
          </a:solidFill>
          <a:ln w="12700">
            <a:solidFill>
              <a:srgbClr val="6D28D9"/>
            </a:solidFill>
            <a:prstDash val="solid"/>
          </a:ln>
        </p:spPr>
      </p:sp>
      <p:sp>
        <p:nvSpPr>
          <p:cNvPr id="30" name="Shape 28"/>
          <p:cNvSpPr/>
          <p:nvPr/>
        </p:nvSpPr>
        <p:spPr>
          <a:xfrm>
            <a:off x="4700016" y="1527048"/>
            <a:ext cx="219456" cy="219456"/>
          </a:xfrm>
          <a:prstGeom prst="rect">
            <a:avLst/>
          </a:prstGeom>
          <a:solidFill>
            <a:srgbClr val="6D28D9"/>
          </a:solidFill>
          <a:ln w="12700">
            <a:solidFill>
              <a:srgbClr val="6D28D9"/>
            </a:solidFill>
            <a:prstDash val="solid"/>
          </a:ln>
        </p:spPr>
      </p:sp>
      <p:sp>
        <p:nvSpPr>
          <p:cNvPr id="31" name="Text 29"/>
          <p:cNvSpPr/>
          <p:nvPr/>
        </p:nvSpPr>
        <p:spPr>
          <a:xfrm>
            <a:off x="4700016" y="1527048"/>
            <a:ext cx="219456" cy="219456"/>
          </a:xfrm>
          <a:prstGeom prst="rect">
            <a:avLst/>
          </a:prstGeom>
          <a:noFill/>
          <a:ln/>
        </p:spPr>
        <p:txBody>
          <a:bodyPr wrap="square" rtlCol="0" anchor="ctr"/>
          <a:lstStyle/>
          <a:p>
            <a:pPr algn="ctr" indent="0" marL="0">
              <a:buNone/>
            </a:pPr>
            <a:r>
              <a:rPr lang="en-US" sz="900" b="1" dirty="0">
                <a:solidFill>
                  <a:srgbClr val="FFFFFF"/>
                </a:solidFill>
              </a:rPr>
              <a:t>1</a:t>
            </a:r>
            <a:endParaRPr lang="en-US" sz="900" dirty="0"/>
          </a:p>
        </p:txBody>
      </p:sp>
      <p:sp>
        <p:nvSpPr>
          <p:cNvPr id="32" name="Text 30"/>
          <p:cNvSpPr/>
          <p:nvPr/>
        </p:nvSpPr>
        <p:spPr>
          <a:xfrm>
            <a:off x="4974336" y="1481328"/>
            <a:ext cx="3877056" cy="292608"/>
          </a:xfrm>
          <a:prstGeom prst="rect">
            <a:avLst/>
          </a:prstGeom>
          <a:noFill/>
          <a:ln/>
        </p:spPr>
        <p:txBody>
          <a:bodyPr wrap="square" rtlCol="0" anchor="ctr"/>
          <a:lstStyle/>
          <a:p>
            <a:pPr indent="0" marL="0">
              <a:buNone/>
            </a:pPr>
            <a:r>
              <a:rPr lang="en-US" sz="950" dirty="0">
                <a:solidFill>
                  <a:srgbClr val="1E293B"/>
                </a:solidFill>
              </a:rPr>
              <a:t>Open Power BI Desktop</a:t>
            </a:r>
            <a:endParaRPr lang="en-US" sz="950" dirty="0"/>
          </a:p>
        </p:txBody>
      </p:sp>
      <p:sp>
        <p:nvSpPr>
          <p:cNvPr id="33" name="Shape 31"/>
          <p:cNvSpPr/>
          <p:nvPr/>
        </p:nvSpPr>
        <p:spPr>
          <a:xfrm>
            <a:off x="4645152" y="1847088"/>
            <a:ext cx="4242816" cy="292608"/>
          </a:xfrm>
          <a:prstGeom prst="rect">
            <a:avLst/>
          </a:prstGeom>
          <a:solidFill>
            <a:srgbClr val="FFFFFF"/>
          </a:solidFill>
          <a:ln w="6350">
            <a:solidFill>
              <a:srgbClr val="E2E8F0"/>
            </a:solidFill>
            <a:prstDash val="solid"/>
          </a:ln>
        </p:spPr>
      </p:sp>
      <p:sp>
        <p:nvSpPr>
          <p:cNvPr id="34" name="Shape 32"/>
          <p:cNvSpPr/>
          <p:nvPr/>
        </p:nvSpPr>
        <p:spPr>
          <a:xfrm>
            <a:off x="4645152" y="1847088"/>
            <a:ext cx="54864" cy="292608"/>
          </a:xfrm>
          <a:prstGeom prst="rect">
            <a:avLst/>
          </a:prstGeom>
          <a:solidFill>
            <a:srgbClr val="6D28D9"/>
          </a:solidFill>
          <a:ln w="12700">
            <a:solidFill>
              <a:srgbClr val="6D28D9"/>
            </a:solidFill>
            <a:prstDash val="solid"/>
          </a:ln>
        </p:spPr>
      </p:sp>
      <p:sp>
        <p:nvSpPr>
          <p:cNvPr id="35" name="Shape 33"/>
          <p:cNvSpPr/>
          <p:nvPr/>
        </p:nvSpPr>
        <p:spPr>
          <a:xfrm>
            <a:off x="4700016" y="1892808"/>
            <a:ext cx="219456" cy="219456"/>
          </a:xfrm>
          <a:prstGeom prst="rect">
            <a:avLst/>
          </a:prstGeom>
          <a:solidFill>
            <a:srgbClr val="6D28D9"/>
          </a:solidFill>
          <a:ln w="12700">
            <a:solidFill>
              <a:srgbClr val="6D28D9"/>
            </a:solidFill>
            <a:prstDash val="solid"/>
          </a:ln>
        </p:spPr>
      </p:sp>
      <p:sp>
        <p:nvSpPr>
          <p:cNvPr id="36" name="Text 34"/>
          <p:cNvSpPr/>
          <p:nvPr/>
        </p:nvSpPr>
        <p:spPr>
          <a:xfrm>
            <a:off x="4700016" y="1892808"/>
            <a:ext cx="219456" cy="219456"/>
          </a:xfrm>
          <a:prstGeom prst="rect">
            <a:avLst/>
          </a:prstGeom>
          <a:noFill/>
          <a:ln/>
        </p:spPr>
        <p:txBody>
          <a:bodyPr wrap="square" rtlCol="0" anchor="ctr"/>
          <a:lstStyle/>
          <a:p>
            <a:pPr algn="ctr" indent="0" marL="0">
              <a:buNone/>
            </a:pPr>
            <a:r>
              <a:rPr lang="en-US" sz="900" b="1" dirty="0">
                <a:solidFill>
                  <a:srgbClr val="FFFFFF"/>
                </a:solidFill>
              </a:rPr>
              <a:t>2</a:t>
            </a:r>
            <a:endParaRPr lang="en-US" sz="900" dirty="0"/>
          </a:p>
        </p:txBody>
      </p:sp>
      <p:sp>
        <p:nvSpPr>
          <p:cNvPr id="37" name="Text 35"/>
          <p:cNvSpPr/>
          <p:nvPr/>
        </p:nvSpPr>
        <p:spPr>
          <a:xfrm>
            <a:off x="4974336" y="1847088"/>
            <a:ext cx="3877056" cy="292608"/>
          </a:xfrm>
          <a:prstGeom prst="rect">
            <a:avLst/>
          </a:prstGeom>
          <a:noFill/>
          <a:ln/>
        </p:spPr>
        <p:txBody>
          <a:bodyPr wrap="square" rtlCol="0" anchor="ctr"/>
          <a:lstStyle/>
          <a:p>
            <a:pPr indent="0" marL="0">
              <a:buNone/>
            </a:pPr>
            <a:r>
              <a:rPr lang="en-US" sz="950" dirty="0">
                <a:solidFill>
                  <a:srgbClr val="1E293B"/>
                </a:solidFill>
              </a:rPr>
              <a:t>Home tab → Transform Data (opens Power Query)</a:t>
            </a:r>
            <a:endParaRPr lang="en-US" sz="950" dirty="0"/>
          </a:p>
        </p:txBody>
      </p:sp>
      <p:sp>
        <p:nvSpPr>
          <p:cNvPr id="38" name="Shape 36"/>
          <p:cNvSpPr/>
          <p:nvPr/>
        </p:nvSpPr>
        <p:spPr>
          <a:xfrm>
            <a:off x="4645152" y="2212848"/>
            <a:ext cx="4242816" cy="292608"/>
          </a:xfrm>
          <a:prstGeom prst="rect">
            <a:avLst/>
          </a:prstGeom>
          <a:solidFill>
            <a:srgbClr val="F5F3FF"/>
          </a:solidFill>
          <a:ln w="6350">
            <a:solidFill>
              <a:srgbClr val="E2E8F0"/>
            </a:solidFill>
            <a:prstDash val="solid"/>
          </a:ln>
        </p:spPr>
      </p:sp>
      <p:sp>
        <p:nvSpPr>
          <p:cNvPr id="39" name="Shape 37"/>
          <p:cNvSpPr/>
          <p:nvPr/>
        </p:nvSpPr>
        <p:spPr>
          <a:xfrm>
            <a:off x="4645152" y="2212848"/>
            <a:ext cx="54864" cy="292608"/>
          </a:xfrm>
          <a:prstGeom prst="rect">
            <a:avLst/>
          </a:prstGeom>
          <a:solidFill>
            <a:srgbClr val="6D28D9"/>
          </a:solidFill>
          <a:ln w="12700">
            <a:solidFill>
              <a:srgbClr val="6D28D9"/>
            </a:solidFill>
            <a:prstDash val="solid"/>
          </a:ln>
        </p:spPr>
      </p:sp>
      <p:sp>
        <p:nvSpPr>
          <p:cNvPr id="40" name="Shape 38"/>
          <p:cNvSpPr/>
          <p:nvPr/>
        </p:nvSpPr>
        <p:spPr>
          <a:xfrm>
            <a:off x="4700016" y="2258568"/>
            <a:ext cx="219456" cy="219456"/>
          </a:xfrm>
          <a:prstGeom prst="rect">
            <a:avLst/>
          </a:prstGeom>
          <a:solidFill>
            <a:srgbClr val="6D28D9"/>
          </a:solidFill>
          <a:ln w="12700">
            <a:solidFill>
              <a:srgbClr val="6D28D9"/>
            </a:solidFill>
            <a:prstDash val="solid"/>
          </a:ln>
        </p:spPr>
      </p:sp>
      <p:sp>
        <p:nvSpPr>
          <p:cNvPr id="41" name="Text 39"/>
          <p:cNvSpPr/>
          <p:nvPr/>
        </p:nvSpPr>
        <p:spPr>
          <a:xfrm>
            <a:off x="4700016" y="2258568"/>
            <a:ext cx="219456" cy="219456"/>
          </a:xfrm>
          <a:prstGeom prst="rect">
            <a:avLst/>
          </a:prstGeom>
          <a:noFill/>
          <a:ln/>
        </p:spPr>
        <p:txBody>
          <a:bodyPr wrap="square" rtlCol="0" anchor="ctr"/>
          <a:lstStyle/>
          <a:p>
            <a:pPr algn="ctr" indent="0" marL="0">
              <a:buNone/>
            </a:pPr>
            <a:r>
              <a:rPr lang="en-US" sz="900" b="1" dirty="0">
                <a:solidFill>
                  <a:srgbClr val="FFFFFF"/>
                </a:solidFill>
              </a:rPr>
              <a:t>3</a:t>
            </a:r>
            <a:endParaRPr lang="en-US" sz="900" dirty="0"/>
          </a:p>
        </p:txBody>
      </p:sp>
      <p:sp>
        <p:nvSpPr>
          <p:cNvPr id="42" name="Text 40"/>
          <p:cNvSpPr/>
          <p:nvPr/>
        </p:nvSpPr>
        <p:spPr>
          <a:xfrm>
            <a:off x="4974336" y="2212848"/>
            <a:ext cx="3877056" cy="292608"/>
          </a:xfrm>
          <a:prstGeom prst="rect">
            <a:avLst/>
          </a:prstGeom>
          <a:noFill/>
          <a:ln/>
        </p:spPr>
        <p:txBody>
          <a:bodyPr wrap="square" rtlCol="0" anchor="ctr"/>
          <a:lstStyle/>
          <a:p>
            <a:pPr indent="0" marL="0">
              <a:buNone/>
            </a:pPr>
            <a:r>
              <a:rPr lang="en-US" sz="950" dirty="0">
                <a:solidFill>
                  <a:srgbClr val="1E293B"/>
                </a:solidFill>
              </a:rPr>
              <a:t>In Power Query: Home ribbon → Manage Parameters</a:t>
            </a:r>
            <a:endParaRPr lang="en-US" sz="950" dirty="0"/>
          </a:p>
        </p:txBody>
      </p:sp>
      <p:sp>
        <p:nvSpPr>
          <p:cNvPr id="43" name="Shape 41"/>
          <p:cNvSpPr/>
          <p:nvPr/>
        </p:nvSpPr>
        <p:spPr>
          <a:xfrm>
            <a:off x="4645152" y="2578608"/>
            <a:ext cx="4242816" cy="292608"/>
          </a:xfrm>
          <a:prstGeom prst="rect">
            <a:avLst/>
          </a:prstGeom>
          <a:solidFill>
            <a:srgbClr val="FFFFFF"/>
          </a:solidFill>
          <a:ln w="6350">
            <a:solidFill>
              <a:srgbClr val="E2E8F0"/>
            </a:solidFill>
            <a:prstDash val="solid"/>
          </a:ln>
        </p:spPr>
      </p:sp>
      <p:sp>
        <p:nvSpPr>
          <p:cNvPr id="44" name="Shape 42"/>
          <p:cNvSpPr/>
          <p:nvPr/>
        </p:nvSpPr>
        <p:spPr>
          <a:xfrm>
            <a:off x="4645152" y="2578608"/>
            <a:ext cx="54864" cy="292608"/>
          </a:xfrm>
          <a:prstGeom prst="rect">
            <a:avLst/>
          </a:prstGeom>
          <a:solidFill>
            <a:srgbClr val="6D28D9"/>
          </a:solidFill>
          <a:ln w="12700">
            <a:solidFill>
              <a:srgbClr val="6D28D9"/>
            </a:solidFill>
            <a:prstDash val="solid"/>
          </a:ln>
        </p:spPr>
      </p:sp>
      <p:sp>
        <p:nvSpPr>
          <p:cNvPr id="45" name="Shape 43"/>
          <p:cNvSpPr/>
          <p:nvPr/>
        </p:nvSpPr>
        <p:spPr>
          <a:xfrm>
            <a:off x="4700016" y="2624328"/>
            <a:ext cx="219456" cy="219456"/>
          </a:xfrm>
          <a:prstGeom prst="rect">
            <a:avLst/>
          </a:prstGeom>
          <a:solidFill>
            <a:srgbClr val="6D28D9"/>
          </a:solidFill>
          <a:ln w="12700">
            <a:solidFill>
              <a:srgbClr val="6D28D9"/>
            </a:solidFill>
            <a:prstDash val="solid"/>
          </a:ln>
        </p:spPr>
      </p:sp>
      <p:sp>
        <p:nvSpPr>
          <p:cNvPr id="46" name="Text 44"/>
          <p:cNvSpPr/>
          <p:nvPr/>
        </p:nvSpPr>
        <p:spPr>
          <a:xfrm>
            <a:off x="4700016" y="2624328"/>
            <a:ext cx="219456" cy="219456"/>
          </a:xfrm>
          <a:prstGeom prst="rect">
            <a:avLst/>
          </a:prstGeom>
          <a:noFill/>
          <a:ln/>
        </p:spPr>
        <p:txBody>
          <a:bodyPr wrap="square" rtlCol="0" anchor="ctr"/>
          <a:lstStyle/>
          <a:p>
            <a:pPr algn="ctr" indent="0" marL="0">
              <a:buNone/>
            </a:pPr>
            <a:r>
              <a:rPr lang="en-US" sz="900" b="1" dirty="0">
                <a:solidFill>
                  <a:srgbClr val="FFFFFF"/>
                </a:solidFill>
              </a:rPr>
              <a:t>4</a:t>
            </a:r>
            <a:endParaRPr lang="en-US" sz="900" dirty="0"/>
          </a:p>
        </p:txBody>
      </p:sp>
      <p:sp>
        <p:nvSpPr>
          <p:cNvPr id="47" name="Text 45"/>
          <p:cNvSpPr/>
          <p:nvPr/>
        </p:nvSpPr>
        <p:spPr>
          <a:xfrm>
            <a:off x="4974336" y="2578608"/>
            <a:ext cx="3877056" cy="292608"/>
          </a:xfrm>
          <a:prstGeom prst="rect">
            <a:avLst/>
          </a:prstGeom>
          <a:noFill/>
          <a:ln/>
        </p:spPr>
        <p:txBody>
          <a:bodyPr wrap="square" rtlCol="0" anchor="ctr"/>
          <a:lstStyle/>
          <a:p>
            <a:pPr indent="0" marL="0">
              <a:buNone/>
            </a:pPr>
            <a:r>
              <a:rPr lang="en-US" sz="950" dirty="0">
                <a:solidFill>
                  <a:srgbClr val="1E293B"/>
                </a:solidFill>
              </a:rPr>
              <a:t>Click New Parameter</a:t>
            </a:r>
            <a:endParaRPr lang="en-US" sz="950" dirty="0"/>
          </a:p>
        </p:txBody>
      </p:sp>
      <p:sp>
        <p:nvSpPr>
          <p:cNvPr id="48" name="Shape 46"/>
          <p:cNvSpPr/>
          <p:nvPr/>
        </p:nvSpPr>
        <p:spPr>
          <a:xfrm>
            <a:off x="4645152" y="2944368"/>
            <a:ext cx="4242816" cy="292608"/>
          </a:xfrm>
          <a:prstGeom prst="rect">
            <a:avLst/>
          </a:prstGeom>
          <a:solidFill>
            <a:srgbClr val="F5F3FF"/>
          </a:solidFill>
          <a:ln w="6350">
            <a:solidFill>
              <a:srgbClr val="E2E8F0"/>
            </a:solidFill>
            <a:prstDash val="solid"/>
          </a:ln>
        </p:spPr>
      </p:sp>
      <p:sp>
        <p:nvSpPr>
          <p:cNvPr id="49" name="Shape 47"/>
          <p:cNvSpPr/>
          <p:nvPr/>
        </p:nvSpPr>
        <p:spPr>
          <a:xfrm>
            <a:off x="4645152" y="2944368"/>
            <a:ext cx="54864" cy="292608"/>
          </a:xfrm>
          <a:prstGeom prst="rect">
            <a:avLst/>
          </a:prstGeom>
          <a:solidFill>
            <a:srgbClr val="6D28D9"/>
          </a:solidFill>
          <a:ln w="12700">
            <a:solidFill>
              <a:srgbClr val="6D28D9"/>
            </a:solidFill>
            <a:prstDash val="solid"/>
          </a:ln>
        </p:spPr>
      </p:sp>
      <p:sp>
        <p:nvSpPr>
          <p:cNvPr id="50" name="Shape 48"/>
          <p:cNvSpPr/>
          <p:nvPr/>
        </p:nvSpPr>
        <p:spPr>
          <a:xfrm>
            <a:off x="4700016" y="2990088"/>
            <a:ext cx="219456" cy="219456"/>
          </a:xfrm>
          <a:prstGeom prst="rect">
            <a:avLst/>
          </a:prstGeom>
          <a:solidFill>
            <a:srgbClr val="6D28D9"/>
          </a:solidFill>
          <a:ln w="12700">
            <a:solidFill>
              <a:srgbClr val="6D28D9"/>
            </a:solidFill>
            <a:prstDash val="solid"/>
          </a:ln>
        </p:spPr>
      </p:sp>
      <p:sp>
        <p:nvSpPr>
          <p:cNvPr id="51" name="Text 49"/>
          <p:cNvSpPr/>
          <p:nvPr/>
        </p:nvSpPr>
        <p:spPr>
          <a:xfrm>
            <a:off x="4700016" y="2990088"/>
            <a:ext cx="219456" cy="219456"/>
          </a:xfrm>
          <a:prstGeom prst="rect">
            <a:avLst/>
          </a:prstGeom>
          <a:noFill/>
          <a:ln/>
        </p:spPr>
        <p:txBody>
          <a:bodyPr wrap="square" rtlCol="0" anchor="ctr"/>
          <a:lstStyle/>
          <a:p>
            <a:pPr algn="ctr" indent="0" marL="0">
              <a:buNone/>
            </a:pPr>
            <a:r>
              <a:rPr lang="en-US" sz="900" b="1" dirty="0">
                <a:solidFill>
                  <a:srgbClr val="FFFFFF"/>
                </a:solidFill>
              </a:rPr>
              <a:t>5</a:t>
            </a:r>
            <a:endParaRPr lang="en-US" sz="900" dirty="0"/>
          </a:p>
        </p:txBody>
      </p:sp>
      <p:sp>
        <p:nvSpPr>
          <p:cNvPr id="52" name="Text 50"/>
          <p:cNvSpPr/>
          <p:nvPr/>
        </p:nvSpPr>
        <p:spPr>
          <a:xfrm>
            <a:off x="4974336" y="2944368"/>
            <a:ext cx="3877056" cy="292608"/>
          </a:xfrm>
          <a:prstGeom prst="rect">
            <a:avLst/>
          </a:prstGeom>
          <a:noFill/>
          <a:ln/>
        </p:spPr>
        <p:txBody>
          <a:bodyPr wrap="square" rtlCol="0" anchor="ctr"/>
          <a:lstStyle/>
          <a:p>
            <a:pPr indent="0" marL="0">
              <a:buNone/>
            </a:pPr>
            <a:r>
              <a:rPr lang="en-US" sz="950" dirty="0">
                <a:solidFill>
                  <a:srgbClr val="1E293B"/>
                </a:solidFill>
              </a:rPr>
              <a:t>Name:  CountryParam</a:t>
            </a:r>
            <a:endParaRPr lang="en-US" sz="950" dirty="0"/>
          </a:p>
        </p:txBody>
      </p:sp>
      <p:sp>
        <p:nvSpPr>
          <p:cNvPr id="53" name="Shape 51"/>
          <p:cNvSpPr/>
          <p:nvPr/>
        </p:nvSpPr>
        <p:spPr>
          <a:xfrm>
            <a:off x="4645152" y="3310128"/>
            <a:ext cx="4242816" cy="292608"/>
          </a:xfrm>
          <a:prstGeom prst="rect">
            <a:avLst/>
          </a:prstGeom>
          <a:solidFill>
            <a:srgbClr val="FFFFFF"/>
          </a:solidFill>
          <a:ln w="6350">
            <a:solidFill>
              <a:srgbClr val="E2E8F0"/>
            </a:solidFill>
            <a:prstDash val="solid"/>
          </a:ln>
        </p:spPr>
      </p:sp>
      <p:sp>
        <p:nvSpPr>
          <p:cNvPr id="54" name="Shape 52"/>
          <p:cNvSpPr/>
          <p:nvPr/>
        </p:nvSpPr>
        <p:spPr>
          <a:xfrm>
            <a:off x="4645152" y="3310128"/>
            <a:ext cx="54864" cy="292608"/>
          </a:xfrm>
          <a:prstGeom prst="rect">
            <a:avLst/>
          </a:prstGeom>
          <a:solidFill>
            <a:srgbClr val="6D28D9"/>
          </a:solidFill>
          <a:ln w="12700">
            <a:solidFill>
              <a:srgbClr val="6D28D9"/>
            </a:solidFill>
            <a:prstDash val="solid"/>
          </a:ln>
        </p:spPr>
      </p:sp>
      <p:sp>
        <p:nvSpPr>
          <p:cNvPr id="55" name="Shape 53"/>
          <p:cNvSpPr/>
          <p:nvPr/>
        </p:nvSpPr>
        <p:spPr>
          <a:xfrm>
            <a:off x="4700016" y="3355848"/>
            <a:ext cx="219456" cy="219456"/>
          </a:xfrm>
          <a:prstGeom prst="rect">
            <a:avLst/>
          </a:prstGeom>
          <a:solidFill>
            <a:srgbClr val="6D28D9"/>
          </a:solidFill>
          <a:ln w="12700">
            <a:solidFill>
              <a:srgbClr val="6D28D9"/>
            </a:solidFill>
            <a:prstDash val="solid"/>
          </a:ln>
        </p:spPr>
      </p:sp>
      <p:sp>
        <p:nvSpPr>
          <p:cNvPr id="56" name="Text 54"/>
          <p:cNvSpPr/>
          <p:nvPr/>
        </p:nvSpPr>
        <p:spPr>
          <a:xfrm>
            <a:off x="4700016" y="3355848"/>
            <a:ext cx="219456" cy="219456"/>
          </a:xfrm>
          <a:prstGeom prst="rect">
            <a:avLst/>
          </a:prstGeom>
          <a:noFill/>
          <a:ln/>
        </p:spPr>
        <p:txBody>
          <a:bodyPr wrap="square" rtlCol="0" anchor="ctr"/>
          <a:lstStyle/>
          <a:p>
            <a:pPr algn="ctr" indent="0" marL="0">
              <a:buNone/>
            </a:pPr>
            <a:r>
              <a:rPr lang="en-US" sz="900" b="1" dirty="0">
                <a:solidFill>
                  <a:srgbClr val="FFFFFF"/>
                </a:solidFill>
              </a:rPr>
              <a:t>6</a:t>
            </a:r>
            <a:endParaRPr lang="en-US" sz="900" dirty="0"/>
          </a:p>
        </p:txBody>
      </p:sp>
      <p:sp>
        <p:nvSpPr>
          <p:cNvPr id="57" name="Text 55"/>
          <p:cNvSpPr/>
          <p:nvPr/>
        </p:nvSpPr>
        <p:spPr>
          <a:xfrm>
            <a:off x="4974336" y="3310128"/>
            <a:ext cx="3877056" cy="292608"/>
          </a:xfrm>
          <a:prstGeom prst="rect">
            <a:avLst/>
          </a:prstGeom>
          <a:noFill/>
          <a:ln/>
        </p:spPr>
        <p:txBody>
          <a:bodyPr wrap="square" rtlCol="0" anchor="ctr"/>
          <a:lstStyle/>
          <a:p>
            <a:pPr indent="0" marL="0">
              <a:buNone/>
            </a:pPr>
            <a:r>
              <a:rPr lang="en-US" sz="950" dirty="0">
                <a:solidFill>
                  <a:srgbClr val="1E293B"/>
                </a:solidFill>
              </a:rPr>
              <a:t>Type:  Text</a:t>
            </a:r>
            <a:endParaRPr lang="en-US" sz="950" dirty="0"/>
          </a:p>
        </p:txBody>
      </p:sp>
      <p:sp>
        <p:nvSpPr>
          <p:cNvPr id="58" name="Shape 56"/>
          <p:cNvSpPr/>
          <p:nvPr/>
        </p:nvSpPr>
        <p:spPr>
          <a:xfrm>
            <a:off x="4645152" y="3675888"/>
            <a:ext cx="4242816" cy="292608"/>
          </a:xfrm>
          <a:prstGeom prst="rect">
            <a:avLst/>
          </a:prstGeom>
          <a:solidFill>
            <a:srgbClr val="F5F3FF"/>
          </a:solidFill>
          <a:ln w="6350">
            <a:solidFill>
              <a:srgbClr val="E2E8F0"/>
            </a:solidFill>
            <a:prstDash val="solid"/>
          </a:ln>
        </p:spPr>
      </p:sp>
      <p:sp>
        <p:nvSpPr>
          <p:cNvPr id="59" name="Shape 57"/>
          <p:cNvSpPr/>
          <p:nvPr/>
        </p:nvSpPr>
        <p:spPr>
          <a:xfrm>
            <a:off x="4645152" y="3675888"/>
            <a:ext cx="54864" cy="292608"/>
          </a:xfrm>
          <a:prstGeom prst="rect">
            <a:avLst/>
          </a:prstGeom>
          <a:solidFill>
            <a:srgbClr val="6D28D9"/>
          </a:solidFill>
          <a:ln w="12700">
            <a:solidFill>
              <a:srgbClr val="6D28D9"/>
            </a:solidFill>
            <a:prstDash val="solid"/>
          </a:ln>
        </p:spPr>
      </p:sp>
      <p:sp>
        <p:nvSpPr>
          <p:cNvPr id="60" name="Shape 58"/>
          <p:cNvSpPr/>
          <p:nvPr/>
        </p:nvSpPr>
        <p:spPr>
          <a:xfrm>
            <a:off x="4700016" y="3721608"/>
            <a:ext cx="219456" cy="219456"/>
          </a:xfrm>
          <a:prstGeom prst="rect">
            <a:avLst/>
          </a:prstGeom>
          <a:solidFill>
            <a:srgbClr val="6D28D9"/>
          </a:solidFill>
          <a:ln w="12700">
            <a:solidFill>
              <a:srgbClr val="6D28D9"/>
            </a:solidFill>
            <a:prstDash val="solid"/>
          </a:ln>
        </p:spPr>
      </p:sp>
      <p:sp>
        <p:nvSpPr>
          <p:cNvPr id="61" name="Text 59"/>
          <p:cNvSpPr/>
          <p:nvPr/>
        </p:nvSpPr>
        <p:spPr>
          <a:xfrm>
            <a:off x="4700016" y="3721608"/>
            <a:ext cx="219456" cy="219456"/>
          </a:xfrm>
          <a:prstGeom prst="rect">
            <a:avLst/>
          </a:prstGeom>
          <a:noFill/>
          <a:ln/>
        </p:spPr>
        <p:txBody>
          <a:bodyPr wrap="square" rtlCol="0" anchor="ctr"/>
          <a:lstStyle/>
          <a:p>
            <a:pPr algn="ctr" indent="0" marL="0">
              <a:buNone/>
            </a:pPr>
            <a:r>
              <a:rPr lang="en-US" sz="900" b="1" dirty="0">
                <a:solidFill>
                  <a:srgbClr val="FFFFFF"/>
                </a:solidFill>
              </a:rPr>
              <a:t>7</a:t>
            </a:r>
            <a:endParaRPr lang="en-US" sz="900" dirty="0"/>
          </a:p>
        </p:txBody>
      </p:sp>
      <p:sp>
        <p:nvSpPr>
          <p:cNvPr id="62" name="Text 60"/>
          <p:cNvSpPr/>
          <p:nvPr/>
        </p:nvSpPr>
        <p:spPr>
          <a:xfrm>
            <a:off x="4974336" y="3675888"/>
            <a:ext cx="3877056" cy="292608"/>
          </a:xfrm>
          <a:prstGeom prst="rect">
            <a:avLst/>
          </a:prstGeom>
          <a:noFill/>
          <a:ln/>
        </p:spPr>
        <p:txBody>
          <a:bodyPr wrap="square" rtlCol="0" anchor="ctr"/>
          <a:lstStyle/>
          <a:p>
            <a:pPr indent="0" marL="0">
              <a:buNone/>
            </a:pPr>
            <a:r>
              <a:rPr lang="en-US" sz="950" dirty="0">
                <a:solidFill>
                  <a:srgbClr val="1E293B"/>
                </a:solidFill>
              </a:rPr>
              <a:t>Current Value:  Nepal</a:t>
            </a:r>
            <a:endParaRPr lang="en-US" sz="950" dirty="0"/>
          </a:p>
        </p:txBody>
      </p:sp>
      <p:sp>
        <p:nvSpPr>
          <p:cNvPr id="63" name="Shape 61"/>
          <p:cNvSpPr/>
          <p:nvPr/>
        </p:nvSpPr>
        <p:spPr>
          <a:xfrm>
            <a:off x="4645152" y="4041648"/>
            <a:ext cx="4242816" cy="292608"/>
          </a:xfrm>
          <a:prstGeom prst="rect">
            <a:avLst/>
          </a:prstGeom>
          <a:solidFill>
            <a:srgbClr val="FFFFFF"/>
          </a:solidFill>
          <a:ln w="6350">
            <a:solidFill>
              <a:srgbClr val="E2E8F0"/>
            </a:solidFill>
            <a:prstDash val="solid"/>
          </a:ln>
        </p:spPr>
      </p:sp>
      <p:sp>
        <p:nvSpPr>
          <p:cNvPr id="64" name="Shape 62"/>
          <p:cNvSpPr/>
          <p:nvPr/>
        </p:nvSpPr>
        <p:spPr>
          <a:xfrm>
            <a:off x="4645152" y="4041648"/>
            <a:ext cx="54864" cy="292608"/>
          </a:xfrm>
          <a:prstGeom prst="rect">
            <a:avLst/>
          </a:prstGeom>
          <a:solidFill>
            <a:srgbClr val="6D28D9"/>
          </a:solidFill>
          <a:ln w="12700">
            <a:solidFill>
              <a:srgbClr val="6D28D9"/>
            </a:solidFill>
            <a:prstDash val="solid"/>
          </a:ln>
        </p:spPr>
      </p:sp>
      <p:sp>
        <p:nvSpPr>
          <p:cNvPr id="65" name="Shape 63"/>
          <p:cNvSpPr/>
          <p:nvPr/>
        </p:nvSpPr>
        <p:spPr>
          <a:xfrm>
            <a:off x="4700016" y="4087368"/>
            <a:ext cx="219456" cy="219456"/>
          </a:xfrm>
          <a:prstGeom prst="rect">
            <a:avLst/>
          </a:prstGeom>
          <a:solidFill>
            <a:srgbClr val="6D28D9"/>
          </a:solidFill>
          <a:ln w="12700">
            <a:solidFill>
              <a:srgbClr val="6D28D9"/>
            </a:solidFill>
            <a:prstDash val="solid"/>
          </a:ln>
        </p:spPr>
      </p:sp>
      <p:sp>
        <p:nvSpPr>
          <p:cNvPr id="66" name="Text 64"/>
          <p:cNvSpPr/>
          <p:nvPr/>
        </p:nvSpPr>
        <p:spPr>
          <a:xfrm>
            <a:off x="4700016" y="4087368"/>
            <a:ext cx="219456" cy="219456"/>
          </a:xfrm>
          <a:prstGeom prst="rect">
            <a:avLst/>
          </a:prstGeom>
          <a:noFill/>
          <a:ln/>
        </p:spPr>
        <p:txBody>
          <a:bodyPr wrap="square" rtlCol="0" anchor="ctr"/>
          <a:lstStyle/>
          <a:p>
            <a:pPr algn="ctr" indent="0" marL="0">
              <a:buNone/>
            </a:pPr>
            <a:r>
              <a:rPr lang="en-US" sz="900" b="1" dirty="0">
                <a:solidFill>
                  <a:srgbClr val="FFFFFF"/>
                </a:solidFill>
              </a:rPr>
              <a:t>8</a:t>
            </a:r>
            <a:endParaRPr lang="en-US" sz="900" dirty="0"/>
          </a:p>
        </p:txBody>
      </p:sp>
      <p:sp>
        <p:nvSpPr>
          <p:cNvPr id="67" name="Text 65"/>
          <p:cNvSpPr/>
          <p:nvPr/>
        </p:nvSpPr>
        <p:spPr>
          <a:xfrm>
            <a:off x="4974336" y="4041648"/>
            <a:ext cx="3877056" cy="292608"/>
          </a:xfrm>
          <a:prstGeom prst="rect">
            <a:avLst/>
          </a:prstGeom>
          <a:noFill/>
          <a:ln/>
        </p:spPr>
        <p:txBody>
          <a:bodyPr wrap="square" rtlCol="0" anchor="ctr"/>
          <a:lstStyle/>
          <a:p>
            <a:pPr indent="0" marL="0">
              <a:buNone/>
            </a:pPr>
            <a:r>
              <a:rPr lang="en-US" sz="950" dirty="0">
                <a:solidFill>
                  <a:srgbClr val="1E293B"/>
                </a:solidFill>
              </a:rPr>
              <a:t>Click OK</a:t>
            </a:r>
            <a:endParaRPr lang="en-US" sz="950" dirty="0"/>
          </a:p>
        </p:txBody>
      </p:sp>
      <p:sp>
        <p:nvSpPr>
          <p:cNvPr id="68" name="Shape 66"/>
          <p:cNvSpPr/>
          <p:nvPr/>
        </p:nvSpPr>
        <p:spPr>
          <a:xfrm>
            <a:off x="4645152" y="4407408"/>
            <a:ext cx="4242816" cy="292608"/>
          </a:xfrm>
          <a:prstGeom prst="rect">
            <a:avLst/>
          </a:prstGeom>
          <a:solidFill>
            <a:srgbClr val="F5F3FF"/>
          </a:solidFill>
          <a:ln w="6350">
            <a:solidFill>
              <a:srgbClr val="E2E8F0"/>
            </a:solidFill>
            <a:prstDash val="solid"/>
          </a:ln>
        </p:spPr>
      </p:sp>
      <p:sp>
        <p:nvSpPr>
          <p:cNvPr id="69" name="Shape 67"/>
          <p:cNvSpPr/>
          <p:nvPr/>
        </p:nvSpPr>
        <p:spPr>
          <a:xfrm>
            <a:off x="4645152" y="4407408"/>
            <a:ext cx="54864" cy="292608"/>
          </a:xfrm>
          <a:prstGeom prst="rect">
            <a:avLst/>
          </a:prstGeom>
          <a:solidFill>
            <a:srgbClr val="6D28D9"/>
          </a:solidFill>
          <a:ln w="12700">
            <a:solidFill>
              <a:srgbClr val="6D28D9"/>
            </a:solidFill>
            <a:prstDash val="solid"/>
          </a:ln>
        </p:spPr>
      </p:sp>
      <p:sp>
        <p:nvSpPr>
          <p:cNvPr id="70" name="Shape 68"/>
          <p:cNvSpPr/>
          <p:nvPr/>
        </p:nvSpPr>
        <p:spPr>
          <a:xfrm>
            <a:off x="4700016" y="4453128"/>
            <a:ext cx="219456" cy="219456"/>
          </a:xfrm>
          <a:prstGeom prst="rect">
            <a:avLst/>
          </a:prstGeom>
          <a:solidFill>
            <a:srgbClr val="6D28D9"/>
          </a:solidFill>
          <a:ln w="12700">
            <a:solidFill>
              <a:srgbClr val="6D28D9"/>
            </a:solidFill>
            <a:prstDash val="solid"/>
          </a:ln>
        </p:spPr>
      </p:sp>
      <p:sp>
        <p:nvSpPr>
          <p:cNvPr id="71" name="Text 69"/>
          <p:cNvSpPr/>
          <p:nvPr/>
        </p:nvSpPr>
        <p:spPr>
          <a:xfrm>
            <a:off x="4700016" y="4453128"/>
            <a:ext cx="219456" cy="219456"/>
          </a:xfrm>
          <a:prstGeom prst="rect">
            <a:avLst/>
          </a:prstGeom>
          <a:noFill/>
          <a:ln/>
        </p:spPr>
        <p:txBody>
          <a:bodyPr wrap="square" rtlCol="0" anchor="ctr"/>
          <a:lstStyle/>
          <a:p>
            <a:pPr algn="ctr" indent="0" marL="0">
              <a:buNone/>
            </a:pPr>
            <a:r>
              <a:rPr lang="en-US" sz="900" b="1" dirty="0">
                <a:solidFill>
                  <a:srgbClr val="FFFFFF"/>
                </a:solidFill>
              </a:rPr>
              <a:t>9</a:t>
            </a:r>
            <a:endParaRPr lang="en-US" sz="900" dirty="0"/>
          </a:p>
        </p:txBody>
      </p:sp>
      <p:sp>
        <p:nvSpPr>
          <p:cNvPr id="72" name="Text 70"/>
          <p:cNvSpPr/>
          <p:nvPr/>
        </p:nvSpPr>
        <p:spPr>
          <a:xfrm>
            <a:off x="4974336" y="4407408"/>
            <a:ext cx="3877056" cy="292608"/>
          </a:xfrm>
          <a:prstGeom prst="rect">
            <a:avLst/>
          </a:prstGeom>
          <a:noFill/>
          <a:ln/>
        </p:spPr>
        <p:txBody>
          <a:bodyPr wrap="square" rtlCol="0" anchor="ctr"/>
          <a:lstStyle/>
          <a:p>
            <a:pPr indent="0" marL="0">
              <a:buNone/>
            </a:pPr>
            <a:r>
              <a:rPr lang="en-US" sz="950" dirty="0">
                <a:solidFill>
                  <a:srgbClr val="1E293B"/>
                </a:solidFill>
              </a:rPr>
              <a:t>CountryParam now appears in the Queries panel</a:t>
            </a:r>
            <a:endParaRPr lang="en-US" sz="950" dirty="0"/>
          </a:p>
        </p:txBody>
      </p:sp>
      <p:sp>
        <p:nvSpPr>
          <p:cNvPr id="73" name="Shape 71"/>
          <p:cNvSpPr/>
          <p:nvPr/>
        </p:nvSpPr>
        <p:spPr>
          <a:xfrm>
            <a:off x="256032" y="4773168"/>
            <a:ext cx="8631936" cy="329184"/>
          </a:xfrm>
          <a:prstGeom prst="rect">
            <a:avLst/>
          </a:prstGeom>
          <a:solidFill>
            <a:srgbClr val="F5F3FF"/>
          </a:solidFill>
          <a:ln w="10160">
            <a:solidFill>
              <a:srgbClr val="6D28D9"/>
            </a:solidFill>
            <a:prstDash val="solid"/>
          </a:ln>
        </p:spPr>
      </p:sp>
      <p:sp>
        <p:nvSpPr>
          <p:cNvPr id="74" name="Shape 72"/>
          <p:cNvSpPr/>
          <p:nvPr/>
        </p:nvSpPr>
        <p:spPr>
          <a:xfrm>
            <a:off x="256032" y="4773168"/>
            <a:ext cx="54864" cy="329184"/>
          </a:xfrm>
          <a:prstGeom prst="rect">
            <a:avLst/>
          </a:prstGeom>
          <a:solidFill>
            <a:srgbClr val="6D28D9"/>
          </a:solidFill>
          <a:ln w="12700">
            <a:solidFill>
              <a:srgbClr val="6D28D9"/>
            </a:solidFill>
            <a:prstDash val="solid"/>
          </a:ln>
        </p:spPr>
      </p:sp>
      <p:sp>
        <p:nvSpPr>
          <p:cNvPr id="75" name="Text 73"/>
          <p:cNvSpPr/>
          <p:nvPr/>
        </p:nvSpPr>
        <p:spPr>
          <a:xfrm>
            <a:off x="384048" y="4773168"/>
            <a:ext cx="8449056" cy="329184"/>
          </a:xfrm>
          <a:prstGeom prst="rect">
            <a:avLst/>
          </a:prstGeom>
          <a:noFill/>
          <a:ln/>
        </p:spPr>
        <p:txBody>
          <a:bodyPr wrap="square" rtlCol="0" anchor="ctr"/>
          <a:lstStyle/>
          <a:p>
            <a:pPr indent="0" marL="0">
              <a:buNone/>
            </a:pPr>
            <a:r>
              <a:rPr lang="en-US" sz="1000" dirty="0">
                <a:solidFill>
                  <a:srgbClr val="1E293B"/>
                </a:solidFill>
              </a:rPr>
              <a:t>To change the country later:  Home → Manage Parameters → Edit → change the value → Refresh.</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172A"/>
          </a:solidFill>
          <a:ln w="12700">
            <a:solidFill>
              <a:srgbClr val="0F172A"/>
            </a:solidFill>
            <a:prstDash val="solid"/>
          </a:ln>
        </p:spPr>
      </p:sp>
      <p:sp>
        <p:nvSpPr>
          <p:cNvPr id="3" name="Shape 1"/>
          <p:cNvSpPr/>
          <p:nvPr/>
        </p:nvSpPr>
        <p:spPr>
          <a:xfrm>
            <a:off x="0" y="0"/>
            <a:ext cx="64008" cy="640080"/>
          </a:xfrm>
          <a:prstGeom prst="rect">
            <a:avLst/>
          </a:prstGeom>
          <a:solidFill>
            <a:srgbClr val="1D4ED8"/>
          </a:solidFill>
          <a:ln w="12700">
            <a:solidFill>
              <a:srgbClr val="1D4ED8"/>
            </a:solidFill>
            <a:prstDash val="solid"/>
          </a:ln>
        </p:spPr>
      </p:sp>
      <p:sp>
        <p:nvSpPr>
          <p:cNvPr id="4" name="Text 2"/>
          <p:cNvSpPr/>
          <p:nvPr/>
        </p:nvSpPr>
        <p:spPr>
          <a:xfrm>
            <a:off x="109728" y="0"/>
            <a:ext cx="475488" cy="640080"/>
          </a:xfrm>
          <a:prstGeom prst="rect">
            <a:avLst/>
          </a:prstGeom>
          <a:noFill/>
          <a:ln/>
        </p:spPr>
        <p:txBody>
          <a:bodyPr wrap="square" rtlCol="0" anchor="ctr"/>
          <a:lstStyle/>
          <a:p>
            <a:pPr algn="ctr" indent="0" marL="0">
              <a:buNone/>
            </a:pPr>
            <a:r>
              <a:rPr lang="en-US" sz="1600" b="1" dirty="0">
                <a:solidFill>
                  <a:srgbClr val="FFFFFF"/>
                </a:solidFill>
              </a:rPr>
              <a:t>06</a:t>
            </a:r>
            <a:endParaRPr lang="en-US" sz="1600" dirty="0"/>
          </a:p>
        </p:txBody>
      </p:sp>
      <p:sp>
        <p:nvSpPr>
          <p:cNvPr id="5" name="Text 3"/>
          <p:cNvSpPr/>
          <p:nvPr/>
        </p:nvSpPr>
        <p:spPr>
          <a:xfrm>
            <a:off x="658368" y="18288"/>
            <a:ext cx="8138160" cy="347472"/>
          </a:xfrm>
          <a:prstGeom prst="rect">
            <a:avLst/>
          </a:prstGeom>
          <a:noFill/>
          <a:ln/>
        </p:spPr>
        <p:txBody>
          <a:bodyPr wrap="square" rtlCol="0" anchor="ctr"/>
          <a:lstStyle/>
          <a:p>
            <a:pPr indent="0" marL="0">
              <a:buNone/>
            </a:pPr>
            <a:r>
              <a:rPr lang="en-US" sz="1900" b="1" dirty="0">
                <a:solidFill>
                  <a:srgbClr val="FFFFFF"/>
                </a:solidFill>
              </a:rPr>
              <a:t>Power BI — Phase 2: Connect to the API</a:t>
            </a:r>
            <a:endParaRPr lang="en-US" sz="1900" dirty="0"/>
          </a:p>
        </p:txBody>
      </p:sp>
      <p:sp>
        <p:nvSpPr>
          <p:cNvPr id="6" name="Text 4"/>
          <p:cNvSpPr/>
          <p:nvPr/>
        </p:nvSpPr>
        <p:spPr>
          <a:xfrm>
            <a:off x="658368" y="402336"/>
            <a:ext cx="8138160" cy="237744"/>
          </a:xfrm>
          <a:prstGeom prst="rect">
            <a:avLst/>
          </a:prstGeom>
          <a:noFill/>
          <a:ln/>
        </p:spPr>
        <p:txBody>
          <a:bodyPr wrap="square" rtlCol="0" anchor="ctr"/>
          <a:lstStyle/>
          <a:p>
            <a:pPr indent="0" marL="0">
              <a:buNone/>
            </a:pPr>
            <a:r>
              <a:rPr lang="en-US" sz="1000" dirty="0">
                <a:solidFill>
                  <a:srgbClr val="94A3B8"/>
                </a:solidFill>
              </a:rPr>
              <a:t>New Source → Web → Advanced → attach CountryParam to the URL</a:t>
            </a:r>
            <a:endParaRPr lang="en-US" sz="1000" dirty="0"/>
          </a:p>
        </p:txBody>
      </p:sp>
      <p:sp>
        <p:nvSpPr>
          <p:cNvPr id="7" name="Shape 5"/>
          <p:cNvSpPr/>
          <p:nvPr/>
        </p:nvSpPr>
        <p:spPr>
          <a:xfrm>
            <a:off x="256032" y="768096"/>
            <a:ext cx="8631936" cy="329184"/>
          </a:xfrm>
          <a:prstGeom prst="rect">
            <a:avLst/>
          </a:prstGeom>
          <a:solidFill>
            <a:srgbClr val="EFF6FF"/>
          </a:solidFill>
          <a:ln w="10160">
            <a:solidFill>
              <a:srgbClr val="1D4ED8"/>
            </a:solidFill>
            <a:prstDash val="solid"/>
          </a:ln>
        </p:spPr>
      </p:sp>
      <p:sp>
        <p:nvSpPr>
          <p:cNvPr id="8" name="Shape 6"/>
          <p:cNvSpPr/>
          <p:nvPr/>
        </p:nvSpPr>
        <p:spPr>
          <a:xfrm>
            <a:off x="256032" y="768096"/>
            <a:ext cx="54864" cy="329184"/>
          </a:xfrm>
          <a:prstGeom prst="rect">
            <a:avLst/>
          </a:prstGeom>
          <a:solidFill>
            <a:srgbClr val="1D4ED8"/>
          </a:solidFill>
          <a:ln w="12700">
            <a:solidFill>
              <a:srgbClr val="1D4ED8"/>
            </a:solidFill>
            <a:prstDash val="solid"/>
          </a:ln>
        </p:spPr>
      </p:sp>
      <p:sp>
        <p:nvSpPr>
          <p:cNvPr id="9" name="Text 7"/>
          <p:cNvSpPr/>
          <p:nvPr/>
        </p:nvSpPr>
        <p:spPr>
          <a:xfrm>
            <a:off x="384048" y="768096"/>
            <a:ext cx="8449056" cy="329184"/>
          </a:xfrm>
          <a:prstGeom prst="rect">
            <a:avLst/>
          </a:prstGeom>
          <a:noFill/>
          <a:ln/>
        </p:spPr>
        <p:txBody>
          <a:bodyPr wrap="square" rtlCol="0" anchor="ctr"/>
          <a:lstStyle/>
          <a:p>
            <a:pPr indent="0" marL="0">
              <a:buNone/>
            </a:pPr>
            <a:r>
              <a:rPr lang="en-US" sz="1000" dirty="0">
                <a:solidFill>
                  <a:srgbClr val="1E293B"/>
                </a:solidFill>
              </a:rPr>
              <a:t>Power BI connects to the API URL the same way a browser does — and loads JSON as a table.</a:t>
            </a:r>
            <a:endParaRPr lang="en-US" sz="1000" dirty="0"/>
          </a:p>
        </p:txBody>
      </p:sp>
      <p:sp>
        <p:nvSpPr>
          <p:cNvPr id="10" name="Text 8"/>
          <p:cNvSpPr/>
          <p:nvPr/>
        </p:nvSpPr>
        <p:spPr>
          <a:xfrm>
            <a:off x="256032" y="1188720"/>
            <a:ext cx="8686800" cy="256032"/>
          </a:xfrm>
          <a:prstGeom prst="rect">
            <a:avLst/>
          </a:prstGeom>
          <a:noFill/>
          <a:ln/>
        </p:spPr>
        <p:txBody>
          <a:bodyPr wrap="square" rtlCol="0" anchor="ctr"/>
          <a:lstStyle/>
          <a:p>
            <a:pPr indent="0" marL="0">
              <a:buNone/>
            </a:pPr>
            <a:r>
              <a:rPr lang="en-US" sz="1100" b="1" dirty="0">
                <a:solidFill>
                  <a:srgbClr val="1D4ED8"/>
                </a:solidFill>
              </a:rPr>
              <a:t>Step-by-step in Power Query:</a:t>
            </a:r>
            <a:endParaRPr lang="en-US" sz="1100" dirty="0"/>
          </a:p>
        </p:txBody>
      </p:sp>
      <p:sp>
        <p:nvSpPr>
          <p:cNvPr id="11" name="Shape 9"/>
          <p:cNvSpPr/>
          <p:nvPr/>
        </p:nvSpPr>
        <p:spPr>
          <a:xfrm>
            <a:off x="256032" y="1481328"/>
            <a:ext cx="4206240" cy="256032"/>
          </a:xfrm>
          <a:prstGeom prst="rect">
            <a:avLst/>
          </a:prstGeom>
          <a:solidFill>
            <a:srgbClr val="EFF6FF"/>
          </a:solidFill>
          <a:ln w="6350">
            <a:solidFill>
              <a:srgbClr val="E2E8F0"/>
            </a:solidFill>
            <a:prstDash val="solid"/>
          </a:ln>
        </p:spPr>
      </p:sp>
      <p:sp>
        <p:nvSpPr>
          <p:cNvPr id="12" name="Shape 10"/>
          <p:cNvSpPr/>
          <p:nvPr/>
        </p:nvSpPr>
        <p:spPr>
          <a:xfrm>
            <a:off x="256032" y="1481328"/>
            <a:ext cx="54864" cy="256032"/>
          </a:xfrm>
          <a:prstGeom prst="rect">
            <a:avLst/>
          </a:prstGeom>
          <a:solidFill>
            <a:srgbClr val="1D4ED8"/>
          </a:solidFill>
          <a:ln w="12700">
            <a:solidFill>
              <a:srgbClr val="1D4ED8"/>
            </a:solidFill>
            <a:prstDash val="solid"/>
          </a:ln>
        </p:spPr>
      </p:sp>
      <p:sp>
        <p:nvSpPr>
          <p:cNvPr id="13" name="Shape 11"/>
          <p:cNvSpPr/>
          <p:nvPr/>
        </p:nvSpPr>
        <p:spPr>
          <a:xfrm>
            <a:off x="310896" y="1517904"/>
            <a:ext cx="182880" cy="182880"/>
          </a:xfrm>
          <a:prstGeom prst="rect">
            <a:avLst/>
          </a:prstGeom>
          <a:solidFill>
            <a:srgbClr val="1D4ED8"/>
          </a:solidFill>
          <a:ln w="12700">
            <a:solidFill>
              <a:srgbClr val="1D4ED8"/>
            </a:solidFill>
            <a:prstDash val="solid"/>
          </a:ln>
        </p:spPr>
      </p:sp>
      <p:sp>
        <p:nvSpPr>
          <p:cNvPr id="14" name="Text 12"/>
          <p:cNvSpPr/>
          <p:nvPr/>
        </p:nvSpPr>
        <p:spPr>
          <a:xfrm>
            <a:off x="310896" y="1517904"/>
            <a:ext cx="182880" cy="182880"/>
          </a:xfrm>
          <a:prstGeom prst="rect">
            <a:avLst/>
          </a:prstGeom>
          <a:noFill/>
          <a:ln/>
        </p:spPr>
        <p:txBody>
          <a:bodyPr wrap="square" rtlCol="0" anchor="ctr"/>
          <a:lstStyle/>
          <a:p>
            <a:pPr algn="ctr" indent="0" marL="0">
              <a:buNone/>
            </a:pPr>
            <a:r>
              <a:rPr lang="en-US" sz="800" b="1" dirty="0">
                <a:solidFill>
                  <a:srgbClr val="FFFFFF"/>
                </a:solidFill>
              </a:rPr>
              <a:t>1</a:t>
            </a:r>
            <a:endParaRPr lang="en-US" sz="800" dirty="0"/>
          </a:p>
        </p:txBody>
      </p:sp>
      <p:sp>
        <p:nvSpPr>
          <p:cNvPr id="15" name="Text 13"/>
          <p:cNvSpPr/>
          <p:nvPr/>
        </p:nvSpPr>
        <p:spPr>
          <a:xfrm>
            <a:off x="548640" y="1481328"/>
            <a:ext cx="3877056" cy="256032"/>
          </a:xfrm>
          <a:prstGeom prst="rect">
            <a:avLst/>
          </a:prstGeom>
          <a:noFill/>
          <a:ln/>
        </p:spPr>
        <p:txBody>
          <a:bodyPr wrap="square" rtlCol="0" anchor="ctr"/>
          <a:lstStyle/>
          <a:p>
            <a:pPr indent="0" marL="0">
              <a:buNone/>
            </a:pPr>
            <a:r>
              <a:rPr lang="en-US" sz="900" dirty="0">
                <a:solidFill>
                  <a:srgbClr val="1E293B"/>
                </a:solidFill>
              </a:rPr>
              <a:t>Home → New Source → Web</a:t>
            </a:r>
            <a:endParaRPr lang="en-US" sz="900" dirty="0"/>
          </a:p>
        </p:txBody>
      </p:sp>
      <p:sp>
        <p:nvSpPr>
          <p:cNvPr id="16" name="Shape 14"/>
          <p:cNvSpPr/>
          <p:nvPr/>
        </p:nvSpPr>
        <p:spPr>
          <a:xfrm>
            <a:off x="256032" y="1810512"/>
            <a:ext cx="4206240" cy="256032"/>
          </a:xfrm>
          <a:prstGeom prst="rect">
            <a:avLst/>
          </a:prstGeom>
          <a:solidFill>
            <a:srgbClr val="FFFFFF"/>
          </a:solidFill>
          <a:ln w="6350">
            <a:solidFill>
              <a:srgbClr val="E2E8F0"/>
            </a:solidFill>
            <a:prstDash val="solid"/>
          </a:ln>
        </p:spPr>
      </p:sp>
      <p:sp>
        <p:nvSpPr>
          <p:cNvPr id="17" name="Shape 15"/>
          <p:cNvSpPr/>
          <p:nvPr/>
        </p:nvSpPr>
        <p:spPr>
          <a:xfrm>
            <a:off x="256032" y="1810512"/>
            <a:ext cx="54864" cy="256032"/>
          </a:xfrm>
          <a:prstGeom prst="rect">
            <a:avLst/>
          </a:prstGeom>
          <a:solidFill>
            <a:srgbClr val="1D4ED8"/>
          </a:solidFill>
          <a:ln w="12700">
            <a:solidFill>
              <a:srgbClr val="1D4ED8"/>
            </a:solidFill>
            <a:prstDash val="solid"/>
          </a:ln>
        </p:spPr>
      </p:sp>
      <p:sp>
        <p:nvSpPr>
          <p:cNvPr id="18" name="Shape 16"/>
          <p:cNvSpPr/>
          <p:nvPr/>
        </p:nvSpPr>
        <p:spPr>
          <a:xfrm>
            <a:off x="310896" y="1847088"/>
            <a:ext cx="182880" cy="182880"/>
          </a:xfrm>
          <a:prstGeom prst="rect">
            <a:avLst/>
          </a:prstGeom>
          <a:solidFill>
            <a:srgbClr val="1D4ED8"/>
          </a:solidFill>
          <a:ln w="12700">
            <a:solidFill>
              <a:srgbClr val="1D4ED8"/>
            </a:solidFill>
            <a:prstDash val="solid"/>
          </a:ln>
        </p:spPr>
      </p:sp>
      <p:sp>
        <p:nvSpPr>
          <p:cNvPr id="19" name="Text 17"/>
          <p:cNvSpPr/>
          <p:nvPr/>
        </p:nvSpPr>
        <p:spPr>
          <a:xfrm>
            <a:off x="310896" y="1847088"/>
            <a:ext cx="182880" cy="182880"/>
          </a:xfrm>
          <a:prstGeom prst="rect">
            <a:avLst/>
          </a:prstGeom>
          <a:noFill/>
          <a:ln/>
        </p:spPr>
        <p:txBody>
          <a:bodyPr wrap="square" rtlCol="0" anchor="ctr"/>
          <a:lstStyle/>
          <a:p>
            <a:pPr algn="ctr" indent="0" marL="0">
              <a:buNone/>
            </a:pPr>
            <a:r>
              <a:rPr lang="en-US" sz="800" b="1" dirty="0">
                <a:solidFill>
                  <a:srgbClr val="FFFFFF"/>
                </a:solidFill>
              </a:rPr>
              <a:t>2</a:t>
            </a:r>
            <a:endParaRPr lang="en-US" sz="800" dirty="0"/>
          </a:p>
        </p:txBody>
      </p:sp>
      <p:sp>
        <p:nvSpPr>
          <p:cNvPr id="20" name="Text 18"/>
          <p:cNvSpPr/>
          <p:nvPr/>
        </p:nvSpPr>
        <p:spPr>
          <a:xfrm>
            <a:off x="548640" y="1810512"/>
            <a:ext cx="3877056" cy="256032"/>
          </a:xfrm>
          <a:prstGeom prst="rect">
            <a:avLst/>
          </a:prstGeom>
          <a:noFill/>
          <a:ln/>
        </p:spPr>
        <p:txBody>
          <a:bodyPr wrap="square" rtlCol="0" anchor="ctr"/>
          <a:lstStyle/>
          <a:p>
            <a:pPr indent="0" marL="0">
              <a:buNone/>
            </a:pPr>
            <a:r>
              <a:rPr lang="en-US" sz="900" dirty="0">
                <a:solidFill>
                  <a:srgbClr val="1E293B"/>
                </a:solidFill>
              </a:rPr>
              <a:t>Select Advanced (not Basic)</a:t>
            </a:r>
            <a:endParaRPr lang="en-US" sz="900" dirty="0"/>
          </a:p>
        </p:txBody>
      </p:sp>
      <p:sp>
        <p:nvSpPr>
          <p:cNvPr id="21" name="Shape 19"/>
          <p:cNvSpPr/>
          <p:nvPr/>
        </p:nvSpPr>
        <p:spPr>
          <a:xfrm>
            <a:off x="256032" y="2139696"/>
            <a:ext cx="4206240" cy="256032"/>
          </a:xfrm>
          <a:prstGeom prst="rect">
            <a:avLst/>
          </a:prstGeom>
          <a:solidFill>
            <a:srgbClr val="EFF6FF"/>
          </a:solidFill>
          <a:ln w="6350">
            <a:solidFill>
              <a:srgbClr val="E2E8F0"/>
            </a:solidFill>
            <a:prstDash val="solid"/>
          </a:ln>
        </p:spPr>
      </p:sp>
      <p:sp>
        <p:nvSpPr>
          <p:cNvPr id="22" name="Shape 20"/>
          <p:cNvSpPr/>
          <p:nvPr/>
        </p:nvSpPr>
        <p:spPr>
          <a:xfrm>
            <a:off x="256032" y="2139696"/>
            <a:ext cx="54864" cy="256032"/>
          </a:xfrm>
          <a:prstGeom prst="rect">
            <a:avLst/>
          </a:prstGeom>
          <a:solidFill>
            <a:srgbClr val="1D4ED8"/>
          </a:solidFill>
          <a:ln w="12700">
            <a:solidFill>
              <a:srgbClr val="1D4ED8"/>
            </a:solidFill>
            <a:prstDash val="solid"/>
          </a:ln>
        </p:spPr>
      </p:sp>
      <p:sp>
        <p:nvSpPr>
          <p:cNvPr id="23" name="Shape 21"/>
          <p:cNvSpPr/>
          <p:nvPr/>
        </p:nvSpPr>
        <p:spPr>
          <a:xfrm>
            <a:off x="310896" y="2176272"/>
            <a:ext cx="182880" cy="182880"/>
          </a:xfrm>
          <a:prstGeom prst="rect">
            <a:avLst/>
          </a:prstGeom>
          <a:solidFill>
            <a:srgbClr val="1D4ED8"/>
          </a:solidFill>
          <a:ln w="12700">
            <a:solidFill>
              <a:srgbClr val="1D4ED8"/>
            </a:solidFill>
            <a:prstDash val="solid"/>
          </a:ln>
        </p:spPr>
      </p:sp>
      <p:sp>
        <p:nvSpPr>
          <p:cNvPr id="24" name="Text 22"/>
          <p:cNvSpPr/>
          <p:nvPr/>
        </p:nvSpPr>
        <p:spPr>
          <a:xfrm>
            <a:off x="310896" y="2176272"/>
            <a:ext cx="182880" cy="182880"/>
          </a:xfrm>
          <a:prstGeom prst="rect">
            <a:avLst/>
          </a:prstGeom>
          <a:noFill/>
          <a:ln/>
        </p:spPr>
        <p:txBody>
          <a:bodyPr wrap="square" rtlCol="0" anchor="ctr"/>
          <a:lstStyle/>
          <a:p>
            <a:pPr algn="ctr" indent="0" marL="0">
              <a:buNone/>
            </a:pPr>
            <a:r>
              <a:rPr lang="en-US" sz="800" b="1" dirty="0">
                <a:solidFill>
                  <a:srgbClr val="FFFFFF"/>
                </a:solidFill>
              </a:rPr>
              <a:t>3</a:t>
            </a:r>
            <a:endParaRPr lang="en-US" sz="800" dirty="0"/>
          </a:p>
        </p:txBody>
      </p:sp>
      <p:sp>
        <p:nvSpPr>
          <p:cNvPr id="25" name="Text 23"/>
          <p:cNvSpPr/>
          <p:nvPr/>
        </p:nvSpPr>
        <p:spPr>
          <a:xfrm>
            <a:off x="548640" y="2139696"/>
            <a:ext cx="3877056" cy="256032"/>
          </a:xfrm>
          <a:prstGeom prst="rect">
            <a:avLst/>
          </a:prstGeom>
          <a:noFill/>
          <a:ln/>
        </p:spPr>
        <p:txBody>
          <a:bodyPr wrap="square" rtlCol="0" anchor="ctr"/>
          <a:lstStyle/>
          <a:p>
            <a:pPr indent="0" marL="0">
              <a:buNone/>
            </a:pPr>
            <a:r>
              <a:rPr lang="en-US" sz="900" dirty="0">
                <a:solidFill>
                  <a:srgbClr val="1E293B"/>
                </a:solidFill>
              </a:rPr>
              <a:t>URL Part 1:  http://universities.hipolabs.com/search?country=</a:t>
            </a:r>
            <a:endParaRPr lang="en-US" sz="900" dirty="0"/>
          </a:p>
        </p:txBody>
      </p:sp>
      <p:sp>
        <p:nvSpPr>
          <p:cNvPr id="26" name="Shape 24"/>
          <p:cNvSpPr/>
          <p:nvPr/>
        </p:nvSpPr>
        <p:spPr>
          <a:xfrm>
            <a:off x="256032" y="2468880"/>
            <a:ext cx="4206240" cy="256032"/>
          </a:xfrm>
          <a:prstGeom prst="rect">
            <a:avLst/>
          </a:prstGeom>
          <a:solidFill>
            <a:srgbClr val="FFFFFF"/>
          </a:solidFill>
          <a:ln w="6350">
            <a:solidFill>
              <a:srgbClr val="E2E8F0"/>
            </a:solidFill>
            <a:prstDash val="solid"/>
          </a:ln>
        </p:spPr>
      </p:sp>
      <p:sp>
        <p:nvSpPr>
          <p:cNvPr id="27" name="Shape 25"/>
          <p:cNvSpPr/>
          <p:nvPr/>
        </p:nvSpPr>
        <p:spPr>
          <a:xfrm>
            <a:off x="256032" y="2468880"/>
            <a:ext cx="54864" cy="256032"/>
          </a:xfrm>
          <a:prstGeom prst="rect">
            <a:avLst/>
          </a:prstGeom>
          <a:solidFill>
            <a:srgbClr val="1D4ED8"/>
          </a:solidFill>
          <a:ln w="12700">
            <a:solidFill>
              <a:srgbClr val="1D4ED8"/>
            </a:solidFill>
            <a:prstDash val="solid"/>
          </a:ln>
        </p:spPr>
      </p:sp>
      <p:sp>
        <p:nvSpPr>
          <p:cNvPr id="28" name="Shape 26"/>
          <p:cNvSpPr/>
          <p:nvPr/>
        </p:nvSpPr>
        <p:spPr>
          <a:xfrm>
            <a:off x="310896" y="2505456"/>
            <a:ext cx="182880" cy="182880"/>
          </a:xfrm>
          <a:prstGeom prst="rect">
            <a:avLst/>
          </a:prstGeom>
          <a:solidFill>
            <a:srgbClr val="1D4ED8"/>
          </a:solidFill>
          <a:ln w="12700">
            <a:solidFill>
              <a:srgbClr val="1D4ED8"/>
            </a:solidFill>
            <a:prstDash val="solid"/>
          </a:ln>
        </p:spPr>
      </p:sp>
      <p:sp>
        <p:nvSpPr>
          <p:cNvPr id="29" name="Text 27"/>
          <p:cNvSpPr/>
          <p:nvPr/>
        </p:nvSpPr>
        <p:spPr>
          <a:xfrm>
            <a:off x="310896" y="2505456"/>
            <a:ext cx="182880" cy="182880"/>
          </a:xfrm>
          <a:prstGeom prst="rect">
            <a:avLst/>
          </a:prstGeom>
          <a:noFill/>
          <a:ln/>
        </p:spPr>
        <p:txBody>
          <a:bodyPr wrap="square" rtlCol="0" anchor="ctr"/>
          <a:lstStyle/>
          <a:p>
            <a:pPr algn="ctr" indent="0" marL="0">
              <a:buNone/>
            </a:pPr>
            <a:r>
              <a:rPr lang="en-US" sz="800" b="1" dirty="0">
                <a:solidFill>
                  <a:srgbClr val="FFFFFF"/>
                </a:solidFill>
              </a:rPr>
              <a:t>4</a:t>
            </a:r>
            <a:endParaRPr lang="en-US" sz="800" dirty="0"/>
          </a:p>
        </p:txBody>
      </p:sp>
      <p:sp>
        <p:nvSpPr>
          <p:cNvPr id="30" name="Text 28"/>
          <p:cNvSpPr/>
          <p:nvPr/>
        </p:nvSpPr>
        <p:spPr>
          <a:xfrm>
            <a:off x="548640" y="2468880"/>
            <a:ext cx="3877056" cy="256032"/>
          </a:xfrm>
          <a:prstGeom prst="rect">
            <a:avLst/>
          </a:prstGeom>
          <a:noFill/>
          <a:ln/>
        </p:spPr>
        <p:txBody>
          <a:bodyPr wrap="square" rtlCol="0" anchor="ctr"/>
          <a:lstStyle/>
          <a:p>
            <a:pPr indent="0" marL="0">
              <a:buNone/>
            </a:pPr>
            <a:r>
              <a:rPr lang="en-US" sz="900" dirty="0">
                <a:solidFill>
                  <a:srgbClr val="1E293B"/>
                </a:solidFill>
              </a:rPr>
              <a:t>Click Add Part → Part 2: dropdown → Parameter → CountryParam</a:t>
            </a:r>
            <a:endParaRPr lang="en-US" sz="900" dirty="0"/>
          </a:p>
        </p:txBody>
      </p:sp>
      <p:sp>
        <p:nvSpPr>
          <p:cNvPr id="31" name="Shape 29"/>
          <p:cNvSpPr/>
          <p:nvPr/>
        </p:nvSpPr>
        <p:spPr>
          <a:xfrm>
            <a:off x="256032" y="2798064"/>
            <a:ext cx="4206240" cy="256032"/>
          </a:xfrm>
          <a:prstGeom prst="rect">
            <a:avLst/>
          </a:prstGeom>
          <a:solidFill>
            <a:srgbClr val="EFF6FF"/>
          </a:solidFill>
          <a:ln w="6350">
            <a:solidFill>
              <a:srgbClr val="E2E8F0"/>
            </a:solidFill>
            <a:prstDash val="solid"/>
          </a:ln>
        </p:spPr>
      </p:sp>
      <p:sp>
        <p:nvSpPr>
          <p:cNvPr id="32" name="Shape 30"/>
          <p:cNvSpPr/>
          <p:nvPr/>
        </p:nvSpPr>
        <p:spPr>
          <a:xfrm>
            <a:off x="256032" y="2798064"/>
            <a:ext cx="54864" cy="256032"/>
          </a:xfrm>
          <a:prstGeom prst="rect">
            <a:avLst/>
          </a:prstGeom>
          <a:solidFill>
            <a:srgbClr val="1D4ED8"/>
          </a:solidFill>
          <a:ln w="12700">
            <a:solidFill>
              <a:srgbClr val="1D4ED8"/>
            </a:solidFill>
            <a:prstDash val="solid"/>
          </a:ln>
        </p:spPr>
      </p:sp>
      <p:sp>
        <p:nvSpPr>
          <p:cNvPr id="33" name="Shape 31"/>
          <p:cNvSpPr/>
          <p:nvPr/>
        </p:nvSpPr>
        <p:spPr>
          <a:xfrm>
            <a:off x="310896" y="2834640"/>
            <a:ext cx="182880" cy="182880"/>
          </a:xfrm>
          <a:prstGeom prst="rect">
            <a:avLst/>
          </a:prstGeom>
          <a:solidFill>
            <a:srgbClr val="1D4ED8"/>
          </a:solidFill>
          <a:ln w="12700">
            <a:solidFill>
              <a:srgbClr val="1D4ED8"/>
            </a:solidFill>
            <a:prstDash val="solid"/>
          </a:ln>
        </p:spPr>
      </p:sp>
      <p:sp>
        <p:nvSpPr>
          <p:cNvPr id="34" name="Text 32"/>
          <p:cNvSpPr/>
          <p:nvPr/>
        </p:nvSpPr>
        <p:spPr>
          <a:xfrm>
            <a:off x="310896" y="2834640"/>
            <a:ext cx="182880" cy="182880"/>
          </a:xfrm>
          <a:prstGeom prst="rect">
            <a:avLst/>
          </a:prstGeom>
          <a:noFill/>
          <a:ln/>
        </p:spPr>
        <p:txBody>
          <a:bodyPr wrap="square" rtlCol="0" anchor="ctr"/>
          <a:lstStyle/>
          <a:p>
            <a:pPr algn="ctr" indent="0" marL="0">
              <a:buNone/>
            </a:pPr>
            <a:r>
              <a:rPr lang="en-US" sz="800" b="1" dirty="0">
                <a:solidFill>
                  <a:srgbClr val="FFFFFF"/>
                </a:solidFill>
              </a:rPr>
              <a:t>5</a:t>
            </a:r>
            <a:endParaRPr lang="en-US" sz="800" dirty="0"/>
          </a:p>
        </p:txBody>
      </p:sp>
      <p:sp>
        <p:nvSpPr>
          <p:cNvPr id="35" name="Text 33"/>
          <p:cNvSpPr/>
          <p:nvPr/>
        </p:nvSpPr>
        <p:spPr>
          <a:xfrm>
            <a:off x="548640" y="2798064"/>
            <a:ext cx="3877056" cy="256032"/>
          </a:xfrm>
          <a:prstGeom prst="rect">
            <a:avLst/>
          </a:prstGeom>
          <a:noFill/>
          <a:ln/>
        </p:spPr>
        <p:txBody>
          <a:bodyPr wrap="square" rtlCol="0" anchor="ctr"/>
          <a:lstStyle/>
          <a:p>
            <a:pPr indent="0" marL="0">
              <a:buNone/>
            </a:pPr>
            <a:r>
              <a:rPr lang="en-US" sz="900" dirty="0">
                <a:solidFill>
                  <a:srgbClr val="1E293B"/>
                </a:solidFill>
              </a:rPr>
              <a:t>Click OK — Power BI loads the JSON</a:t>
            </a:r>
            <a:endParaRPr lang="en-US" sz="900" dirty="0"/>
          </a:p>
        </p:txBody>
      </p:sp>
      <p:sp>
        <p:nvSpPr>
          <p:cNvPr id="36" name="Shape 34"/>
          <p:cNvSpPr/>
          <p:nvPr/>
        </p:nvSpPr>
        <p:spPr>
          <a:xfrm>
            <a:off x="256032" y="3127248"/>
            <a:ext cx="4206240" cy="256032"/>
          </a:xfrm>
          <a:prstGeom prst="rect">
            <a:avLst/>
          </a:prstGeom>
          <a:solidFill>
            <a:srgbClr val="FFFFFF"/>
          </a:solidFill>
          <a:ln w="6350">
            <a:solidFill>
              <a:srgbClr val="E2E8F0"/>
            </a:solidFill>
            <a:prstDash val="solid"/>
          </a:ln>
        </p:spPr>
      </p:sp>
      <p:sp>
        <p:nvSpPr>
          <p:cNvPr id="37" name="Shape 35"/>
          <p:cNvSpPr/>
          <p:nvPr/>
        </p:nvSpPr>
        <p:spPr>
          <a:xfrm>
            <a:off x="256032" y="3127248"/>
            <a:ext cx="54864" cy="256032"/>
          </a:xfrm>
          <a:prstGeom prst="rect">
            <a:avLst/>
          </a:prstGeom>
          <a:solidFill>
            <a:srgbClr val="1D4ED8"/>
          </a:solidFill>
          <a:ln w="12700">
            <a:solidFill>
              <a:srgbClr val="1D4ED8"/>
            </a:solidFill>
            <a:prstDash val="solid"/>
          </a:ln>
        </p:spPr>
      </p:sp>
      <p:sp>
        <p:nvSpPr>
          <p:cNvPr id="38" name="Shape 36"/>
          <p:cNvSpPr/>
          <p:nvPr/>
        </p:nvSpPr>
        <p:spPr>
          <a:xfrm>
            <a:off x="310896" y="3163824"/>
            <a:ext cx="182880" cy="182880"/>
          </a:xfrm>
          <a:prstGeom prst="rect">
            <a:avLst/>
          </a:prstGeom>
          <a:solidFill>
            <a:srgbClr val="1D4ED8"/>
          </a:solidFill>
          <a:ln w="12700">
            <a:solidFill>
              <a:srgbClr val="1D4ED8"/>
            </a:solidFill>
            <a:prstDash val="solid"/>
          </a:ln>
        </p:spPr>
      </p:sp>
      <p:sp>
        <p:nvSpPr>
          <p:cNvPr id="39" name="Text 37"/>
          <p:cNvSpPr/>
          <p:nvPr/>
        </p:nvSpPr>
        <p:spPr>
          <a:xfrm>
            <a:off x="310896" y="3163824"/>
            <a:ext cx="182880" cy="182880"/>
          </a:xfrm>
          <a:prstGeom prst="rect">
            <a:avLst/>
          </a:prstGeom>
          <a:noFill/>
          <a:ln/>
        </p:spPr>
        <p:txBody>
          <a:bodyPr wrap="square" rtlCol="0" anchor="ctr"/>
          <a:lstStyle/>
          <a:p>
            <a:pPr algn="ctr" indent="0" marL="0">
              <a:buNone/>
            </a:pPr>
            <a:r>
              <a:rPr lang="en-US" sz="800" b="1" dirty="0">
                <a:solidFill>
                  <a:srgbClr val="FFFFFF"/>
                </a:solidFill>
              </a:rPr>
              <a:t>6</a:t>
            </a:r>
            <a:endParaRPr lang="en-US" sz="800" dirty="0"/>
          </a:p>
        </p:txBody>
      </p:sp>
      <p:sp>
        <p:nvSpPr>
          <p:cNvPr id="40" name="Text 38"/>
          <p:cNvSpPr/>
          <p:nvPr/>
        </p:nvSpPr>
        <p:spPr>
          <a:xfrm>
            <a:off x="548640" y="3127248"/>
            <a:ext cx="3877056" cy="256032"/>
          </a:xfrm>
          <a:prstGeom prst="rect">
            <a:avLst/>
          </a:prstGeom>
          <a:noFill/>
          <a:ln/>
        </p:spPr>
        <p:txBody>
          <a:bodyPr wrap="square" rtlCol="0" anchor="ctr"/>
          <a:lstStyle/>
          <a:p>
            <a:pPr indent="0" marL="0">
              <a:buNone/>
            </a:pPr>
            <a:r>
              <a:rPr lang="en-US" sz="900" dirty="0">
                <a:solidFill>
                  <a:srgbClr val="1E293B"/>
                </a:solidFill>
              </a:rPr>
              <a:t>Click Into Table on the ribbon</a:t>
            </a:r>
            <a:endParaRPr lang="en-US" sz="900" dirty="0"/>
          </a:p>
        </p:txBody>
      </p:sp>
      <p:sp>
        <p:nvSpPr>
          <p:cNvPr id="41" name="Shape 39"/>
          <p:cNvSpPr/>
          <p:nvPr/>
        </p:nvSpPr>
        <p:spPr>
          <a:xfrm>
            <a:off x="256032" y="3456432"/>
            <a:ext cx="4206240" cy="256032"/>
          </a:xfrm>
          <a:prstGeom prst="rect">
            <a:avLst/>
          </a:prstGeom>
          <a:solidFill>
            <a:srgbClr val="EFF6FF"/>
          </a:solidFill>
          <a:ln w="6350">
            <a:solidFill>
              <a:srgbClr val="E2E8F0"/>
            </a:solidFill>
            <a:prstDash val="solid"/>
          </a:ln>
        </p:spPr>
      </p:sp>
      <p:sp>
        <p:nvSpPr>
          <p:cNvPr id="42" name="Shape 40"/>
          <p:cNvSpPr/>
          <p:nvPr/>
        </p:nvSpPr>
        <p:spPr>
          <a:xfrm>
            <a:off x="256032" y="3456432"/>
            <a:ext cx="54864" cy="256032"/>
          </a:xfrm>
          <a:prstGeom prst="rect">
            <a:avLst/>
          </a:prstGeom>
          <a:solidFill>
            <a:srgbClr val="1D4ED8"/>
          </a:solidFill>
          <a:ln w="12700">
            <a:solidFill>
              <a:srgbClr val="1D4ED8"/>
            </a:solidFill>
            <a:prstDash val="solid"/>
          </a:ln>
        </p:spPr>
      </p:sp>
      <p:sp>
        <p:nvSpPr>
          <p:cNvPr id="43" name="Shape 41"/>
          <p:cNvSpPr/>
          <p:nvPr/>
        </p:nvSpPr>
        <p:spPr>
          <a:xfrm>
            <a:off x="310896" y="3493008"/>
            <a:ext cx="182880" cy="182880"/>
          </a:xfrm>
          <a:prstGeom prst="rect">
            <a:avLst/>
          </a:prstGeom>
          <a:solidFill>
            <a:srgbClr val="1D4ED8"/>
          </a:solidFill>
          <a:ln w="12700">
            <a:solidFill>
              <a:srgbClr val="1D4ED8"/>
            </a:solidFill>
            <a:prstDash val="solid"/>
          </a:ln>
        </p:spPr>
      </p:sp>
      <p:sp>
        <p:nvSpPr>
          <p:cNvPr id="44" name="Text 42"/>
          <p:cNvSpPr/>
          <p:nvPr/>
        </p:nvSpPr>
        <p:spPr>
          <a:xfrm>
            <a:off x="310896" y="3493008"/>
            <a:ext cx="182880" cy="182880"/>
          </a:xfrm>
          <a:prstGeom prst="rect">
            <a:avLst/>
          </a:prstGeom>
          <a:noFill/>
          <a:ln/>
        </p:spPr>
        <p:txBody>
          <a:bodyPr wrap="square" rtlCol="0" anchor="ctr"/>
          <a:lstStyle/>
          <a:p>
            <a:pPr algn="ctr" indent="0" marL="0">
              <a:buNone/>
            </a:pPr>
            <a:r>
              <a:rPr lang="en-US" sz="800" b="1" dirty="0">
                <a:solidFill>
                  <a:srgbClr val="FFFFFF"/>
                </a:solidFill>
              </a:rPr>
              <a:t>7</a:t>
            </a:r>
            <a:endParaRPr lang="en-US" sz="800" dirty="0"/>
          </a:p>
        </p:txBody>
      </p:sp>
      <p:sp>
        <p:nvSpPr>
          <p:cNvPr id="45" name="Text 43"/>
          <p:cNvSpPr/>
          <p:nvPr/>
        </p:nvSpPr>
        <p:spPr>
          <a:xfrm>
            <a:off x="548640" y="3456432"/>
            <a:ext cx="3877056" cy="256032"/>
          </a:xfrm>
          <a:prstGeom prst="rect">
            <a:avLst/>
          </a:prstGeom>
          <a:noFill/>
          <a:ln/>
        </p:spPr>
        <p:txBody>
          <a:bodyPr wrap="square" rtlCol="0" anchor="ctr"/>
          <a:lstStyle/>
          <a:p>
            <a:pPr indent="0" marL="0">
              <a:buNone/>
            </a:pPr>
            <a:r>
              <a:rPr lang="en-US" sz="900" dirty="0">
                <a:solidFill>
                  <a:srgbClr val="1E293B"/>
                </a:solidFill>
              </a:rPr>
              <a:t>Click the Expand icon (two arrows) on the column header</a:t>
            </a:r>
            <a:endParaRPr lang="en-US" sz="900" dirty="0"/>
          </a:p>
        </p:txBody>
      </p:sp>
      <p:sp>
        <p:nvSpPr>
          <p:cNvPr id="46" name="Shape 44"/>
          <p:cNvSpPr/>
          <p:nvPr/>
        </p:nvSpPr>
        <p:spPr>
          <a:xfrm>
            <a:off x="256032" y="3785616"/>
            <a:ext cx="4206240" cy="256032"/>
          </a:xfrm>
          <a:prstGeom prst="rect">
            <a:avLst/>
          </a:prstGeom>
          <a:solidFill>
            <a:srgbClr val="FFFFFF"/>
          </a:solidFill>
          <a:ln w="6350">
            <a:solidFill>
              <a:srgbClr val="E2E8F0"/>
            </a:solidFill>
            <a:prstDash val="solid"/>
          </a:ln>
        </p:spPr>
      </p:sp>
      <p:sp>
        <p:nvSpPr>
          <p:cNvPr id="47" name="Shape 45"/>
          <p:cNvSpPr/>
          <p:nvPr/>
        </p:nvSpPr>
        <p:spPr>
          <a:xfrm>
            <a:off x="256032" y="3785616"/>
            <a:ext cx="54864" cy="256032"/>
          </a:xfrm>
          <a:prstGeom prst="rect">
            <a:avLst/>
          </a:prstGeom>
          <a:solidFill>
            <a:srgbClr val="1D4ED8"/>
          </a:solidFill>
          <a:ln w="12700">
            <a:solidFill>
              <a:srgbClr val="1D4ED8"/>
            </a:solidFill>
            <a:prstDash val="solid"/>
          </a:ln>
        </p:spPr>
      </p:sp>
      <p:sp>
        <p:nvSpPr>
          <p:cNvPr id="48" name="Shape 46"/>
          <p:cNvSpPr/>
          <p:nvPr/>
        </p:nvSpPr>
        <p:spPr>
          <a:xfrm>
            <a:off x="310896" y="3822192"/>
            <a:ext cx="182880" cy="182880"/>
          </a:xfrm>
          <a:prstGeom prst="rect">
            <a:avLst/>
          </a:prstGeom>
          <a:solidFill>
            <a:srgbClr val="1D4ED8"/>
          </a:solidFill>
          <a:ln w="12700">
            <a:solidFill>
              <a:srgbClr val="1D4ED8"/>
            </a:solidFill>
            <a:prstDash val="solid"/>
          </a:ln>
        </p:spPr>
      </p:sp>
      <p:sp>
        <p:nvSpPr>
          <p:cNvPr id="49" name="Text 47"/>
          <p:cNvSpPr/>
          <p:nvPr/>
        </p:nvSpPr>
        <p:spPr>
          <a:xfrm>
            <a:off x="310896" y="3822192"/>
            <a:ext cx="182880" cy="182880"/>
          </a:xfrm>
          <a:prstGeom prst="rect">
            <a:avLst/>
          </a:prstGeom>
          <a:noFill/>
          <a:ln/>
        </p:spPr>
        <p:txBody>
          <a:bodyPr wrap="square" rtlCol="0" anchor="ctr"/>
          <a:lstStyle/>
          <a:p>
            <a:pPr algn="ctr" indent="0" marL="0">
              <a:buNone/>
            </a:pPr>
            <a:r>
              <a:rPr lang="en-US" sz="800" b="1" dirty="0">
                <a:solidFill>
                  <a:srgbClr val="FFFFFF"/>
                </a:solidFill>
              </a:rPr>
              <a:t>8</a:t>
            </a:r>
            <a:endParaRPr lang="en-US" sz="800" dirty="0"/>
          </a:p>
        </p:txBody>
      </p:sp>
      <p:sp>
        <p:nvSpPr>
          <p:cNvPr id="50" name="Text 48"/>
          <p:cNvSpPr/>
          <p:nvPr/>
        </p:nvSpPr>
        <p:spPr>
          <a:xfrm>
            <a:off x="548640" y="3785616"/>
            <a:ext cx="3877056" cy="256032"/>
          </a:xfrm>
          <a:prstGeom prst="rect">
            <a:avLst/>
          </a:prstGeom>
          <a:noFill/>
          <a:ln/>
        </p:spPr>
        <p:txBody>
          <a:bodyPr wrap="square" rtlCol="0" anchor="ctr"/>
          <a:lstStyle/>
          <a:p>
            <a:pPr indent="0" marL="0">
              <a:buNone/>
            </a:pPr>
            <a:r>
              <a:rPr lang="en-US" sz="900" dirty="0">
                <a:solidFill>
                  <a:srgbClr val="1E293B"/>
                </a:solidFill>
              </a:rPr>
              <a:t>Select columns to keep: name, country, alpha_two_code</a:t>
            </a:r>
            <a:endParaRPr lang="en-US" sz="900" dirty="0"/>
          </a:p>
        </p:txBody>
      </p:sp>
      <p:sp>
        <p:nvSpPr>
          <p:cNvPr id="51" name="Shape 49"/>
          <p:cNvSpPr/>
          <p:nvPr/>
        </p:nvSpPr>
        <p:spPr>
          <a:xfrm>
            <a:off x="256032" y="4114800"/>
            <a:ext cx="4206240" cy="256032"/>
          </a:xfrm>
          <a:prstGeom prst="rect">
            <a:avLst/>
          </a:prstGeom>
          <a:solidFill>
            <a:srgbClr val="EFF6FF"/>
          </a:solidFill>
          <a:ln w="6350">
            <a:solidFill>
              <a:srgbClr val="E2E8F0"/>
            </a:solidFill>
            <a:prstDash val="solid"/>
          </a:ln>
        </p:spPr>
      </p:sp>
      <p:sp>
        <p:nvSpPr>
          <p:cNvPr id="52" name="Shape 50"/>
          <p:cNvSpPr/>
          <p:nvPr/>
        </p:nvSpPr>
        <p:spPr>
          <a:xfrm>
            <a:off x="256032" y="4114800"/>
            <a:ext cx="54864" cy="256032"/>
          </a:xfrm>
          <a:prstGeom prst="rect">
            <a:avLst/>
          </a:prstGeom>
          <a:solidFill>
            <a:srgbClr val="1D4ED8"/>
          </a:solidFill>
          <a:ln w="12700">
            <a:solidFill>
              <a:srgbClr val="1D4ED8"/>
            </a:solidFill>
            <a:prstDash val="solid"/>
          </a:ln>
        </p:spPr>
      </p:sp>
      <p:sp>
        <p:nvSpPr>
          <p:cNvPr id="53" name="Shape 51"/>
          <p:cNvSpPr/>
          <p:nvPr/>
        </p:nvSpPr>
        <p:spPr>
          <a:xfrm>
            <a:off x="310896" y="4151376"/>
            <a:ext cx="182880" cy="182880"/>
          </a:xfrm>
          <a:prstGeom prst="rect">
            <a:avLst/>
          </a:prstGeom>
          <a:solidFill>
            <a:srgbClr val="1D4ED8"/>
          </a:solidFill>
          <a:ln w="12700">
            <a:solidFill>
              <a:srgbClr val="1D4ED8"/>
            </a:solidFill>
            <a:prstDash val="solid"/>
          </a:ln>
        </p:spPr>
      </p:sp>
      <p:sp>
        <p:nvSpPr>
          <p:cNvPr id="54" name="Text 52"/>
          <p:cNvSpPr/>
          <p:nvPr/>
        </p:nvSpPr>
        <p:spPr>
          <a:xfrm>
            <a:off x="310896" y="4151376"/>
            <a:ext cx="182880" cy="182880"/>
          </a:xfrm>
          <a:prstGeom prst="rect">
            <a:avLst/>
          </a:prstGeom>
          <a:noFill/>
          <a:ln/>
        </p:spPr>
        <p:txBody>
          <a:bodyPr wrap="square" rtlCol="0" anchor="ctr"/>
          <a:lstStyle/>
          <a:p>
            <a:pPr algn="ctr" indent="0" marL="0">
              <a:buNone/>
            </a:pPr>
            <a:r>
              <a:rPr lang="en-US" sz="800" b="1" dirty="0">
                <a:solidFill>
                  <a:srgbClr val="FFFFFF"/>
                </a:solidFill>
              </a:rPr>
              <a:t>9</a:t>
            </a:r>
            <a:endParaRPr lang="en-US" sz="800" dirty="0"/>
          </a:p>
        </p:txBody>
      </p:sp>
      <p:sp>
        <p:nvSpPr>
          <p:cNvPr id="55" name="Text 53"/>
          <p:cNvSpPr/>
          <p:nvPr/>
        </p:nvSpPr>
        <p:spPr>
          <a:xfrm>
            <a:off x="548640" y="4114800"/>
            <a:ext cx="3877056" cy="256032"/>
          </a:xfrm>
          <a:prstGeom prst="rect">
            <a:avLst/>
          </a:prstGeom>
          <a:noFill/>
          <a:ln/>
        </p:spPr>
        <p:txBody>
          <a:bodyPr wrap="square" rtlCol="0" anchor="ctr"/>
          <a:lstStyle/>
          <a:p>
            <a:pPr indent="0" marL="0">
              <a:buNone/>
            </a:pPr>
            <a:r>
              <a:rPr lang="en-US" sz="900" dirty="0">
                <a:solidFill>
                  <a:srgbClr val="1E293B"/>
                </a:solidFill>
              </a:rPr>
              <a:t>Uncheck Use original column name as prefix → OK</a:t>
            </a:r>
            <a:endParaRPr lang="en-US" sz="900" dirty="0"/>
          </a:p>
        </p:txBody>
      </p:sp>
      <p:sp>
        <p:nvSpPr>
          <p:cNvPr id="56" name="Shape 54"/>
          <p:cNvSpPr/>
          <p:nvPr/>
        </p:nvSpPr>
        <p:spPr>
          <a:xfrm>
            <a:off x="256032" y="4443984"/>
            <a:ext cx="4206240" cy="256032"/>
          </a:xfrm>
          <a:prstGeom prst="rect">
            <a:avLst/>
          </a:prstGeom>
          <a:solidFill>
            <a:srgbClr val="FFFFFF"/>
          </a:solidFill>
          <a:ln w="6350">
            <a:solidFill>
              <a:srgbClr val="E2E8F0"/>
            </a:solidFill>
            <a:prstDash val="solid"/>
          </a:ln>
        </p:spPr>
      </p:sp>
      <p:sp>
        <p:nvSpPr>
          <p:cNvPr id="57" name="Shape 55"/>
          <p:cNvSpPr/>
          <p:nvPr/>
        </p:nvSpPr>
        <p:spPr>
          <a:xfrm>
            <a:off x="256032" y="4443984"/>
            <a:ext cx="54864" cy="256032"/>
          </a:xfrm>
          <a:prstGeom prst="rect">
            <a:avLst/>
          </a:prstGeom>
          <a:solidFill>
            <a:srgbClr val="1D4ED8"/>
          </a:solidFill>
          <a:ln w="12700">
            <a:solidFill>
              <a:srgbClr val="1D4ED8"/>
            </a:solidFill>
            <a:prstDash val="solid"/>
          </a:ln>
        </p:spPr>
      </p:sp>
      <p:sp>
        <p:nvSpPr>
          <p:cNvPr id="58" name="Shape 56"/>
          <p:cNvSpPr/>
          <p:nvPr/>
        </p:nvSpPr>
        <p:spPr>
          <a:xfrm>
            <a:off x="310896" y="4480560"/>
            <a:ext cx="182880" cy="182880"/>
          </a:xfrm>
          <a:prstGeom prst="rect">
            <a:avLst/>
          </a:prstGeom>
          <a:solidFill>
            <a:srgbClr val="1D4ED8"/>
          </a:solidFill>
          <a:ln w="12700">
            <a:solidFill>
              <a:srgbClr val="1D4ED8"/>
            </a:solidFill>
            <a:prstDash val="solid"/>
          </a:ln>
        </p:spPr>
      </p:sp>
      <p:sp>
        <p:nvSpPr>
          <p:cNvPr id="59" name="Text 57"/>
          <p:cNvSpPr/>
          <p:nvPr/>
        </p:nvSpPr>
        <p:spPr>
          <a:xfrm>
            <a:off x="310896" y="4480560"/>
            <a:ext cx="182880" cy="182880"/>
          </a:xfrm>
          <a:prstGeom prst="rect">
            <a:avLst/>
          </a:prstGeom>
          <a:noFill/>
          <a:ln/>
        </p:spPr>
        <p:txBody>
          <a:bodyPr wrap="square" rtlCol="0" anchor="ctr"/>
          <a:lstStyle/>
          <a:p>
            <a:pPr algn="ctr" indent="0" marL="0">
              <a:buNone/>
            </a:pPr>
            <a:r>
              <a:rPr lang="en-US" sz="800" b="1" dirty="0">
                <a:solidFill>
                  <a:srgbClr val="FFFFFF"/>
                </a:solidFill>
              </a:rPr>
              <a:t>10</a:t>
            </a:r>
            <a:endParaRPr lang="en-US" sz="800" dirty="0"/>
          </a:p>
        </p:txBody>
      </p:sp>
      <p:sp>
        <p:nvSpPr>
          <p:cNvPr id="60" name="Text 58"/>
          <p:cNvSpPr/>
          <p:nvPr/>
        </p:nvSpPr>
        <p:spPr>
          <a:xfrm>
            <a:off x="548640" y="4443984"/>
            <a:ext cx="3877056" cy="256032"/>
          </a:xfrm>
          <a:prstGeom prst="rect">
            <a:avLst/>
          </a:prstGeom>
          <a:noFill/>
          <a:ln/>
        </p:spPr>
        <p:txBody>
          <a:bodyPr wrap="square" rtlCol="0" anchor="ctr"/>
          <a:lstStyle/>
          <a:p>
            <a:pPr indent="0" marL="0">
              <a:buNone/>
            </a:pPr>
            <a:r>
              <a:rPr lang="en-US" sz="900" dirty="0">
                <a:solidFill>
                  <a:srgbClr val="1E293B"/>
                </a:solidFill>
              </a:rPr>
              <a:t>Click Close &amp; Apply</a:t>
            </a:r>
            <a:endParaRPr lang="en-US" sz="900" dirty="0"/>
          </a:p>
        </p:txBody>
      </p:sp>
      <p:sp>
        <p:nvSpPr>
          <p:cNvPr id="61" name="Text 59"/>
          <p:cNvSpPr/>
          <p:nvPr/>
        </p:nvSpPr>
        <p:spPr>
          <a:xfrm>
            <a:off x="4645152" y="1188720"/>
            <a:ext cx="8686800" cy="256032"/>
          </a:xfrm>
          <a:prstGeom prst="rect">
            <a:avLst/>
          </a:prstGeom>
          <a:noFill/>
          <a:ln/>
        </p:spPr>
        <p:txBody>
          <a:bodyPr wrap="square" rtlCol="0" anchor="ctr"/>
          <a:lstStyle/>
          <a:p>
            <a:pPr indent="0" marL="0">
              <a:buNone/>
            </a:pPr>
            <a:r>
              <a:rPr lang="en-US" sz="1100" b="1" dirty="0">
                <a:solidFill>
                  <a:srgbClr val="1D4ED8"/>
                </a:solidFill>
              </a:rPr>
              <a:t>How the URL is built:</a:t>
            </a:r>
            <a:endParaRPr lang="en-US" sz="1100" dirty="0"/>
          </a:p>
        </p:txBody>
      </p:sp>
      <p:sp>
        <p:nvSpPr>
          <p:cNvPr id="62" name="Shape 60"/>
          <p:cNvSpPr/>
          <p:nvPr/>
        </p:nvSpPr>
        <p:spPr>
          <a:xfrm>
            <a:off x="4645152" y="1481328"/>
            <a:ext cx="4242816" cy="877824"/>
          </a:xfrm>
          <a:prstGeom prst="rect">
            <a:avLst/>
          </a:prstGeom>
          <a:solidFill>
            <a:srgbClr val="0F172A"/>
          </a:solidFill>
          <a:ln w="6350">
            <a:solidFill>
              <a:srgbClr val="334155"/>
            </a:solidFill>
            <a:prstDash val="solid"/>
          </a:ln>
        </p:spPr>
      </p:sp>
      <p:sp>
        <p:nvSpPr>
          <p:cNvPr id="63" name="Shape 61"/>
          <p:cNvSpPr/>
          <p:nvPr/>
        </p:nvSpPr>
        <p:spPr>
          <a:xfrm>
            <a:off x="4645152" y="1481328"/>
            <a:ext cx="54864" cy="877824"/>
          </a:xfrm>
          <a:prstGeom prst="rect">
            <a:avLst/>
          </a:prstGeom>
          <a:solidFill>
            <a:srgbClr val="1D4ED8"/>
          </a:solidFill>
          <a:ln w="12700">
            <a:solidFill>
              <a:srgbClr val="1D4ED8"/>
            </a:solidFill>
            <a:prstDash val="solid"/>
          </a:ln>
        </p:spPr>
      </p:sp>
      <p:sp>
        <p:nvSpPr>
          <p:cNvPr id="64" name="Text 62"/>
          <p:cNvSpPr/>
          <p:nvPr/>
        </p:nvSpPr>
        <p:spPr>
          <a:xfrm>
            <a:off x="4773168" y="1554480"/>
            <a:ext cx="4059936" cy="749808"/>
          </a:xfrm>
          <a:prstGeom prst="rect">
            <a:avLst/>
          </a:prstGeom>
          <a:noFill/>
          <a:ln/>
        </p:spPr>
        <p:txBody>
          <a:bodyPr wrap="square" rtlCol="0" anchor="t"/>
          <a:lstStyle/>
          <a:p>
            <a:pPr indent="0" marL="0">
              <a:buNone/>
            </a:pPr>
            <a:r>
              <a:rPr lang="en-US" sz="950" dirty="0">
                <a:solidFill>
                  <a:srgbClr val="E2E8F0"/>
                </a:solidFill>
                <a:latin typeface="Courier New" pitchFamily="34" charset="0"/>
                <a:ea typeface="Courier New" pitchFamily="34" charset="-122"/>
                <a:cs typeface="Courier New" pitchFamily="34" charset="-120"/>
              </a:rPr>
              <a:t>Part 1:  http://universities.hipolabs.com/search?country=</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Part 2:  [CountryParam]    ← value = "Nepal"</a:t>
            </a:r>
            <a:endParaRPr lang="en-US" sz="950" dirty="0"/>
          </a:p>
          <a:p>
            <a:pPr indent="0" marL="0">
              <a:buNone/>
            </a:pP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Final:   .../search?country=Nepal</a:t>
            </a:r>
            <a:endParaRPr lang="en-US" sz="950" dirty="0"/>
          </a:p>
        </p:txBody>
      </p:sp>
      <p:sp>
        <p:nvSpPr>
          <p:cNvPr id="65" name="Text 63"/>
          <p:cNvSpPr/>
          <p:nvPr/>
        </p:nvSpPr>
        <p:spPr>
          <a:xfrm>
            <a:off x="4645152" y="2468880"/>
            <a:ext cx="8686800" cy="256032"/>
          </a:xfrm>
          <a:prstGeom prst="rect">
            <a:avLst/>
          </a:prstGeom>
          <a:noFill/>
          <a:ln/>
        </p:spPr>
        <p:txBody>
          <a:bodyPr wrap="square" rtlCol="0" anchor="ctr"/>
          <a:lstStyle/>
          <a:p>
            <a:pPr indent="0" marL="0">
              <a:buNone/>
            </a:pPr>
            <a:r>
              <a:rPr lang="en-US" sz="1100" b="1" dirty="0">
                <a:solidFill>
                  <a:srgbClr val="1D4ED8"/>
                </a:solidFill>
              </a:rPr>
              <a:t>What Power BI loads (JSON):</a:t>
            </a:r>
            <a:endParaRPr lang="en-US" sz="1100" dirty="0"/>
          </a:p>
        </p:txBody>
      </p:sp>
      <p:sp>
        <p:nvSpPr>
          <p:cNvPr id="66" name="Shape 64"/>
          <p:cNvSpPr/>
          <p:nvPr/>
        </p:nvSpPr>
        <p:spPr>
          <a:xfrm>
            <a:off x="4645152" y="2761488"/>
            <a:ext cx="4242816" cy="914400"/>
          </a:xfrm>
          <a:prstGeom prst="rect">
            <a:avLst/>
          </a:prstGeom>
          <a:solidFill>
            <a:srgbClr val="0F172A"/>
          </a:solidFill>
          <a:ln w="6350">
            <a:solidFill>
              <a:srgbClr val="334155"/>
            </a:solidFill>
            <a:prstDash val="solid"/>
          </a:ln>
        </p:spPr>
      </p:sp>
      <p:sp>
        <p:nvSpPr>
          <p:cNvPr id="67" name="Shape 65"/>
          <p:cNvSpPr/>
          <p:nvPr/>
        </p:nvSpPr>
        <p:spPr>
          <a:xfrm>
            <a:off x="4645152" y="2761488"/>
            <a:ext cx="54864" cy="914400"/>
          </a:xfrm>
          <a:prstGeom prst="rect">
            <a:avLst/>
          </a:prstGeom>
          <a:solidFill>
            <a:srgbClr val="1D4ED8"/>
          </a:solidFill>
          <a:ln w="12700">
            <a:solidFill>
              <a:srgbClr val="1D4ED8"/>
            </a:solidFill>
            <a:prstDash val="solid"/>
          </a:ln>
        </p:spPr>
      </p:sp>
      <p:sp>
        <p:nvSpPr>
          <p:cNvPr id="68" name="Text 66"/>
          <p:cNvSpPr/>
          <p:nvPr/>
        </p:nvSpPr>
        <p:spPr>
          <a:xfrm>
            <a:off x="4773168" y="2834640"/>
            <a:ext cx="4059936" cy="786384"/>
          </a:xfrm>
          <a:prstGeom prst="rect">
            <a:avLst/>
          </a:prstGeom>
          <a:noFill/>
          <a:ln/>
        </p:spPr>
        <p:txBody>
          <a:bodyPr wrap="square" rtlCol="0" anchor="t"/>
          <a:lstStyle/>
          <a:p>
            <a:pPr indent="0" marL="0">
              <a:buNone/>
            </a:pPr>
            <a:r>
              <a:rPr lang="en-US" sz="950" dirty="0">
                <a:solidFill>
                  <a:srgbClr val="E2E8F0"/>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 "name": "Kathmandu University",</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"country": "Nepal", "alpha_two_code": "NP" },</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 "name": "Tribhuvan University",</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"country": "Nepal", "alpha_two_code": "NP" }</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a:t>
            </a:r>
            <a:endParaRPr lang="en-US" sz="950" dirty="0"/>
          </a:p>
        </p:txBody>
      </p:sp>
      <p:sp>
        <p:nvSpPr>
          <p:cNvPr id="69" name="Text 67"/>
          <p:cNvSpPr/>
          <p:nvPr/>
        </p:nvSpPr>
        <p:spPr>
          <a:xfrm>
            <a:off x="4645152" y="3785616"/>
            <a:ext cx="8686800" cy="256032"/>
          </a:xfrm>
          <a:prstGeom prst="rect">
            <a:avLst/>
          </a:prstGeom>
          <a:noFill/>
          <a:ln/>
        </p:spPr>
        <p:txBody>
          <a:bodyPr wrap="square" rtlCol="0" anchor="ctr"/>
          <a:lstStyle/>
          <a:p>
            <a:pPr indent="0" marL="0">
              <a:buNone/>
            </a:pPr>
            <a:r>
              <a:rPr lang="en-US" sz="1100" b="1" dirty="0">
                <a:solidFill>
                  <a:srgbClr val="1D4ED8"/>
                </a:solidFill>
              </a:rPr>
              <a:t>After Into Table + Expand:</a:t>
            </a:r>
            <a:endParaRPr lang="en-US" sz="1100" dirty="0"/>
          </a:p>
        </p:txBody>
      </p:sp>
      <p:sp>
        <p:nvSpPr>
          <p:cNvPr id="70" name="Shape 68"/>
          <p:cNvSpPr/>
          <p:nvPr/>
        </p:nvSpPr>
        <p:spPr>
          <a:xfrm>
            <a:off x="4645152" y="4078224"/>
            <a:ext cx="4242816" cy="566928"/>
          </a:xfrm>
          <a:prstGeom prst="rect">
            <a:avLst/>
          </a:prstGeom>
          <a:solidFill>
            <a:srgbClr val="0F172A"/>
          </a:solidFill>
          <a:ln w="6350">
            <a:solidFill>
              <a:srgbClr val="334155"/>
            </a:solidFill>
            <a:prstDash val="solid"/>
          </a:ln>
        </p:spPr>
      </p:sp>
      <p:sp>
        <p:nvSpPr>
          <p:cNvPr id="71" name="Shape 69"/>
          <p:cNvSpPr/>
          <p:nvPr/>
        </p:nvSpPr>
        <p:spPr>
          <a:xfrm>
            <a:off x="4645152" y="4078224"/>
            <a:ext cx="54864" cy="566928"/>
          </a:xfrm>
          <a:prstGeom prst="rect">
            <a:avLst/>
          </a:prstGeom>
          <a:solidFill>
            <a:srgbClr val="1D4ED8"/>
          </a:solidFill>
          <a:ln w="12700">
            <a:solidFill>
              <a:srgbClr val="1D4ED8"/>
            </a:solidFill>
            <a:prstDash val="solid"/>
          </a:ln>
        </p:spPr>
      </p:sp>
      <p:sp>
        <p:nvSpPr>
          <p:cNvPr id="72" name="Text 70"/>
          <p:cNvSpPr/>
          <p:nvPr/>
        </p:nvSpPr>
        <p:spPr>
          <a:xfrm>
            <a:off x="4773168" y="4151376"/>
            <a:ext cx="4059936" cy="438912"/>
          </a:xfrm>
          <a:prstGeom prst="rect">
            <a:avLst/>
          </a:prstGeom>
          <a:noFill/>
          <a:ln/>
        </p:spPr>
        <p:txBody>
          <a:bodyPr wrap="square" rtlCol="0" anchor="t"/>
          <a:lstStyle/>
          <a:p>
            <a:pPr indent="0" marL="0">
              <a:buNone/>
            </a:pPr>
            <a:r>
              <a:rPr lang="en-US" sz="950" dirty="0">
                <a:solidFill>
                  <a:srgbClr val="E2E8F0"/>
                </a:solidFill>
                <a:latin typeface="Courier New" pitchFamily="34" charset="0"/>
                <a:ea typeface="Courier New" pitchFamily="34" charset="-122"/>
                <a:cs typeface="Courier New" pitchFamily="34" charset="-120"/>
              </a:rPr>
              <a:t>  name                          country  alpha_two_code</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Kathmandu University          Nepal    NP</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Tribhuvan University          Nepal    NP</a:t>
            </a:r>
            <a:endParaRPr lang="en-US" sz="950" dirty="0"/>
          </a:p>
        </p:txBody>
      </p:sp>
      <p:sp>
        <p:nvSpPr>
          <p:cNvPr id="73" name="Shape 71"/>
          <p:cNvSpPr/>
          <p:nvPr/>
        </p:nvSpPr>
        <p:spPr>
          <a:xfrm>
            <a:off x="256032" y="4773168"/>
            <a:ext cx="8631936" cy="329184"/>
          </a:xfrm>
          <a:prstGeom prst="rect">
            <a:avLst/>
          </a:prstGeom>
          <a:solidFill>
            <a:srgbClr val="EFF6FF"/>
          </a:solidFill>
          <a:ln w="10160">
            <a:solidFill>
              <a:srgbClr val="1D4ED8"/>
            </a:solidFill>
            <a:prstDash val="solid"/>
          </a:ln>
        </p:spPr>
      </p:sp>
      <p:sp>
        <p:nvSpPr>
          <p:cNvPr id="74" name="Shape 72"/>
          <p:cNvSpPr/>
          <p:nvPr/>
        </p:nvSpPr>
        <p:spPr>
          <a:xfrm>
            <a:off x="256032" y="4773168"/>
            <a:ext cx="54864" cy="329184"/>
          </a:xfrm>
          <a:prstGeom prst="rect">
            <a:avLst/>
          </a:prstGeom>
          <a:solidFill>
            <a:srgbClr val="1D4ED8"/>
          </a:solidFill>
          <a:ln w="12700">
            <a:solidFill>
              <a:srgbClr val="1D4ED8"/>
            </a:solidFill>
            <a:prstDash val="solid"/>
          </a:ln>
        </p:spPr>
      </p:sp>
      <p:sp>
        <p:nvSpPr>
          <p:cNvPr id="75" name="Text 73"/>
          <p:cNvSpPr/>
          <p:nvPr/>
        </p:nvSpPr>
        <p:spPr>
          <a:xfrm>
            <a:off x="384048" y="4773168"/>
            <a:ext cx="8449056" cy="329184"/>
          </a:xfrm>
          <a:prstGeom prst="rect">
            <a:avLst/>
          </a:prstGeom>
          <a:noFill/>
          <a:ln/>
        </p:spPr>
        <p:txBody>
          <a:bodyPr wrap="square" rtlCol="0" anchor="ctr"/>
          <a:lstStyle/>
          <a:p>
            <a:pPr indent="0" marL="0">
              <a:buNone/>
            </a:pPr>
            <a:r>
              <a:rPr lang="en-US" sz="1000" dirty="0">
                <a:solidFill>
                  <a:srgbClr val="1E293B"/>
                </a:solidFill>
              </a:rPr>
              <a:t>Change CountryParam to  "India"  → click Refresh → table auto-updates with Indian universities.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172A"/>
          </a:solidFill>
          <a:ln w="12700">
            <a:solidFill>
              <a:srgbClr val="0F172A"/>
            </a:solidFill>
            <a:prstDash val="solid"/>
          </a:ln>
        </p:spPr>
      </p:sp>
      <p:sp>
        <p:nvSpPr>
          <p:cNvPr id="3" name="Shape 1"/>
          <p:cNvSpPr/>
          <p:nvPr/>
        </p:nvSpPr>
        <p:spPr>
          <a:xfrm>
            <a:off x="0" y="0"/>
            <a:ext cx="64008" cy="640080"/>
          </a:xfrm>
          <a:prstGeom prst="rect">
            <a:avLst/>
          </a:prstGeom>
          <a:solidFill>
            <a:srgbClr val="0F766E"/>
          </a:solidFill>
          <a:ln w="12700">
            <a:solidFill>
              <a:srgbClr val="0F766E"/>
            </a:solidFill>
            <a:prstDash val="solid"/>
          </a:ln>
        </p:spPr>
      </p:sp>
      <p:sp>
        <p:nvSpPr>
          <p:cNvPr id="4" name="Text 2"/>
          <p:cNvSpPr/>
          <p:nvPr/>
        </p:nvSpPr>
        <p:spPr>
          <a:xfrm>
            <a:off x="109728" y="0"/>
            <a:ext cx="475488" cy="640080"/>
          </a:xfrm>
          <a:prstGeom prst="rect">
            <a:avLst/>
          </a:prstGeom>
          <a:noFill/>
          <a:ln/>
        </p:spPr>
        <p:txBody>
          <a:bodyPr wrap="square" rtlCol="0" anchor="ctr"/>
          <a:lstStyle/>
          <a:p>
            <a:pPr algn="ctr" indent="0" marL="0">
              <a:buNone/>
            </a:pPr>
            <a:r>
              <a:rPr lang="en-US" sz="1600" b="1" dirty="0">
                <a:solidFill>
                  <a:srgbClr val="FFFFFF"/>
                </a:solidFill>
              </a:rPr>
              <a:t>07</a:t>
            </a:r>
            <a:endParaRPr lang="en-US" sz="1600" dirty="0"/>
          </a:p>
        </p:txBody>
      </p:sp>
      <p:sp>
        <p:nvSpPr>
          <p:cNvPr id="5" name="Text 3"/>
          <p:cNvSpPr/>
          <p:nvPr/>
        </p:nvSpPr>
        <p:spPr>
          <a:xfrm>
            <a:off x="658368" y="18288"/>
            <a:ext cx="8138160" cy="347472"/>
          </a:xfrm>
          <a:prstGeom prst="rect">
            <a:avLst/>
          </a:prstGeom>
          <a:noFill/>
          <a:ln/>
        </p:spPr>
        <p:txBody>
          <a:bodyPr wrap="square" rtlCol="0" anchor="ctr"/>
          <a:lstStyle/>
          <a:p>
            <a:pPr indent="0" marL="0">
              <a:buNone/>
            </a:pPr>
            <a:r>
              <a:rPr lang="en-US" sz="1900" b="1" dirty="0">
                <a:solidFill>
                  <a:srgbClr val="FFFFFF"/>
                </a:solidFill>
              </a:rPr>
              <a:t>Power BI — Live Bitcoin Price Dashboard</a:t>
            </a:r>
            <a:endParaRPr lang="en-US" sz="1900" dirty="0"/>
          </a:p>
        </p:txBody>
      </p:sp>
      <p:sp>
        <p:nvSpPr>
          <p:cNvPr id="6" name="Text 4"/>
          <p:cNvSpPr/>
          <p:nvPr/>
        </p:nvSpPr>
        <p:spPr>
          <a:xfrm>
            <a:off x="658368" y="402336"/>
            <a:ext cx="8138160" cy="237744"/>
          </a:xfrm>
          <a:prstGeom prst="rect">
            <a:avLst/>
          </a:prstGeom>
          <a:noFill/>
          <a:ln/>
        </p:spPr>
        <p:txBody>
          <a:bodyPr wrap="square" rtlCol="0" anchor="ctr"/>
          <a:lstStyle/>
          <a:p>
            <a:pPr indent="0" marL="0">
              <a:buNone/>
            </a:pPr>
            <a:r>
              <a:rPr lang="en-US" sz="1000" dirty="0">
                <a:solidFill>
                  <a:srgbClr val="94A3B8"/>
                </a:solidFill>
              </a:rPr>
              <a:t>Connect Power BI directly to Bitget API — live price on your dashboard</a:t>
            </a:r>
            <a:endParaRPr lang="en-US" sz="1000" dirty="0"/>
          </a:p>
        </p:txBody>
      </p:sp>
      <p:sp>
        <p:nvSpPr>
          <p:cNvPr id="7" name="Shape 5"/>
          <p:cNvSpPr/>
          <p:nvPr/>
        </p:nvSpPr>
        <p:spPr>
          <a:xfrm>
            <a:off x="256032" y="768096"/>
            <a:ext cx="8631936" cy="329184"/>
          </a:xfrm>
          <a:prstGeom prst="rect">
            <a:avLst/>
          </a:prstGeom>
          <a:solidFill>
            <a:srgbClr val="F0FDFA"/>
          </a:solidFill>
          <a:ln w="10160">
            <a:solidFill>
              <a:srgbClr val="0F766E"/>
            </a:solidFill>
            <a:prstDash val="solid"/>
          </a:ln>
        </p:spPr>
      </p:sp>
      <p:sp>
        <p:nvSpPr>
          <p:cNvPr id="8" name="Shape 6"/>
          <p:cNvSpPr/>
          <p:nvPr/>
        </p:nvSpPr>
        <p:spPr>
          <a:xfrm>
            <a:off x="256032" y="768096"/>
            <a:ext cx="54864" cy="329184"/>
          </a:xfrm>
          <a:prstGeom prst="rect">
            <a:avLst/>
          </a:prstGeom>
          <a:solidFill>
            <a:srgbClr val="0F766E"/>
          </a:solidFill>
          <a:ln w="12700">
            <a:solidFill>
              <a:srgbClr val="0F766E"/>
            </a:solidFill>
            <a:prstDash val="solid"/>
          </a:ln>
        </p:spPr>
      </p:sp>
      <p:sp>
        <p:nvSpPr>
          <p:cNvPr id="9" name="Text 7"/>
          <p:cNvSpPr/>
          <p:nvPr/>
        </p:nvSpPr>
        <p:spPr>
          <a:xfrm>
            <a:off x="384048" y="768096"/>
            <a:ext cx="8449056" cy="329184"/>
          </a:xfrm>
          <a:prstGeom prst="rect">
            <a:avLst/>
          </a:prstGeom>
          <a:noFill/>
          <a:ln/>
        </p:spPr>
        <p:txBody>
          <a:bodyPr wrap="square" rtlCol="0" anchor="ctr"/>
          <a:lstStyle/>
          <a:p>
            <a:pPr indent="0" marL="0">
              <a:buNone/>
            </a:pPr>
            <a:r>
              <a:rPr lang="en-US" sz="1000" dirty="0">
                <a:solidFill>
                  <a:srgbClr val="1E293B"/>
                </a:solidFill>
              </a:rPr>
              <a:t>Power BI connects directly to JSON APIs — no Python needed. Use New Source → Web with the Bitget URL.</a:t>
            </a:r>
            <a:endParaRPr lang="en-US" sz="1000" dirty="0"/>
          </a:p>
        </p:txBody>
      </p:sp>
      <p:sp>
        <p:nvSpPr>
          <p:cNvPr id="10" name="Text 8"/>
          <p:cNvSpPr/>
          <p:nvPr/>
        </p:nvSpPr>
        <p:spPr>
          <a:xfrm>
            <a:off x="256032" y="1188720"/>
            <a:ext cx="8686800" cy="256032"/>
          </a:xfrm>
          <a:prstGeom prst="rect">
            <a:avLst/>
          </a:prstGeom>
          <a:noFill/>
          <a:ln/>
        </p:spPr>
        <p:txBody>
          <a:bodyPr wrap="square" rtlCol="0" anchor="ctr"/>
          <a:lstStyle/>
          <a:p>
            <a:pPr indent="0" marL="0">
              <a:buNone/>
            </a:pPr>
            <a:r>
              <a:rPr lang="en-US" sz="1100" b="1" dirty="0">
                <a:solidFill>
                  <a:srgbClr val="0F766E"/>
                </a:solidFill>
              </a:rPr>
              <a:t>Steps in Power Query:</a:t>
            </a:r>
            <a:endParaRPr lang="en-US" sz="1100" dirty="0"/>
          </a:p>
        </p:txBody>
      </p:sp>
      <p:sp>
        <p:nvSpPr>
          <p:cNvPr id="11" name="Shape 9"/>
          <p:cNvSpPr/>
          <p:nvPr/>
        </p:nvSpPr>
        <p:spPr>
          <a:xfrm>
            <a:off x="256032" y="1481328"/>
            <a:ext cx="4206240" cy="283464"/>
          </a:xfrm>
          <a:prstGeom prst="rect">
            <a:avLst/>
          </a:prstGeom>
          <a:solidFill>
            <a:srgbClr val="F0FDFA"/>
          </a:solidFill>
          <a:ln w="6350">
            <a:solidFill>
              <a:srgbClr val="E2E8F0"/>
            </a:solidFill>
            <a:prstDash val="solid"/>
          </a:ln>
        </p:spPr>
      </p:sp>
      <p:sp>
        <p:nvSpPr>
          <p:cNvPr id="12" name="Shape 10"/>
          <p:cNvSpPr/>
          <p:nvPr/>
        </p:nvSpPr>
        <p:spPr>
          <a:xfrm>
            <a:off x="256032" y="1481328"/>
            <a:ext cx="54864" cy="283464"/>
          </a:xfrm>
          <a:prstGeom prst="rect">
            <a:avLst/>
          </a:prstGeom>
          <a:solidFill>
            <a:srgbClr val="0F766E"/>
          </a:solidFill>
          <a:ln w="12700">
            <a:solidFill>
              <a:srgbClr val="0F766E"/>
            </a:solidFill>
            <a:prstDash val="solid"/>
          </a:ln>
        </p:spPr>
      </p:sp>
      <p:sp>
        <p:nvSpPr>
          <p:cNvPr id="13" name="Shape 11"/>
          <p:cNvSpPr/>
          <p:nvPr/>
        </p:nvSpPr>
        <p:spPr>
          <a:xfrm>
            <a:off x="310896" y="1527048"/>
            <a:ext cx="192024" cy="192024"/>
          </a:xfrm>
          <a:prstGeom prst="rect">
            <a:avLst/>
          </a:prstGeom>
          <a:solidFill>
            <a:srgbClr val="0F766E"/>
          </a:solidFill>
          <a:ln w="12700">
            <a:solidFill>
              <a:srgbClr val="0F766E"/>
            </a:solidFill>
            <a:prstDash val="solid"/>
          </a:ln>
        </p:spPr>
      </p:sp>
      <p:sp>
        <p:nvSpPr>
          <p:cNvPr id="14" name="Text 12"/>
          <p:cNvSpPr/>
          <p:nvPr/>
        </p:nvSpPr>
        <p:spPr>
          <a:xfrm>
            <a:off x="310896" y="1527048"/>
            <a:ext cx="192024" cy="192024"/>
          </a:xfrm>
          <a:prstGeom prst="rect">
            <a:avLst/>
          </a:prstGeom>
          <a:noFill/>
          <a:ln/>
        </p:spPr>
        <p:txBody>
          <a:bodyPr wrap="square" rtlCol="0" anchor="ctr"/>
          <a:lstStyle/>
          <a:p>
            <a:pPr algn="ctr" indent="0" marL="0">
              <a:buNone/>
            </a:pPr>
            <a:r>
              <a:rPr lang="en-US" sz="800" b="1" dirty="0">
                <a:solidFill>
                  <a:srgbClr val="FFFFFF"/>
                </a:solidFill>
              </a:rPr>
              <a:t>1</a:t>
            </a:r>
            <a:endParaRPr lang="en-US" sz="800" dirty="0"/>
          </a:p>
        </p:txBody>
      </p:sp>
      <p:sp>
        <p:nvSpPr>
          <p:cNvPr id="15" name="Text 13"/>
          <p:cNvSpPr/>
          <p:nvPr/>
        </p:nvSpPr>
        <p:spPr>
          <a:xfrm>
            <a:off x="548640" y="1481328"/>
            <a:ext cx="3877056" cy="283464"/>
          </a:xfrm>
          <a:prstGeom prst="rect">
            <a:avLst/>
          </a:prstGeom>
          <a:noFill/>
          <a:ln/>
        </p:spPr>
        <p:txBody>
          <a:bodyPr wrap="square" rtlCol="0" anchor="ctr"/>
          <a:lstStyle/>
          <a:p>
            <a:pPr indent="0" marL="0">
              <a:buNone/>
            </a:pPr>
            <a:r>
              <a:rPr lang="en-US" sz="900" dirty="0">
                <a:solidFill>
                  <a:srgbClr val="1E293B"/>
                </a:solidFill>
              </a:rPr>
              <a:t>Home → New Source → Web</a:t>
            </a:r>
            <a:endParaRPr lang="en-US" sz="900" dirty="0"/>
          </a:p>
        </p:txBody>
      </p:sp>
      <p:sp>
        <p:nvSpPr>
          <p:cNvPr id="16" name="Shape 14"/>
          <p:cNvSpPr/>
          <p:nvPr/>
        </p:nvSpPr>
        <p:spPr>
          <a:xfrm>
            <a:off x="256032" y="1837944"/>
            <a:ext cx="4206240" cy="283464"/>
          </a:xfrm>
          <a:prstGeom prst="rect">
            <a:avLst/>
          </a:prstGeom>
          <a:solidFill>
            <a:srgbClr val="FFFFFF"/>
          </a:solidFill>
          <a:ln w="6350">
            <a:solidFill>
              <a:srgbClr val="E2E8F0"/>
            </a:solidFill>
            <a:prstDash val="solid"/>
          </a:ln>
        </p:spPr>
      </p:sp>
      <p:sp>
        <p:nvSpPr>
          <p:cNvPr id="17" name="Shape 15"/>
          <p:cNvSpPr/>
          <p:nvPr/>
        </p:nvSpPr>
        <p:spPr>
          <a:xfrm>
            <a:off x="256032" y="1837944"/>
            <a:ext cx="54864" cy="283464"/>
          </a:xfrm>
          <a:prstGeom prst="rect">
            <a:avLst/>
          </a:prstGeom>
          <a:solidFill>
            <a:srgbClr val="0F766E"/>
          </a:solidFill>
          <a:ln w="12700">
            <a:solidFill>
              <a:srgbClr val="0F766E"/>
            </a:solidFill>
            <a:prstDash val="solid"/>
          </a:ln>
        </p:spPr>
      </p:sp>
      <p:sp>
        <p:nvSpPr>
          <p:cNvPr id="18" name="Shape 16"/>
          <p:cNvSpPr/>
          <p:nvPr/>
        </p:nvSpPr>
        <p:spPr>
          <a:xfrm>
            <a:off x="310896" y="1883664"/>
            <a:ext cx="192024" cy="192024"/>
          </a:xfrm>
          <a:prstGeom prst="rect">
            <a:avLst/>
          </a:prstGeom>
          <a:solidFill>
            <a:srgbClr val="0F766E"/>
          </a:solidFill>
          <a:ln w="12700">
            <a:solidFill>
              <a:srgbClr val="0F766E"/>
            </a:solidFill>
            <a:prstDash val="solid"/>
          </a:ln>
        </p:spPr>
      </p:sp>
      <p:sp>
        <p:nvSpPr>
          <p:cNvPr id="19" name="Text 17"/>
          <p:cNvSpPr/>
          <p:nvPr/>
        </p:nvSpPr>
        <p:spPr>
          <a:xfrm>
            <a:off x="310896" y="1883664"/>
            <a:ext cx="192024" cy="192024"/>
          </a:xfrm>
          <a:prstGeom prst="rect">
            <a:avLst/>
          </a:prstGeom>
          <a:noFill/>
          <a:ln/>
        </p:spPr>
        <p:txBody>
          <a:bodyPr wrap="square" rtlCol="0" anchor="ctr"/>
          <a:lstStyle/>
          <a:p>
            <a:pPr algn="ctr" indent="0" marL="0">
              <a:buNone/>
            </a:pPr>
            <a:r>
              <a:rPr lang="en-US" sz="800" b="1" dirty="0">
                <a:solidFill>
                  <a:srgbClr val="FFFFFF"/>
                </a:solidFill>
              </a:rPr>
              <a:t>2</a:t>
            </a:r>
            <a:endParaRPr lang="en-US" sz="800" dirty="0"/>
          </a:p>
        </p:txBody>
      </p:sp>
      <p:sp>
        <p:nvSpPr>
          <p:cNvPr id="20" name="Text 18"/>
          <p:cNvSpPr/>
          <p:nvPr/>
        </p:nvSpPr>
        <p:spPr>
          <a:xfrm>
            <a:off x="548640" y="1837944"/>
            <a:ext cx="3877056" cy="283464"/>
          </a:xfrm>
          <a:prstGeom prst="rect">
            <a:avLst/>
          </a:prstGeom>
          <a:noFill/>
          <a:ln/>
        </p:spPr>
        <p:txBody>
          <a:bodyPr wrap="square" rtlCol="0" anchor="ctr"/>
          <a:lstStyle/>
          <a:p>
            <a:pPr indent="0" marL="0">
              <a:buNone/>
            </a:pPr>
            <a:r>
              <a:rPr lang="en-US" sz="900" dirty="0">
                <a:solidFill>
                  <a:srgbClr val="1E293B"/>
                </a:solidFill>
              </a:rPr>
              <a:t>Select Basic</a:t>
            </a:r>
            <a:endParaRPr lang="en-US" sz="900" dirty="0"/>
          </a:p>
        </p:txBody>
      </p:sp>
      <p:sp>
        <p:nvSpPr>
          <p:cNvPr id="21" name="Shape 19"/>
          <p:cNvSpPr/>
          <p:nvPr/>
        </p:nvSpPr>
        <p:spPr>
          <a:xfrm>
            <a:off x="256032" y="2194560"/>
            <a:ext cx="4206240" cy="283464"/>
          </a:xfrm>
          <a:prstGeom prst="rect">
            <a:avLst/>
          </a:prstGeom>
          <a:solidFill>
            <a:srgbClr val="F0FDFA"/>
          </a:solidFill>
          <a:ln w="6350">
            <a:solidFill>
              <a:srgbClr val="E2E8F0"/>
            </a:solidFill>
            <a:prstDash val="solid"/>
          </a:ln>
        </p:spPr>
      </p:sp>
      <p:sp>
        <p:nvSpPr>
          <p:cNvPr id="22" name="Shape 20"/>
          <p:cNvSpPr/>
          <p:nvPr/>
        </p:nvSpPr>
        <p:spPr>
          <a:xfrm>
            <a:off x="256032" y="2194560"/>
            <a:ext cx="54864" cy="283464"/>
          </a:xfrm>
          <a:prstGeom prst="rect">
            <a:avLst/>
          </a:prstGeom>
          <a:solidFill>
            <a:srgbClr val="0F766E"/>
          </a:solidFill>
          <a:ln w="12700">
            <a:solidFill>
              <a:srgbClr val="0F766E"/>
            </a:solidFill>
            <a:prstDash val="solid"/>
          </a:ln>
        </p:spPr>
      </p:sp>
      <p:sp>
        <p:nvSpPr>
          <p:cNvPr id="23" name="Shape 21"/>
          <p:cNvSpPr/>
          <p:nvPr/>
        </p:nvSpPr>
        <p:spPr>
          <a:xfrm>
            <a:off x="310896" y="2240280"/>
            <a:ext cx="192024" cy="192024"/>
          </a:xfrm>
          <a:prstGeom prst="rect">
            <a:avLst/>
          </a:prstGeom>
          <a:solidFill>
            <a:srgbClr val="0F766E"/>
          </a:solidFill>
          <a:ln w="12700">
            <a:solidFill>
              <a:srgbClr val="0F766E"/>
            </a:solidFill>
            <a:prstDash val="solid"/>
          </a:ln>
        </p:spPr>
      </p:sp>
      <p:sp>
        <p:nvSpPr>
          <p:cNvPr id="24" name="Text 22"/>
          <p:cNvSpPr/>
          <p:nvPr/>
        </p:nvSpPr>
        <p:spPr>
          <a:xfrm>
            <a:off x="310896" y="2240280"/>
            <a:ext cx="192024" cy="192024"/>
          </a:xfrm>
          <a:prstGeom prst="rect">
            <a:avLst/>
          </a:prstGeom>
          <a:noFill/>
          <a:ln/>
        </p:spPr>
        <p:txBody>
          <a:bodyPr wrap="square" rtlCol="0" anchor="ctr"/>
          <a:lstStyle/>
          <a:p>
            <a:pPr algn="ctr" indent="0" marL="0">
              <a:buNone/>
            </a:pPr>
            <a:r>
              <a:rPr lang="en-US" sz="800" b="1" dirty="0">
                <a:solidFill>
                  <a:srgbClr val="FFFFFF"/>
                </a:solidFill>
              </a:rPr>
              <a:t>3</a:t>
            </a:r>
            <a:endParaRPr lang="en-US" sz="800" dirty="0"/>
          </a:p>
        </p:txBody>
      </p:sp>
      <p:sp>
        <p:nvSpPr>
          <p:cNvPr id="25" name="Text 23"/>
          <p:cNvSpPr/>
          <p:nvPr/>
        </p:nvSpPr>
        <p:spPr>
          <a:xfrm>
            <a:off x="548640" y="2194560"/>
            <a:ext cx="3877056" cy="283464"/>
          </a:xfrm>
          <a:prstGeom prst="rect">
            <a:avLst/>
          </a:prstGeom>
          <a:noFill/>
          <a:ln/>
        </p:spPr>
        <p:txBody>
          <a:bodyPr wrap="square" rtlCol="0" anchor="ctr"/>
          <a:lstStyle/>
          <a:p>
            <a:pPr indent="0" marL="0">
              <a:buNone/>
            </a:pPr>
            <a:r>
              <a:rPr lang="en-US" sz="900" dirty="0">
                <a:solidFill>
                  <a:srgbClr val="1E293B"/>
                </a:solidFill>
              </a:rPr>
              <a:t>Paste URL:  https://api.bitget.com/api/v2/spot/market/tickers?symbol=BTCUSDT</a:t>
            </a:r>
            <a:endParaRPr lang="en-US" sz="900" dirty="0"/>
          </a:p>
        </p:txBody>
      </p:sp>
      <p:sp>
        <p:nvSpPr>
          <p:cNvPr id="26" name="Shape 24"/>
          <p:cNvSpPr/>
          <p:nvPr/>
        </p:nvSpPr>
        <p:spPr>
          <a:xfrm>
            <a:off x="256032" y="2551176"/>
            <a:ext cx="4206240" cy="283464"/>
          </a:xfrm>
          <a:prstGeom prst="rect">
            <a:avLst/>
          </a:prstGeom>
          <a:solidFill>
            <a:srgbClr val="FFFFFF"/>
          </a:solidFill>
          <a:ln w="6350">
            <a:solidFill>
              <a:srgbClr val="E2E8F0"/>
            </a:solidFill>
            <a:prstDash val="solid"/>
          </a:ln>
        </p:spPr>
      </p:sp>
      <p:sp>
        <p:nvSpPr>
          <p:cNvPr id="27" name="Shape 25"/>
          <p:cNvSpPr/>
          <p:nvPr/>
        </p:nvSpPr>
        <p:spPr>
          <a:xfrm>
            <a:off x="256032" y="2551176"/>
            <a:ext cx="54864" cy="283464"/>
          </a:xfrm>
          <a:prstGeom prst="rect">
            <a:avLst/>
          </a:prstGeom>
          <a:solidFill>
            <a:srgbClr val="0F766E"/>
          </a:solidFill>
          <a:ln w="12700">
            <a:solidFill>
              <a:srgbClr val="0F766E"/>
            </a:solidFill>
            <a:prstDash val="solid"/>
          </a:ln>
        </p:spPr>
      </p:sp>
      <p:sp>
        <p:nvSpPr>
          <p:cNvPr id="28" name="Shape 26"/>
          <p:cNvSpPr/>
          <p:nvPr/>
        </p:nvSpPr>
        <p:spPr>
          <a:xfrm>
            <a:off x="310896" y="2596896"/>
            <a:ext cx="192024" cy="192024"/>
          </a:xfrm>
          <a:prstGeom prst="rect">
            <a:avLst/>
          </a:prstGeom>
          <a:solidFill>
            <a:srgbClr val="0F766E"/>
          </a:solidFill>
          <a:ln w="12700">
            <a:solidFill>
              <a:srgbClr val="0F766E"/>
            </a:solidFill>
            <a:prstDash val="solid"/>
          </a:ln>
        </p:spPr>
      </p:sp>
      <p:sp>
        <p:nvSpPr>
          <p:cNvPr id="29" name="Text 27"/>
          <p:cNvSpPr/>
          <p:nvPr/>
        </p:nvSpPr>
        <p:spPr>
          <a:xfrm>
            <a:off x="310896" y="2596896"/>
            <a:ext cx="192024" cy="192024"/>
          </a:xfrm>
          <a:prstGeom prst="rect">
            <a:avLst/>
          </a:prstGeom>
          <a:noFill/>
          <a:ln/>
        </p:spPr>
        <p:txBody>
          <a:bodyPr wrap="square" rtlCol="0" anchor="ctr"/>
          <a:lstStyle/>
          <a:p>
            <a:pPr algn="ctr" indent="0" marL="0">
              <a:buNone/>
            </a:pPr>
            <a:r>
              <a:rPr lang="en-US" sz="800" b="1" dirty="0">
                <a:solidFill>
                  <a:srgbClr val="FFFFFF"/>
                </a:solidFill>
              </a:rPr>
              <a:t>4</a:t>
            </a:r>
            <a:endParaRPr lang="en-US" sz="800" dirty="0"/>
          </a:p>
        </p:txBody>
      </p:sp>
      <p:sp>
        <p:nvSpPr>
          <p:cNvPr id="30" name="Text 28"/>
          <p:cNvSpPr/>
          <p:nvPr/>
        </p:nvSpPr>
        <p:spPr>
          <a:xfrm>
            <a:off x="548640" y="2551176"/>
            <a:ext cx="3877056" cy="283464"/>
          </a:xfrm>
          <a:prstGeom prst="rect">
            <a:avLst/>
          </a:prstGeom>
          <a:noFill/>
          <a:ln/>
        </p:spPr>
        <p:txBody>
          <a:bodyPr wrap="square" rtlCol="0" anchor="ctr"/>
          <a:lstStyle/>
          <a:p>
            <a:pPr indent="0" marL="0">
              <a:buNone/>
            </a:pPr>
            <a:r>
              <a:rPr lang="en-US" sz="900" dirty="0">
                <a:solidFill>
                  <a:srgbClr val="1E293B"/>
                </a:solidFill>
              </a:rPr>
              <a:t>Click OK — Power BI opens the JSON preview</a:t>
            </a:r>
            <a:endParaRPr lang="en-US" sz="900" dirty="0"/>
          </a:p>
        </p:txBody>
      </p:sp>
      <p:sp>
        <p:nvSpPr>
          <p:cNvPr id="31" name="Shape 29"/>
          <p:cNvSpPr/>
          <p:nvPr/>
        </p:nvSpPr>
        <p:spPr>
          <a:xfrm>
            <a:off x="256032" y="2907792"/>
            <a:ext cx="4206240" cy="283464"/>
          </a:xfrm>
          <a:prstGeom prst="rect">
            <a:avLst/>
          </a:prstGeom>
          <a:solidFill>
            <a:srgbClr val="F0FDFA"/>
          </a:solidFill>
          <a:ln w="6350">
            <a:solidFill>
              <a:srgbClr val="E2E8F0"/>
            </a:solidFill>
            <a:prstDash val="solid"/>
          </a:ln>
        </p:spPr>
      </p:sp>
      <p:sp>
        <p:nvSpPr>
          <p:cNvPr id="32" name="Shape 30"/>
          <p:cNvSpPr/>
          <p:nvPr/>
        </p:nvSpPr>
        <p:spPr>
          <a:xfrm>
            <a:off x="256032" y="2907792"/>
            <a:ext cx="54864" cy="283464"/>
          </a:xfrm>
          <a:prstGeom prst="rect">
            <a:avLst/>
          </a:prstGeom>
          <a:solidFill>
            <a:srgbClr val="0F766E"/>
          </a:solidFill>
          <a:ln w="12700">
            <a:solidFill>
              <a:srgbClr val="0F766E"/>
            </a:solidFill>
            <a:prstDash val="solid"/>
          </a:ln>
        </p:spPr>
      </p:sp>
      <p:sp>
        <p:nvSpPr>
          <p:cNvPr id="33" name="Shape 31"/>
          <p:cNvSpPr/>
          <p:nvPr/>
        </p:nvSpPr>
        <p:spPr>
          <a:xfrm>
            <a:off x="310896" y="2953512"/>
            <a:ext cx="192024" cy="192024"/>
          </a:xfrm>
          <a:prstGeom prst="rect">
            <a:avLst/>
          </a:prstGeom>
          <a:solidFill>
            <a:srgbClr val="0F766E"/>
          </a:solidFill>
          <a:ln w="12700">
            <a:solidFill>
              <a:srgbClr val="0F766E"/>
            </a:solidFill>
            <a:prstDash val="solid"/>
          </a:ln>
        </p:spPr>
      </p:sp>
      <p:sp>
        <p:nvSpPr>
          <p:cNvPr id="34" name="Text 32"/>
          <p:cNvSpPr/>
          <p:nvPr/>
        </p:nvSpPr>
        <p:spPr>
          <a:xfrm>
            <a:off x="310896" y="2953512"/>
            <a:ext cx="192024" cy="192024"/>
          </a:xfrm>
          <a:prstGeom prst="rect">
            <a:avLst/>
          </a:prstGeom>
          <a:noFill/>
          <a:ln/>
        </p:spPr>
        <p:txBody>
          <a:bodyPr wrap="square" rtlCol="0" anchor="ctr"/>
          <a:lstStyle/>
          <a:p>
            <a:pPr algn="ctr" indent="0" marL="0">
              <a:buNone/>
            </a:pPr>
            <a:r>
              <a:rPr lang="en-US" sz="800" b="1" dirty="0">
                <a:solidFill>
                  <a:srgbClr val="FFFFFF"/>
                </a:solidFill>
              </a:rPr>
              <a:t>5</a:t>
            </a:r>
            <a:endParaRPr lang="en-US" sz="800" dirty="0"/>
          </a:p>
        </p:txBody>
      </p:sp>
      <p:sp>
        <p:nvSpPr>
          <p:cNvPr id="35" name="Text 33"/>
          <p:cNvSpPr/>
          <p:nvPr/>
        </p:nvSpPr>
        <p:spPr>
          <a:xfrm>
            <a:off x="548640" y="2907792"/>
            <a:ext cx="3877056" cy="283464"/>
          </a:xfrm>
          <a:prstGeom prst="rect">
            <a:avLst/>
          </a:prstGeom>
          <a:noFill/>
          <a:ln/>
        </p:spPr>
        <p:txBody>
          <a:bodyPr wrap="square" rtlCol="0" anchor="ctr"/>
          <a:lstStyle/>
          <a:p>
            <a:pPr indent="0" marL="0">
              <a:buNone/>
            </a:pPr>
            <a:r>
              <a:rPr lang="en-US" sz="900" dirty="0">
                <a:solidFill>
                  <a:srgbClr val="1E293B"/>
                </a:solidFill>
              </a:rPr>
              <a:t>Click on the data list inside the JSON</a:t>
            </a:r>
            <a:endParaRPr lang="en-US" sz="900" dirty="0"/>
          </a:p>
        </p:txBody>
      </p:sp>
      <p:sp>
        <p:nvSpPr>
          <p:cNvPr id="36" name="Shape 34"/>
          <p:cNvSpPr/>
          <p:nvPr/>
        </p:nvSpPr>
        <p:spPr>
          <a:xfrm>
            <a:off x="256032" y="3264408"/>
            <a:ext cx="4206240" cy="283464"/>
          </a:xfrm>
          <a:prstGeom prst="rect">
            <a:avLst/>
          </a:prstGeom>
          <a:solidFill>
            <a:srgbClr val="FFFFFF"/>
          </a:solidFill>
          <a:ln w="6350">
            <a:solidFill>
              <a:srgbClr val="E2E8F0"/>
            </a:solidFill>
            <a:prstDash val="solid"/>
          </a:ln>
        </p:spPr>
      </p:sp>
      <p:sp>
        <p:nvSpPr>
          <p:cNvPr id="37" name="Shape 35"/>
          <p:cNvSpPr/>
          <p:nvPr/>
        </p:nvSpPr>
        <p:spPr>
          <a:xfrm>
            <a:off x="256032" y="3264408"/>
            <a:ext cx="54864" cy="283464"/>
          </a:xfrm>
          <a:prstGeom prst="rect">
            <a:avLst/>
          </a:prstGeom>
          <a:solidFill>
            <a:srgbClr val="0F766E"/>
          </a:solidFill>
          <a:ln w="12700">
            <a:solidFill>
              <a:srgbClr val="0F766E"/>
            </a:solidFill>
            <a:prstDash val="solid"/>
          </a:ln>
        </p:spPr>
      </p:sp>
      <p:sp>
        <p:nvSpPr>
          <p:cNvPr id="38" name="Shape 36"/>
          <p:cNvSpPr/>
          <p:nvPr/>
        </p:nvSpPr>
        <p:spPr>
          <a:xfrm>
            <a:off x="310896" y="3310128"/>
            <a:ext cx="192024" cy="192024"/>
          </a:xfrm>
          <a:prstGeom prst="rect">
            <a:avLst/>
          </a:prstGeom>
          <a:solidFill>
            <a:srgbClr val="0F766E"/>
          </a:solidFill>
          <a:ln w="12700">
            <a:solidFill>
              <a:srgbClr val="0F766E"/>
            </a:solidFill>
            <a:prstDash val="solid"/>
          </a:ln>
        </p:spPr>
      </p:sp>
      <p:sp>
        <p:nvSpPr>
          <p:cNvPr id="39" name="Text 37"/>
          <p:cNvSpPr/>
          <p:nvPr/>
        </p:nvSpPr>
        <p:spPr>
          <a:xfrm>
            <a:off x="310896" y="3310128"/>
            <a:ext cx="192024" cy="192024"/>
          </a:xfrm>
          <a:prstGeom prst="rect">
            <a:avLst/>
          </a:prstGeom>
          <a:noFill/>
          <a:ln/>
        </p:spPr>
        <p:txBody>
          <a:bodyPr wrap="square" rtlCol="0" anchor="ctr"/>
          <a:lstStyle/>
          <a:p>
            <a:pPr algn="ctr" indent="0" marL="0">
              <a:buNone/>
            </a:pPr>
            <a:r>
              <a:rPr lang="en-US" sz="800" b="1" dirty="0">
                <a:solidFill>
                  <a:srgbClr val="FFFFFF"/>
                </a:solidFill>
              </a:rPr>
              <a:t>6</a:t>
            </a:r>
            <a:endParaRPr lang="en-US" sz="800" dirty="0"/>
          </a:p>
        </p:txBody>
      </p:sp>
      <p:sp>
        <p:nvSpPr>
          <p:cNvPr id="40" name="Text 38"/>
          <p:cNvSpPr/>
          <p:nvPr/>
        </p:nvSpPr>
        <p:spPr>
          <a:xfrm>
            <a:off x="548640" y="3264408"/>
            <a:ext cx="3877056" cy="283464"/>
          </a:xfrm>
          <a:prstGeom prst="rect">
            <a:avLst/>
          </a:prstGeom>
          <a:noFill/>
          <a:ln/>
        </p:spPr>
        <p:txBody>
          <a:bodyPr wrap="square" rtlCol="0" anchor="ctr"/>
          <a:lstStyle/>
          <a:p>
            <a:pPr indent="0" marL="0">
              <a:buNone/>
            </a:pPr>
            <a:r>
              <a:rPr lang="en-US" sz="900" dirty="0">
                <a:solidFill>
                  <a:srgbClr val="1E293B"/>
                </a:solidFill>
              </a:rPr>
              <a:t>Click To Table on the ribbon</a:t>
            </a:r>
            <a:endParaRPr lang="en-US" sz="900" dirty="0"/>
          </a:p>
        </p:txBody>
      </p:sp>
      <p:sp>
        <p:nvSpPr>
          <p:cNvPr id="41" name="Shape 39"/>
          <p:cNvSpPr/>
          <p:nvPr/>
        </p:nvSpPr>
        <p:spPr>
          <a:xfrm>
            <a:off x="256032" y="3621024"/>
            <a:ext cx="4206240" cy="283464"/>
          </a:xfrm>
          <a:prstGeom prst="rect">
            <a:avLst/>
          </a:prstGeom>
          <a:solidFill>
            <a:srgbClr val="F0FDFA"/>
          </a:solidFill>
          <a:ln w="6350">
            <a:solidFill>
              <a:srgbClr val="E2E8F0"/>
            </a:solidFill>
            <a:prstDash val="solid"/>
          </a:ln>
        </p:spPr>
      </p:sp>
      <p:sp>
        <p:nvSpPr>
          <p:cNvPr id="42" name="Shape 40"/>
          <p:cNvSpPr/>
          <p:nvPr/>
        </p:nvSpPr>
        <p:spPr>
          <a:xfrm>
            <a:off x="256032" y="3621024"/>
            <a:ext cx="54864" cy="283464"/>
          </a:xfrm>
          <a:prstGeom prst="rect">
            <a:avLst/>
          </a:prstGeom>
          <a:solidFill>
            <a:srgbClr val="0F766E"/>
          </a:solidFill>
          <a:ln w="12700">
            <a:solidFill>
              <a:srgbClr val="0F766E"/>
            </a:solidFill>
            <a:prstDash val="solid"/>
          </a:ln>
        </p:spPr>
      </p:sp>
      <p:sp>
        <p:nvSpPr>
          <p:cNvPr id="43" name="Shape 41"/>
          <p:cNvSpPr/>
          <p:nvPr/>
        </p:nvSpPr>
        <p:spPr>
          <a:xfrm>
            <a:off x="310896" y="3666744"/>
            <a:ext cx="192024" cy="192024"/>
          </a:xfrm>
          <a:prstGeom prst="rect">
            <a:avLst/>
          </a:prstGeom>
          <a:solidFill>
            <a:srgbClr val="0F766E"/>
          </a:solidFill>
          <a:ln w="12700">
            <a:solidFill>
              <a:srgbClr val="0F766E"/>
            </a:solidFill>
            <a:prstDash val="solid"/>
          </a:ln>
        </p:spPr>
      </p:sp>
      <p:sp>
        <p:nvSpPr>
          <p:cNvPr id="44" name="Text 42"/>
          <p:cNvSpPr/>
          <p:nvPr/>
        </p:nvSpPr>
        <p:spPr>
          <a:xfrm>
            <a:off x="310896" y="3666744"/>
            <a:ext cx="192024" cy="192024"/>
          </a:xfrm>
          <a:prstGeom prst="rect">
            <a:avLst/>
          </a:prstGeom>
          <a:noFill/>
          <a:ln/>
        </p:spPr>
        <p:txBody>
          <a:bodyPr wrap="square" rtlCol="0" anchor="ctr"/>
          <a:lstStyle/>
          <a:p>
            <a:pPr algn="ctr" indent="0" marL="0">
              <a:buNone/>
            </a:pPr>
            <a:r>
              <a:rPr lang="en-US" sz="800" b="1" dirty="0">
                <a:solidFill>
                  <a:srgbClr val="FFFFFF"/>
                </a:solidFill>
              </a:rPr>
              <a:t>7</a:t>
            </a:r>
            <a:endParaRPr lang="en-US" sz="800" dirty="0"/>
          </a:p>
        </p:txBody>
      </p:sp>
      <p:sp>
        <p:nvSpPr>
          <p:cNvPr id="45" name="Text 43"/>
          <p:cNvSpPr/>
          <p:nvPr/>
        </p:nvSpPr>
        <p:spPr>
          <a:xfrm>
            <a:off x="548640" y="3621024"/>
            <a:ext cx="3877056" cy="283464"/>
          </a:xfrm>
          <a:prstGeom prst="rect">
            <a:avLst/>
          </a:prstGeom>
          <a:noFill/>
          <a:ln/>
        </p:spPr>
        <p:txBody>
          <a:bodyPr wrap="square" rtlCol="0" anchor="ctr"/>
          <a:lstStyle/>
          <a:p>
            <a:pPr indent="0" marL="0">
              <a:buNone/>
            </a:pPr>
            <a:r>
              <a:rPr lang="en-US" sz="900" dirty="0">
                <a:solidFill>
                  <a:srgbClr val="1E293B"/>
                </a:solidFill>
              </a:rPr>
              <a:t>Click Expand icon on the Column1 header</a:t>
            </a:r>
            <a:endParaRPr lang="en-US" sz="900" dirty="0"/>
          </a:p>
        </p:txBody>
      </p:sp>
      <p:sp>
        <p:nvSpPr>
          <p:cNvPr id="46" name="Shape 44"/>
          <p:cNvSpPr/>
          <p:nvPr/>
        </p:nvSpPr>
        <p:spPr>
          <a:xfrm>
            <a:off x="256032" y="3977640"/>
            <a:ext cx="4206240" cy="283464"/>
          </a:xfrm>
          <a:prstGeom prst="rect">
            <a:avLst/>
          </a:prstGeom>
          <a:solidFill>
            <a:srgbClr val="FFFFFF"/>
          </a:solidFill>
          <a:ln w="6350">
            <a:solidFill>
              <a:srgbClr val="E2E8F0"/>
            </a:solidFill>
            <a:prstDash val="solid"/>
          </a:ln>
        </p:spPr>
      </p:sp>
      <p:sp>
        <p:nvSpPr>
          <p:cNvPr id="47" name="Shape 45"/>
          <p:cNvSpPr/>
          <p:nvPr/>
        </p:nvSpPr>
        <p:spPr>
          <a:xfrm>
            <a:off x="256032" y="3977640"/>
            <a:ext cx="54864" cy="283464"/>
          </a:xfrm>
          <a:prstGeom prst="rect">
            <a:avLst/>
          </a:prstGeom>
          <a:solidFill>
            <a:srgbClr val="0F766E"/>
          </a:solidFill>
          <a:ln w="12700">
            <a:solidFill>
              <a:srgbClr val="0F766E"/>
            </a:solidFill>
            <a:prstDash val="solid"/>
          </a:ln>
        </p:spPr>
      </p:sp>
      <p:sp>
        <p:nvSpPr>
          <p:cNvPr id="48" name="Shape 46"/>
          <p:cNvSpPr/>
          <p:nvPr/>
        </p:nvSpPr>
        <p:spPr>
          <a:xfrm>
            <a:off x="310896" y="4023360"/>
            <a:ext cx="192024" cy="192024"/>
          </a:xfrm>
          <a:prstGeom prst="rect">
            <a:avLst/>
          </a:prstGeom>
          <a:solidFill>
            <a:srgbClr val="0F766E"/>
          </a:solidFill>
          <a:ln w="12700">
            <a:solidFill>
              <a:srgbClr val="0F766E"/>
            </a:solidFill>
            <a:prstDash val="solid"/>
          </a:ln>
        </p:spPr>
      </p:sp>
      <p:sp>
        <p:nvSpPr>
          <p:cNvPr id="49" name="Text 47"/>
          <p:cNvSpPr/>
          <p:nvPr/>
        </p:nvSpPr>
        <p:spPr>
          <a:xfrm>
            <a:off x="310896" y="4023360"/>
            <a:ext cx="192024" cy="192024"/>
          </a:xfrm>
          <a:prstGeom prst="rect">
            <a:avLst/>
          </a:prstGeom>
          <a:noFill/>
          <a:ln/>
        </p:spPr>
        <p:txBody>
          <a:bodyPr wrap="square" rtlCol="0" anchor="ctr"/>
          <a:lstStyle/>
          <a:p>
            <a:pPr algn="ctr" indent="0" marL="0">
              <a:buNone/>
            </a:pPr>
            <a:r>
              <a:rPr lang="en-US" sz="800" b="1" dirty="0">
                <a:solidFill>
                  <a:srgbClr val="FFFFFF"/>
                </a:solidFill>
              </a:rPr>
              <a:t>8</a:t>
            </a:r>
            <a:endParaRPr lang="en-US" sz="800" dirty="0"/>
          </a:p>
        </p:txBody>
      </p:sp>
      <p:sp>
        <p:nvSpPr>
          <p:cNvPr id="50" name="Text 48"/>
          <p:cNvSpPr/>
          <p:nvPr/>
        </p:nvSpPr>
        <p:spPr>
          <a:xfrm>
            <a:off x="548640" y="3977640"/>
            <a:ext cx="3877056" cy="283464"/>
          </a:xfrm>
          <a:prstGeom prst="rect">
            <a:avLst/>
          </a:prstGeom>
          <a:noFill/>
          <a:ln/>
        </p:spPr>
        <p:txBody>
          <a:bodyPr wrap="square" rtlCol="0" anchor="ctr"/>
          <a:lstStyle/>
          <a:p>
            <a:pPr indent="0" marL="0">
              <a:buNone/>
            </a:pPr>
            <a:r>
              <a:rPr lang="en-US" sz="900" dirty="0">
                <a:solidFill>
                  <a:srgbClr val="1E293B"/>
                </a:solidFill>
              </a:rPr>
              <a:t>Select:  symbol, lastPr, high24h, low24h, ts</a:t>
            </a:r>
            <a:endParaRPr lang="en-US" sz="900" dirty="0"/>
          </a:p>
        </p:txBody>
      </p:sp>
      <p:sp>
        <p:nvSpPr>
          <p:cNvPr id="51" name="Shape 49"/>
          <p:cNvSpPr/>
          <p:nvPr/>
        </p:nvSpPr>
        <p:spPr>
          <a:xfrm>
            <a:off x="256032" y="4334256"/>
            <a:ext cx="4206240" cy="283464"/>
          </a:xfrm>
          <a:prstGeom prst="rect">
            <a:avLst/>
          </a:prstGeom>
          <a:solidFill>
            <a:srgbClr val="F0FDFA"/>
          </a:solidFill>
          <a:ln w="6350">
            <a:solidFill>
              <a:srgbClr val="E2E8F0"/>
            </a:solidFill>
            <a:prstDash val="solid"/>
          </a:ln>
        </p:spPr>
      </p:sp>
      <p:sp>
        <p:nvSpPr>
          <p:cNvPr id="52" name="Shape 50"/>
          <p:cNvSpPr/>
          <p:nvPr/>
        </p:nvSpPr>
        <p:spPr>
          <a:xfrm>
            <a:off x="256032" y="4334256"/>
            <a:ext cx="54864" cy="283464"/>
          </a:xfrm>
          <a:prstGeom prst="rect">
            <a:avLst/>
          </a:prstGeom>
          <a:solidFill>
            <a:srgbClr val="0F766E"/>
          </a:solidFill>
          <a:ln w="12700">
            <a:solidFill>
              <a:srgbClr val="0F766E"/>
            </a:solidFill>
            <a:prstDash val="solid"/>
          </a:ln>
        </p:spPr>
      </p:sp>
      <p:sp>
        <p:nvSpPr>
          <p:cNvPr id="53" name="Shape 51"/>
          <p:cNvSpPr/>
          <p:nvPr/>
        </p:nvSpPr>
        <p:spPr>
          <a:xfrm>
            <a:off x="310896" y="4379976"/>
            <a:ext cx="192024" cy="192024"/>
          </a:xfrm>
          <a:prstGeom prst="rect">
            <a:avLst/>
          </a:prstGeom>
          <a:solidFill>
            <a:srgbClr val="0F766E"/>
          </a:solidFill>
          <a:ln w="12700">
            <a:solidFill>
              <a:srgbClr val="0F766E"/>
            </a:solidFill>
            <a:prstDash val="solid"/>
          </a:ln>
        </p:spPr>
      </p:sp>
      <p:sp>
        <p:nvSpPr>
          <p:cNvPr id="54" name="Text 52"/>
          <p:cNvSpPr/>
          <p:nvPr/>
        </p:nvSpPr>
        <p:spPr>
          <a:xfrm>
            <a:off x="310896" y="4379976"/>
            <a:ext cx="192024" cy="192024"/>
          </a:xfrm>
          <a:prstGeom prst="rect">
            <a:avLst/>
          </a:prstGeom>
          <a:noFill/>
          <a:ln/>
        </p:spPr>
        <p:txBody>
          <a:bodyPr wrap="square" rtlCol="0" anchor="ctr"/>
          <a:lstStyle/>
          <a:p>
            <a:pPr algn="ctr" indent="0" marL="0">
              <a:buNone/>
            </a:pPr>
            <a:r>
              <a:rPr lang="en-US" sz="800" b="1" dirty="0">
                <a:solidFill>
                  <a:srgbClr val="FFFFFF"/>
                </a:solidFill>
              </a:rPr>
              <a:t>9</a:t>
            </a:r>
            <a:endParaRPr lang="en-US" sz="800" dirty="0"/>
          </a:p>
        </p:txBody>
      </p:sp>
      <p:sp>
        <p:nvSpPr>
          <p:cNvPr id="55" name="Text 53"/>
          <p:cNvSpPr/>
          <p:nvPr/>
        </p:nvSpPr>
        <p:spPr>
          <a:xfrm>
            <a:off x="548640" y="4334256"/>
            <a:ext cx="3877056" cy="283464"/>
          </a:xfrm>
          <a:prstGeom prst="rect">
            <a:avLst/>
          </a:prstGeom>
          <a:noFill/>
          <a:ln/>
        </p:spPr>
        <p:txBody>
          <a:bodyPr wrap="square" rtlCol="0" anchor="ctr"/>
          <a:lstStyle/>
          <a:p>
            <a:pPr indent="0" marL="0">
              <a:buNone/>
            </a:pPr>
            <a:r>
              <a:rPr lang="en-US" sz="900" dirty="0">
                <a:solidFill>
                  <a:srgbClr val="1E293B"/>
                </a:solidFill>
              </a:rPr>
              <a:t>Click OK → Close &amp; Apply</a:t>
            </a:r>
            <a:endParaRPr lang="en-US" sz="900" dirty="0"/>
          </a:p>
        </p:txBody>
      </p:sp>
      <p:sp>
        <p:nvSpPr>
          <p:cNvPr id="56" name="Text 54"/>
          <p:cNvSpPr/>
          <p:nvPr/>
        </p:nvSpPr>
        <p:spPr>
          <a:xfrm>
            <a:off x="4645152" y="1188720"/>
            <a:ext cx="8686800" cy="256032"/>
          </a:xfrm>
          <a:prstGeom prst="rect">
            <a:avLst/>
          </a:prstGeom>
          <a:noFill/>
          <a:ln/>
        </p:spPr>
        <p:txBody>
          <a:bodyPr wrap="square" rtlCol="0" anchor="ctr"/>
          <a:lstStyle/>
          <a:p>
            <a:pPr indent="0" marL="0">
              <a:buNone/>
            </a:pPr>
            <a:r>
              <a:rPr lang="en-US" sz="1100" b="1" dirty="0">
                <a:solidFill>
                  <a:srgbClr val="0F766E"/>
                </a:solidFill>
              </a:rPr>
              <a:t>Build these 4 Card Visuals:</a:t>
            </a:r>
            <a:endParaRPr lang="en-US" sz="1100" dirty="0"/>
          </a:p>
        </p:txBody>
      </p:sp>
      <p:sp>
        <p:nvSpPr>
          <p:cNvPr id="57" name="Shape 55"/>
          <p:cNvSpPr/>
          <p:nvPr/>
        </p:nvSpPr>
        <p:spPr>
          <a:xfrm>
            <a:off x="4645152" y="1481328"/>
            <a:ext cx="4242816" cy="512064"/>
          </a:xfrm>
          <a:prstGeom prst="rect">
            <a:avLst/>
          </a:prstGeom>
          <a:solidFill>
            <a:srgbClr val="F0FDFA"/>
          </a:solidFill>
          <a:ln w="10160">
            <a:solidFill>
              <a:srgbClr val="0F766E"/>
            </a:solidFill>
            <a:prstDash val="solid"/>
          </a:ln>
        </p:spPr>
      </p:sp>
      <p:sp>
        <p:nvSpPr>
          <p:cNvPr id="58" name="Shape 56"/>
          <p:cNvSpPr/>
          <p:nvPr/>
        </p:nvSpPr>
        <p:spPr>
          <a:xfrm>
            <a:off x="4645152" y="1481328"/>
            <a:ext cx="54864" cy="512064"/>
          </a:xfrm>
          <a:prstGeom prst="rect">
            <a:avLst/>
          </a:prstGeom>
          <a:solidFill>
            <a:srgbClr val="0F766E"/>
          </a:solidFill>
          <a:ln w="12700">
            <a:solidFill>
              <a:srgbClr val="0F766E"/>
            </a:solidFill>
            <a:prstDash val="solid"/>
          </a:ln>
        </p:spPr>
      </p:sp>
      <p:sp>
        <p:nvSpPr>
          <p:cNvPr id="59" name="Text 57"/>
          <p:cNvSpPr/>
          <p:nvPr/>
        </p:nvSpPr>
        <p:spPr>
          <a:xfrm>
            <a:off x="4736592" y="1517904"/>
            <a:ext cx="1828800" cy="182880"/>
          </a:xfrm>
          <a:prstGeom prst="rect">
            <a:avLst/>
          </a:prstGeom>
          <a:noFill/>
          <a:ln/>
        </p:spPr>
        <p:txBody>
          <a:bodyPr wrap="square" rtlCol="0" anchor="ctr"/>
          <a:lstStyle/>
          <a:p>
            <a:pPr indent="0" marL="0">
              <a:buNone/>
            </a:pPr>
            <a:r>
              <a:rPr lang="en-US" sz="900" b="1" dirty="0">
                <a:solidFill>
                  <a:srgbClr val="0F766E"/>
                </a:solidFill>
              </a:rPr>
              <a:t>Card Visual</a:t>
            </a:r>
            <a:endParaRPr lang="en-US" sz="900" dirty="0"/>
          </a:p>
        </p:txBody>
      </p:sp>
      <p:sp>
        <p:nvSpPr>
          <p:cNvPr id="60" name="Text 58"/>
          <p:cNvSpPr/>
          <p:nvPr/>
        </p:nvSpPr>
        <p:spPr>
          <a:xfrm>
            <a:off x="4736592" y="1517904"/>
            <a:ext cx="4023360" cy="182880"/>
          </a:xfrm>
          <a:prstGeom prst="rect">
            <a:avLst/>
          </a:prstGeom>
          <a:noFill/>
          <a:ln/>
        </p:spPr>
        <p:txBody>
          <a:bodyPr wrap="square" rtlCol="0" anchor="ctr"/>
          <a:lstStyle/>
          <a:p>
            <a:pPr algn="r" indent="0" marL="0">
              <a:buNone/>
            </a:pPr>
            <a:r>
              <a:rPr lang="en-US" sz="900" b="1" dirty="0">
                <a:solidFill>
                  <a:srgbClr val="B45309"/>
                </a:solidFill>
              </a:rPr>
              <a:t>Field:  lastPr</a:t>
            </a:r>
            <a:endParaRPr lang="en-US" sz="900" dirty="0"/>
          </a:p>
        </p:txBody>
      </p:sp>
      <p:sp>
        <p:nvSpPr>
          <p:cNvPr id="61" name="Text 59"/>
          <p:cNvSpPr/>
          <p:nvPr/>
        </p:nvSpPr>
        <p:spPr>
          <a:xfrm>
            <a:off x="4736592" y="1755648"/>
            <a:ext cx="4023360" cy="201168"/>
          </a:xfrm>
          <a:prstGeom prst="rect">
            <a:avLst/>
          </a:prstGeom>
          <a:noFill/>
          <a:ln/>
        </p:spPr>
        <p:txBody>
          <a:bodyPr wrap="square" rtlCol="0" anchor="ctr"/>
          <a:lstStyle/>
          <a:p>
            <a:pPr indent="0" marL="0">
              <a:buNone/>
            </a:pPr>
            <a:r>
              <a:rPr lang="en-US" sz="900" dirty="0">
                <a:solidFill>
                  <a:srgbClr val="1E293B"/>
                </a:solidFill>
              </a:rPr>
              <a:t>Current live Bitcoin price — the headline KPI</a:t>
            </a:r>
            <a:endParaRPr lang="en-US" sz="900" dirty="0"/>
          </a:p>
        </p:txBody>
      </p:sp>
      <p:sp>
        <p:nvSpPr>
          <p:cNvPr id="62" name="Shape 60"/>
          <p:cNvSpPr/>
          <p:nvPr/>
        </p:nvSpPr>
        <p:spPr>
          <a:xfrm>
            <a:off x="4645152" y="2084832"/>
            <a:ext cx="4242816" cy="512064"/>
          </a:xfrm>
          <a:prstGeom prst="rect">
            <a:avLst/>
          </a:prstGeom>
          <a:solidFill>
            <a:srgbClr val="F0FDFA"/>
          </a:solidFill>
          <a:ln w="10160">
            <a:solidFill>
              <a:srgbClr val="0F766E"/>
            </a:solidFill>
            <a:prstDash val="solid"/>
          </a:ln>
        </p:spPr>
      </p:sp>
      <p:sp>
        <p:nvSpPr>
          <p:cNvPr id="63" name="Shape 61"/>
          <p:cNvSpPr/>
          <p:nvPr/>
        </p:nvSpPr>
        <p:spPr>
          <a:xfrm>
            <a:off x="4645152" y="2084832"/>
            <a:ext cx="54864" cy="512064"/>
          </a:xfrm>
          <a:prstGeom prst="rect">
            <a:avLst/>
          </a:prstGeom>
          <a:solidFill>
            <a:srgbClr val="0F766E"/>
          </a:solidFill>
          <a:ln w="12700">
            <a:solidFill>
              <a:srgbClr val="0F766E"/>
            </a:solidFill>
            <a:prstDash val="solid"/>
          </a:ln>
        </p:spPr>
      </p:sp>
      <p:sp>
        <p:nvSpPr>
          <p:cNvPr id="64" name="Text 62"/>
          <p:cNvSpPr/>
          <p:nvPr/>
        </p:nvSpPr>
        <p:spPr>
          <a:xfrm>
            <a:off x="4736592" y="2121408"/>
            <a:ext cx="1828800" cy="182880"/>
          </a:xfrm>
          <a:prstGeom prst="rect">
            <a:avLst/>
          </a:prstGeom>
          <a:noFill/>
          <a:ln/>
        </p:spPr>
        <p:txBody>
          <a:bodyPr wrap="square" rtlCol="0" anchor="ctr"/>
          <a:lstStyle/>
          <a:p>
            <a:pPr indent="0" marL="0">
              <a:buNone/>
            </a:pPr>
            <a:r>
              <a:rPr lang="en-US" sz="900" b="1" dirty="0">
                <a:solidFill>
                  <a:srgbClr val="0F766E"/>
                </a:solidFill>
              </a:rPr>
              <a:t>Card Visual</a:t>
            </a:r>
            <a:endParaRPr lang="en-US" sz="900" dirty="0"/>
          </a:p>
        </p:txBody>
      </p:sp>
      <p:sp>
        <p:nvSpPr>
          <p:cNvPr id="65" name="Text 63"/>
          <p:cNvSpPr/>
          <p:nvPr/>
        </p:nvSpPr>
        <p:spPr>
          <a:xfrm>
            <a:off x="4736592" y="2121408"/>
            <a:ext cx="4023360" cy="182880"/>
          </a:xfrm>
          <a:prstGeom prst="rect">
            <a:avLst/>
          </a:prstGeom>
          <a:noFill/>
          <a:ln/>
        </p:spPr>
        <p:txBody>
          <a:bodyPr wrap="square" rtlCol="0" anchor="ctr"/>
          <a:lstStyle/>
          <a:p>
            <a:pPr algn="r" indent="0" marL="0">
              <a:buNone/>
            </a:pPr>
            <a:r>
              <a:rPr lang="en-US" sz="900" b="1" dirty="0">
                <a:solidFill>
                  <a:srgbClr val="B45309"/>
                </a:solidFill>
              </a:rPr>
              <a:t>Field:  high24h</a:t>
            </a:r>
            <a:endParaRPr lang="en-US" sz="900" dirty="0"/>
          </a:p>
        </p:txBody>
      </p:sp>
      <p:sp>
        <p:nvSpPr>
          <p:cNvPr id="66" name="Text 64"/>
          <p:cNvSpPr/>
          <p:nvPr/>
        </p:nvSpPr>
        <p:spPr>
          <a:xfrm>
            <a:off x="4736592" y="2359152"/>
            <a:ext cx="4023360" cy="201168"/>
          </a:xfrm>
          <a:prstGeom prst="rect">
            <a:avLst/>
          </a:prstGeom>
          <a:noFill/>
          <a:ln/>
        </p:spPr>
        <p:txBody>
          <a:bodyPr wrap="square" rtlCol="0" anchor="ctr"/>
          <a:lstStyle/>
          <a:p>
            <a:pPr indent="0" marL="0">
              <a:buNone/>
            </a:pPr>
            <a:r>
              <a:rPr lang="en-US" sz="900" dirty="0">
                <a:solidFill>
                  <a:srgbClr val="1E293B"/>
                </a:solidFill>
              </a:rPr>
              <a:t>Highest price in the last 24 hours</a:t>
            </a:r>
            <a:endParaRPr lang="en-US" sz="900" dirty="0"/>
          </a:p>
        </p:txBody>
      </p:sp>
      <p:sp>
        <p:nvSpPr>
          <p:cNvPr id="67" name="Shape 65"/>
          <p:cNvSpPr/>
          <p:nvPr/>
        </p:nvSpPr>
        <p:spPr>
          <a:xfrm>
            <a:off x="4645152" y="2688336"/>
            <a:ext cx="4242816" cy="512064"/>
          </a:xfrm>
          <a:prstGeom prst="rect">
            <a:avLst/>
          </a:prstGeom>
          <a:solidFill>
            <a:srgbClr val="F0FDFA"/>
          </a:solidFill>
          <a:ln w="10160">
            <a:solidFill>
              <a:srgbClr val="0F766E"/>
            </a:solidFill>
            <a:prstDash val="solid"/>
          </a:ln>
        </p:spPr>
      </p:sp>
      <p:sp>
        <p:nvSpPr>
          <p:cNvPr id="68" name="Shape 66"/>
          <p:cNvSpPr/>
          <p:nvPr/>
        </p:nvSpPr>
        <p:spPr>
          <a:xfrm>
            <a:off x="4645152" y="2688336"/>
            <a:ext cx="54864" cy="512064"/>
          </a:xfrm>
          <a:prstGeom prst="rect">
            <a:avLst/>
          </a:prstGeom>
          <a:solidFill>
            <a:srgbClr val="0F766E"/>
          </a:solidFill>
          <a:ln w="12700">
            <a:solidFill>
              <a:srgbClr val="0F766E"/>
            </a:solidFill>
            <a:prstDash val="solid"/>
          </a:ln>
        </p:spPr>
      </p:sp>
      <p:sp>
        <p:nvSpPr>
          <p:cNvPr id="69" name="Text 67"/>
          <p:cNvSpPr/>
          <p:nvPr/>
        </p:nvSpPr>
        <p:spPr>
          <a:xfrm>
            <a:off x="4736592" y="2724912"/>
            <a:ext cx="1828800" cy="182880"/>
          </a:xfrm>
          <a:prstGeom prst="rect">
            <a:avLst/>
          </a:prstGeom>
          <a:noFill/>
          <a:ln/>
        </p:spPr>
        <p:txBody>
          <a:bodyPr wrap="square" rtlCol="0" anchor="ctr"/>
          <a:lstStyle/>
          <a:p>
            <a:pPr indent="0" marL="0">
              <a:buNone/>
            </a:pPr>
            <a:r>
              <a:rPr lang="en-US" sz="900" b="1" dirty="0">
                <a:solidFill>
                  <a:srgbClr val="0F766E"/>
                </a:solidFill>
              </a:rPr>
              <a:t>Card Visual</a:t>
            </a:r>
            <a:endParaRPr lang="en-US" sz="900" dirty="0"/>
          </a:p>
        </p:txBody>
      </p:sp>
      <p:sp>
        <p:nvSpPr>
          <p:cNvPr id="70" name="Text 68"/>
          <p:cNvSpPr/>
          <p:nvPr/>
        </p:nvSpPr>
        <p:spPr>
          <a:xfrm>
            <a:off x="4736592" y="2724912"/>
            <a:ext cx="4023360" cy="182880"/>
          </a:xfrm>
          <a:prstGeom prst="rect">
            <a:avLst/>
          </a:prstGeom>
          <a:noFill/>
          <a:ln/>
        </p:spPr>
        <p:txBody>
          <a:bodyPr wrap="square" rtlCol="0" anchor="ctr"/>
          <a:lstStyle/>
          <a:p>
            <a:pPr algn="r" indent="0" marL="0">
              <a:buNone/>
            </a:pPr>
            <a:r>
              <a:rPr lang="en-US" sz="900" b="1" dirty="0">
                <a:solidFill>
                  <a:srgbClr val="B45309"/>
                </a:solidFill>
              </a:rPr>
              <a:t>Field:  low24h</a:t>
            </a:r>
            <a:endParaRPr lang="en-US" sz="900" dirty="0"/>
          </a:p>
        </p:txBody>
      </p:sp>
      <p:sp>
        <p:nvSpPr>
          <p:cNvPr id="71" name="Text 69"/>
          <p:cNvSpPr/>
          <p:nvPr/>
        </p:nvSpPr>
        <p:spPr>
          <a:xfrm>
            <a:off x="4736592" y="2962656"/>
            <a:ext cx="4023360" cy="201168"/>
          </a:xfrm>
          <a:prstGeom prst="rect">
            <a:avLst/>
          </a:prstGeom>
          <a:noFill/>
          <a:ln/>
        </p:spPr>
        <p:txBody>
          <a:bodyPr wrap="square" rtlCol="0" anchor="ctr"/>
          <a:lstStyle/>
          <a:p>
            <a:pPr indent="0" marL="0">
              <a:buNone/>
            </a:pPr>
            <a:r>
              <a:rPr lang="en-US" sz="900" dirty="0">
                <a:solidFill>
                  <a:srgbClr val="1E293B"/>
                </a:solidFill>
              </a:rPr>
              <a:t>Lowest price in the last 24 hours</a:t>
            </a:r>
            <a:endParaRPr lang="en-US" sz="900" dirty="0"/>
          </a:p>
        </p:txBody>
      </p:sp>
      <p:sp>
        <p:nvSpPr>
          <p:cNvPr id="72" name="Shape 70"/>
          <p:cNvSpPr/>
          <p:nvPr/>
        </p:nvSpPr>
        <p:spPr>
          <a:xfrm>
            <a:off x="4645152" y="3291840"/>
            <a:ext cx="4242816" cy="512064"/>
          </a:xfrm>
          <a:prstGeom prst="rect">
            <a:avLst/>
          </a:prstGeom>
          <a:solidFill>
            <a:srgbClr val="F0FDFA"/>
          </a:solidFill>
          <a:ln w="10160">
            <a:solidFill>
              <a:srgbClr val="0F766E"/>
            </a:solidFill>
            <a:prstDash val="solid"/>
          </a:ln>
        </p:spPr>
      </p:sp>
      <p:sp>
        <p:nvSpPr>
          <p:cNvPr id="73" name="Shape 71"/>
          <p:cNvSpPr/>
          <p:nvPr/>
        </p:nvSpPr>
        <p:spPr>
          <a:xfrm>
            <a:off x="4645152" y="3291840"/>
            <a:ext cx="54864" cy="512064"/>
          </a:xfrm>
          <a:prstGeom prst="rect">
            <a:avLst/>
          </a:prstGeom>
          <a:solidFill>
            <a:srgbClr val="0F766E"/>
          </a:solidFill>
          <a:ln w="12700">
            <a:solidFill>
              <a:srgbClr val="0F766E"/>
            </a:solidFill>
            <a:prstDash val="solid"/>
          </a:ln>
        </p:spPr>
      </p:sp>
      <p:sp>
        <p:nvSpPr>
          <p:cNvPr id="74" name="Text 72"/>
          <p:cNvSpPr/>
          <p:nvPr/>
        </p:nvSpPr>
        <p:spPr>
          <a:xfrm>
            <a:off x="4736592" y="3328416"/>
            <a:ext cx="1828800" cy="182880"/>
          </a:xfrm>
          <a:prstGeom prst="rect">
            <a:avLst/>
          </a:prstGeom>
          <a:noFill/>
          <a:ln/>
        </p:spPr>
        <p:txBody>
          <a:bodyPr wrap="square" rtlCol="0" anchor="ctr"/>
          <a:lstStyle/>
          <a:p>
            <a:pPr indent="0" marL="0">
              <a:buNone/>
            </a:pPr>
            <a:r>
              <a:rPr lang="en-US" sz="900" b="1" dirty="0">
                <a:solidFill>
                  <a:srgbClr val="0F766E"/>
                </a:solidFill>
              </a:rPr>
              <a:t>Card Visual</a:t>
            </a:r>
            <a:endParaRPr lang="en-US" sz="900" dirty="0"/>
          </a:p>
        </p:txBody>
      </p:sp>
      <p:sp>
        <p:nvSpPr>
          <p:cNvPr id="75" name="Text 73"/>
          <p:cNvSpPr/>
          <p:nvPr/>
        </p:nvSpPr>
        <p:spPr>
          <a:xfrm>
            <a:off x="4736592" y="3328416"/>
            <a:ext cx="4023360" cy="182880"/>
          </a:xfrm>
          <a:prstGeom prst="rect">
            <a:avLst/>
          </a:prstGeom>
          <a:noFill/>
          <a:ln/>
        </p:spPr>
        <p:txBody>
          <a:bodyPr wrap="square" rtlCol="0" anchor="ctr"/>
          <a:lstStyle/>
          <a:p>
            <a:pPr algn="r" indent="0" marL="0">
              <a:buNone/>
            </a:pPr>
            <a:r>
              <a:rPr lang="en-US" sz="900" b="1" dirty="0">
                <a:solidFill>
                  <a:srgbClr val="B45309"/>
                </a:solidFill>
              </a:rPr>
              <a:t>Field:  symbol</a:t>
            </a:r>
            <a:endParaRPr lang="en-US" sz="900" dirty="0"/>
          </a:p>
        </p:txBody>
      </p:sp>
      <p:sp>
        <p:nvSpPr>
          <p:cNvPr id="76" name="Text 74"/>
          <p:cNvSpPr/>
          <p:nvPr/>
        </p:nvSpPr>
        <p:spPr>
          <a:xfrm>
            <a:off x="4736592" y="3566160"/>
            <a:ext cx="4023360" cy="201168"/>
          </a:xfrm>
          <a:prstGeom prst="rect">
            <a:avLst/>
          </a:prstGeom>
          <a:noFill/>
          <a:ln/>
        </p:spPr>
        <p:txBody>
          <a:bodyPr wrap="square" rtlCol="0" anchor="ctr"/>
          <a:lstStyle/>
          <a:p>
            <a:pPr indent="0" marL="0">
              <a:buNone/>
            </a:pPr>
            <a:r>
              <a:rPr lang="en-US" sz="900" dirty="0">
                <a:solidFill>
                  <a:srgbClr val="1E293B"/>
                </a:solidFill>
              </a:rPr>
              <a:t>Shows BTCUSDT — confirms which coin</a:t>
            </a:r>
            <a:endParaRPr lang="en-US" sz="900" dirty="0"/>
          </a:p>
        </p:txBody>
      </p:sp>
      <p:sp>
        <p:nvSpPr>
          <p:cNvPr id="77" name="Shape 75"/>
          <p:cNvSpPr/>
          <p:nvPr/>
        </p:nvSpPr>
        <p:spPr>
          <a:xfrm>
            <a:off x="4645152" y="4005072"/>
            <a:ext cx="4242816" cy="658368"/>
          </a:xfrm>
          <a:prstGeom prst="rect">
            <a:avLst/>
          </a:prstGeom>
          <a:solidFill>
            <a:srgbClr val="FFFBEB"/>
          </a:solidFill>
          <a:ln w="10160">
            <a:solidFill>
              <a:srgbClr val="B45309"/>
            </a:solidFill>
            <a:prstDash val="solid"/>
          </a:ln>
        </p:spPr>
      </p:sp>
      <p:sp>
        <p:nvSpPr>
          <p:cNvPr id="78" name="Shape 76"/>
          <p:cNvSpPr/>
          <p:nvPr/>
        </p:nvSpPr>
        <p:spPr>
          <a:xfrm>
            <a:off x="4645152" y="4005072"/>
            <a:ext cx="54864" cy="658368"/>
          </a:xfrm>
          <a:prstGeom prst="rect">
            <a:avLst/>
          </a:prstGeom>
          <a:solidFill>
            <a:srgbClr val="B45309"/>
          </a:solidFill>
          <a:ln w="12700">
            <a:solidFill>
              <a:srgbClr val="B45309"/>
            </a:solidFill>
            <a:prstDash val="solid"/>
          </a:ln>
        </p:spPr>
      </p:sp>
      <p:sp>
        <p:nvSpPr>
          <p:cNvPr id="79" name="Text 77"/>
          <p:cNvSpPr/>
          <p:nvPr/>
        </p:nvSpPr>
        <p:spPr>
          <a:xfrm>
            <a:off x="4736592" y="4041648"/>
            <a:ext cx="4059936" cy="219456"/>
          </a:xfrm>
          <a:prstGeom prst="rect">
            <a:avLst/>
          </a:prstGeom>
          <a:noFill/>
          <a:ln/>
        </p:spPr>
        <p:txBody>
          <a:bodyPr wrap="square" rtlCol="0" anchor="ctr"/>
          <a:lstStyle/>
          <a:p>
            <a:pPr indent="0" marL="0">
              <a:buNone/>
            </a:pPr>
            <a:r>
              <a:rPr lang="en-US" sz="1000" b="1" dirty="0">
                <a:solidFill>
                  <a:srgbClr val="B45309"/>
                </a:solidFill>
              </a:rPr>
              <a:t>Refresh to see live price:</a:t>
            </a:r>
            <a:endParaRPr lang="en-US" sz="1000" dirty="0"/>
          </a:p>
        </p:txBody>
      </p:sp>
      <p:sp>
        <p:nvSpPr>
          <p:cNvPr id="80" name="Text 78"/>
          <p:cNvSpPr/>
          <p:nvPr/>
        </p:nvSpPr>
        <p:spPr>
          <a:xfrm>
            <a:off x="4736592" y="4261104"/>
            <a:ext cx="4059936" cy="347472"/>
          </a:xfrm>
          <a:prstGeom prst="rect">
            <a:avLst/>
          </a:prstGeom>
          <a:noFill/>
          <a:ln/>
        </p:spPr>
        <p:txBody>
          <a:bodyPr wrap="square" rtlCol="0" anchor="ctr"/>
          <a:lstStyle/>
          <a:p>
            <a:pPr indent="0" marL="0">
              <a:buNone/>
            </a:pPr>
            <a:r>
              <a:rPr lang="en-US" sz="900" dirty="0">
                <a:solidFill>
                  <a:srgbClr val="1E293B"/>
                </a:solidFill>
              </a:rPr>
              <a:t>Home tab → click Refresh   — the lastPr Card updates to the current Bitcoin price. Click Refresh again 30 seconds later — the number changes!</a:t>
            </a:r>
            <a:endParaRPr lang="en-US" sz="900" dirty="0"/>
          </a:p>
        </p:txBody>
      </p:sp>
      <p:sp>
        <p:nvSpPr>
          <p:cNvPr id="81" name="Shape 79"/>
          <p:cNvSpPr/>
          <p:nvPr/>
        </p:nvSpPr>
        <p:spPr>
          <a:xfrm>
            <a:off x="256032" y="4773168"/>
            <a:ext cx="8631936" cy="329184"/>
          </a:xfrm>
          <a:prstGeom prst="rect">
            <a:avLst/>
          </a:prstGeom>
          <a:solidFill>
            <a:srgbClr val="F0FDFA"/>
          </a:solidFill>
          <a:ln w="10160">
            <a:solidFill>
              <a:srgbClr val="0F766E"/>
            </a:solidFill>
            <a:prstDash val="solid"/>
          </a:ln>
        </p:spPr>
      </p:sp>
      <p:sp>
        <p:nvSpPr>
          <p:cNvPr id="82" name="Shape 80"/>
          <p:cNvSpPr/>
          <p:nvPr/>
        </p:nvSpPr>
        <p:spPr>
          <a:xfrm>
            <a:off x="256032" y="4773168"/>
            <a:ext cx="54864" cy="329184"/>
          </a:xfrm>
          <a:prstGeom prst="rect">
            <a:avLst/>
          </a:prstGeom>
          <a:solidFill>
            <a:srgbClr val="0F766E"/>
          </a:solidFill>
          <a:ln w="12700">
            <a:solidFill>
              <a:srgbClr val="0F766E"/>
            </a:solidFill>
            <a:prstDash val="solid"/>
          </a:ln>
        </p:spPr>
      </p:sp>
      <p:sp>
        <p:nvSpPr>
          <p:cNvPr id="83" name="Text 81"/>
          <p:cNvSpPr/>
          <p:nvPr/>
        </p:nvSpPr>
        <p:spPr>
          <a:xfrm>
            <a:off x="384048" y="4773168"/>
            <a:ext cx="8449056" cy="329184"/>
          </a:xfrm>
          <a:prstGeom prst="rect">
            <a:avLst/>
          </a:prstGeom>
          <a:noFill/>
          <a:ln/>
        </p:spPr>
        <p:txBody>
          <a:bodyPr wrap="square" rtlCol="0" anchor="ctr"/>
          <a:lstStyle/>
          <a:p>
            <a:pPr indent="0" marL="0">
              <a:buNone/>
            </a:pPr>
            <a:r>
              <a:rPr lang="en-US" sz="1000" dirty="0">
                <a:solidFill>
                  <a:srgbClr val="1E293B"/>
                </a:solidFill>
              </a:rPr>
              <a:t>In Power BI Service (cloud), you can set scheduled refresh every 30 minutes to keep the price updating automatically.</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172A"/>
          </a:solidFill>
          <a:ln w="12700">
            <a:solidFill>
              <a:srgbClr val="0F172A"/>
            </a:solidFill>
            <a:prstDash val="solid"/>
          </a:ln>
        </p:spPr>
      </p:sp>
      <p:sp>
        <p:nvSpPr>
          <p:cNvPr id="3" name="Shape 1"/>
          <p:cNvSpPr/>
          <p:nvPr/>
        </p:nvSpPr>
        <p:spPr>
          <a:xfrm>
            <a:off x="0" y="0"/>
            <a:ext cx="64008" cy="640080"/>
          </a:xfrm>
          <a:prstGeom prst="rect">
            <a:avLst/>
          </a:prstGeom>
          <a:solidFill>
            <a:srgbClr val="15803D"/>
          </a:solidFill>
          <a:ln w="12700">
            <a:solidFill>
              <a:srgbClr val="15803D"/>
            </a:solidFill>
            <a:prstDash val="solid"/>
          </a:ln>
        </p:spPr>
      </p:sp>
      <p:sp>
        <p:nvSpPr>
          <p:cNvPr id="4" name="Text 2"/>
          <p:cNvSpPr/>
          <p:nvPr/>
        </p:nvSpPr>
        <p:spPr>
          <a:xfrm>
            <a:off x="109728" y="0"/>
            <a:ext cx="475488" cy="640080"/>
          </a:xfrm>
          <a:prstGeom prst="rect">
            <a:avLst/>
          </a:prstGeom>
          <a:noFill/>
          <a:ln/>
        </p:spPr>
        <p:txBody>
          <a:bodyPr wrap="square" rtlCol="0" anchor="ctr"/>
          <a:lstStyle/>
          <a:p>
            <a:pPr algn="ctr" indent="0" marL="0">
              <a:buNone/>
            </a:pPr>
            <a:r>
              <a:rPr lang="en-US" sz="1600" b="1" dirty="0">
                <a:solidFill>
                  <a:srgbClr val="FFFFFF"/>
                </a:solidFill>
              </a:rPr>
              <a:t>08</a:t>
            </a:r>
            <a:endParaRPr lang="en-US" sz="1600" dirty="0"/>
          </a:p>
        </p:txBody>
      </p:sp>
      <p:sp>
        <p:nvSpPr>
          <p:cNvPr id="5" name="Text 3"/>
          <p:cNvSpPr/>
          <p:nvPr/>
        </p:nvSpPr>
        <p:spPr>
          <a:xfrm>
            <a:off x="658368" y="18288"/>
            <a:ext cx="8138160" cy="347472"/>
          </a:xfrm>
          <a:prstGeom prst="rect">
            <a:avLst/>
          </a:prstGeom>
          <a:noFill/>
          <a:ln/>
        </p:spPr>
        <p:txBody>
          <a:bodyPr wrap="square" rtlCol="0" anchor="ctr"/>
          <a:lstStyle/>
          <a:p>
            <a:pPr indent="0" marL="0">
              <a:buNone/>
            </a:pPr>
            <a:r>
              <a:rPr lang="en-US" sz="1900" b="1" dirty="0">
                <a:solidFill>
                  <a:srgbClr val="FFFFFF"/>
                </a:solidFill>
              </a:rPr>
              <a:t>Full Code Reference — Both APIs</a:t>
            </a:r>
            <a:endParaRPr lang="en-US" sz="1900" dirty="0"/>
          </a:p>
        </p:txBody>
      </p:sp>
      <p:sp>
        <p:nvSpPr>
          <p:cNvPr id="6" name="Text 4"/>
          <p:cNvSpPr/>
          <p:nvPr/>
        </p:nvSpPr>
        <p:spPr>
          <a:xfrm>
            <a:off x="658368" y="402336"/>
            <a:ext cx="8138160" cy="237744"/>
          </a:xfrm>
          <a:prstGeom prst="rect">
            <a:avLst/>
          </a:prstGeom>
          <a:noFill/>
          <a:ln/>
        </p:spPr>
        <p:txBody>
          <a:bodyPr wrap="square" rtlCol="0" anchor="ctr"/>
          <a:lstStyle/>
          <a:p>
            <a:pPr indent="0" marL="0">
              <a:buNone/>
            </a:pPr>
            <a:r>
              <a:rPr lang="en-US" sz="1000" dirty="0">
                <a:solidFill>
                  <a:srgbClr val="94A3B8"/>
                </a:solidFill>
              </a:rPr>
              <a:t>Copy these into Jupyter Notebook and run them — both work right now</a:t>
            </a:r>
            <a:endParaRPr lang="en-US" sz="1000" dirty="0"/>
          </a:p>
        </p:txBody>
      </p:sp>
      <p:sp>
        <p:nvSpPr>
          <p:cNvPr id="7" name="Text 5"/>
          <p:cNvSpPr/>
          <p:nvPr/>
        </p:nvSpPr>
        <p:spPr>
          <a:xfrm>
            <a:off x="256032" y="786384"/>
            <a:ext cx="8686800" cy="256032"/>
          </a:xfrm>
          <a:prstGeom prst="rect">
            <a:avLst/>
          </a:prstGeom>
          <a:noFill/>
          <a:ln/>
        </p:spPr>
        <p:txBody>
          <a:bodyPr wrap="square" rtlCol="0" anchor="ctr"/>
          <a:lstStyle/>
          <a:p>
            <a:pPr indent="0" marL="0">
              <a:buNone/>
            </a:pPr>
            <a:r>
              <a:rPr lang="en-US" sz="1100" b="1" dirty="0">
                <a:solidFill>
                  <a:srgbClr val="15803D"/>
                </a:solidFill>
              </a:rPr>
              <a:t>Universities API:</a:t>
            </a:r>
            <a:endParaRPr lang="en-US" sz="1100" dirty="0"/>
          </a:p>
        </p:txBody>
      </p:sp>
      <p:sp>
        <p:nvSpPr>
          <p:cNvPr id="8" name="Shape 6"/>
          <p:cNvSpPr/>
          <p:nvPr/>
        </p:nvSpPr>
        <p:spPr>
          <a:xfrm>
            <a:off x="256032" y="1042416"/>
            <a:ext cx="4242816" cy="2505456"/>
          </a:xfrm>
          <a:prstGeom prst="rect">
            <a:avLst/>
          </a:prstGeom>
          <a:solidFill>
            <a:srgbClr val="0F172A"/>
          </a:solidFill>
          <a:ln w="6350">
            <a:solidFill>
              <a:srgbClr val="334155"/>
            </a:solidFill>
            <a:prstDash val="solid"/>
          </a:ln>
        </p:spPr>
      </p:sp>
      <p:sp>
        <p:nvSpPr>
          <p:cNvPr id="9" name="Shape 7"/>
          <p:cNvSpPr/>
          <p:nvPr/>
        </p:nvSpPr>
        <p:spPr>
          <a:xfrm>
            <a:off x="256032" y="1042416"/>
            <a:ext cx="54864" cy="2505456"/>
          </a:xfrm>
          <a:prstGeom prst="rect">
            <a:avLst/>
          </a:prstGeom>
          <a:solidFill>
            <a:srgbClr val="1D4ED8"/>
          </a:solidFill>
          <a:ln w="12700">
            <a:solidFill>
              <a:srgbClr val="1D4ED8"/>
            </a:solidFill>
            <a:prstDash val="solid"/>
          </a:ln>
        </p:spPr>
      </p:sp>
      <p:sp>
        <p:nvSpPr>
          <p:cNvPr id="10" name="Text 8"/>
          <p:cNvSpPr/>
          <p:nvPr/>
        </p:nvSpPr>
        <p:spPr>
          <a:xfrm>
            <a:off x="384048" y="1115568"/>
            <a:ext cx="4059936" cy="2377440"/>
          </a:xfrm>
          <a:prstGeom prst="rect">
            <a:avLst/>
          </a:prstGeom>
          <a:noFill/>
          <a:ln/>
        </p:spPr>
        <p:txBody>
          <a:bodyPr wrap="square" rtlCol="0" anchor="t"/>
          <a:lstStyle/>
          <a:p>
            <a:pPr indent="0" marL="0">
              <a:buNone/>
            </a:pPr>
            <a:r>
              <a:rPr lang="en-US" sz="950" dirty="0">
                <a:solidFill>
                  <a:srgbClr val="E2E8F0"/>
                </a:solidFill>
                <a:latin typeface="Courier New" pitchFamily="34" charset="0"/>
                <a:ea typeface="Courier New" pitchFamily="34" charset="-122"/>
                <a:cs typeface="Courier New" pitchFamily="34" charset="-120"/>
              </a:rPr>
              <a:t>import requests</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import pandas as pd</a:t>
            </a:r>
            <a:endParaRPr lang="en-US" sz="950" dirty="0"/>
          </a:p>
          <a:p>
            <a:pPr indent="0" marL="0">
              <a:buNone/>
            </a:pP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def get_universities(country_name):</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base_url = "http://universities.hipolabs.com/search"</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params   = {'country': country_name}</a:t>
            </a:r>
            <a:endParaRPr lang="en-US" sz="950" dirty="0"/>
          </a:p>
          <a:p>
            <a:pPr indent="0" marL="0">
              <a:buNone/>
            </a:pP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response = requests.get(base_url, params=params)</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data     = response.json()</a:t>
            </a:r>
            <a:endParaRPr lang="en-US" sz="950" dirty="0"/>
          </a:p>
          <a:p>
            <a:pPr indent="0" marL="0">
              <a:buNone/>
            </a:pP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df = pd.DataFrame(data)</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print(df)</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return df</a:t>
            </a:r>
            <a:endParaRPr lang="en-US" sz="950" dirty="0"/>
          </a:p>
          <a:p>
            <a:pPr indent="0" marL="0">
              <a:buNone/>
            </a:pP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Try these:</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get_universities("Nepal")</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get_universities("India")</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get_universities("USA")</a:t>
            </a:r>
            <a:endParaRPr lang="en-US" sz="950" dirty="0"/>
          </a:p>
        </p:txBody>
      </p:sp>
      <p:sp>
        <p:nvSpPr>
          <p:cNvPr id="11" name="Shape 9"/>
          <p:cNvSpPr/>
          <p:nvPr/>
        </p:nvSpPr>
        <p:spPr>
          <a:xfrm>
            <a:off x="256032" y="3602736"/>
            <a:ext cx="4242816" cy="274320"/>
          </a:xfrm>
          <a:prstGeom prst="rect">
            <a:avLst/>
          </a:prstGeom>
          <a:solidFill>
            <a:srgbClr val="F0FDF4"/>
          </a:solidFill>
          <a:ln w="8890">
            <a:solidFill>
              <a:srgbClr val="15803D"/>
            </a:solidFill>
            <a:prstDash val="solid"/>
          </a:ln>
        </p:spPr>
      </p:sp>
      <p:sp>
        <p:nvSpPr>
          <p:cNvPr id="12" name="Text 10"/>
          <p:cNvSpPr/>
          <p:nvPr/>
        </p:nvSpPr>
        <p:spPr>
          <a:xfrm>
            <a:off x="365760" y="3602736"/>
            <a:ext cx="4059936" cy="274320"/>
          </a:xfrm>
          <a:prstGeom prst="rect">
            <a:avLst/>
          </a:prstGeom>
          <a:noFill/>
          <a:ln/>
        </p:spPr>
        <p:txBody>
          <a:bodyPr wrap="square" rtlCol="0" anchor="ctr"/>
          <a:lstStyle/>
          <a:p>
            <a:pPr indent="0" marL="0">
              <a:buNone/>
            </a:pPr>
            <a:r>
              <a:rPr lang="en-US" sz="950" b="1" dirty="0">
                <a:solidFill>
                  <a:srgbClr val="15803D"/>
                </a:solidFill>
              </a:rPr>
              <a:t>Result:  Returns: name, country, web_pages, domains, alpha_two_code</a:t>
            </a:r>
            <a:endParaRPr lang="en-US" sz="950" dirty="0"/>
          </a:p>
        </p:txBody>
      </p:sp>
      <p:sp>
        <p:nvSpPr>
          <p:cNvPr id="13" name="Text 11"/>
          <p:cNvSpPr/>
          <p:nvPr/>
        </p:nvSpPr>
        <p:spPr>
          <a:xfrm>
            <a:off x="4645152" y="786384"/>
            <a:ext cx="8686800" cy="256032"/>
          </a:xfrm>
          <a:prstGeom prst="rect">
            <a:avLst/>
          </a:prstGeom>
          <a:noFill/>
          <a:ln/>
        </p:spPr>
        <p:txBody>
          <a:bodyPr wrap="square" rtlCol="0" anchor="ctr"/>
          <a:lstStyle/>
          <a:p>
            <a:pPr indent="0" marL="0">
              <a:buNone/>
            </a:pPr>
            <a:r>
              <a:rPr lang="en-US" sz="1100" b="1" dirty="0">
                <a:solidFill>
                  <a:srgbClr val="B45309"/>
                </a:solidFill>
              </a:rPr>
              <a:t>Bitget Live Price API:</a:t>
            </a:r>
            <a:endParaRPr lang="en-US" sz="1100" dirty="0"/>
          </a:p>
        </p:txBody>
      </p:sp>
      <p:sp>
        <p:nvSpPr>
          <p:cNvPr id="14" name="Shape 12"/>
          <p:cNvSpPr/>
          <p:nvPr/>
        </p:nvSpPr>
        <p:spPr>
          <a:xfrm>
            <a:off x="4645152" y="1042416"/>
            <a:ext cx="4242816" cy="2505456"/>
          </a:xfrm>
          <a:prstGeom prst="rect">
            <a:avLst/>
          </a:prstGeom>
          <a:solidFill>
            <a:srgbClr val="0F172A"/>
          </a:solidFill>
          <a:ln w="6350">
            <a:solidFill>
              <a:srgbClr val="334155"/>
            </a:solidFill>
            <a:prstDash val="solid"/>
          </a:ln>
        </p:spPr>
      </p:sp>
      <p:sp>
        <p:nvSpPr>
          <p:cNvPr id="15" name="Shape 13"/>
          <p:cNvSpPr/>
          <p:nvPr/>
        </p:nvSpPr>
        <p:spPr>
          <a:xfrm>
            <a:off x="4645152" y="1042416"/>
            <a:ext cx="54864" cy="2505456"/>
          </a:xfrm>
          <a:prstGeom prst="rect">
            <a:avLst/>
          </a:prstGeom>
          <a:solidFill>
            <a:srgbClr val="1D4ED8"/>
          </a:solidFill>
          <a:ln w="12700">
            <a:solidFill>
              <a:srgbClr val="1D4ED8"/>
            </a:solidFill>
            <a:prstDash val="solid"/>
          </a:ln>
        </p:spPr>
      </p:sp>
      <p:sp>
        <p:nvSpPr>
          <p:cNvPr id="16" name="Text 14"/>
          <p:cNvSpPr/>
          <p:nvPr/>
        </p:nvSpPr>
        <p:spPr>
          <a:xfrm>
            <a:off x="4773168" y="1115568"/>
            <a:ext cx="4059936" cy="2377440"/>
          </a:xfrm>
          <a:prstGeom prst="rect">
            <a:avLst/>
          </a:prstGeom>
          <a:noFill/>
          <a:ln/>
        </p:spPr>
        <p:txBody>
          <a:bodyPr wrap="square" rtlCol="0" anchor="t"/>
          <a:lstStyle/>
          <a:p>
            <a:pPr indent="0" marL="0">
              <a:buNone/>
            </a:pPr>
            <a:r>
              <a:rPr lang="en-US" sz="950" dirty="0">
                <a:solidFill>
                  <a:srgbClr val="E2E8F0"/>
                </a:solidFill>
                <a:latin typeface="Courier New" pitchFamily="34" charset="0"/>
                <a:ea typeface="Courier New" pitchFamily="34" charset="-122"/>
                <a:cs typeface="Courier New" pitchFamily="34" charset="-120"/>
              </a:rPr>
              <a:t>import requests</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import pandas as pd</a:t>
            </a:r>
            <a:endParaRPr lang="en-US" sz="950" dirty="0"/>
          </a:p>
          <a:p>
            <a:pPr indent="0" marL="0">
              <a:buNone/>
            </a:pP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def fetch_bitget_price(symbol="BTCUSDT"):</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url = (</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"https://api.bitget.com/api/v2/"</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f"spot/market/tickers?symbol={symbol}"</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response = requests.get(url)</a:t>
            </a:r>
            <a:endParaRPr lang="en-US" sz="950" dirty="0"/>
          </a:p>
          <a:p>
            <a:pPr indent="0" marL="0">
              <a:buNone/>
            </a:pP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if response.status_code == 200:</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data        = response.json()</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ticker_list = data.get('data', [])</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df          = pd.DataFrame(ticker_list)</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return df[['symbol','lastPr',</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'high24h','low24h','ts']]</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else:</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return "Error"</a:t>
            </a:r>
            <a:endParaRPr lang="en-US" sz="950" dirty="0"/>
          </a:p>
          <a:p>
            <a:pPr indent="0" marL="0">
              <a:buNone/>
            </a:pP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print(fetch_bitget_price("BTCUSDT"))</a:t>
            </a:r>
            <a:endParaRPr lang="en-US" sz="950" dirty="0"/>
          </a:p>
        </p:txBody>
      </p:sp>
      <p:sp>
        <p:nvSpPr>
          <p:cNvPr id="17" name="Shape 15"/>
          <p:cNvSpPr/>
          <p:nvPr/>
        </p:nvSpPr>
        <p:spPr>
          <a:xfrm>
            <a:off x="4645152" y="3602736"/>
            <a:ext cx="4242816" cy="274320"/>
          </a:xfrm>
          <a:prstGeom prst="rect">
            <a:avLst/>
          </a:prstGeom>
          <a:solidFill>
            <a:srgbClr val="F0FDF4"/>
          </a:solidFill>
          <a:ln w="8890">
            <a:solidFill>
              <a:srgbClr val="15803D"/>
            </a:solidFill>
            <a:prstDash val="solid"/>
          </a:ln>
        </p:spPr>
      </p:sp>
      <p:sp>
        <p:nvSpPr>
          <p:cNvPr id="18" name="Text 16"/>
          <p:cNvSpPr/>
          <p:nvPr/>
        </p:nvSpPr>
        <p:spPr>
          <a:xfrm>
            <a:off x="4754880" y="3602736"/>
            <a:ext cx="4059936" cy="274320"/>
          </a:xfrm>
          <a:prstGeom prst="rect">
            <a:avLst/>
          </a:prstGeom>
          <a:noFill/>
          <a:ln/>
        </p:spPr>
        <p:txBody>
          <a:bodyPr wrap="square" rtlCol="0" anchor="ctr"/>
          <a:lstStyle/>
          <a:p>
            <a:pPr indent="0" marL="0">
              <a:buNone/>
            </a:pPr>
            <a:r>
              <a:rPr lang="en-US" sz="950" b="1" dirty="0">
                <a:solidFill>
                  <a:srgbClr val="15803D"/>
                </a:solidFill>
              </a:rPr>
              <a:t>Result:  Returns: symbol, lastPr, high24h, low24h, ts (live!)</a:t>
            </a:r>
            <a:endParaRPr lang="en-US" sz="950" dirty="0"/>
          </a:p>
        </p:txBody>
      </p:sp>
      <p:sp>
        <p:nvSpPr>
          <p:cNvPr id="19" name="Shape 17"/>
          <p:cNvSpPr/>
          <p:nvPr/>
        </p:nvSpPr>
        <p:spPr>
          <a:xfrm>
            <a:off x="256032" y="3950208"/>
            <a:ext cx="8631936" cy="914400"/>
          </a:xfrm>
          <a:prstGeom prst="rect">
            <a:avLst/>
          </a:prstGeom>
          <a:solidFill>
            <a:srgbClr val="F8FAFC"/>
          </a:solidFill>
          <a:ln w="12700">
            <a:solidFill>
              <a:srgbClr val="E2E8F0"/>
            </a:solidFill>
            <a:prstDash val="solid"/>
          </a:ln>
        </p:spPr>
      </p:sp>
      <p:sp>
        <p:nvSpPr>
          <p:cNvPr id="20" name="Text 18"/>
          <p:cNvSpPr/>
          <p:nvPr/>
        </p:nvSpPr>
        <p:spPr>
          <a:xfrm>
            <a:off x="347472" y="3986784"/>
            <a:ext cx="8449056" cy="237744"/>
          </a:xfrm>
          <a:prstGeom prst="rect">
            <a:avLst/>
          </a:prstGeom>
          <a:noFill/>
          <a:ln/>
        </p:spPr>
        <p:txBody>
          <a:bodyPr wrap="square" rtlCol="0" anchor="ctr"/>
          <a:lstStyle/>
          <a:p>
            <a:pPr indent="0" marL="0">
              <a:buNone/>
            </a:pPr>
            <a:r>
              <a:rPr lang="en-US" sz="1000" b="1" dirty="0">
                <a:solidFill>
                  <a:srgbClr val="1E293B"/>
                </a:solidFill>
              </a:rPr>
              <a:t>Quick comparison:</a:t>
            </a:r>
            <a:endParaRPr lang="en-US" sz="1000" dirty="0"/>
          </a:p>
        </p:txBody>
      </p:sp>
      <p:sp>
        <p:nvSpPr>
          <p:cNvPr id="21" name="Text 19"/>
          <p:cNvSpPr/>
          <p:nvPr/>
        </p:nvSpPr>
        <p:spPr>
          <a:xfrm>
            <a:off x="347472" y="4242816"/>
            <a:ext cx="1828800" cy="146304"/>
          </a:xfrm>
          <a:prstGeom prst="rect">
            <a:avLst/>
          </a:prstGeom>
          <a:noFill/>
          <a:ln/>
        </p:spPr>
        <p:txBody>
          <a:bodyPr wrap="square" rtlCol="0" anchor="ctr"/>
          <a:lstStyle/>
          <a:p>
            <a:pPr indent="0" marL="0">
              <a:buNone/>
            </a:pPr>
            <a:endParaRPr lang="en-US" sz="850" dirty="0"/>
          </a:p>
        </p:txBody>
      </p:sp>
      <p:sp>
        <p:nvSpPr>
          <p:cNvPr id="22" name="Text 20"/>
          <p:cNvSpPr/>
          <p:nvPr/>
        </p:nvSpPr>
        <p:spPr>
          <a:xfrm>
            <a:off x="2231136" y="4242816"/>
            <a:ext cx="3108960" cy="146304"/>
          </a:xfrm>
          <a:prstGeom prst="rect">
            <a:avLst/>
          </a:prstGeom>
          <a:noFill/>
          <a:ln/>
        </p:spPr>
        <p:txBody>
          <a:bodyPr wrap="square" rtlCol="0" anchor="ctr"/>
          <a:lstStyle/>
          <a:p>
            <a:pPr indent="0" marL="0">
              <a:buNone/>
            </a:pPr>
            <a:r>
              <a:rPr lang="en-US" sz="850" b="1" dirty="0">
                <a:solidFill>
                  <a:srgbClr val="15803D"/>
                </a:solidFill>
              </a:rPr>
              <a:t>Universities API</a:t>
            </a:r>
            <a:endParaRPr lang="en-US" sz="850" dirty="0"/>
          </a:p>
        </p:txBody>
      </p:sp>
      <p:sp>
        <p:nvSpPr>
          <p:cNvPr id="23" name="Text 21"/>
          <p:cNvSpPr/>
          <p:nvPr/>
        </p:nvSpPr>
        <p:spPr>
          <a:xfrm>
            <a:off x="5394960" y="4242816"/>
            <a:ext cx="3291840" cy="146304"/>
          </a:xfrm>
          <a:prstGeom prst="rect">
            <a:avLst/>
          </a:prstGeom>
          <a:noFill/>
          <a:ln/>
        </p:spPr>
        <p:txBody>
          <a:bodyPr wrap="square" rtlCol="0" anchor="ctr"/>
          <a:lstStyle/>
          <a:p>
            <a:pPr indent="0" marL="0">
              <a:buNone/>
            </a:pPr>
            <a:r>
              <a:rPr lang="en-US" sz="850" b="1" dirty="0">
                <a:solidFill>
                  <a:srgbClr val="B45309"/>
                </a:solidFill>
              </a:rPr>
              <a:t>Bitget API</a:t>
            </a:r>
            <a:endParaRPr lang="en-US" sz="850" dirty="0"/>
          </a:p>
        </p:txBody>
      </p:sp>
      <p:sp>
        <p:nvSpPr>
          <p:cNvPr id="24" name="Text 22"/>
          <p:cNvSpPr/>
          <p:nvPr/>
        </p:nvSpPr>
        <p:spPr>
          <a:xfrm>
            <a:off x="347472" y="4389120"/>
            <a:ext cx="1828800" cy="146304"/>
          </a:xfrm>
          <a:prstGeom prst="rect">
            <a:avLst/>
          </a:prstGeom>
          <a:noFill/>
          <a:ln/>
        </p:spPr>
        <p:txBody>
          <a:bodyPr wrap="square" rtlCol="0" anchor="ctr"/>
          <a:lstStyle/>
          <a:p>
            <a:pPr indent="0" marL="0">
              <a:buNone/>
            </a:pPr>
            <a:r>
              <a:rPr lang="en-US" sz="850" b="1" dirty="0">
                <a:solidFill>
                  <a:srgbClr val="475569"/>
                </a:solidFill>
              </a:rPr>
              <a:t>Data type</a:t>
            </a:r>
            <a:endParaRPr lang="en-US" sz="850" dirty="0"/>
          </a:p>
        </p:txBody>
      </p:sp>
      <p:sp>
        <p:nvSpPr>
          <p:cNvPr id="25" name="Text 23"/>
          <p:cNvSpPr/>
          <p:nvPr/>
        </p:nvSpPr>
        <p:spPr>
          <a:xfrm>
            <a:off x="2231136" y="4389120"/>
            <a:ext cx="3108960" cy="146304"/>
          </a:xfrm>
          <a:prstGeom prst="rect">
            <a:avLst/>
          </a:prstGeom>
          <a:noFill/>
          <a:ln/>
        </p:spPr>
        <p:txBody>
          <a:bodyPr wrap="square" rtlCol="0" anchor="ctr"/>
          <a:lstStyle/>
          <a:p>
            <a:pPr indent="0" marL="0">
              <a:buNone/>
            </a:pPr>
            <a:r>
              <a:rPr lang="en-US" sz="850" dirty="0">
                <a:solidFill>
                  <a:srgbClr val="475569"/>
                </a:solidFill>
              </a:rPr>
              <a:t>Static — updates rarely</a:t>
            </a:r>
            <a:endParaRPr lang="en-US" sz="850" dirty="0"/>
          </a:p>
        </p:txBody>
      </p:sp>
      <p:sp>
        <p:nvSpPr>
          <p:cNvPr id="26" name="Text 24"/>
          <p:cNvSpPr/>
          <p:nvPr/>
        </p:nvSpPr>
        <p:spPr>
          <a:xfrm>
            <a:off x="5394960" y="4389120"/>
            <a:ext cx="3291840" cy="146304"/>
          </a:xfrm>
          <a:prstGeom prst="rect">
            <a:avLst/>
          </a:prstGeom>
          <a:noFill/>
          <a:ln/>
        </p:spPr>
        <p:txBody>
          <a:bodyPr wrap="square" rtlCol="0" anchor="ctr"/>
          <a:lstStyle/>
          <a:p>
            <a:pPr indent="0" marL="0">
              <a:buNone/>
            </a:pPr>
            <a:r>
              <a:rPr lang="en-US" sz="850" dirty="0">
                <a:solidFill>
                  <a:srgbClr val="475569"/>
                </a:solidFill>
              </a:rPr>
              <a:t>Live — changes every second</a:t>
            </a:r>
            <a:endParaRPr lang="en-US" sz="850" dirty="0"/>
          </a:p>
        </p:txBody>
      </p:sp>
      <p:sp>
        <p:nvSpPr>
          <p:cNvPr id="27" name="Text 25"/>
          <p:cNvSpPr/>
          <p:nvPr/>
        </p:nvSpPr>
        <p:spPr>
          <a:xfrm>
            <a:off x="347472" y="4535424"/>
            <a:ext cx="1828800" cy="146304"/>
          </a:xfrm>
          <a:prstGeom prst="rect">
            <a:avLst/>
          </a:prstGeom>
          <a:noFill/>
          <a:ln/>
        </p:spPr>
        <p:txBody>
          <a:bodyPr wrap="square" rtlCol="0" anchor="ctr"/>
          <a:lstStyle/>
          <a:p>
            <a:pPr indent="0" marL="0">
              <a:buNone/>
            </a:pPr>
            <a:r>
              <a:rPr lang="en-US" sz="850" b="1" dirty="0">
                <a:solidFill>
                  <a:srgbClr val="475569"/>
                </a:solidFill>
              </a:rPr>
              <a:t>Power BI method</a:t>
            </a:r>
            <a:endParaRPr lang="en-US" sz="850" dirty="0"/>
          </a:p>
        </p:txBody>
      </p:sp>
      <p:sp>
        <p:nvSpPr>
          <p:cNvPr id="28" name="Text 26"/>
          <p:cNvSpPr/>
          <p:nvPr/>
        </p:nvSpPr>
        <p:spPr>
          <a:xfrm>
            <a:off x="2231136" y="4535424"/>
            <a:ext cx="3108960" cy="146304"/>
          </a:xfrm>
          <a:prstGeom prst="rect">
            <a:avLst/>
          </a:prstGeom>
          <a:noFill/>
          <a:ln/>
        </p:spPr>
        <p:txBody>
          <a:bodyPr wrap="square" rtlCol="0" anchor="ctr"/>
          <a:lstStyle/>
          <a:p>
            <a:pPr indent="0" marL="0">
              <a:buNone/>
            </a:pPr>
            <a:r>
              <a:rPr lang="en-US" sz="850" dirty="0">
                <a:solidFill>
                  <a:srgbClr val="475569"/>
                </a:solidFill>
              </a:rPr>
              <a:t>Web Connector + Parameter</a:t>
            </a:r>
            <a:endParaRPr lang="en-US" sz="850" dirty="0"/>
          </a:p>
        </p:txBody>
      </p:sp>
      <p:sp>
        <p:nvSpPr>
          <p:cNvPr id="29" name="Text 27"/>
          <p:cNvSpPr/>
          <p:nvPr/>
        </p:nvSpPr>
        <p:spPr>
          <a:xfrm>
            <a:off x="5394960" y="4535424"/>
            <a:ext cx="3291840" cy="146304"/>
          </a:xfrm>
          <a:prstGeom prst="rect">
            <a:avLst/>
          </a:prstGeom>
          <a:noFill/>
          <a:ln/>
        </p:spPr>
        <p:txBody>
          <a:bodyPr wrap="square" rtlCol="0" anchor="ctr"/>
          <a:lstStyle/>
          <a:p>
            <a:pPr indent="0" marL="0">
              <a:buNone/>
            </a:pPr>
            <a:r>
              <a:rPr lang="en-US" sz="850" dirty="0">
                <a:solidFill>
                  <a:srgbClr val="475569"/>
                </a:solidFill>
              </a:rPr>
              <a:t>Web Connector → JSON → Table</a:t>
            </a:r>
            <a:endParaRPr lang="en-US" sz="850" dirty="0"/>
          </a:p>
        </p:txBody>
      </p:sp>
      <p:sp>
        <p:nvSpPr>
          <p:cNvPr id="30" name="Text 28"/>
          <p:cNvSpPr/>
          <p:nvPr/>
        </p:nvSpPr>
        <p:spPr>
          <a:xfrm>
            <a:off x="347472" y="4681728"/>
            <a:ext cx="1828800" cy="146304"/>
          </a:xfrm>
          <a:prstGeom prst="rect">
            <a:avLst/>
          </a:prstGeom>
          <a:noFill/>
          <a:ln/>
        </p:spPr>
        <p:txBody>
          <a:bodyPr wrap="square" rtlCol="0" anchor="ctr"/>
          <a:lstStyle/>
          <a:p>
            <a:pPr indent="0" marL="0">
              <a:buNone/>
            </a:pPr>
            <a:r>
              <a:rPr lang="en-US" sz="850" b="1" dirty="0">
                <a:solidFill>
                  <a:srgbClr val="475569"/>
                </a:solidFill>
              </a:rPr>
              <a:t>Refresh?</a:t>
            </a:r>
            <a:endParaRPr lang="en-US" sz="850" dirty="0"/>
          </a:p>
        </p:txBody>
      </p:sp>
      <p:sp>
        <p:nvSpPr>
          <p:cNvPr id="31" name="Text 29"/>
          <p:cNvSpPr/>
          <p:nvPr/>
        </p:nvSpPr>
        <p:spPr>
          <a:xfrm>
            <a:off x="2231136" y="4681728"/>
            <a:ext cx="3108960" cy="146304"/>
          </a:xfrm>
          <a:prstGeom prst="rect">
            <a:avLst/>
          </a:prstGeom>
          <a:noFill/>
          <a:ln/>
        </p:spPr>
        <p:txBody>
          <a:bodyPr wrap="square" rtlCol="0" anchor="ctr"/>
          <a:lstStyle/>
          <a:p>
            <a:pPr indent="0" marL="0">
              <a:buNone/>
            </a:pPr>
            <a:r>
              <a:rPr lang="en-US" sz="850" dirty="0">
                <a:solidFill>
                  <a:srgbClr val="475569"/>
                </a:solidFill>
              </a:rPr>
              <a:t>When new universities added</a:t>
            </a:r>
            <a:endParaRPr lang="en-US" sz="850" dirty="0"/>
          </a:p>
        </p:txBody>
      </p:sp>
      <p:sp>
        <p:nvSpPr>
          <p:cNvPr id="32" name="Text 30"/>
          <p:cNvSpPr/>
          <p:nvPr/>
        </p:nvSpPr>
        <p:spPr>
          <a:xfrm>
            <a:off x="5394960" y="4681728"/>
            <a:ext cx="3291840" cy="146304"/>
          </a:xfrm>
          <a:prstGeom prst="rect">
            <a:avLst/>
          </a:prstGeom>
          <a:noFill/>
          <a:ln/>
        </p:spPr>
        <p:txBody>
          <a:bodyPr wrap="square" rtlCol="0" anchor="ctr"/>
          <a:lstStyle/>
          <a:p>
            <a:pPr indent="0" marL="0">
              <a:buNone/>
            </a:pPr>
            <a:r>
              <a:rPr lang="en-US" sz="850" dirty="0">
                <a:solidFill>
                  <a:srgbClr val="475569"/>
                </a:solidFill>
              </a:rPr>
              <a:t>Every time — prices change constantly</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2026-05-18T14:58:09Z</dcterms:created>
  <dcterms:modified xsi:type="dcterms:W3CDTF">2026-05-18T14:58:09Z</dcterms:modified>
</cp:coreProperties>
</file>