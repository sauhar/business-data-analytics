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875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188720"/>
            <a:ext cx="822960" cy="82296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371600"/>
            <a:ext cx="822960" cy="82296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" y="256032"/>
            <a:ext cx="292608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365760" y="256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SkillShikshya  |  BDA with AI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365760" y="8229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Titanic Dataset</a:t>
            </a:r>
            <a:endParaRPr lang="en-US" sz="5400" dirty="0"/>
          </a:p>
        </p:txBody>
      </p:sp>
      <p:sp>
        <p:nvSpPr>
          <p:cNvPr id="10" name="Text 5"/>
          <p:cNvSpPr/>
          <p:nvPr/>
        </p:nvSpPr>
        <p:spPr>
          <a:xfrm>
            <a:off x="365760" y="1691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9C12"/>
                </a:solidFill>
              </a:rPr>
              <a:t>Power Query + DAX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365760" y="22860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8DC"/>
                </a:solidFill>
              </a:rPr>
              <a:t>Complete Teaching Guide — Cleaning, Transformation &amp; Analysis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65760" y="2880360"/>
            <a:ext cx="1600200" cy="777240"/>
          </a:xfrm>
          <a:prstGeom prst="rect">
            <a:avLst/>
          </a:prstGeom>
          <a:solidFill>
            <a:srgbClr val="12263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65760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418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65760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5D8DC"/>
                </a:solidFill>
              </a:rPr>
              <a:t>Passengers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084832" y="2880360"/>
            <a:ext cx="1600200" cy="777240"/>
          </a:xfrm>
          <a:prstGeom prst="rect">
            <a:avLst/>
          </a:prstGeom>
          <a:solidFill>
            <a:srgbClr val="12263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2084832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12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2084832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5D8DC"/>
                </a:solidFill>
              </a:rPr>
              <a:t>Columns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803904" y="2880360"/>
            <a:ext cx="1600200" cy="777240"/>
          </a:xfrm>
          <a:prstGeom prst="rect">
            <a:avLst/>
          </a:prstGeom>
          <a:solidFill>
            <a:srgbClr val="12263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803904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86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3803904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5D8DC"/>
                </a:solidFill>
              </a:rPr>
              <a:t>Missing Ages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522976" y="2880360"/>
            <a:ext cx="1600200" cy="777240"/>
          </a:xfrm>
          <a:prstGeom prst="rect">
            <a:avLst/>
          </a:prstGeom>
          <a:solidFill>
            <a:srgbClr val="12263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522976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327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5522976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5D8DC"/>
                </a:solidFill>
              </a:rPr>
              <a:t>Missing Cabin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42048" y="2880360"/>
            <a:ext cx="1600200" cy="777240"/>
          </a:xfrm>
          <a:prstGeom prst="rect">
            <a:avLst/>
          </a:prstGeom>
          <a:solidFill>
            <a:srgbClr val="12263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242048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36%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7242048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5D8DC"/>
                </a:solidFill>
              </a:rPr>
              <a:t>Survival Rate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65760" y="4434840"/>
            <a:ext cx="8412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Part 1: Power Query — 9 Cleaning Steps  </a:t>
            </a:r>
            <a:r>
              <a:rPr lang="en-US" sz="1050" dirty="0">
                <a:solidFill>
                  <a:srgbClr val="FFFFFF"/>
                </a:solidFill>
              </a:rPr>
              <a:t>|  Part 2: DAX — 12 Measures  |  Part 3: 8 Visuals + Dashboard  </a:t>
            </a:r>
            <a:r>
              <a:rPr lang="en-US" sz="1050" dirty="0">
                <a:solidFill>
                  <a:srgbClr val="D5D8DC"/>
                </a:solidFill>
              </a:rPr>
              <a:t>|  Part 4: Class Discussion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</a:rPr>
              <a:t>Understanding the Titanic Dataset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</a:rPr>
              <a:t>Before we touch Power BI — explain every column to students first!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1207008"/>
            <a:ext cx="8686800" cy="365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2070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Column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45920" y="1207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 Name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154680" y="1207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Type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06240" y="1207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Nulls?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23560" y="1207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It Means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8600" y="1572768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157276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PassengerId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45920" y="157276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Passenger ID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154680" y="1627632"/>
            <a:ext cx="822960" cy="182880"/>
          </a:xfrm>
          <a:prstGeom prst="rect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54680" y="16276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BC9C"/>
                </a:solidFill>
              </a:rPr>
              <a:t>Number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206240" y="1572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23560" y="157276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Row ID — not useful for analysis, will remove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28600" y="1874520"/>
            <a:ext cx="8686800" cy="301752"/>
          </a:xfrm>
          <a:prstGeom prst="rect">
            <a:avLst/>
          </a:prstGeom>
          <a:solidFill>
            <a:srgbClr val="F0F3F6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18745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645920" y="187452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Survival Status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154680" y="1929384"/>
            <a:ext cx="822960" cy="182880"/>
          </a:xfrm>
          <a:prstGeom prst="rect">
            <a:avLst/>
          </a:prstGeom>
          <a:solidFill>
            <a:srgbClr val="F39C12">
              <a:alpha val="2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54680" y="1929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39C12"/>
                </a:solidFill>
              </a:rPr>
              <a:t>0 or 1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206240" y="187452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623560" y="187452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0 = Did not survive,  1 = Survived  ← KEY column!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28600" y="2176272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21762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Pclass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45920" y="217627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Passenger Class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154680" y="2231136"/>
            <a:ext cx="822960" cy="182880"/>
          </a:xfrm>
          <a:prstGeom prst="rect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154680" y="2231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BC9C"/>
                </a:solidFill>
              </a:rPr>
              <a:t>Number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206240" y="21762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623560" y="217627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1 = First Class,  2 = Second,  3 = Third (economy)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28600" y="2478024"/>
            <a:ext cx="8686800" cy="301752"/>
          </a:xfrm>
          <a:prstGeom prst="rect">
            <a:avLst/>
          </a:prstGeom>
          <a:solidFill>
            <a:srgbClr val="F0F3F6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4320" y="24780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645920" y="2478024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Full Name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154680" y="2532888"/>
            <a:ext cx="822960" cy="182880"/>
          </a:xfrm>
          <a:prstGeom prst="rect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154680" y="2532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6C1"/>
                </a:solidFill>
              </a:rPr>
              <a:t>Text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206240" y="24780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623560" y="247802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Contains title (Mr, Mrs, Miss) — we'll extract it!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28600" y="2779776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274320" y="27797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645920" y="277977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Gender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154680" y="2834640"/>
            <a:ext cx="822960" cy="182880"/>
          </a:xfrm>
          <a:prstGeom prst="rect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154680" y="2834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6C1"/>
                </a:solidFill>
              </a:rPr>
              <a:t>Text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206240" y="277977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5623560" y="2779776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"male" or "female" — important for survival analysis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228600" y="3081528"/>
            <a:ext cx="8686800" cy="301752"/>
          </a:xfrm>
          <a:prstGeom prst="rect">
            <a:avLst/>
          </a:prstGeom>
          <a:solidFill>
            <a:srgbClr val="F0F3F6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74320" y="308152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645920" y="308152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Age in Years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154680" y="3136392"/>
            <a:ext cx="822960" cy="182880"/>
          </a:xfrm>
          <a:prstGeom prst="rect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154680" y="3136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BC9C"/>
                </a:solidFill>
              </a:rPr>
              <a:t>Number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4206240" y="308152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4C3C"/>
                </a:solidFill>
              </a:rPr>
              <a:t>86 missing!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5623560" y="308152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Passenger age — has nulls we must fix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228600" y="3383280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274320" y="338328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SibSp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645920" y="338328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Siblings/Spouse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154680" y="3438144"/>
            <a:ext cx="822960" cy="182880"/>
          </a:xfrm>
          <a:prstGeom prst="rect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3154680" y="34381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BC9C"/>
                </a:solidFill>
              </a:rPr>
              <a:t>Number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206240" y="338328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623560" y="338328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Number of siblings or spouse on board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228600" y="3685032"/>
            <a:ext cx="8686800" cy="301752"/>
          </a:xfrm>
          <a:prstGeom prst="rect">
            <a:avLst/>
          </a:prstGeom>
          <a:solidFill>
            <a:srgbClr val="F0F3F6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74320" y="36850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Parch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645920" y="368503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Parents/Children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3154680" y="3739896"/>
            <a:ext cx="822960" cy="182880"/>
          </a:xfrm>
          <a:prstGeom prst="rect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3154680" y="37398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BC9C"/>
                </a:solidFill>
              </a:rPr>
              <a:t>Number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4206240" y="368503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623560" y="368503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Number of parents or children on board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228600" y="3986784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274320" y="398678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1645920" y="3986784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Ticket Price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154680" y="4041648"/>
            <a:ext cx="822960" cy="182880"/>
          </a:xfrm>
          <a:prstGeom prst="rect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3154680" y="40416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BC9C"/>
                </a:solidFill>
              </a:rPr>
              <a:t>Number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206240" y="3986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1 missing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5623560" y="398678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How much they paid — higher fare = wealthier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228600" y="4288536"/>
            <a:ext cx="8686800" cy="301752"/>
          </a:xfrm>
          <a:prstGeom prst="rect">
            <a:avLst/>
          </a:prstGeom>
          <a:solidFill>
            <a:srgbClr val="F0F3F6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274320" y="428853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Cabin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645920" y="428853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Cabin Number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3154680" y="4343400"/>
            <a:ext cx="822960" cy="182880"/>
          </a:xfrm>
          <a:prstGeom prst="rect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3154680" y="4343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6C1"/>
                </a:solidFill>
              </a:rPr>
              <a:t>Text</a:t>
            </a:r>
            <a:endParaRPr lang="en-US" sz="750" dirty="0"/>
          </a:p>
        </p:txBody>
      </p:sp>
      <p:sp>
        <p:nvSpPr>
          <p:cNvPr id="80" name="Text 77"/>
          <p:cNvSpPr/>
          <p:nvPr/>
        </p:nvSpPr>
        <p:spPr>
          <a:xfrm>
            <a:off x="4206240" y="428853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4C3C"/>
                </a:solidFill>
              </a:rPr>
              <a:t>327 missing!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5623560" y="4288536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78% empty — will remove this column entirely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228600" y="4590288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274320" y="459028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Embarked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1645920" y="459028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</a:rPr>
              <a:t>Port of Embarkation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3154680" y="4645152"/>
            <a:ext cx="822960" cy="182880"/>
          </a:xfrm>
          <a:prstGeom prst="rect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3154680" y="46451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6C1"/>
                </a:solidFill>
              </a:rPr>
              <a:t>Text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4206240" y="459028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None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5623560" y="459028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C=Cherbourg  Q=Queenstown  S=Southampton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BC9C"/>
                </a:solidFill>
              </a:rPr>
              <a:t>Part 1 — Power Query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51560" y="896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8DC"/>
                </a:solidFill>
              </a:rPr>
              <a:t>9 Steps to Clean the Titanic Dataset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0"/>
            <a:ext cx="859536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to Open Power Query:  Home Tab  →  Transform Data  →  Power Query Editor opens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202996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202996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202996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202996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 Data Types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82112" y="202996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82112" y="202996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82112" y="202996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12464" y="202996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Remove Useless Columns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9904" y="202996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89904" y="202996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89904" y="202996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20256" y="202996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Fill Missing Ages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99008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74320" y="299008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" y="29900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" y="299008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Fill Missing Fare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82112" y="299008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182112" y="299008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182112" y="29900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712464" y="299008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AgeGroup Column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89904" y="299008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89904" y="299008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089904" y="29900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620256" y="299008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FamilySize Column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395020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74320" y="395020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4320" y="395020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07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04672" y="395020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TravelAlone Column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182112" y="395020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182112" y="395020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182112" y="395020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08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712464" y="395020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 Title from Name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089904" y="3950208"/>
            <a:ext cx="2743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089904" y="3950208"/>
            <a:ext cx="45720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089904" y="395020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09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620256" y="3950208"/>
            <a:ext cx="212140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Replace Embarked Codes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After all 9 steps → Home Tab → Close &amp; Apply → Clean data loads into Power BI model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BC9C"/>
                </a:solidFill>
              </a:rPr>
              <a:t>Power Query — Steps 1 to 3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640080" cy="1261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640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Fix Data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Power BI sometimes imports numbers as text. Wrong type = wrong calculations!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09344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5910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Click the ABC/123 icon next to each column header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171907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PassengerId, Pclass, Survived, SibSp, Parch  →  Whole Number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65376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18470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Age, Fare  →  Decimal Number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93392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19751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Name, Sex, Ticket, Cabin, Embarked  →  Text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852160" y="987552"/>
            <a:ext cx="2926080" cy="1097280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5897880" y="1097280"/>
            <a:ext cx="2834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Fix data types FIRST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before any other step.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Wrong types cause silent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calculation errors.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228600" y="2286000"/>
            <a:ext cx="8686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228600" y="2286000"/>
            <a:ext cx="640080" cy="1261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228600" y="2286000"/>
            <a:ext cx="640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02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60120" y="23591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Remove Useless Columns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6012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PassengerId, Ticket, Cabin are not useful. Cabin is 78% empty — pointless to keep!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80944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43000" y="29626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Hold Ctrl and click: PassengerId, Ticket, Cabin</a:t>
            </a:r>
            <a:endParaRPr lang="en-US" sz="9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08960"/>
            <a:ext cx="146304" cy="1463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43000" y="309067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Right-click any selected column</a:t>
            </a:r>
            <a:endParaRPr lang="en-US" sz="9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146304" cy="1463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43000" y="32186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Choose "Remove Columns"</a:t>
            </a:r>
            <a:endParaRPr lang="en-US" sz="9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64992"/>
            <a:ext cx="146304" cy="14630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33467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You now have 9 clean, useful columns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5852160" y="2359152"/>
            <a:ext cx="2926080" cy="109728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377440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897880" y="2651760"/>
            <a:ext cx="2834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3E50"/>
                </a:solidFill>
              </a:rPr>
              <a:t>CONCEPT: "Dropping a high-null column" — Cabin has 327/418 rows missing (78%). Rule of thumb: if &gt;50% null, remove the column.</a:t>
            </a:r>
            <a:endParaRPr lang="en-US" sz="850" dirty="0"/>
          </a:p>
        </p:txBody>
      </p:sp>
      <p:sp>
        <p:nvSpPr>
          <p:cNvPr id="35" name="Shape 24"/>
          <p:cNvSpPr/>
          <p:nvPr/>
        </p:nvSpPr>
        <p:spPr>
          <a:xfrm>
            <a:off x="228600" y="3657600"/>
            <a:ext cx="8686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5"/>
          <p:cNvSpPr/>
          <p:nvPr/>
        </p:nvSpPr>
        <p:spPr>
          <a:xfrm>
            <a:off x="228600" y="3657600"/>
            <a:ext cx="640080" cy="1261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6"/>
          <p:cNvSpPr/>
          <p:nvPr/>
        </p:nvSpPr>
        <p:spPr>
          <a:xfrm>
            <a:off x="228600" y="3657600"/>
            <a:ext cx="640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03</a:t>
            </a:r>
            <a:endParaRPr lang="en-US" sz="1800" dirty="0"/>
          </a:p>
        </p:txBody>
      </p:sp>
      <p:sp>
        <p:nvSpPr>
          <p:cNvPr id="38" name="Text 27"/>
          <p:cNvSpPr/>
          <p:nvPr/>
        </p:nvSpPr>
        <p:spPr>
          <a:xfrm>
            <a:off x="960120" y="37307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Fill Missing Age Values (86 nulls)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960120" y="4041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86 passengers have no age. We can't delete rows — that removes real data. We fill with average.</a:t>
            </a:r>
            <a:endParaRPr lang="en-US" sz="9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52544"/>
            <a:ext cx="146304" cy="14630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143000" y="43342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Click the Age column header</a:t>
            </a:r>
            <a:endParaRPr lang="en-US" sz="9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80560"/>
            <a:ext cx="146304" cy="146304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1143000" y="446227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Right-click → Replace Values</a:t>
            </a:r>
            <a:endParaRPr lang="en-US" sz="9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608576"/>
            <a:ext cx="146304" cy="146304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1143000" y="45902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Value to find: null   |   Replace with: 29.88</a:t>
            </a:r>
            <a:endParaRPr lang="en-US" sz="9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36592"/>
            <a:ext cx="146304" cy="146304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143000" y="47183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Click OK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5852160" y="3730752"/>
            <a:ext cx="2926080" cy="109728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749040"/>
            <a:ext cx="256032" cy="256032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5897880" y="4023360"/>
            <a:ext cx="2834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3E50"/>
                </a:solidFill>
              </a:rPr>
              <a:t>CONCEPT: "Mean Imputation" — replacing nulls with the average value. Most common data cleaning technique in real-world analytics.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BC9C"/>
                </a:solidFill>
              </a:rPr>
              <a:t>Power Query — Steps 4 to 6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64008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Fill Missing Fare (1 null)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Only 1 passenger has no fare. Simple fix — replace null with 0.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Click Fare column  →  Right-click → Replace Values  →  null  →  0  →  OK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51760" cy="621792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1005840"/>
            <a:ext cx="25603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Result: Fare column has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zero null values 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783080"/>
            <a:ext cx="8686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1783080"/>
            <a:ext cx="64008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178308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18562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Create AgeGroup Column  (Conditional Column)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1579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Raw ages are hard to chart. Group into 4 buckets for cleaner visuals.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24048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Add Column tab  →  Conditional Column  →  Name: AgeGroup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2651760"/>
            <a:ext cx="1828800" cy="530352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8A"/>
                </a:solidFill>
              </a:rPr>
              <a:t>If Age &lt; 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→ "Child"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98648" y="2651760"/>
            <a:ext cx="1828800" cy="530352"/>
          </a:xfrm>
          <a:prstGeom prst="rect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898648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C9C"/>
                </a:solidFill>
              </a:rPr>
              <a:t>Elif  &lt; 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98648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→ "Young Adult"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37176" y="2651760"/>
            <a:ext cx="1828800" cy="530352"/>
          </a:xfrm>
          <a:prstGeom prst="rect">
            <a:avLst/>
          </a:prstGeom>
          <a:solidFill>
            <a:srgbClr val="F39C12">
              <a:alpha val="2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37176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39C12"/>
                </a:solidFill>
              </a:rPr>
              <a:t>Elif &lt; 60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37176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→ "Adult"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75704" y="2651760"/>
            <a:ext cx="1828800" cy="530352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75704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Else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75704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→ "Senior"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236976"/>
            <a:ext cx="8686800" cy="27432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2369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</a:rPr>
              <a:t>CONCEPT: Feature Engineering — creating a new, more useful column from an existing one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584448"/>
            <a:ext cx="8686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8600" y="3584448"/>
            <a:ext cx="64008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8600" y="3584448"/>
            <a:ext cx="640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" y="365760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Create FamilySize Column  (Custom Column)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39593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Instead of looking at SibSp and Parch separately, combine them into one FamilySize column.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" y="4206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Add Column tab  →  Custom Column  →  Name: FamilySize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0120" y="4434840"/>
            <a:ext cx="50292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51560" y="4434840"/>
            <a:ext cx="4846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[SibSp] + [Parch] + 1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080760" y="44622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</a:rPr>
              <a:t>(+1 counts the passenger themselves)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BC9C"/>
                </a:solidFill>
              </a:rPr>
              <a:t>Power Query — Steps 7 to 9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6400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Create TravelAlone Column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25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A Yes/No flag — did this passenger travel alone? Makes survival comparison easy.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Add Column  →  Conditional Column  →  Name: TravelAlone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66360" y="932688"/>
            <a:ext cx="36118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57800" y="932688"/>
            <a:ext cx="3429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FamilySize = 1  →  "Yes"
</a:t>
            </a:r>
            <a:r>
              <a:rPr lang="en-US" sz="1100" dirty="0">
                <a:solidFill>
                  <a:srgbClr val="D5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→  "No"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984248"/>
            <a:ext cx="8686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1984248"/>
            <a:ext cx="6400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198424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0482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Extract Title from Name Column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3408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Names contain social titles (Mr, Mrs, Miss, Master, Dr) — valuable for analysis!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" y="2596896"/>
            <a:ext cx="43891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25968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column:  </a:t>
            </a:r>
            <a:r>
              <a:rPr lang="en-US" sz="10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"Kelly, Mr. James"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Add Column  →  Custom Column  →  Name: Title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" y="3145536"/>
            <a:ext cx="43891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" y="3145536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Text.BetweenDelimiters([Name], ", ", ".")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40680" y="2596896"/>
            <a:ext cx="3383280" cy="100584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r>
              <a:rPr lang="en-US" sz="800" dirty="0"/>
              <a:t>If we want to remove “ from the name: Add Column → Custom Column</a:t>
            </a:r>
          </a:p>
          <a:p>
            <a:r>
              <a:rPr lang="en-US" sz="800" dirty="0" err="1"/>
              <a:t>CleanedName</a:t>
            </a:r>
            <a:r>
              <a:rPr lang="en-US" sz="800" dirty="0"/>
              <a:t> =&gt; </a:t>
            </a:r>
            <a:r>
              <a:rPr lang="en-US" sz="800" dirty="0" err="1"/>
              <a:t>Text.Replace</a:t>
            </a:r>
            <a:r>
              <a:rPr lang="en-US" sz="800" dirty="0"/>
              <a:t>([Name], """", "")</a:t>
            </a:r>
          </a:p>
        </p:txBody>
      </p:sp>
      <p:sp>
        <p:nvSpPr>
          <p:cNvPr id="24" name="Text 21"/>
          <p:cNvSpPr/>
          <p:nvPr/>
        </p:nvSpPr>
        <p:spPr>
          <a:xfrm>
            <a:off x="5486400" y="2907792"/>
            <a:ext cx="32461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3E50"/>
                </a:solidFill>
              </a:rPr>
              <a:t>CONCEPT: Text Parsing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2C3E50"/>
                </a:solidFill>
              </a:rPr>
              <a:t>Extracts the word between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2C3E50"/>
                </a:solidFill>
              </a:rPr>
              <a:t>", " and "." from each name.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2C3E50"/>
                </a:solidFill>
              </a:rPr>
              <a:t>"Kelly, Mr. James"  →  "Mr"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28600" y="3822192"/>
            <a:ext cx="8686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28600" y="3822192"/>
            <a:ext cx="64008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28600" y="3822192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09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60120" y="3886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Replace Embarked Codes with City Names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0120" y="41788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"C", "Q", "S" are confusing on charts. Replace with real city names We can do it from </a:t>
            </a:r>
            <a:r>
              <a:rPr lang="en-US" sz="900" i="1">
                <a:solidFill>
                  <a:srgbClr val="7F8C8D"/>
                </a:solidFill>
              </a:rPr>
              <a:t>the Conditional Column.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60120" y="4434840"/>
            <a:ext cx="24231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05840" y="44348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  →  "Cherbourg"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566160" y="4434840"/>
            <a:ext cx="24231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611880" y="44348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"Q"  →  "Queenstown"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72200" y="4434840"/>
            <a:ext cx="24231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217920" y="44348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  →  "Southampton"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60120" y="490118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Right-click Embarked  →  Replace Values  →  repeat 3 times  →  Close &amp; Apply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</a:rPr>
              <a:t>Part 2 — DAX Formulas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51560" y="896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D8DC"/>
                </a:solidFill>
              </a:rPr>
              <a:t>12 Measures &amp; Calculated Columns for Titanic Analysis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353312"/>
            <a:ext cx="859536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DAX = Data Analysis Expressions.  </a:t>
            </a:r>
            <a:r>
              <a:rPr lang="en-US" sz="1200" dirty="0">
                <a:solidFill>
                  <a:srgbClr val="FFFFFF"/>
                </a:solidFill>
              </a:rPr>
              <a:t>The formula language in Power BI — like Excel formulas but made for data models.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2057400"/>
            <a:ext cx="41148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How to Write a Measure: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423160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404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Modeling tab  →  New Measure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606040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Formula bar appears at the top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8892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Type your formula and press Enter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71800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8640" y="2953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Measure appears in the Fields panel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54680"/>
            <a:ext cx="146304" cy="14630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8640" y="3136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Drag it onto any visual like a column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572000" y="2057400"/>
            <a:ext cx="4297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46634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Measure vs Calculated Column: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663440" y="2423160"/>
            <a:ext cx="4023360" cy="43891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4709160" y="2423160"/>
            <a:ext cx="39319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39C12"/>
                </a:solidFill>
              </a:rPr>
              <a:t>MEASURE: </a:t>
            </a:r>
            <a:r>
              <a:rPr lang="en-US" sz="850" dirty="0">
                <a:solidFill>
                  <a:srgbClr val="D5D8DC"/>
                </a:solidFill>
              </a:rPr>
              <a:t>Calculated when used in a visual. Lives in Fields panel, not in the table. Use for KPIs &amp; aggregations.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4663440" y="2898648"/>
            <a:ext cx="4023360" cy="438912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4709160" y="2898648"/>
            <a:ext cx="39319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BC9C"/>
                </a:solidFill>
              </a:rPr>
              <a:t>CALCULATED COLUMN: </a:t>
            </a:r>
            <a:r>
              <a:rPr lang="en-US" sz="850" dirty="0">
                <a:solidFill>
                  <a:srgbClr val="D5D8DC"/>
                </a:solidFill>
              </a:rPr>
              <a:t>Computed row-by-row and stored in the table. Right-click table → New Column.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274320" y="35478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5D8DC"/>
                </a:solidFill>
              </a:rPr>
              <a:t>12 Formulas We'll Write: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274320" y="385876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32004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Total Passengers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2487168" y="385876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2532888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Total Survived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4700016" y="385876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4745736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Survival Rate %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6912864" y="385876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6958584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Average Age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274320" y="417880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320040" y="4178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Average Fare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2487168" y="417880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2532888" y="4178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Female Survival Rate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700016" y="417880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4745736" y="4178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1st Class Survival Rate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6912864" y="417880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6958584" y="4178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Total Fare Collected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274320" y="449884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320040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Child Count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2487168" y="4498848"/>
            <a:ext cx="2103120" cy="256032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2532888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Survival Status (Col)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4700016" y="4498848"/>
            <a:ext cx="2103120" cy="256032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4745736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Class Label (Col)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6912864" y="4498848"/>
            <a:ext cx="2103120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6958584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</a:rPr>
              <a:t>Dynamic Survival Rate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(Col) = Calculated Column,  rest are Measures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</a:rPr>
              <a:t>DAX Measures 1–4  |  Basic Aggregations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594360" cy="20299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86968"/>
            <a:ext cx="5943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886968"/>
            <a:ext cx="365760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8869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Passengers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1261872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96012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Result: 418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968" y="1362456"/>
            <a:ext cx="34747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362456"/>
            <a:ext cx="33375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Passengers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COUNTROWS( titanic_dataset 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6968" y="2368296"/>
            <a:ext cx="3474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Use on a Card visual. COUNTROWS counts every row in the table.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90872" y="886968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90872" y="886968"/>
            <a:ext cx="594360" cy="20299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886968"/>
            <a:ext cx="5943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85232" y="886968"/>
            <a:ext cx="365760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49240" y="8869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Survived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6952" y="960120"/>
            <a:ext cx="1261872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16952" y="96012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Result: 152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1362456"/>
            <a:ext cx="34747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22392" y="1362456"/>
            <a:ext cx="33375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Survived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COUNTROWS( titanic_dataset 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titanic_dataset[Survived] =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49240" y="2368296"/>
            <a:ext cx="3474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CALCULATE changes the filter. Only counts rows WHERE Survived = 1.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008376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3008376"/>
            <a:ext cx="594360" cy="20299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3008376"/>
            <a:ext cx="5943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3008376"/>
            <a:ext cx="365760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6968" y="30083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Survival Rate 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4680" y="3081528"/>
            <a:ext cx="1261872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54680" y="308152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Result: 36.4%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6968" y="3483864"/>
            <a:ext cx="34747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3483864"/>
            <a:ext cx="33375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Survival Rate %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DIVIDE(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[Total Survived],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[Total Passengers],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86968" y="4489704"/>
            <a:ext cx="3474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DIVIDE is safer than / — handles divide-by-zero. Format as Percentage in Format pane.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90872" y="3008376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90872" y="3008376"/>
            <a:ext cx="594360" cy="20299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90872" y="3008376"/>
            <a:ext cx="5943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85232" y="3008376"/>
            <a:ext cx="365760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49240" y="30083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Average Age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16952" y="3081528"/>
            <a:ext cx="1261872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16952" y="308152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Result: ~29.9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49240" y="3483864"/>
            <a:ext cx="34747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22392" y="3483864"/>
            <a:ext cx="33375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Age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AVERAGE( titanic_dataset[Age] 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49240" y="4489704"/>
            <a:ext cx="3474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Simple AVERAGE — most basic aggregation. Also try MAX( ) and MIN( ) for practice.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</a:rPr>
              <a:t>DAX Measures 5–8  |  CALCULATE in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475488"/>
          </a:xfrm>
          <a:prstGeom prst="rect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</a:rPr>
              <a:t>Key Concept — CALCULATE( expression, filter1, filter2... ):  </a:t>
            </a:r>
            <a:r>
              <a:rPr lang="en-US" sz="1050" i="1" dirty="0">
                <a:solidFill>
                  <a:srgbClr val="2C3E50"/>
                </a:solidFill>
              </a:rPr>
              <a:t>"Evaluate this formula BUT ONLY for rows that match the filter." — the most powerful DAX function!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435608"/>
            <a:ext cx="425196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435608"/>
            <a:ext cx="594360" cy="1764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435608"/>
            <a:ext cx="5943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435608"/>
            <a:ext cx="365760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1435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Female Survival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90472"/>
            <a:ext cx="1170432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4904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~72%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86968" y="1856232"/>
            <a:ext cx="34747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1856232"/>
            <a:ext cx="3337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Survival Rate 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DIVIDE(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CALCULATE( COUNTROWS(titanic_dataset),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titanic_dataset[Sex] = "female",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titanic_dataset[Survived] = 1 ),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CALCULATE( COUNTROWS(titanic_dataset),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titanic_dataset[Sex] = "female" 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86968" y="2752344"/>
            <a:ext cx="3474720" cy="384048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C3E50"/>
                </a:solidFill>
              </a:rPr>
              <a:t>💡 Women survived at 72% vs men at 17% — reflects 'women and children first' evacuation policy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90872" y="1435608"/>
            <a:ext cx="425196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90872" y="1435608"/>
            <a:ext cx="594360" cy="1764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90872" y="1435608"/>
            <a:ext cx="5943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85232" y="1435608"/>
            <a:ext cx="365760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1435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1st Class Survival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08392" y="1490472"/>
            <a:ext cx="1170432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08392" y="14904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~63%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856232"/>
            <a:ext cx="34747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22392" y="1856232"/>
            <a:ext cx="3337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Class Survived 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COUNTROWS(titanic_dataset),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titanic_dataset[Pclass] = 1,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titanic_dataset[Survived] = 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similar for Pclass=2 and Pclass=3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49240" y="2752344"/>
            <a:ext cx="3474720" cy="384048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04104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C3E50"/>
                </a:solidFill>
              </a:rPr>
              <a:t>💡 1st class: 63%  |  2nd: 47%  |  3rd: 24% — wealth affected survival chances!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3282696"/>
            <a:ext cx="425196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3282696"/>
            <a:ext cx="594360" cy="1764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" y="3282696"/>
            <a:ext cx="5943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3282696"/>
            <a:ext cx="365760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6968" y="32826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Fare Collected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3337560"/>
            <a:ext cx="1170432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46120" y="33375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~$13,459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6968" y="3703320"/>
            <a:ext cx="34747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0120" y="3703320"/>
            <a:ext cx="3337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Fare Collected 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 titanic_dataset[Fare] 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86968" y="4599432"/>
            <a:ext cx="3474720" cy="384048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1832" y="4599432"/>
            <a:ext cx="3383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C3E50"/>
                </a:solidFill>
              </a:rPr>
              <a:t>💡 SUM — the simplest aggregation. Shows total revenue from all passengers.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90872" y="3282696"/>
            <a:ext cx="425196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90872" y="3282696"/>
            <a:ext cx="594360" cy="1764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90872" y="3282696"/>
            <a:ext cx="5943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M8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285232" y="3282696"/>
            <a:ext cx="365760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49240" y="32826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Child Count (FILTER pattern)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08392" y="3337560"/>
            <a:ext cx="1170432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08392" y="33375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Count of &lt;13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49240" y="3703320"/>
            <a:ext cx="34747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22392" y="3703320"/>
            <a:ext cx="3337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Count 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COUNTROWS(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titanic_dataset,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titanic_dataset[Age] &lt; 13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349240" y="4599432"/>
            <a:ext cx="3474720" cy="384048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04104" y="4599432"/>
            <a:ext cx="3383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C3E50"/>
                </a:solidFill>
              </a:rPr>
              <a:t>💡 FILTER creates a temporary sub-table of matching rows. COUNTROWS counts them. Like SQL WHERE clause.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39C12"/>
                </a:solidFill>
              </a:rPr>
              <a:t>DAX 9–12  |  Calculated Columns + Dynamic Measure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8686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59436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96112"/>
            <a:ext cx="594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</a:rPr>
              <a:t>C1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896112"/>
            <a:ext cx="832104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</a:rPr>
              <a:t>Survival Status  (Calculated Column — right-click table → New Column)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316736"/>
            <a:ext cx="50292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316736"/>
            <a:ext cx="4892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Survival Status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 titanic_dataset[Survived] = 1, "Survived", "Did Not Survive" 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316736"/>
            <a:ext cx="2926080" cy="804672"/>
          </a:xfrm>
          <a:prstGeom prst="rect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9320" y="1316736"/>
            <a:ext cx="28346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Now pie charts show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"Survived" / "Did Not Survive"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instead of 0 /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→ Much more readable!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286000"/>
            <a:ext cx="8686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59436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2286000"/>
            <a:ext cx="594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</a:rPr>
              <a:t>C2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286000"/>
            <a:ext cx="832104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286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</a:rPr>
              <a:t>Class Name  (Calculated Column — SWITCH function)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2706624"/>
            <a:ext cx="50292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2706624"/>
            <a:ext cx="4892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SWITCH( titanic_dataset[Pclass],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1, "1st Class",  2, "2nd Class",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3, "3rd Class",  "Unknown" 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2706624"/>
            <a:ext cx="2926080" cy="80467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2706624"/>
            <a:ext cx="28346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SWITCH = cleaner than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nested IF when checking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one column against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multiple values.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675888"/>
            <a:ext cx="86868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3675888"/>
            <a:ext cx="594360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3675888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M12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7307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Dynamic Survival Rate — The Magic Measure! 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4078224"/>
            <a:ext cx="43891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2688" y="4078224"/>
            <a:ext cx="4251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Survival Rate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DIVIDE(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CALCULATE( COUNTROWS(titanic_dataset), titanic_dataset[Survived]=1 ),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COUNTROWS( titanic_dataset ), 0 )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4078224"/>
            <a:ext cx="3474720" cy="86868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0" y="4078224"/>
            <a:ext cx="33832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Put Sex on X axis → shows male vs female rate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Put Class Name on X → shows by class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Put AgeGroup on X → shows by 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ONE measure — works everywhere!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39C12"/>
                </a:solidFill>
              </a:rPr>
              <a:t>Part 3 — 8 Visuals to Build in Class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91440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" y="914400"/>
            <a:ext cx="210312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🃏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1752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KPI Cards (×4)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1752" y="1801368"/>
            <a:ext cx="1965960" cy="228600"/>
          </a:xfrm>
          <a:prstGeom prst="rect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1752" y="1801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8A"/>
                </a:solidFill>
              </a:rPr>
              <a:t>Always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0040" y="2075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—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0040" y="2286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Total Passengers, Survived, Rate%, Avg Age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441448" y="91440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41448" y="914400"/>
            <a:ext cx="21031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41448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🥧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51460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Survival Breakdown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14600" y="1801368"/>
            <a:ext cx="1965960" cy="228600"/>
          </a:xfrm>
          <a:prstGeom prst="rect">
            <a:avLst/>
          </a:prstGeom>
          <a:solidFill>
            <a:srgbClr val="1ABC9C">
              <a:alpha val="1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14600" y="1801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BC9C"/>
                </a:solidFill>
              </a:rPr>
              <a:t>Parts of whole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32888" y="2075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Survival Status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532888" y="2286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Count of rows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654296" y="91440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54296" y="914400"/>
            <a:ext cx="21031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54296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727448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Survival by Gender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27448" y="1801368"/>
            <a:ext cx="1965960" cy="22860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27448" y="1801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</a:rPr>
              <a:t>Compare 2 groups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45736" y="2075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Sex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45736" y="2286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Dynamic Survival Rate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867144" y="91440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867144" y="914400"/>
            <a:ext cx="210312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867144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6940296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Survival by Class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40296" y="1801368"/>
            <a:ext cx="1965960" cy="228600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940296" y="1801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</a:rPr>
              <a:t>Compare 3 groups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958584" y="2075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Class Name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958584" y="2286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Dynamic Survival Rate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28600" y="2907792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28600" y="2907792"/>
            <a:ext cx="210312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228600" y="2999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🎂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301752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Count by Age Group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01752" y="3794760"/>
            <a:ext cx="1965960" cy="228600"/>
          </a:xfrm>
          <a:prstGeom prst="rect">
            <a:avLst/>
          </a:prstGeom>
          <a:solidFill>
            <a:srgbClr val="2E86C1">
              <a:alpha val="1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01752" y="3794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Distribution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20040" y="4069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AgeGroup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20040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Total Passengers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2441448" y="2907792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2441448" y="2907792"/>
            <a:ext cx="2103120" cy="548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441448" y="2999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🚢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2514600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By Embarked Port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514600" y="3794760"/>
            <a:ext cx="1965960" cy="228600"/>
          </a:xfrm>
          <a:prstGeom prst="rect">
            <a:avLst/>
          </a:prstGeom>
          <a:solidFill>
            <a:srgbClr val="2C3E50">
              <a:alpha val="15000"/>
            </a:srgbClr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514600" y="3794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3E50"/>
                </a:solidFill>
              </a:rPr>
              <a:t>Parts of whole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532888" y="4069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Embarked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2532888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Total Passengers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4654296" y="2907792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4654296" y="2907792"/>
            <a:ext cx="21031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654296" y="2999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4727448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Solo vs Family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727448" y="3794760"/>
            <a:ext cx="1965960" cy="228600"/>
          </a:xfrm>
          <a:prstGeom prst="rect">
            <a:avLst/>
          </a:prstGeom>
          <a:solidFill>
            <a:srgbClr val="1ABC9C">
              <a:alpha val="1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727448" y="3794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BC9C"/>
                </a:solidFill>
              </a:rPr>
              <a:t>Compare 2 groups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4745736" y="4069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TravelAlone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4745736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Dynamic Survival Rate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6867144" y="2907792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6867144" y="2907792"/>
            <a:ext cx="21031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6867144" y="2999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64" name="Text 61"/>
          <p:cNvSpPr/>
          <p:nvPr/>
        </p:nvSpPr>
        <p:spPr>
          <a:xfrm>
            <a:off x="6940296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Count by Title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940296" y="3794760"/>
            <a:ext cx="1965960" cy="22860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940296" y="3794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</a:rPr>
              <a:t>Distribution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958584" y="4069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</a:rPr>
              <a:t>X: Title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6958584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3E50"/>
                </a:solidFill>
              </a:rPr>
              <a:t>Y: Count, Survival Rate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Final Dashboard Layout — 2 Pages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896112"/>
            <a:ext cx="4251960" cy="40416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" y="896112"/>
            <a:ext cx="4251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89611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Page 1: Overview Dashboard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37160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8A"/>
                </a:solidFill>
              </a:rPr>
              <a:t>418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</a:rPr>
              <a:t>Passengers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344168" y="137160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44168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8A"/>
                </a:solidFill>
              </a:rPr>
              <a:t>152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44168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</a:rPr>
              <a:t>Survived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368296" y="137160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368296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8A"/>
                </a:solidFill>
              </a:rPr>
              <a:t>36%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68296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</a:rPr>
              <a:t>Rate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3392424" y="137160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392424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8A"/>
                </a:solidFill>
              </a:rPr>
              <a:t>29.9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92424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</a:rPr>
              <a:t>Avg Age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20040" y="2084832"/>
            <a:ext cx="40690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5760" y="20848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</a:rPr>
              <a:t>🔘 Slicers: Sex  |  Class Name  |  AgeGroup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2487168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0040" y="2487168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🥧 Survival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Breakdown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331720" y="2487168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331720" y="2487168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📊 Survival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by Gender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" y="370332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0040" y="3703320"/>
            <a:ext cx="4069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</a:rPr>
              <a:t>📉 Survival by Passenger Class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896112"/>
            <a:ext cx="4251960" cy="40416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63440" y="896112"/>
            <a:ext cx="425196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09160" y="89611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</a:rPr>
              <a:t>Page 2: Deep Dive Analysis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54880" y="1371600"/>
            <a:ext cx="4069080" cy="3200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0060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BC9C"/>
                </a:solidFill>
              </a:rPr>
              <a:t>🔘 Slicers: Survival Status  |  Embarked  |  TravelAlone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54880" y="178308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754880" y="1783080"/>
            <a:ext cx="1920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🎂 Count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Age Group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766560" y="1783080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766560" y="1783080"/>
            <a:ext cx="20574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🚢 By Embarked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Port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54880" y="2944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754880" y="2944368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👨‍👩‍👧 Solo vs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Family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766560" y="294436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766560" y="2944368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🏷️ Count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Title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754880" y="397764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54880" y="3977640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📊 Survival Rate % by Category (Dynamic measure on Y axis)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9C12"/>
                </a:solidFill>
              </a:rPr>
              <a:t>Part 4 — Class Discussion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51560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8DC"/>
                </a:solidFill>
              </a:rPr>
              <a:t>Answer these using your dashboard — data tells real stories!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298448"/>
            <a:ext cx="4251960" cy="1115568"/>
          </a:xfrm>
          <a:prstGeom prst="rect">
            <a:avLst/>
          </a:prstGeom>
          <a:solidFill>
            <a:srgbClr val="0D1B2A"/>
          </a:solidFill>
          <a:ln w="1016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👫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137160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Which gender had a higher survival rate?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32688" y="1801368"/>
            <a:ext cx="3493008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87552" y="1801368"/>
            <a:ext cx="34015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Female: ~72%  vs  Male: ~17%  →  Reflects 'women and children first' policy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298448"/>
            <a:ext cx="4251960" cy="1115568"/>
          </a:xfrm>
          <a:prstGeom prst="rect">
            <a:avLst/>
          </a:prstGeom>
          <a:solidFill>
            <a:srgbClr val="0D1B2A"/>
          </a:solidFill>
          <a:ln w="1016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🎩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367528" y="137160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Did being in 1st Class improve survival? By how much?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67528" y="1801368"/>
            <a:ext cx="3493008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22392" y="1801368"/>
            <a:ext cx="34015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1st Class: 63%  |  2nd Class: 47%  |  3rd Class: 24%  →  Wealth = higher survival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532888"/>
            <a:ext cx="4251960" cy="1115568"/>
          </a:xfrm>
          <a:prstGeom prst="rect">
            <a:avLst/>
          </a:prstGeom>
          <a:solidFill>
            <a:srgbClr val="0D1B2A"/>
          </a:solidFill>
          <a:ln w="1016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🚢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32688" y="260604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Which port did the most passengers board from?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32688" y="3035808"/>
            <a:ext cx="3493008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87552" y="3035808"/>
            <a:ext cx="34015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Southampton: 270 passengers  |  Cherbourg: 102  |  Queenstown: 46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2532888"/>
            <a:ext cx="4251960" cy="1115568"/>
          </a:xfrm>
          <a:prstGeom prst="rect">
            <a:avLst/>
          </a:prstGeom>
          <a:solidFill>
            <a:srgbClr val="0D1B2A"/>
          </a:solidFill>
          <a:ln w="1016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006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367528" y="260604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Did travelling with family help survival?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67528" y="3035808"/>
            <a:ext cx="3493008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3035808"/>
            <a:ext cx="34015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Travelling alone: use TravelAlone slicer to compare survival rates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3767328"/>
            <a:ext cx="4251960" cy="1115568"/>
          </a:xfrm>
          <a:prstGeom prst="rect">
            <a:avLst/>
          </a:prstGeom>
          <a:solidFill>
            <a:srgbClr val="0D1B2A"/>
          </a:solidFill>
          <a:ln w="1016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576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🎂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32688" y="384048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Which age group had the highest survival rate?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32688" y="4270248"/>
            <a:ext cx="3493008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87552" y="4270248"/>
            <a:ext cx="34015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Children tend to have higher survival — filter by AgeGroup and check!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9160" y="3767328"/>
            <a:ext cx="4251960" cy="1115568"/>
          </a:xfrm>
          <a:prstGeom prst="rect">
            <a:avLst/>
          </a:prstGeom>
          <a:solidFill>
            <a:srgbClr val="0D1B2A"/>
          </a:solidFill>
          <a:ln w="1016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367528" y="384048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If you were a 3rd Class male — what's your survival chance?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367528" y="4270248"/>
            <a:ext cx="3493008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422392" y="4270248"/>
            <a:ext cx="34015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~13%! Use Class + Sex slicers together on your dashboard to find out.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Teach students: Data analysis is about finding stories in numbers — not just making pretty charts!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5070348"/>
            <a:ext cx="9034272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</a:rPr>
              <a:t>What Students Learned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4251960" cy="1389888"/>
          </a:xfrm>
          <a:prstGeom prst="rect">
            <a:avLst/>
          </a:prstGeom>
          <a:solidFill>
            <a:srgbClr val="1B4F8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548640" cy="548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801368"/>
            <a:ext cx="54864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115568" y="1161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Power Query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15568" y="155448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9 real data cleaning techniques: null handling, conditional columns, text parsing, replace values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09160" y="1051560"/>
            <a:ext cx="4251960" cy="1389888"/>
          </a:xfrm>
          <a:prstGeom prst="rect">
            <a:avLst/>
          </a:prstGeom>
          <a:solidFill>
            <a:srgbClr val="1B4F8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188720"/>
            <a:ext cx="548640" cy="548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892040" y="1801368"/>
            <a:ext cx="54864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550408" y="1161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DAX Formulas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550408" y="155448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COUNT, CALCULATE, DIVIDE, SUM, AVERAGE, FILTER, IF, SWITCH — all the essential functions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74320" y="2587752"/>
            <a:ext cx="4251960" cy="1389888"/>
          </a:xfrm>
          <a:prstGeom prst="rect">
            <a:avLst/>
          </a:prstGeom>
          <a:solidFill>
            <a:srgbClr val="1B4F8A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24912"/>
            <a:ext cx="548640" cy="5486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337560"/>
            <a:ext cx="54864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1115568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</a:rPr>
              <a:t>Data Visuals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15568" y="3090672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8 chart types matched to the right data story — bar, pie, donut, card, and interactive slicers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709160" y="2587752"/>
            <a:ext cx="4251960" cy="1389888"/>
          </a:xfrm>
          <a:prstGeom prst="rect">
            <a:avLst/>
          </a:prstGeom>
          <a:solidFill>
            <a:srgbClr val="1B4F8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724912"/>
            <a:ext cx="548640" cy="54864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892040" y="3337560"/>
            <a:ext cx="54864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5550408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Data Insights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550408" y="3090672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8DC"/>
                </a:solidFill>
              </a:rPr>
              <a:t>Real survival patterns: gender, class, age, family — data reveals historical truth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</a:rPr>
              <a:t>📂 Dataset: </a:t>
            </a:r>
            <a:r>
              <a:rPr lang="en-US" sz="1000" dirty="0">
                <a:solidFill>
                  <a:srgbClr val="D5D8DC"/>
                </a:solidFill>
              </a:rPr>
              <a:t>titanic_dataset.csv  |  </a:t>
            </a:r>
            <a:r>
              <a:rPr lang="en-US" sz="1000" dirty="0">
                <a:solidFill>
                  <a:srgbClr val="1ABC9C"/>
                </a:solidFill>
              </a:rPr>
              <a:t>📌 Power Query: 9 steps  |  </a:t>
            </a:r>
            <a:r>
              <a:rPr lang="en-US" sz="1000" dirty="0">
                <a:solidFill>
                  <a:srgbClr val="F39C12"/>
                </a:solidFill>
              </a:rPr>
              <a:t>🧮 DAX: 12 formulas  |  </a:t>
            </a:r>
            <a:r>
              <a:rPr lang="en-US" sz="1000" dirty="0">
                <a:solidFill>
                  <a:srgbClr val="2E86C1"/>
                </a:solidFill>
              </a:rPr>
              <a:t>📊 Visuals: 8 charts + 2-page dashboard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2366</Words>
  <Application>Microsoft Office PowerPoint</Application>
  <PresentationFormat>On-screen Show (16:9)</PresentationFormat>
  <Paragraphs>421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Dataset — Power BI Teaching</dc:title>
  <dc:subject>PptxGenJS Presentation</dc:subject>
  <dc:creator>PptxGenJS</dc:creator>
  <cp:lastModifiedBy>Sauhar Khanal</cp:lastModifiedBy>
  <cp:revision>4</cp:revision>
  <dcterms:created xsi:type="dcterms:W3CDTF">2026-05-07T13:25:08Z</dcterms:created>
  <dcterms:modified xsi:type="dcterms:W3CDTF">2026-05-07T13:39:40Z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2026-05-07T13:31:10Z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0146016f-3513-451b-8580-f64737de0f7f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