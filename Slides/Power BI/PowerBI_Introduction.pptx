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91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770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5029200" cy="50292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82880"/>
            <a:ext cx="2926080" cy="2926080"/>
          </a:xfrm>
          <a:prstGeom prst="ellipse">
            <a:avLst/>
          </a:prstGeom>
          <a:solidFill>
            <a:srgbClr val="25103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868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2C8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347472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Introduction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47472" y="2377440"/>
            <a:ext cx="5029200" cy="36576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24871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 ·  File Formats (.pbix vs .pbir)  ·  Desktop vs Web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 ·  DAX  ·  Core Capabilities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3337560"/>
            <a:ext cx="2514600" cy="475488"/>
          </a:xfrm>
          <a:prstGeom prst="rect">
            <a:avLst/>
          </a:prstGeom>
          <a:solidFill>
            <a:srgbClr val="25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" y="3337560"/>
            <a:ext cx="73152" cy="475488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" y="33375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Download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44952" y="3337560"/>
            <a:ext cx="2514600" cy="475488"/>
          </a:xfrm>
          <a:prstGeom prst="rect">
            <a:avLst/>
          </a:prstGeom>
          <a:solidFill>
            <a:srgbClr val="25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44952" y="3337560"/>
            <a:ext cx="73152" cy="475488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9544" y="33375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+ Desktop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42432" y="3337560"/>
            <a:ext cx="2514600" cy="475488"/>
          </a:xfrm>
          <a:prstGeom prst="rect">
            <a:avLst/>
          </a:prstGeom>
          <a:solidFill>
            <a:srgbClr val="25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42432" y="3337560"/>
            <a:ext cx="73152" cy="475488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07024" y="33375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Data Sources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powerbi.microsoft.com  ·  Free Desktop Download  ·  Kathmandu, Nepal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960120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Power BI?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8631936" cy="749808"/>
          </a:xfrm>
          <a:prstGeom prst="rect">
            <a:avLst/>
          </a:prstGeom>
          <a:solidFill>
            <a:srgbClr val="FEF9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91440" cy="7498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051560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is Microsoft's business intelligence platform that lets you connect to data, clean it, model it, and turn it into beautiful interactive dashboards — all in one tool.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1901952"/>
            <a:ext cx="2011680" cy="2514600"/>
          </a:xfrm>
          <a:prstGeom prst="rect">
            <a:avLst/>
          </a:prstGeom>
          <a:solidFill>
            <a:srgbClr val="E0F2FE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901952"/>
            <a:ext cx="2011680" cy="7315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197510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472" y="2578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" y="2944368"/>
            <a:ext cx="1874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data sources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Excel, SQL, Web, API,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SharePoint, Azure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32304" y="1901952"/>
            <a:ext cx="2011680" cy="2514600"/>
          </a:xfrm>
          <a:prstGeom prst="rect">
            <a:avLst/>
          </a:prstGeom>
          <a:solidFill>
            <a:srgbClr val="DCFCE7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32304" y="1901952"/>
            <a:ext cx="201168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32304" y="197510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23744" y="2578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05456" y="2944368"/>
            <a:ext cx="1874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&amp; shape 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Power Query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coding needed)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08576" y="1901952"/>
            <a:ext cx="2011680" cy="2514600"/>
          </a:xfrm>
          <a:prstGeom prst="rect">
            <a:avLst/>
          </a:prstGeom>
          <a:solidFill>
            <a:srgbClr val="EDE9FE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08576" y="1901952"/>
            <a:ext cx="201168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08576" y="197510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🧱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00016" y="2578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81728" y="2944368"/>
            <a:ext cx="1874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relationships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tables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DAX formulas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84848" y="1901952"/>
            <a:ext cx="2011680" cy="251460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784848" y="1901952"/>
            <a:ext cx="2011680" cy="731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84848" y="197510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76288" y="2578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0" y="2944368"/>
            <a:ext cx="1874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charts,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maps, dashboards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anywhere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12848" y="30632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D5E1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389120" y="30632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D5E1"/>
                </a:solidFill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565392" y="30632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D5E1"/>
                </a:solidFill>
              </a:rPr>
              <a:t>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256032" y="4553712"/>
            <a:ext cx="8631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by: Banks · Hospitals · Retail · Schools · Government — in Nepal and worldwide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= Connect  +  Transform  +  Model  +  Visualize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960120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 Formats — .pbix  vs  .pbir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41605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4160520" cy="6583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042416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.pbix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737360" y="11155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Desktop File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865376"/>
            <a:ext cx="274320" cy="274320"/>
          </a:xfrm>
          <a:prstGeom prst="ellipse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847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18105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everything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20574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 + reports + queries all inside ONE file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2432304"/>
            <a:ext cx="274320" cy="274320"/>
          </a:xfrm>
          <a:prstGeom prst="ellipse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24140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3774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only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" y="262432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only in Power BI Desktop app (local)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2999232"/>
            <a:ext cx="274320" cy="274320"/>
          </a:xfrm>
          <a:prstGeom prst="ellipse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2980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" y="29443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locally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31912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as a file on your computer (.pbix)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3566160"/>
            <a:ext cx="274320" cy="274320"/>
          </a:xfrm>
          <a:prstGeom prst="ellipse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3547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" y="35112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format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375818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ZIP-like format — not human-readable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4133088"/>
            <a:ext cx="274320" cy="274320"/>
          </a:xfrm>
          <a:prstGeom prst="ellipse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40782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default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" y="43251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you use when learning and building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36592" y="1024128"/>
            <a:ext cx="41605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36592" y="1024128"/>
            <a:ext cx="4160520" cy="65836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28032" y="1042416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.pbir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8046720" y="1115568"/>
            <a:ext cx="640080" cy="2926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46720" y="11155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111556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Report (Git-Friendly)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1865376"/>
            <a:ext cx="274320" cy="27432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1847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📂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18105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Folder-based format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20574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is saved as a folder of JSON/XML files — not one file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2432304"/>
            <a:ext cx="274320" cy="27432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46320" y="24140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12080" y="23774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Service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262432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Power BI Service (cloud) and Fabric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2999232"/>
            <a:ext cx="274320" cy="27432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46320" y="2980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🔀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12080" y="29443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Git-friendly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12080" y="31912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report element is a separate file — version control works!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46320" y="3566160"/>
            <a:ext cx="274320" cy="27432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46320" y="3547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👥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12080" y="35112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collaboration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12080" y="375818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developers can work on same report without conflicts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46320" y="4133088"/>
            <a:ext cx="274320" cy="27432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84632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⚠️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212080" y="40782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use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12080" y="43251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for beginners — used by data engineering teams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251960" y="2743200"/>
            <a:ext cx="658368" cy="658368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251960" y="2743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C8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EF9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Start with .pbix — it is what 95% of Power BI users work with every day. Learn .pbir when you join a data engineering team.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960120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 Desktop  vs  Power BI Web (Service)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3931920" cy="3611880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3931920" cy="56692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" y="1042416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💻  Power BI Desktop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1664208"/>
            <a:ext cx="3931920" cy="457200"/>
          </a:xfrm>
          <a:prstGeom prst="rect">
            <a:avLst/>
          </a:prstGeom>
          <a:solidFill>
            <a:srgbClr val="E8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" y="168249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72768" y="1682496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 Windows application you download and install on your laptop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2139696"/>
            <a:ext cx="3931920" cy="45720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" y="215798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72768" y="2157984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Analysts, BI Developers — anyone who BUILDS reports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615184"/>
            <a:ext cx="3931920" cy="457200"/>
          </a:xfrm>
          <a:prstGeom prst="rect">
            <a:avLst/>
          </a:prstGeom>
          <a:solidFill>
            <a:srgbClr val="E8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" y="263347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72768" y="2633472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your own computer (offline works too)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3090672"/>
            <a:ext cx="3931920" cy="45720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" y="310896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saved 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72768" y="3108960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.pbix file on your C: drive or OneDrive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3566160"/>
            <a:ext cx="3931920" cy="457200"/>
          </a:xfrm>
          <a:prstGeom prst="rect">
            <a:avLst/>
          </a:prstGeom>
          <a:solidFill>
            <a:srgbClr val="E8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9184" y="358444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share?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72768" y="3584448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directly — you must Publish to Power BI Service first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4041648"/>
            <a:ext cx="3931920" cy="45720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9184" y="405993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72768" y="4059936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Building, designing, testing your reports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56048" y="1024128"/>
            <a:ext cx="3931920" cy="361188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956048" y="1024128"/>
            <a:ext cx="3931920" cy="5669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0" y="1042416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🌐  Power BI Service (Web)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56048" y="1664208"/>
            <a:ext cx="3931920" cy="45720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0" y="168249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it?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72784" y="1682496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cloud web app at app.powerbi.com — access from any browser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56048" y="2139696"/>
            <a:ext cx="3931920" cy="45720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0" y="215798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it?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72784" y="2157984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— viewers, managers, and admins who CONSUME reports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56048" y="2615184"/>
            <a:ext cx="3931920" cy="45720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0" y="263347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Where?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72784" y="2633472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internet — login with a Microsoft work/school account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56048" y="3090672"/>
            <a:ext cx="3931920" cy="45720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0" y="310896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saved as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72784" y="3108960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in the cloud (Workspaces), not on your computer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56048" y="3566160"/>
            <a:ext cx="3931920" cy="45720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29200" y="358444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share?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72784" y="3584448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share with colleagues, embed in websites, set up emails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956048" y="4041648"/>
            <a:ext cx="3931920" cy="45720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29200" y="405993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72784" y="4059936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Sharing, scheduling refresh, managing who sees what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6032" y="4700016"/>
            <a:ext cx="393192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56032" y="470001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① You BUILD here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187952" y="4700016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→  PUBLISH  →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956048" y="4700016"/>
            <a:ext cx="3931920" cy="31089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956048" y="470001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② Your team VIEWS here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960120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Workspace — Your Cloud Folder in Power BI Service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8631936" cy="658368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91440" cy="6583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42416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Workspace in Power BI Service is like a shared folder in the cloud where you store and manage your reports, dashboards, and datasets — and control who can access them.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6032" y="1783080"/>
            <a:ext cx="8631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Types of Workspaces: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" y="2176272"/>
            <a:ext cx="2743200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2176272"/>
            <a:ext cx="2743200" cy="5120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21945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🏠 My Workspace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743200"/>
            <a:ext cx="25237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personal private workspace. Only YOU can see it.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practice, personal reports, testing before sharing.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63824" y="2176272"/>
            <a:ext cx="2743200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63824" y="2176272"/>
            <a:ext cx="2743200" cy="5120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55264" y="21945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Team Workspace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73552" y="2743200"/>
            <a:ext cx="25237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 workspace for a team or department.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collaborative projects, shared dashboards, production reports.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71616" y="2176272"/>
            <a:ext cx="2743200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71616" y="2176272"/>
            <a:ext cx="2743200" cy="5120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63056" y="21945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App Workspace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81344" y="2743200"/>
            <a:ext cx="25237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workspace published as a Power BI App to many users.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company-wide reporting, distributing to 100s of users.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" y="4251960"/>
            <a:ext cx="8631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Lives Inside a Workspace?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6032" y="4553712"/>
            <a:ext cx="20116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4553712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📊 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" y="455371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" y="479145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Power BI pages/visuals (.pbix)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32304" y="4553712"/>
            <a:ext cx="20116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23744" y="4553712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🗂️ 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889504" y="455371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89504" y="479145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Pinned visuals from multiple reports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08576" y="4553712"/>
            <a:ext cx="20116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0016" y="4553712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🗄️ 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65776" y="455371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65776" y="479145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model &amp; connection info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784848" y="4553712"/>
            <a:ext cx="20116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76288" y="4553712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🌊 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42048" y="455371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Dataflows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42048" y="479145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Cloud-based Power Query ETL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960120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DAX — Data Analysis Expressions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8631936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91440" cy="548640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42416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is the formula language of Power BI — like Excel formulas, but designed for data models. You use DAX to create Measures and Calculated Columns.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682496"/>
            <a:ext cx="4206240" cy="1371600"/>
          </a:xfrm>
          <a:prstGeom prst="rect">
            <a:avLst/>
          </a:prstGeom>
          <a:solidFill>
            <a:srgbClr val="1E1A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682496"/>
            <a:ext cx="4206240" cy="36576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8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📐  Measure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084832"/>
            <a:ext cx="3977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calculation done ON THE FLY based on filter context. Lives in the Fields pane. NOT stored in the table.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70662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in: Card, Bar, Table visuals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682496"/>
            <a:ext cx="4206240" cy="1371600"/>
          </a:xfrm>
          <a:prstGeom prst="rect">
            <a:avLst/>
          </a:prstGeom>
          <a:solidFill>
            <a:srgbClr val="031E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682496"/>
            <a:ext cx="420624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73168" y="173736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🧮  Calculated Column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3168" y="2084832"/>
            <a:ext cx="3977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column added to a table — calculated row by row when the model loads. Stored in the table.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73168" y="270662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in: Slicers, filtering, row-level calcs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" y="3163824"/>
            <a:ext cx="8631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Essential DAX Formulas — Learn These First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6032" y="3547872"/>
            <a:ext cx="2798064" cy="5852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3547872"/>
            <a:ext cx="73152" cy="585216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0624" y="356616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0624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Sales = SUM(Sales[Amount])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82112" y="3547872"/>
            <a:ext cx="2798064" cy="5852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182112" y="3547872"/>
            <a:ext cx="73152" cy="58521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46704" y="356616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Count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46704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Count = COUNTROWS(Sales)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08192" y="3547872"/>
            <a:ext cx="2798064" cy="5852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08192" y="3547872"/>
            <a:ext cx="73152" cy="58521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72784" y="356616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72784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Order = AVERAGE(Sales[Amount])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6032" y="4206240"/>
            <a:ext cx="2798064" cy="5852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6032" y="4206240"/>
            <a:ext cx="73152" cy="58521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20624" y="422452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0624" y="44439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 % = DIVIDE([Profit], [Revenue], 0)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182112" y="4206240"/>
            <a:ext cx="2798064" cy="5852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182112" y="4206240"/>
            <a:ext cx="73152" cy="58521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46704" y="422452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Sales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46704" y="44439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YTD = TOTALYTD([Total Sales], Date[Date])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08192" y="4206240"/>
            <a:ext cx="2798064" cy="5852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108192" y="4206240"/>
            <a:ext cx="73152" cy="58521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72784" y="422452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Year Sales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72784" y="44439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LY Sales = CALCULATE([Total Sales], SAMEPERIODLASTYEAR(Date[Date]))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56032" y="4864608"/>
            <a:ext cx="8631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DIVIDE() is always safer than '/' — it handles divide-by-zero automatically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960120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DAX Deep Dive — Filter Context &amp; CALCULATE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1024128"/>
            <a:ext cx="8631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Most Important DAX Concept: Filter Context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56032" y="1371600"/>
            <a:ext cx="8631936" cy="658368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371600"/>
            <a:ext cx="91440" cy="6583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Context = the current filter applied when a measure calculates.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When your slicer is set to 'Kathmandu', [Total Sales] automatically shows ONLY Kathmandu sales. The same formula changes its result based on context.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2139696"/>
            <a:ext cx="8631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CALCULATE — The Most Powerful DAX Function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6032" y="2487168"/>
            <a:ext cx="8631936" cy="47548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2487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C8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 expression,  filter1,  filter2, ... 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6032" y="3063240"/>
            <a:ext cx="8631936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" y="3063240"/>
            <a:ext cx="73152" cy="4572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" y="308152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in Kathmandu only: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70048" y="3081528"/>
            <a:ext cx="6080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KTM Sales = CALCULATE([Total Sales], Sales[Province] = "Kathmandu")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3538728"/>
            <a:ext cx="8631936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3538728"/>
            <a:ext cx="73152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" y="355701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 Momo sales only: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70048" y="3557016"/>
            <a:ext cx="6080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 Sales = CALCULATE([Total Sales], Products[Type] = "Buff Momo")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4014216"/>
            <a:ext cx="8631936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4014216"/>
            <a:ext cx="73152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0624" y="403250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all filters (Grand Total):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0048" y="4032504"/>
            <a:ext cx="6080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Sales = CALCULATE([Total Sales], ALL(Sales))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4489704"/>
            <a:ext cx="8631936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" y="4489704"/>
            <a:ext cx="73152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0624" y="4507992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last month: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70048" y="4507992"/>
            <a:ext cx="6080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 Sales = CALCULATE([Total Sales], PREVIOUSMONTH(Date[Date]))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EF9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Think of CALCULATE as: 'Calculate this formula, but first apply these extra filters'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960120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Capabilities of Power BI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2743200" cy="18836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2743200" cy="47548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115568"/>
            <a:ext cx="274320" cy="274320"/>
          </a:xfrm>
          <a:prstGeom prst="ellipse">
            <a:avLst/>
          </a:prstGeom>
          <a:solidFill>
            <a:srgbClr val="3A3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1155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" y="1088136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🔌 Data Connectivity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" y="1645920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572768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built-in connectors (Excel, SQL, Web, API, SharePoint, Azure, Google Analytics)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93192" y="1965960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892808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mode: data loaded into Power BI memory — fast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93192" y="2286000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212848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DirectQuery mode: queries run live on the source database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93192" y="2606040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532888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Hybrid: combine Import + DirectQuery tables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63824" y="1024128"/>
            <a:ext cx="2743200" cy="18836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163824" y="1024128"/>
            <a:ext cx="2743200" cy="4754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55264" y="1115568"/>
            <a:ext cx="274320" cy="274320"/>
          </a:xfrm>
          <a:prstGeom prst="ellipse">
            <a:avLst/>
          </a:prstGeom>
          <a:solidFill>
            <a:srgbClr val="3A3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55264" y="11155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02736" y="1088136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🔄 Power Query (ETL)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00984" y="164592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56432" y="1572768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Visual, code-free data transformation editor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00984" y="196596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56432" y="1892808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Clean: remove duplicates, fix types, replace values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00984" y="228600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56432" y="2212848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Shape: merge tables, unpivot columns, group rows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00984" y="260604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56432" y="2532888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recorded — click Undo at any time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00984" y="292608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56432" y="2852928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M code automatically in the background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71616" y="1024128"/>
            <a:ext cx="2743200" cy="18836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71616" y="1024128"/>
            <a:ext cx="2743200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63056" y="1115568"/>
            <a:ext cx="274320" cy="274320"/>
          </a:xfrm>
          <a:prstGeom prst="ellipse">
            <a:avLst/>
          </a:prstGeom>
          <a:solidFill>
            <a:srgbClr val="3A3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63056" y="11155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10528" y="1088136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🧱 Data Modeling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08776" y="16459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64224" y="1572768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relationships between multiple tables (Star Schema)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08776" y="196596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364224" y="1892808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One-to-many, many-to-many, bidirectional filters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08776" y="228600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364224" y="2212848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calculated columns and measures with DAX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08776" y="260604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64224" y="2532888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 — show different data to different users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208776" y="292608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364224" y="2852928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hierarchies (Year → Quarter → Month → Day)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56032" y="2980944"/>
            <a:ext cx="2743200" cy="18836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56032" y="2980944"/>
            <a:ext cx="2743200" cy="47548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47472" y="3072384"/>
            <a:ext cx="274320" cy="274320"/>
          </a:xfrm>
          <a:prstGeom prst="ellipse">
            <a:avLst/>
          </a:prstGeom>
          <a:solidFill>
            <a:srgbClr val="3A3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47472" y="30723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4944" y="3044952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Visualizations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93192" y="3602736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48640" y="352958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built-in chart types: Bar, Line, Pie, Map, Scatter, Waterfall, Funnel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93192" y="3922776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48640" y="384962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visuals marketplace (1000+ free visuals)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93192" y="4242816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48640" y="416966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Drill-down: click a bar to go deeper (Province → District → City)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93192" y="4562856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48640" y="448970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Cross-filtering: click one chart — all others filter automatically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93192" y="4882896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48640" y="480974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Tooltips, bookmarks, and buttons for guided experiences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163824" y="2980944"/>
            <a:ext cx="2743200" cy="18836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163824" y="2980944"/>
            <a:ext cx="2743200" cy="47548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3255264" y="3072384"/>
            <a:ext cx="274320" cy="274320"/>
          </a:xfrm>
          <a:prstGeom prst="ellipse">
            <a:avLst/>
          </a:prstGeom>
          <a:solidFill>
            <a:srgbClr val="3A3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255264" y="30723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602736" y="3044952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🤝 Collaboration &amp; Sharing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3300984" y="3602736"/>
            <a:ext cx="91440" cy="9144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456432" y="352958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reports to Power BI Service (cloud) in 1 click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300984" y="3922776"/>
            <a:ext cx="91440" cy="9144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456432" y="384962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with colleagues by email or link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300984" y="4242816"/>
            <a:ext cx="91440" cy="9144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456432" y="416966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reports in websites, Teams, SharePoint pages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300984" y="4562856"/>
            <a:ext cx="91440" cy="9144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456432" y="448970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refresh: data auto-updates without your involvement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300984" y="4882896"/>
            <a:ext cx="91440" cy="9144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456432" y="480974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Security: each user sees only their own data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071616" y="2980944"/>
            <a:ext cx="2743200" cy="18836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071616" y="2980944"/>
            <a:ext cx="2743200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6163056" y="3072384"/>
            <a:ext cx="274320" cy="274320"/>
          </a:xfrm>
          <a:prstGeom prst="ellipse">
            <a:avLst/>
          </a:prstGeom>
          <a:solidFill>
            <a:srgbClr val="3A3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163056" y="30723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510528" y="3044952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AI + Smart Features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6208776" y="360273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364224" y="352958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Q&amp;A: type 'show sales by province' in plain English — chart appears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208776" y="39227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364224" y="384962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Narrative: automatic text summary of your dashboard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208776" y="424281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364224" y="416966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Detection: AI flags unusual spikes or drops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208776" y="456285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364224" y="448970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Influencers visual: automatically finds what drives a metric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208776" y="488289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6364224" y="480974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 Tree: drill into any metric by any dimension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960120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Complete Power BI Workflow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1005840"/>
            <a:ext cx="8631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all the concepts connect — from raw data to a shared dashboard: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61872" y="1965960"/>
            <a:ext cx="21945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0160" y="181965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BD5E1"/>
                </a:solidFill>
              </a:rPr>
              <a:t>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1417320"/>
            <a:ext cx="1024128" cy="299923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417320"/>
            <a:ext cx="1024128" cy="47548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1453896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1490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" y="194767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" y="2258568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→ Get Data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1752" y="2587752"/>
            <a:ext cx="9418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Excel,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SQL, Web, API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any source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" y="3483864"/>
            <a:ext cx="841248" cy="23774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348386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05456" y="1965960"/>
            <a:ext cx="21945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23744" y="181965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BD5E1"/>
                </a:solidFill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99616" y="1417320"/>
            <a:ext cx="1024128" cy="299923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499616" y="1417320"/>
            <a:ext cx="1024128" cy="4754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99616" y="1453896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176272" y="1490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194767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Query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45336" y="2258568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Data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545336" y="2587752"/>
            <a:ext cx="9418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reshape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data issues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 needed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591056" y="3483864"/>
            <a:ext cx="841248" cy="23774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591056" y="348386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749040" y="1965960"/>
            <a:ext cx="21945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67328" y="181965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BD5E1"/>
                </a:solidFill>
              </a:rPr>
              <a:t>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743200" y="1417320"/>
            <a:ext cx="1024128" cy="299923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0" y="1417320"/>
            <a:ext cx="1024128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0" y="1453896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🧱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19856" y="1490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98064" y="194767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88920" y="2258568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View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88920" y="2587752"/>
            <a:ext cx="9418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table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measures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834640" y="3483864"/>
            <a:ext cx="841248" cy="23774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834640" y="348386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992624" y="1965960"/>
            <a:ext cx="21945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10912" y="181965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BD5E1"/>
                </a:solidFill>
              </a:rPr>
              <a:t>›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986784" y="1417320"/>
            <a:ext cx="1024128" cy="299923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986784" y="1417320"/>
            <a:ext cx="1024128" cy="47548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986784" y="1453896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663440" y="1490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041648" y="194767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 View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032504" y="2258568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View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032504" y="2587752"/>
            <a:ext cx="9418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charts, cards,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 &amp; maps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your canvas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078224" y="3483864"/>
            <a:ext cx="841248" cy="23774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078224" y="348386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36208" y="1965960"/>
            <a:ext cx="21945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254496" y="181965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BD5E1"/>
                </a:solidFill>
              </a:rPr>
              <a:t>›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230368" y="1417320"/>
            <a:ext cx="1024128" cy="299923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230368" y="1417320"/>
            <a:ext cx="1024128" cy="47548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230368" y="1453896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☁️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907024" y="1490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285232" y="194767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Publish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276088" y="2258568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→ Publish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276088" y="2587752"/>
            <a:ext cx="9418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.pbix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Power BI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(cloud)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321808" y="3483864"/>
            <a:ext cx="841248" cy="23774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321808" y="348386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479792" y="1965960"/>
            <a:ext cx="21945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498080" y="181965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BD5E1"/>
                </a:solidFill>
              </a:rPr>
              <a:t>›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473952" y="1417320"/>
            <a:ext cx="1024128" cy="299923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473952" y="1417320"/>
            <a:ext cx="1024128" cy="47548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473952" y="1453896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150608" y="1490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528816" y="194767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Workspace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519672" y="2258568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app.powerbi.com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519672" y="2587752"/>
            <a:ext cx="9418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lives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team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565392" y="3483864"/>
            <a:ext cx="841248" cy="2377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565392" y="348386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717536" y="1417320"/>
            <a:ext cx="1024128" cy="299923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717536" y="1417320"/>
            <a:ext cx="1024128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717536" y="1453896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394192" y="1490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7772400" y="194767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Share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7763256" y="2258568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/ Embed / App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763256" y="2587752"/>
            <a:ext cx="9418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link to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colleagues 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anywhere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7808976" y="3483864"/>
            <a:ext cx="841248" cy="2377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7808976" y="348386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1–4 happen in Power BI Desktop (.pbix)  ·  Steps 5–7 happen in Power BI Service (web)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37744"/>
            <a:ext cx="8631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 — Quick Reference Cheatsheet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786384"/>
            <a:ext cx="4206240" cy="32918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10896" y="786384"/>
            <a:ext cx="4096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 Key Terms to Know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4206240" cy="33832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" y="118872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C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481328" y="1188720"/>
            <a:ext cx="29077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DAX formula that calculates dynamically (e.g. Total Sales)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527048"/>
            <a:ext cx="4206240" cy="338328"/>
          </a:xfrm>
          <a:prstGeom prst="rect">
            <a:avLst/>
          </a:prstGeom>
          <a:solidFill>
            <a:srgbClr val="15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" y="154533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C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Column: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81328" y="1545336"/>
            <a:ext cx="29077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DAX formula added as a new table column (row by row)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1883664"/>
            <a:ext cx="4206240" cy="33832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" y="190195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C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Query: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81328" y="1901952"/>
            <a:ext cx="29077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cleaning/transformation editor (M language)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2240280"/>
            <a:ext cx="4206240" cy="338328"/>
          </a:xfrm>
          <a:prstGeom prst="rect">
            <a:avLst/>
          </a:prstGeom>
          <a:solidFill>
            <a:srgbClr val="15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" y="225856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C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.pbix: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81328" y="2258568"/>
            <a:ext cx="29077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Power BI Desktop file — your saved report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596896"/>
            <a:ext cx="4206240" cy="33832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" y="2615184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C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.pbir: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81328" y="2615184"/>
            <a:ext cx="29077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folder-based format — for teams using Git/Fabric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2953512"/>
            <a:ext cx="4206240" cy="338328"/>
          </a:xfrm>
          <a:prstGeom prst="rect">
            <a:avLst/>
          </a:prstGeom>
          <a:solidFill>
            <a:srgbClr val="15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9184" y="297180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C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81328" y="2971800"/>
            <a:ext cx="29077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folder on app.powerbi.com to store &amp; share reports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3310128"/>
            <a:ext cx="4206240" cy="33832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9184" y="332841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C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481328" y="3328416"/>
            <a:ext cx="29077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model that reports connect to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" y="3666744"/>
            <a:ext cx="4206240" cy="338328"/>
          </a:xfrm>
          <a:prstGeom prst="rect">
            <a:avLst/>
          </a:prstGeom>
          <a:solidFill>
            <a:srgbClr val="15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9184" y="368503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C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Context: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481328" y="3685032"/>
            <a:ext cx="29077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active filters when a DAX measure calculates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4023360"/>
            <a:ext cx="4206240" cy="33832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9184" y="404164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C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481328" y="4041648"/>
            <a:ext cx="29077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powerful DAX function — modifies filter context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4379976"/>
            <a:ext cx="4206240" cy="338328"/>
          </a:xfrm>
          <a:prstGeom prst="rect">
            <a:avLst/>
          </a:prstGeom>
          <a:solidFill>
            <a:srgbClr val="15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9184" y="4398264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C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481328" y="4398264"/>
            <a:ext cx="29077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 — users see only their own data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81728" y="786384"/>
            <a:ext cx="4206240" cy="32918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36592" y="786384"/>
            <a:ext cx="4096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⌨️  Power BI Desktop Views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81728" y="1170432"/>
            <a:ext cx="420624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681728" y="1170432"/>
            <a:ext cx="73152" cy="6400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28032" y="12070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Report View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28032" y="1481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canvas — where you drag-and-drop visuals and build your report pages.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81728" y="1883664"/>
            <a:ext cx="420624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681728" y="1883664"/>
            <a:ext cx="73152" cy="6400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28032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Data View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28032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actual data in your tables. Check data types, search values, verify your DAX columns.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81728" y="2596896"/>
            <a:ext cx="420624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681728" y="2596896"/>
            <a:ext cx="73152" cy="640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28032" y="26334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🔗 Model View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28032" y="29077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ALL your tables and the lines (relationships) connecting them. Build your Star Schema here.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81728" y="3328416"/>
            <a:ext cx="4206240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36592" y="3328416"/>
            <a:ext cx="4096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⌨️  Useful Keyboard Shortcuts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681728" y="3712464"/>
            <a:ext cx="4206240" cy="1828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54880" y="371246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Z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089904" y="3712464"/>
            <a:ext cx="2724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last action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81728" y="3913632"/>
            <a:ext cx="4206240" cy="182880"/>
          </a:xfrm>
          <a:prstGeom prst="rect">
            <a:avLst/>
          </a:prstGeom>
          <a:solidFill>
            <a:srgbClr val="15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754880" y="39136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089904" y="3913632"/>
            <a:ext cx="2724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your .pbix file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681728" y="4114800"/>
            <a:ext cx="4206240" cy="1828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754880" y="41148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 + Enter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089904" y="4114800"/>
            <a:ext cx="2724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new line in DAX editor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681728" y="4315968"/>
            <a:ext cx="4206240" cy="182880"/>
          </a:xfrm>
          <a:prstGeom prst="rect">
            <a:avLst/>
          </a:prstGeom>
          <a:solidFill>
            <a:srgbClr val="15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754880" y="431596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Enter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089904" y="4315968"/>
            <a:ext cx="2724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DAX formula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681728" y="4517136"/>
            <a:ext cx="4206240" cy="1828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754880" y="451713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F5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089904" y="4517136"/>
            <a:ext cx="2724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all data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681728" y="4718304"/>
            <a:ext cx="4206240" cy="182880"/>
          </a:xfrm>
          <a:prstGeom prst="rect">
            <a:avLst/>
          </a:prstGeom>
          <a:solidFill>
            <a:srgbClr val="15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754880" y="471830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Shift + P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089904" y="4718304"/>
            <a:ext cx="2724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to Power BI Service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Save this slide as your reference card  ·  SkillShikshya — Business Data Analytics with AI  ·  Kathmandu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1856</Words>
  <Application>Microsoft Office PowerPoint</Application>
  <PresentationFormat>On-screen Show (16:9)</PresentationFormat>
  <Paragraphs>325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Introduction</dc:title>
  <dc:subject>PptxGenJS Presentation</dc:subject>
  <dc:creator>SkillShikshya</dc:creator>
  <cp:lastModifiedBy>Sauhar Khanal</cp:lastModifiedBy>
  <cp:revision>4</cp:revision>
  <dcterms:created xsi:type="dcterms:W3CDTF">2026-05-06T15:06:46Z</dcterms:created>
  <dcterms:modified xsi:type="dcterms:W3CDTF">2026-05-06T15:19:09Z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2248cf-7f03-4ea3-bc21-100a3e94dc1a_Enabled">
    <vt:lpwstr>true</vt:lpwstr>
  </property>
  <property fmtid="{D5CDD505-2E9C-101B-9397-08002B2CF9AE}" pid="3" name="MSIP_Label_0b2248cf-7f03-4ea3-bc21-100a3e94dc1a_SetDate">
    <vt:lpwstr>2026-05-06T15:18:33Z</vt:lpwstr>
  </property>
  <property fmtid="{D5CDD505-2E9C-101B-9397-08002B2CF9AE}" pid="4" name="MSIP_Label_0b2248cf-7f03-4ea3-bc21-100a3e94dc1a_Method">
    <vt:lpwstr>Standard</vt:lpwstr>
  </property>
  <property fmtid="{D5CDD505-2E9C-101B-9397-08002B2CF9AE}" pid="5" name="MSIP_Label_0b2248cf-7f03-4ea3-bc21-100a3e94dc1a_Name">
    <vt:lpwstr>defa4170-0d19-0005-0004-bc88714345d2</vt:lpwstr>
  </property>
  <property fmtid="{D5CDD505-2E9C-101B-9397-08002B2CF9AE}" pid="6" name="MSIP_Label_0b2248cf-7f03-4ea3-bc21-100a3e94dc1a_SiteId">
    <vt:lpwstr>8ccadef0-d125-45d2-82b6-d3a9d60db293</vt:lpwstr>
  </property>
  <property fmtid="{D5CDD505-2E9C-101B-9397-08002B2CF9AE}" pid="7" name="MSIP_Label_0b2248cf-7f03-4ea3-bc21-100a3e94dc1a_ActionId">
    <vt:lpwstr>c4a4d9f8-d36e-45ed-b3db-3068ab933dc4</vt:lpwstr>
  </property>
  <property fmtid="{D5CDD505-2E9C-101B-9397-08002B2CF9AE}" pid="8" name="MSIP_Label_0b2248cf-7f03-4ea3-bc21-100a3e94dc1a_ContentBits">
    <vt:lpwstr>0</vt:lpwstr>
  </property>
  <property fmtid="{D5CDD505-2E9C-101B-9397-08002B2CF9AE}" pid="9" name="MSIP_Label_0b2248cf-7f03-4ea3-bc21-100a3e94dc1a_Tag">
    <vt:lpwstr>10, 3, 0, 1</vt:lpwstr>
  </property>
</Properties>
</file>