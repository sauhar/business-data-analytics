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400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82880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DAX Query View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" y="877824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Sales_Reference Table  —  Complete Code Reference for Power BI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252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Power BI  ·  DAX Query View  ·  EVALUATE · FILTER · CALCULATE · SUMMARIZE · ADDCOLUMNS · VAR / DEFINE · TOPN · RANKX · RELATED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1480" y="2029968"/>
            <a:ext cx="530352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2029968"/>
            <a:ext cx="5303520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Sales_Reference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2029968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</a:rPr>
              <a:t>510 rows  ·  primary table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51206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Transaction_ID    Date    Customer_ID    Product_ID    Quantity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Revenue_NPR    Cost_NPR    Profit_NPR    Unit_Price_NPR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Payment_Method    Order_Status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9320" y="2029968"/>
            <a:ext cx="292608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89320" y="2029968"/>
            <a:ext cx="2926080" cy="3108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202996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SalesMeasure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2395728"/>
            <a:ext cx="27432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Revenue Delivered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Delivered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Returned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Customers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675888"/>
            <a:ext cx="8321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67588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How to open:  </a:t>
            </a:r>
            <a:r>
              <a:rPr lang="en-US" sz="1050" dirty="0">
                <a:solidFill>
                  <a:srgbClr val="475569"/>
                </a:solidFill>
              </a:rPr>
              <a:t>Power BI Desktop  →  Query View icon (left panel, looks like a table with magnifier)  →  paste any query  →  press  Shift + Enter  to run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4334256"/>
            <a:ext cx="1572768" cy="274320"/>
          </a:xfrm>
          <a:prstGeom prst="rect">
            <a:avLst/>
          </a:prstGeom>
          <a:solidFill>
            <a:srgbClr val="EFF6FF"/>
          </a:solidFill>
          <a:ln w="1016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" y="433425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01  EVALUATE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093976" y="4334256"/>
            <a:ext cx="1572768" cy="274320"/>
          </a:xfrm>
          <a:prstGeom prst="rect">
            <a:avLst/>
          </a:prstGeom>
          <a:solidFill>
            <a:srgbClr val="F0FDFA"/>
          </a:solidFill>
          <a:ln w="1016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48840" y="433425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02  FILTER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76472" y="4334256"/>
            <a:ext cx="1572768" cy="274320"/>
          </a:xfrm>
          <a:prstGeom prst="rect">
            <a:avLst/>
          </a:prstGeom>
          <a:solidFill>
            <a:srgbClr val="FFFBEB"/>
          </a:solidFill>
          <a:ln w="1016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31336" y="433425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03  CALCULATE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58968" y="4334256"/>
            <a:ext cx="1572768" cy="274320"/>
          </a:xfrm>
          <a:prstGeom prst="rect">
            <a:avLst/>
          </a:prstGeom>
          <a:solidFill>
            <a:srgbClr val="F0FDFA"/>
          </a:solidFill>
          <a:ln w="1016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13832" y="433425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04  SUMMARIZE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41464" y="4334256"/>
            <a:ext cx="1572768" cy="274320"/>
          </a:xfrm>
          <a:prstGeom prst="rect">
            <a:avLst/>
          </a:prstGeom>
          <a:solidFill>
            <a:srgbClr val="F5F3FF"/>
          </a:solidFill>
          <a:ln w="1016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96328" y="433425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D28D9"/>
                </a:solidFill>
              </a:rPr>
              <a:t>05  ADDCOLUMNS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4663440"/>
            <a:ext cx="1572768" cy="274320"/>
          </a:xfrm>
          <a:prstGeom prst="rect">
            <a:avLst/>
          </a:prstGeom>
          <a:solidFill>
            <a:srgbClr val="F5F3FF"/>
          </a:solidFill>
          <a:ln w="1016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" y="466344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D28D9"/>
                </a:solidFill>
              </a:rPr>
              <a:t>06  DEFINE / VAR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93976" y="4663440"/>
            <a:ext cx="1572768" cy="274320"/>
          </a:xfrm>
          <a:prstGeom prst="rect">
            <a:avLst/>
          </a:prstGeom>
          <a:solidFill>
            <a:srgbClr val="F0FDF4"/>
          </a:solidFill>
          <a:ln w="1016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48840" y="466344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803D"/>
                </a:solidFill>
              </a:rPr>
              <a:t>07  TOPN &amp; RANKX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776472" y="4663440"/>
            <a:ext cx="1572768" cy="274320"/>
          </a:xfrm>
          <a:prstGeom prst="rect">
            <a:avLst/>
          </a:prstGeom>
          <a:solidFill>
            <a:srgbClr val="EFF6FF"/>
          </a:solidFill>
          <a:ln w="1016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31336" y="466344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08  Time Intel.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58968" y="4663440"/>
            <a:ext cx="1572768" cy="274320"/>
          </a:xfrm>
          <a:prstGeom prst="rect">
            <a:avLst/>
          </a:prstGeom>
          <a:solidFill>
            <a:srgbClr val="F0FDFA"/>
          </a:solidFill>
          <a:ln w="1016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13832" y="466344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09  RELATED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41464" y="4663440"/>
            <a:ext cx="1572768" cy="274320"/>
          </a:xfrm>
          <a:prstGeom prst="rect">
            <a:avLst/>
          </a:prstGeom>
          <a:solidFill>
            <a:srgbClr val="F8FAFC"/>
          </a:solidFill>
          <a:ln w="1016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96328" y="466344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</a:rPr>
              <a:t>10  Capstone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365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EVALUATE — Reading Tables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43891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Every DAX query must start with EVALUATE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solidFill>
            <a:srgbClr val="EFF6FF"/>
          </a:solidFill>
          <a:ln w="1016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54864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804672"/>
            <a:ext cx="8430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EVALUATE tells Power BI: return this as a table result.  Syntax:  EVALUATE  &lt;table expression&gt;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0700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QUERY A  —  View entire Sales_Reference table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8631936" cy="466344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444752"/>
            <a:ext cx="45720" cy="4663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499616"/>
            <a:ext cx="8430768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Sales_Reference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1911096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1911096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All 510 rows and every column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" y="2295144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QUERY B  —  ORDER BY: sort results highest revenue first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532888"/>
            <a:ext cx="8631936" cy="100126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532888"/>
            <a:ext cx="45720" cy="10012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587752"/>
            <a:ext cx="8430768" cy="909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Sales_Reference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Sales_Reference[Revenue_NPR]  DESC    -- ASC = lowest first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534156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3534156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510 rows sorted by Revenue from highest to lowest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790188"/>
            <a:ext cx="8631936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3790188"/>
            <a:ext cx="4572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790188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ORDER BY goes outside and after the EVALUATE block. DESC = highest first, ASC = lowest first.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" y="4174236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QUERY C  —  ROW: return a single row of calculated KPIs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4411980"/>
            <a:ext cx="8631936" cy="153619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4411980"/>
            <a:ext cx="45720" cy="15361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466844"/>
            <a:ext cx="8430768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"Total Orders",       COUNTROWS( Sales_Reference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"Total Revenue",      SUM( Sales_Reference[Revenue_NPR]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"Total Profit",       SUM( Sales_Reference[Profit_NPR]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"Avg Order Value",    AVERAGE( Sales_Reference[Revenue_NPR]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"Unique Customers",   DISTINCTCOUNT( Sales_Reference[Customer_ID]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5948172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5948172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1 row with 5 KPI columns — like a dashboard summary card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6204204"/>
            <a:ext cx="8631936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" y="6204204"/>
            <a:ext cx="4572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6204204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ROW() creates a single-row result table. Use it whenever you want multiple aggregations at once.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365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FILTER — Conditional Row Selection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43891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Like WHERE in SQL — checks each row and keeps only matching rows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solidFill>
            <a:srgbClr val="F0FDFA"/>
          </a:solidFill>
          <a:ln w="1016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54864" cy="3108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804672"/>
            <a:ext cx="8430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Syntax:  FILTER( Table,  Condition )  —  returns only rows where the condition is true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0700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QUERY A  —  Keep only Delivered orders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8631936" cy="1357884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444752"/>
            <a:ext cx="45720" cy="13578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499616"/>
            <a:ext cx="8430768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Sales_Reference[Order_Status] = "Delivered"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Sales_Reference[Revenue_NPR] DESC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802636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802636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Delivered transactions only  (~340 rows)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" y="3186684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QUERY B  —  Multiple conditions using  &amp;&amp;  (AND)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3424428"/>
            <a:ext cx="8631936" cy="11795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56032" y="3424428"/>
            <a:ext cx="45720" cy="1179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479292"/>
            <a:ext cx="8430768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Sales_Reference[Order_Status]   = "Delivered"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&amp;&amp; Sales_Reference[Payment_Method] = "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eSewa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 //use || for or condition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4604004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4604004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Delivered orders paid by eSewa — both conditions must be true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4860036"/>
            <a:ext cx="8631936" cy="256032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4860036"/>
            <a:ext cx="4572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860036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&amp;&amp;  means AND (both must be true).   ||  means OR (at least one must be true).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" y="5244084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QUERY C  —  Filter by date range — Q4 2024 (October to December)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5481828"/>
            <a:ext cx="8631936" cy="153619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5481828"/>
            <a:ext cx="45720" cy="15361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5536692"/>
            <a:ext cx="8430768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Sales_Reference[Date] &gt;= DATE(2024, 10, 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&amp;&amp; Sales_Reference[Date] &lt;= DATE(2024, 12, 31)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Sales_Reference[Date] ASC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7018020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7018020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October, November and December 2024 transactions only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7274052"/>
            <a:ext cx="8631936" cy="256032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" y="7274052"/>
            <a:ext cx="4572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7274052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DATE(year, month, day) creates a date value for comparison. Always use DATE() — never compare dates as text.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365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CALCULATE — Conditional Aggregation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43891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The most powerful DAX function — evaluates an expression with extra filters applied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solidFill>
            <a:srgbClr val="FFFBEB"/>
          </a:solidFill>
          <a:ln w="1016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54864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804672"/>
            <a:ext cx="8430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Syntax:  CALCULATE( expression,  filter1,  filter2 ... )  —  multiple filters = AND logic (all must be true)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0700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QUERY A  —  Revenue split by Order 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8631936" cy="11795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444752"/>
            <a:ext cx="45720" cy="1179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499616"/>
            <a:ext cx="8430768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"Delivered Revenue",  CALCULATE( SUM(Sales_Reference[Revenue_NPR]), Sales_Reference[Order_Status] = "Delivered"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"Cancelled Revenue",  CALCULATE( SUM(Sales_Reference[Revenue_NPR]), Sales_Reference[Order_Status] = "Cancelled"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"Returned Revenue",   CALCULATE( SUM(Sales_Reference[Revenue_NPR]), Sales_Reference[Order_Status] = "Returned"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624328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624328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3 revenue totals — one per Order Status — side by side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" y="3008376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QUERY B  —  Delivery Rate % and Cancellation Rate 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3246120"/>
            <a:ext cx="8631936" cy="17145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3246120"/>
            <a:ext cx="45720" cy="1714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300984"/>
            <a:ext cx="8430768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"Total Orders",        COUNTROWS( Sales_Reference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"Delivered Orders",    CALCULATE( COUNTROWS(Sales_Reference), Sales_Reference[Order_Status] = "Delivered"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"Delivery Rate %",     DIVIDE( CALCULATE(COUNTROWS(Sales_Reference), Sales_Reference[Order_Status]="Delivered"),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COUNTROWS(Sales_Reference), 0 ),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"Cancellation Rate %", DIVIDE( CALCULATE(COUNTROWS(Sales_Reference), Sales_Reference[Order_Status]="Cancelled"),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COUNTROWS(Sales_Reference), 0 )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4960620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4960620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4 KPIs: Total Orders, Delivered count, Delivery Rate %, Cancellation Rate 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5216652"/>
            <a:ext cx="8631936" cy="256032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5216652"/>
            <a:ext cx="4572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5216652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DIVIDE(A, B, 0) — the third argument (0) is returned when B = 0 to avoid divide-by-zero errors.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" y="560070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QUERY C  —  eSewa vs Khalti Delivered Revenue (multiple filters = AND)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5838444"/>
            <a:ext cx="8631936" cy="17145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5838444"/>
            <a:ext cx="45720" cy="1714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5893308"/>
            <a:ext cx="8430768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"eSewa Delivered",  CALCULATE( SUM(Sales_Reference[Revenue_NPR]),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Sales_Reference[Payment_Method] = "eSewa",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Sales_Reference[Order_Status]   = "Delivered"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"Khalti Delivered", CALCULATE( SUM(Sales_Reference[Revenue_NPR]),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Sales_Reference[Payment_Method] = "Khalti",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Sales_Reference[Order_Status]   = "Delivered"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7552944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7552944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Revenue from eSewa vs Khalti for Delivered orders only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7808976"/>
            <a:ext cx="8631936" cy="256032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" y="7808976"/>
            <a:ext cx="4572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7808976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Listing multiple filters inside CALCULATE separated by commas = AND logic. All conditions must be true.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365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SUMMARIZE — Group By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43891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Like SQL GROUP BY — group rows and aggregate them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solidFill>
            <a:srgbClr val="F0FDFA"/>
          </a:solidFill>
          <a:ln w="1016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54864" cy="3108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804672"/>
            <a:ext cx="8430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Syntax:  SUMMARIZE( Table,  GroupByColumn,  "MeasureName",  Expression, ... 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0700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QUERY A  —  Revenue by Payment Method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8631936" cy="17145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444752"/>
            <a:ext cx="45720" cy="1714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499616"/>
            <a:ext cx="8430768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SUMMARIZE(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Sales_Reference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Sales_Reference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Payment_Method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// group by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"Total Revenue",  SUM( Sales_Reference[Revenue_NPR]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"Total Profit",   SUM( Sales_Reference[Profit_NPR]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"Order Count",    COUNTROWS( Sales_Reference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[Total Revenue] DESC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3159252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3159252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6 rows — one per payment method — with Revenue, Profit and Order Count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" y="354330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QUERY B  —  Revenue by Order Status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3781044"/>
            <a:ext cx="8631936" cy="1892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3781044"/>
            <a:ext cx="45720" cy="1892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835908"/>
            <a:ext cx="8430768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SUMMARIZE(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Sales_Reference[Order_Status],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"Revenue",     SUM( Sales_Reference[Revenue_NPR]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"Profit",      SUM( Sales_Reference[Profit_NPR]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"Orders",      COUNTROWS( Sales_Reference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"Avg Revenue", AVERAGE( Sales_Reference[Revenue_NPR]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[Revenue] DESC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5673852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5673852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3 rows — Delivered, Cancelled, Returned — with 4 metrics each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032" y="605790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QUERY C  —  Monthly Revenue (uses RELATED to join DIM_Date)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6295644"/>
            <a:ext cx="8631936" cy="17145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6295644"/>
            <a:ext cx="45720" cy="1714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6350508"/>
            <a:ext cx="8430768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SUMMARIZE(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RELATED( DIM_Date[Month_Number]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RELATED( DIM_Date[Month_Name]  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"Monthly Revenue", SUM( Sales_Reference[Revenue_NPR]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"Order Count",     COUNTROWS( Sales_Reference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RELATED( DIM_Date[Month_Number] ) ASC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8010144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8010144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12 rows — January through December — with monthly totals in calendar order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8266176"/>
            <a:ext cx="8631936" cy="256032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8266176"/>
            <a:ext cx="4572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8266176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RELATED() fetches a column from a connected table. DIM_Date must be linked to Sales_Reference in Model View.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365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ADDCOLUMNS — Add Computed Columns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43891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Enrich any table with new calculated columns without changing the original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solidFill>
            <a:srgbClr val="F5F3FF"/>
          </a:solidFill>
          <a:ln w="1016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54864" cy="3108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804672"/>
            <a:ext cx="8430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Syntax:  ADDCOLUMNS( Table,  "ColumnName",  Expression,  "ColumnName2",  Expression2, ... 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0700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</a:rPr>
              <a:t>QUERY A  —  Add Profit Margin % to each product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8631936" cy="1892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444752"/>
            <a:ext cx="45720" cy="1892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499616"/>
            <a:ext cx="8430768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ADDCOLUMNS(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"Profit Margin %",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DIVIDE(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Sales_Reference[Profit_NPR],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Sales_Reference[Revenue_NPR],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[Profit Margin %] DESC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3337560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3337560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510 rows with a new column showing profit margin for each transaction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" y="372160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</a:rPr>
              <a:t>QUERY B  —  Classify each transaction into a Revenue Band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3959352"/>
            <a:ext cx="8631936" cy="278434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3959352"/>
            <a:ext cx="45720" cy="27843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4014216"/>
            <a:ext cx="8430768" cy="26929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ADDCOLUMNS(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SELECTCOLUMNS(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"Transaction",  Sales_Reference[Transaction_ID],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"Revenue",      Sales_Reference[Revenue_NPR],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"Status",       Sales_Reference[Order_Status]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"Revenue Band",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IF( [Revenue] &lt; 10000,  "Small  (&lt;10K)",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IF( [Revenue] &lt; 50000,  "Medium  (10K-50K)",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IF( [Revenue] &lt; 100000, "Large  (50K-100K)",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"Very Large  (&gt;100K)" ) )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[Revenue] DESC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6743700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6743700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510 rows with 3 original columns + new Revenue Band label column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6999732"/>
            <a:ext cx="8631936" cy="256032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6999732"/>
            <a:ext cx="4572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6999732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ADDCOLUMNS can wrap SELECTCOLUMNS — first pick which columns to show, then add new calculated ones on top.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" y="738378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</a:rPr>
              <a:t>QUERY C  —  Add total sold units per product category using CALCULATE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7621524"/>
            <a:ext cx="8631936" cy="1357884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7621524"/>
            <a:ext cx="45720" cy="13578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7676388"/>
            <a:ext cx="8430768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ADDCOLUMNS(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DISTINCT( Sales_Reference[Payment_Method]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"Payment Revenue",  CALCULATE( SUM(Sales_Reference[Revenue_NPR])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"Payment Orders",   CALCULATE( COUNTROWS(Sales_Reference)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[Payment Revenue] DESC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8979408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8979408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6 rows — one per payment method — with revenue and order count added as columns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9235440"/>
            <a:ext cx="8631936" cy="256032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" y="9235440"/>
            <a:ext cx="4572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9235440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ADDCOLUMNS uses the current row context automatically inside CALCULATE — very powerful pattern.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365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DEFINE and VAR — Variables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43891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Store intermediate calculations in named variables for cleaner, reusable DAX. Define is the temporary function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solidFill>
            <a:srgbClr val="F5F3FF"/>
          </a:solidFill>
          <a:ln w="1016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54864" cy="3108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804672"/>
            <a:ext cx="8430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Syntax:  EVALUATE  DEFINE  VAR _name = expression  ROW( "Label", _name 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0700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</a:rPr>
              <a:t>QUERY A  —  Use VAR to store totals and reuse them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8631936" cy="2249424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444752"/>
            <a:ext cx="45720" cy="224942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499616"/>
            <a:ext cx="8430768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</a:p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TotalRev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SUM(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Sales_Reference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Revenue_NPR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)</a:t>
            </a:r>
          </a:p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TotalProfit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SUM(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Sales_Reference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Profit_NPR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)</a:t>
            </a:r>
          </a:p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TotalOrders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COUNTROWS(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Sales_Reference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</a:p>
          <a:p>
            <a:endParaRPr lang="en-US" sz="950" dirty="0">
              <a:solidFill>
                <a:srgbClr val="E2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</a:p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ROW(</a:t>
            </a:r>
          </a:p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"Total Revenue",   _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TotalRev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"Total Profit",    _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TotalProfit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"Profit Margin %", DIVIDE( _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TotalProfit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_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TotalRev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0 ),</a:t>
            </a:r>
          </a:p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"Total Orders",    _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TotalOrders</a:t>
            </a:r>
            <a:endParaRPr lang="en-US" sz="950" dirty="0">
              <a:solidFill>
                <a:srgbClr val="E2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3694176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3694176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4 KPI values — each VAR is calculated once and reused as many times as needed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950208"/>
            <a:ext cx="8631936" cy="256032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3950208"/>
            <a:ext cx="4572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950208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VAR names must start with _ or a letter. Convention: use _UpperCamel like _TotalRev to distinguish from column names.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" y="4334256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</a:rPr>
              <a:t>QUERY B  —  VAR inside ADDCOLUMNS — compare each row to the overall average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4572000"/>
            <a:ext cx="8631936" cy="278434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4572000"/>
            <a:ext cx="45720" cy="27843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626864"/>
            <a:ext cx="8430768" cy="26929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_AvgRevenue = AVERAGE( Sales_Reference[Revenue_NPR] 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ADDCOLUMNS(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SELECTCOLUMNS(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"Transaction",  Sales_Reference[Transaction_ID],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"Revenue",      Sales_Reference[Revenue_NPR],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"Status",       Sales_Reference[Order_Status]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"vs Average",     [Revenue] - _AvgRevenue,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"Above Average?", IF( [Revenue] &gt; _AvgRevenue, "Yes", "No"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[Revenue] DESC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7356348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7356348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510 rows — each with how far above/below the average it is, plus a Yes/No flag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7612380"/>
            <a:ext cx="8631936" cy="256032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7612380"/>
            <a:ext cx="4572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7612380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DEFINE goes before the table expression. Variables defined in DEFINE are available throughout the whole query.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032" y="799642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</a:rPr>
              <a:t>QUERY C  —  Store a SUMMARIZE result in a VAR and use it in ADDCOLUMNS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8234172"/>
            <a:ext cx="8631936" cy="26060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" y="8234172"/>
            <a:ext cx="45720" cy="26060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8289036"/>
            <a:ext cx="843076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_Summary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SUMMARIZE(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Sales_Reference[Payment_Method],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"Revenue", SUM( Sales_Reference[Revenue_NPR]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ADDCOLUMNS(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_Summary,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"Revenue Rank",  RANKX( _Summary, [Revenue], , DESC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[Revenue Rank] ASC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10840212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" y="10840212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6 payment methods each with Revenue and Rank (1 = highest) — VAR stores the SUMMARIZE table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11096244"/>
            <a:ext cx="8631936" cy="256032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11096244"/>
            <a:ext cx="4572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11096244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A VAR can store an entire table, not just a number. This makes complex queries much easier to read.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365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TOPN and RANKX — Rankings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43891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Find the top N rows or assign a rank number to each row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solidFill>
            <a:srgbClr val="F0FDF4"/>
          </a:solidFill>
          <a:ln w="1016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54864" cy="3108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804672"/>
            <a:ext cx="8430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TOPN( N, Table, RankByColumn, 0 )  —  0 = DESC highest first  ·  RANKX( Table, Expression, , DESC )  —  1 = best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0700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</a:rPr>
              <a:t>QUERY A  —  Top 5 highest-revenue transactions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8631936" cy="1357884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444752"/>
            <a:ext cx="45720" cy="13578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499616"/>
            <a:ext cx="8430768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5,                                       -- How many rows to return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Sales_Reference,                         -- From this table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Sales_Reference[Revenue_NPR],            -- Ranked by this column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                                        -- 0 = DESC (largest first), 1 = ASC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802636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802636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The 5 single biggest transactions in the dataset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" y="3186684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</a:rPr>
              <a:t>QUERY B  —  Top 10 Products by total revenue sold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3424428"/>
            <a:ext cx="8631936" cy="2249424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3424428"/>
            <a:ext cx="45720" cy="224942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479292"/>
            <a:ext cx="8430768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SUMMARIZE(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Sales_Reference[Product_ID],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"Product Revenue",  SUM( Sales_Reference[Revenue_NPR]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"Units Sold",       SUM( Sales_Reference[Quantity]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[Product Revenue],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5673852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5673852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Top 10 Product IDs ranked by total revenue with units sold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5929884"/>
            <a:ext cx="8631936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5929884"/>
            <a:ext cx="45720" cy="256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5929884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TOPN works on any table — including the result of SUMMARIZE. Combine them freely.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" y="6313932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</a:rPr>
              <a:t>QUERY C  —  RANKX: rank each payment method by revenue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6551676"/>
            <a:ext cx="8631936" cy="26060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6551676"/>
            <a:ext cx="45720" cy="26060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6606540"/>
            <a:ext cx="843076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_Summary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SUMMARIZE(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Sales_Reference[Payment_Method],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"Revenue", SUM( Sales_Reference[Revenue_NPR]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ADDCOLUMNS(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_Summary,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"Rank",  RANKX( _Summary, [Revenue], , DESC )   -- Rank 1 = highest revenue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[Rank] ASC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9157716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9157716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6 payment methods — each with Revenue and Rank (1 = most revenue)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9413748"/>
            <a:ext cx="8631936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" y="9413748"/>
            <a:ext cx="45720" cy="256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9413748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RANKX assigns 1 to the best. Use DESC to rank highest first. Ties get the same rank number.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365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Time Intelligence — Date Functions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43891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Year-to-Date, quarterly grouping, weekday analysis using DIM_Date relationship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solidFill>
            <a:srgbClr val="EFF6FF"/>
          </a:solidFill>
          <a:ln w="1016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54864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804672"/>
            <a:ext cx="8430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Requires: DIM_Date table connected to Sales_Reference[Date] in Model View via a relationship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0700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QUERY A  —  Revenue by Quarter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8631936" cy="17145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444752"/>
            <a:ext cx="45720" cy="1714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499616"/>
            <a:ext cx="8430768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SUMMARIZE(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RELATED( DIM_Date[Quarter]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"Quarter Revenue",   SUM( Sales_Reference[Revenue_NPR]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"Quarter Profit",    SUM( Sales_Reference[Profit_NPR]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"Order Count",       COUNTROWS( Sales_Reference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RELATED( DIM_Date[Quarter] ) ASC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3159252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3159252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4 rows — Q1, Q2, Q3, Q4 — Revenue, Profit and Order Count per quarter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" y="354330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QUERY B  —  YTD (Year-to-Date) running total by month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3781044"/>
            <a:ext cx="8631936" cy="2249424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3781044"/>
            <a:ext cx="45720" cy="22494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835908"/>
            <a:ext cx="8430768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SUMMARIZE(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RELATED( DIM_Date[Month_Number]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RELATED( DIM_Date[Month_Name]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"Monthly Revenue",  CALCULATE( SUM(Sales_Reference[Revenue_NPR])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"YTD Revenue",      CALCULATE(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SUM( Sales_Reference[Revenue_NPR]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DATESYTD( DIM_Date[Date]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RELATED( DIM_Date[Month_Number] ) ASC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6030468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6030468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12 months — Monthly Revenue + running YTD cumulative total side by side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6286500"/>
            <a:ext cx="8631936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6286500"/>
            <a:ext cx="4572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6286500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DATESYTD returns all dates from Jan 1 up to the current date in context — gives a running cumulative total.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" y="667054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QUERY C  —  Weekday vs Weekend Revenue comparison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6908292"/>
            <a:ext cx="8631936" cy="2071116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6908292"/>
            <a:ext cx="45720" cy="20711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6963156"/>
            <a:ext cx="8430768" cy="1979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ADDCOLUMNS(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SUMMARIZE(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RELATED( DIM_Date[Is_Weekend]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"Revenue",   SUM( Sales_Reference[Revenue_NPR]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"Orders",    COUNTROWS( Sales_Reference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"Day Type",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IF( RELATED( DIM_Date[Is_Weekend] ) = 1, "Weekend", "Weekday"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8979408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8979408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2 rows — Weekday vs Weekend — Revenue and Order Count for each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9235440"/>
            <a:ext cx="8631936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" y="9235440"/>
            <a:ext cx="4572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9235440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DIM_Date[Is_Weekend] is 1 for weekend, 0 for weekday. Use IF to convert to readable labels.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365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RELATED — Cross-Table Column Lookup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43891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Pull columns from related dimension tables into your query — like SQL JOIN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solidFill>
            <a:srgbClr val="F0FDFA"/>
          </a:solidFill>
          <a:ln w="1016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54864" cy="3108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804672"/>
            <a:ext cx="8430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RELATED( DimensionTable[Column] )  —  follows the relationship from Many (fact) to One (dimension)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0700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QUERY A  —  Add Customer Name and Province to each transaction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8631936" cy="2249424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444752"/>
            <a:ext cx="45720" cy="22494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499616"/>
            <a:ext cx="8430768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SELECTCOLUMNS(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"Transaction",    Sales_Reference[Transaction_ID],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"Revenue",        Sales_Reference[Revenue_NPR],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"Status",         Sales_Reference[Order_Status],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"Payment",        Sales_Reference[Payment_Method],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"Customer Name",  RELATED( DIM_Customers[Customer_Name]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"Province",       RELATED( DIM_Customers[Province]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"Segment",        RELATED( DIM_Customers[Segment]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Sales_Reference[Revenue_NPR] DESC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3694176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3694176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510 rows — Customer Name, Province and Segment pulled from DIM_Customers into each transaction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950208"/>
            <a:ext cx="8631936" cy="256032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3950208"/>
            <a:ext cx="4572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950208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RELATED works only from the Many side (fact) to the One side (dimension). The relationship must exist in Model View.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" y="4334256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QUERY B  —  Revenue grouped by Province and Customer Segment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4572000"/>
            <a:ext cx="8631936" cy="17145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4572000"/>
            <a:ext cx="45720" cy="1714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626864"/>
            <a:ext cx="8430768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SUMMARIZE(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RELATED( DIM_Customers[Province]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RELATED( DIM_Customers[Segment] 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"Revenue",  SUM( Sales_Reference[Revenue_NPR]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"Orders",   COUNTROWS( Sales_Reference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[Revenue] DESC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6286500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6286500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Revenue for every Province × Segment combination — shows which segment dominates each province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6032" y="667054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QUERY C  —  Revenue by Product Category from DIM_Products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6908292"/>
            <a:ext cx="8631936" cy="1892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6908292"/>
            <a:ext cx="45720" cy="1892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6963156"/>
            <a:ext cx="8430768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SUMMARIZE(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Sales_Reference,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RELATED( DIM_Products[Category]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RELATED( DIM_Products[Brand]   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"Category Revenue",   SUM( Sales_Reference[Revenue_NPR]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"Units Sold",         SUM( Sales_Reference[Quantity]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"Avg Unit Price",     AVERAGE( Sales_Reference[Unit_Price_NPR]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[Category Revenue] DESC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8801100"/>
            <a:ext cx="863193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8801100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Revenue, Units Sold and Avg Price grouped by product Category and Brand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9057132"/>
            <a:ext cx="8631936" cy="256032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" y="9057132"/>
            <a:ext cx="4572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9057132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</a:rPr>
              <a:t>💡  You can RELATED multiple columns from the same or different dimension tables in one SUMMARIZE.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365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Capstone Query — Full Business KPI Summary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43891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Combines DEFINE · VAR · CALCULATE · COUNTROWS · DISTINCTCOUNT · DIVIDE · ROW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8631936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80467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Run this single query to get every key business metric from Sales_Reference at once.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133856"/>
            <a:ext cx="8631936" cy="456742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133856"/>
            <a:ext cx="54864" cy="45674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8449056" cy="449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_TotalRev    = SUM( Sales_Reference[Revenue_NPR]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_TotalProfit = SUM( Sales_Reference[Profit_NPR]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_TotalOrders = COUNTROWS( Sales_Reference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_Delivered   = CALCULATE( COUNTROWS(Sales_Reference), Sales_Reference[Order_Status] = "Delivered"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_Cancelled   = CALCULATE( COUNTROWS(Sales_Reference), Sales_Reference[Order_Status] = "Cancelled"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_Returned    = CALCULATE( COUNTROWS(Sales_Reference), Sales_Reference[Order_Status] = "Returned"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_Customers   = DISTINCTCOUNT( Sales_Reference[Customer_ID]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_AvgOrder    = AVERAGE( Sales_Reference[Revenue_NPR] 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r>
              <a:rPr lang="en-US" sz="95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"Total Revenue (NPR)",     _TotalRev,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"Total Profit (NPR)",      _TotalProfit,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"Profit Margin %",         DIVIDE( _TotalProfit, _TotalRev, 0 ),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"Avg Order Value (NPR)",   _AvgOrder,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"Total Orders",            _TotalOrders,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"Delivered Orders",        _Delivered,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"Cancelled Orders",        _Cancelled,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"Returned Orders",         _Returned,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"Delivery Rate %",         DIVIDE( _Delivered, _TotalOrders, 0 ),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"Cancellation Rate %",     DIVIDE( _Cancelled, _TotalOrders, 0 ),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"Return Rate %",           DIVIDE( _Returned,  _TotalOrders, 0 ),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"Unique Customers",        _Customers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5701284"/>
            <a:ext cx="8631936" cy="274320"/>
          </a:xfrm>
          <a:prstGeom prst="rect">
            <a:avLst/>
          </a:prstGeom>
          <a:solidFill>
            <a:srgbClr val="F0FDF4"/>
          </a:solidFill>
          <a:ln w="1016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5701284"/>
            <a:ext cx="8485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</a:rPr>
              <a:t>→  1 row · 12 KPI columns — Total Revenue, Profit Margin, Avg Order Value, Delivery Rate, Cancellation Rate, Unique Customers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DAX Query View — Quick Reference Cheat Sheet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Sales_Reference  ·  Power BI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658368"/>
            <a:ext cx="4315968" cy="235915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" y="658368"/>
            <a:ext cx="45720" cy="23591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676656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  Table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88336" y="676656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Return a table — every query starts here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658368"/>
            <a:ext cx="4315968" cy="235915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658368"/>
            <a:ext cx="45720" cy="23591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676656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 Col  DESC / ASC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187184" y="676656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Sort the result — goes after the EVALUATE block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4592" y="908914"/>
            <a:ext cx="4315968" cy="235915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4592" y="908914"/>
            <a:ext cx="45720" cy="23591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" y="927202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SELECTCOLUMNS(T, "Name", Col ...)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88336" y="927202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Pick specific columns — like SQL SELECT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908914"/>
            <a:ext cx="4315968" cy="235915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908914"/>
            <a:ext cx="45720" cy="23591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927202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DISTINCT( Column 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87184" y="927202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Return only unique values from a column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" y="1159459"/>
            <a:ext cx="4315968" cy="235915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4592" y="1159459"/>
            <a:ext cx="45720" cy="23591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" y="1177747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ROW( "Label", Expression ... 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88336" y="1177747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Return a single row of calculated values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1159459"/>
            <a:ext cx="4315968" cy="235915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1159459"/>
            <a:ext cx="45720" cy="23591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177747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 Table, Condition 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87184" y="1177747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Keep only rows where the condition is true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64592" y="1410005"/>
            <a:ext cx="4315968" cy="235915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64592" y="1410005"/>
            <a:ext cx="45720" cy="23591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" y="1428293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/  ||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688336" y="1428293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AND — both must be true  /  OR — at least one must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410005"/>
            <a:ext cx="4315968" cy="235915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1410005"/>
            <a:ext cx="45720" cy="23591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1428293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DATE( Year, Month, Day 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87184" y="1428293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Create a date value for use in comparisons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64592" y="1660550"/>
            <a:ext cx="4315968" cy="235915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64592" y="1660550"/>
            <a:ext cx="45720" cy="235915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6032" y="1678838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Expression, Filter 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688336" y="1678838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Evaluate with a filter applied — most powerful function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1660550"/>
            <a:ext cx="4315968" cy="235915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1660550"/>
            <a:ext cx="45720" cy="235915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1678838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 A, B, 0 )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187184" y="1678838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Safe division — returns 0 if B is zero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4592" y="1911096"/>
            <a:ext cx="4315968" cy="235915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64592" y="1911096"/>
            <a:ext cx="45720" cy="23591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56032" y="1929384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SUMMARIZE( T, GroupBy, "N", E 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688336" y="1929384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Group rows and aggregate — like SQL GROUP BY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1911096"/>
            <a:ext cx="4315968" cy="235915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663440" y="1911096"/>
            <a:ext cx="45720" cy="235915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54880" y="1929384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ADDCOLUMNS( T, "Name", Expr 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187184" y="1929384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Add a new calculated column to a table result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64592" y="2161642"/>
            <a:ext cx="4315968" cy="235915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64592" y="2161642"/>
            <a:ext cx="45720" cy="235915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56032" y="2179930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 VAR _name = expression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688336" y="2179930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Declare a named variable to store and reuse a value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63440" y="2161642"/>
            <a:ext cx="4315968" cy="235915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663440" y="2161642"/>
            <a:ext cx="45720" cy="235915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754880" y="2179930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TOPN( N, Table, Column, 0 )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187184" y="2179930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Return the top N rows ranked by a column (0=highest)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64592" y="2412187"/>
            <a:ext cx="4315968" cy="235915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64592" y="2412187"/>
            <a:ext cx="45720" cy="235915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56032" y="2430475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RANKX( Table, Expression, , DESC 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688336" y="2430475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Assign a rank number to each row (1 = best)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63440" y="2412187"/>
            <a:ext cx="4315968" cy="235915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663440" y="2412187"/>
            <a:ext cx="45720" cy="23591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754880" y="2430475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RELATED( Table[Column] 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187184" y="2430475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Fetch a column from a related dimension table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64592" y="2662733"/>
            <a:ext cx="4315968" cy="235915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64592" y="2662733"/>
            <a:ext cx="45720" cy="23591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56032" y="2681021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DATESYTD( DIM_Date[Date] )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688336" y="2681021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All dates from Jan 1 to current date — for YTD totals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663440" y="2662733"/>
            <a:ext cx="4315968" cy="235915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663440" y="2662733"/>
            <a:ext cx="45720" cy="23591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754880" y="2681021"/>
            <a:ext cx="239572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 Column )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187184" y="2681021"/>
            <a:ext cx="168249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Count unique values only — excludes duplicates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4173</Words>
  <Application>Microsoft Office PowerPoint</Application>
  <PresentationFormat>On-screen Show (16:9)</PresentationFormat>
  <Paragraphs>469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Sauhar Khanal</cp:lastModifiedBy>
  <cp:revision>7</cp:revision>
  <dcterms:created xsi:type="dcterms:W3CDTF">2026-05-12T12:49:03Z</dcterms:created>
  <dcterms:modified xsi:type="dcterms:W3CDTF">2026-05-13T02:50:36Z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2026-05-12T12:55:08Z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c2d31631-56c9-4645-859c-cf6ba2201d06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