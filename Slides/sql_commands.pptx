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6" r:id="rId20"/>
    <p:sldId id="277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9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99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 •  INSERT  •  UPDATE  •  DELETE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 •  REVOKE  •  COMMIT  •  TRANSACTION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201168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ALTER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2788920"/>
            <a:ext cx="2011680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INSERT/UPDATE/DELETE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2788920"/>
            <a:ext cx="201168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– GRANT/REVOKE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2788920"/>
            <a:ext cx="2011680" cy="347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– COMMIT/TRANSACTION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examples use the Nepal School database — teachers, subjects, students, enrollments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•  Business Data Analytics with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Database: Nepal School 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these 4 tables for all examples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01168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837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26609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32304" y="98755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32304" y="987552"/>
            <a:ext cx="2011680" cy="3840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32304" y="987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23744" y="142646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23744" y="1837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subject_name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23744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teacher_id (FK)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23744" y="26609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credits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08576" y="98755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08576" y="987552"/>
            <a:ext cx="2011680" cy="38404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08576" y="987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0016" y="142646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0016" y="1837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student_name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0016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0016" y="26609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is_active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84848" y="987552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84848" y="987552"/>
            <a:ext cx="2011680" cy="3840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84848" y="9875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76288" y="142646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enrollment_id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76288" y="1837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student_id (FK)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76288" y="224942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subject_id (FK)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76288" y="26609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grade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4663440"/>
            <a:ext cx="749808" cy="3474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5176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" y="4727448"/>
            <a:ext cx="7717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ALTER, INSERT, UPDATE and DELETE data in these tables. GRANT/REVOKE control who can access them. COMMIT/TRANSACTION make changes safe.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121408"/>
            <a:ext cx="896112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4B8A6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structure of an existing table — add, modify, rename, or drop columns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— Add a New Column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to store extra information that didn't exist before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We want to store each teacher's email address and phone number.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41605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a single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teachers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 email VARCHAR(100);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Add multiple columns at once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teachers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 phone VARCHAR(15),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 joined_date DATE;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2618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teachers table now has 2 new columns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36192"/>
          <a:ext cx="4206240" cy="164592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663440" y="31546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rows get NULL for the new column — fill them with UPDATE later.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4320" y="4114800"/>
            <a:ext cx="749808" cy="3657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83464" y="411480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" y="417880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table_name  ADD COLUMN column_name datatype;  — You can add multiple columns by repeating ADD COLUMN separated by commas.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— Modify, Rename &amp; Drop Columns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powerful ALTER operations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COLUMN (change data type)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Make city longer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teachers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COLUMN </a:t>
            </a:r>
            <a:r>
              <a:rPr lang="en-US" sz="950" dirty="0" err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joined_date</a:t>
            </a: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 VARCHAR(100);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data type of an existing column.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9144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914400"/>
            <a:ext cx="2743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1316736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46704" y="13716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Rename 'city' to 'home_city'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teachers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COLUMN city TO home_city;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73552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a column without changing its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9144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914400"/>
            <a:ext cx="2743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81344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 (delete a column)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316736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54496" y="13716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phone (not needed)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teachers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COLUMN phone;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81344" y="2423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deletes the column and all its data!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" y="46360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 is irreversible — the data is permanently gone. Always take a backup first!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121408"/>
            <a:ext cx="896112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B82F6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 •  UPDATE  •  DELETE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the actual data rows inside your tables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Add New Rows to a Table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student, teacher, or enrollment starts with INSERT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Syntax Forms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Form 1: Insert ONE 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(student_name, city, is_active)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('Nisha Karki', 'Kathmandu', TRUE);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Form 2: Insert MULTIPLE rows at once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(student_name, city, is_active)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('Bikash Rai',   'Dharan',     TRUE),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('Anita Gurung', 'Pokhara',    TRUE),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('Sagar Panta',  'Butwal',     FALSE);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table — Before &amp; After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2743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(5 rows)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206240" cy="100584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 Thapa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Gurung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2423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715768"/>
            <a:ext cx="420624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(8 rows)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990088"/>
          <a:ext cx="4206240" cy="150876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 Thapa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Nisha Karki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Bikash Rai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Dharan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Gurung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274320" y="4114800"/>
            <a:ext cx="85953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4114800"/>
            <a:ext cx="749808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83464" y="41148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5568" y="41788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in INSERT are optional if you provide values for ALL columns in order. But always name columns — it makes code easier to read and avoids mistakes.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Modify Existing Rows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that is already in the table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2633472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ONE specific row (always use WHERE!)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city = 'Lalitpur', is_active =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student_id = 4;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MULTIPLE rows matching a condition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enrollments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grade = 'B'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grade = 'C';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⚠ NO WHERE = updates ALL rows!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students SET is_active = FALSE;  -- DANGER!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of:  UPDATE students SET city='Lalitpur' WHERE student_id=4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2743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206240" cy="10058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 Poudel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Kabita Shrestha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Dahal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Chitwan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25877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852928"/>
            <a:ext cx="420624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127248"/>
          <a:ext cx="4206240" cy="10058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 Poudel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Kabita Shrestha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Lalitpur 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Dahal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Chitwan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5568" y="46360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WHERE with UPDATE. Without WHERE, every single row in the table gets changed!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Remove Rows from a Table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removes rows — use with extreme 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Syntax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ONE specific 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student_id = 6;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rows matching a condition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enrollments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grade = 'C';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ALL rows (table stays, data gone)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enrollments;  -- DANGER: no WHERE!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Safer alternative: TRUNCATE (much faster)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enrollments;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vs TRUNCATE vs DROP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206240" cy="1005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Exists?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(fast)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+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4663440" y="2560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Delete rows individually and keep each log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57200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" y="46360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child tables (enrollments) FIRST, then parent (students). Foreign key constraints will block the wrong order!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Quick Summary — INSERT, UPDATE, DELETE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4572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INSERT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rows to a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88366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(student_name, city, is_active)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('Nisha', 'KTM', TRUE);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880360"/>
            <a:ext cx="260604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29077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3127248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values for all required (NOT NULL) columns.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63824" y="960120"/>
            <a:ext cx="2743200" cy="4572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55264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UPDATE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5264" y="14630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data in EXISTING rows.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55264" y="1828800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28416" y="188366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city = 'Pokhara'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student_id = 3;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5264" y="2880360"/>
            <a:ext cx="260604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00984" y="29077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00984" y="3127248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WHERE — without it, ALL rows are updated!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71616" y="960120"/>
            <a:ext cx="2743200" cy="45720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960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DELETE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056" y="14630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EXISTING rows.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63056" y="1828800"/>
            <a:ext cx="2578608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188366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student_id = 6;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2880360"/>
            <a:ext cx="260604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08776" y="29077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08776" y="3127248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WHERE — without it, ALL rows are deleted!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" y="4663440"/>
            <a:ext cx="749808" cy="3474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5176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4727448"/>
            <a:ext cx="7717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adds rows. UPDATE changes rows. DELETE removes rows. All three are DML (Data Manipulation Language) — they change the DATA, not the table structure.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121408"/>
            <a:ext cx="896112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2C55E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 &amp;  REVOKE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access your database and WHAT they can 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— Give Permissions to a User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exactly what each user is allowed to 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Our school database has two users — admin_user (full access) and report_user (read only).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Syntax &amp; Examples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" y="1508760"/>
            <a:ext cx="4206240" cy="2971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9319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Grant SELECT only (read-only user)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students TO report_user;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Grant multiple privileges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enrollments TO admin_user;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Grant on ALL tables in schema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ALL TABLES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SCHEMA public TO </a:t>
            </a:r>
            <a:r>
              <a:rPr lang="en-US" sz="1050" dirty="0" err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report_user</a:t>
            </a: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2344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Privileges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20624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allows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rows from a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rows to a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rows from a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 combined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3310128"/>
            <a:ext cx="4206240" cy="1353312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3310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Matrix</a:t>
            </a:r>
            <a:endParaRPr lang="en-US" sz="1100" dirty="0"/>
          </a:p>
        </p:txBody>
      </p:sp>
      <p:sp>
        <p:nvSpPr>
          <p:cNvPr id="10" name="Text 10"/>
          <p:cNvSpPr/>
          <p:nvPr/>
        </p:nvSpPr>
        <p:spPr>
          <a:xfrm>
            <a:off x="4681728" y="35661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04688" y="35661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27648" y="35661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50608" y="35661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73568" y="356616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81728" y="388620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report_user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04688" y="388620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388620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50608" y="388620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73568" y="388620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81728" y="4206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admin_user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04688" y="4206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27648" y="4206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50608" y="4206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73568" y="420624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4663440"/>
            <a:ext cx="749808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83464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" y="47274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privilege ON table TO user;   |   Privilege = SELECT, INSERT, UPDATE, DELETE, ALL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— Take Back Permissions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access that was previously granted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report_user tried to change student data. We need to remove their UPDATE permission.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Syntax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206240" cy="28346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Revoke one privilege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UPDATE ON students FROM report_user;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Revoke multiple privileges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INSERT, DELETE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enrollments FROM report_user;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Revoke ALL privileges on a 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ALL ON teachers FROM report_user;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Revoke on all tables in schema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ALL ON ALL TABLES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SCHEMA public FROM report_user;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2344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vs REVOKE — Mirror Commands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206240" cy="1005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permission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permission away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Locks the 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2816352"/>
            <a:ext cx="42062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2907792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Same privilege, opposite directions: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 SELECT ON students TO report_user;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SELECT ON students FROM report_user;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Check: use PostgreSQL system 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grantee, privilege_type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information_schema.role_table_grants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table_name = 'students';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1"/>
          <p:cNvSpPr/>
          <p:nvPr/>
        </p:nvSpPr>
        <p:spPr>
          <a:xfrm>
            <a:off x="274320" y="4663440"/>
            <a:ext cx="749808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83464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" y="47274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does NOT cascade automatically in all databases. If user A granted to user B, revoking from A may not revoke B's access. Always audit permissions carefully.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2121408"/>
            <a:ext cx="89611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59E0B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 •  COMMIT  •  ROLLBACK  •  SAVEPOINT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groups of changes safe, atomic, and reversible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Transaction?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groups multiple SQL statements into ONE atomic unit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Bank Transfer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Rs 5,000 from Account A to Account B requires TWO steps: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Deduct Rs 5,000 from Account A     Step 2: Add Rs 5,000 to Account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Step 1 succeeds but the system crashes before Step 2 — money is LOST. A Transaction ensures BOTH happen or NEITHER happens.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Scenario: Enrolling a student safely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5943600" cy="2267712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56692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  -- Start the transaction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Step 1: Add the student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students (student_name, city, is_active)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('Manisha Lama', 'Kathmandu', TRUE);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Step 2: Add their enrollment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enrollments (student_id, subject_id, grade)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(9, 1, NULL);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Save both changes together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2468880" cy="2578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670048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6883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All or nothing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191256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209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Rules always valid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712464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30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Isolated: No interference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4233672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251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Durable: Saved permanently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749808" cy="347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3464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" y="47274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starts the transaction. All changes are temporary until COMMIT saves them permanently, or ROLLBACK undoes them all.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— Undo All Changes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goes wrong, ROLLBACK reverses everything since BEGIN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 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3273552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3192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a student by mistake!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'Kathmandu';  -- Too broad!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Oh no — deleted Aarav AND Kabita!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Quick: undo everything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  -- Both students are back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Now do it correctly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students WHERE student_id = 6;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vs ROLLBACK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— transaction starts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19072"/>
            <a:ext cx="420624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719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 execute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(changes are temporary)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success?  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1920240" cy="54864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permanently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2606040"/>
            <a:ext cx="1920240" cy="54864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undone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192024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Changes visible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246120"/>
            <a:ext cx="19202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32461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Database 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before BEGIN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749808" cy="3474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3464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" y="47274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only works BEFORE COMMIT. Once COMMIT is executed, the changes are permanent — ROLLBACK cannot undo them.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— Partial Rollback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checkpoints inside a transaction so you can undo only part of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Like saving a game mid-level — if you die, you restart from the last save, not from the very beginning.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303520" cy="370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(student_name, city, is_active)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('Test User', 'Pokhara', TRUE);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after_student;  -- Checkpoint 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enrollments (student_id, subject_id, grade)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(10, 99, 'A');  -- subject_id 99 does not exist!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Error! Roll back only the enrollment insert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TO SAVEPOINT after_student;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Save everything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Timeline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2999232" cy="475488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97880" y="15727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4032" y="160934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2148840"/>
            <a:ext cx="2999232" cy="47548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216712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student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4032" y="220370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added (temp)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743200"/>
            <a:ext cx="2999232" cy="47548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97880" y="276148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14032" y="279806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saved 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3337560"/>
            <a:ext cx="2999232" cy="475488"/>
          </a:xfrm>
          <a:prstGeom prst="rect">
            <a:avLst/>
          </a:prstGeom>
          <a:solidFill>
            <a:srgbClr val="991B1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335584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fails!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14032" y="33924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subject_id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2160" y="3931920"/>
            <a:ext cx="2999232" cy="475488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395020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4032" y="39867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checkpoint only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4526280"/>
            <a:ext cx="2999232" cy="475488"/>
          </a:xfrm>
          <a:prstGeom prst="rect">
            <a:avLst/>
          </a:prstGeom>
          <a:solidFill>
            <a:srgbClr val="15803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45445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14032" y="458114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saved!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 Categories — At a Glance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 •  DML  •  DCL  •  TCL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011680" cy="5943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969264"/>
            <a:ext cx="19019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627632"/>
            <a:ext cx="187452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table structure (add/modify/drop columns)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578608"/>
            <a:ext cx="187452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87121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 table from scratch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529584"/>
            <a:ext cx="1874520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5295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entire table permanently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32304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32304" y="960120"/>
            <a:ext cx="2011680" cy="59436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05456" y="969264"/>
            <a:ext cx="19019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23744" y="1627632"/>
            <a:ext cx="187452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23744" y="16276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23744" y="1920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rows to a table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23744" y="2578608"/>
            <a:ext cx="187452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23744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23744" y="287121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existing rows (always use WHERE!)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23744" y="3529584"/>
            <a:ext cx="187452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23744" y="35295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23744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from a table (always use WHERE!)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08576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08576" y="960120"/>
            <a:ext cx="2011680" cy="59436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81728" y="969264"/>
            <a:ext cx="19019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0016" y="1627632"/>
            <a:ext cx="1874520" cy="27432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0016" y="16276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0016" y="1920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privileges to a user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0016" y="2578608"/>
            <a:ext cx="1874520" cy="27432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0016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0016" y="287121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back privileges from a 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84848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84848" y="960120"/>
            <a:ext cx="2011680" cy="59436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0" y="969264"/>
            <a:ext cx="19019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76288" y="1627632"/>
            <a:ext cx="1874520" cy="2743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76288" y="16276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/ START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19202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transaction block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76288" y="2578608"/>
            <a:ext cx="1874520" cy="2743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76288" y="2578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76288" y="287121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all changes permanently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76288" y="3529584"/>
            <a:ext cx="1874520" cy="2743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76288" y="35295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76288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all changes since BEGIN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56032" y="4681728"/>
            <a:ext cx="749808" cy="3474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65176" y="46817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" y="4745736"/>
            <a:ext cx="7717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changes STRUCTURE. DML changes DATA. DCL controls ACCESS. TCL controls SAFETY of changes.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 — Nepal School Database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in DBeaver using your existing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57200" cy="12344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005840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ALTER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2344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email column to the teachers table. Then add a joined_date column of type DATE.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ALTER TABLE teachers ADD COLUMN email VARCHAR(100);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457200" cy="12344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25856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304288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INSERT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53288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 new students: 'Bina Thapa' from Bhaktapur (active) and 'Manish Lama' from Lalitpur (inactive).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08152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INSERT INTO students (student_name, city, is_active) VALUES (...);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457200" cy="12344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55701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602736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UPDATE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83133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Kabita Shrestha's is_active status to TRUE and change her city to 'Lalitpur'.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3799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UPDATE students SET city='Lalitpur', is_active=TRUE WHERE student_id=4;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57200" cy="123444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96012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93792" y="1005840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12344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delete all enrollments for student_id=5 (Rohan). Then delete Rohan from the students table.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178308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DELETE FROM enrollments WHERE student_id=5; then DELETE FROM students WHERE student_id=5;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25856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258568"/>
            <a:ext cx="457200" cy="123444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25856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304288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– GRANT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253288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 'viewer' and grant them SELECT-only access to the students and enrollments tables.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308152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CREATE USER viewer; GRANT SELECT ON students TO viewer;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55701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557016"/>
            <a:ext cx="457200" cy="12344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355701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93792" y="3602736"/>
            <a:ext cx="3547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– Transaction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383133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transaction, add a new student AND their enrollment. Use SAVEPOINT between the two inserts. COMMIT at the end.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43799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Hint: BEGIN; INSERT INTO students...; SAVEPOINT sp1; INSERT INTO enrollments...; COMMIT;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371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0116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– ALTER 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COLUMN col datatype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COLUMN col TYPE 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COLUMN old TO new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COLUMN col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2304" y="777240"/>
            <a:ext cx="20116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32304" y="777240"/>
            <a:ext cx="201168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05456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– Data Changes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42032" y="1188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 (cols) VALUES (...)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 SET col=val WHERE 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4688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t WHERE 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31089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Always use WHERE!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777240"/>
            <a:ext cx="20116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08576" y="777240"/>
            <a:ext cx="201168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– Access Control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1188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priv ON table TO user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18304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priv ON table FROM user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24688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Privileges: SELECT INSERT UPDATE DELETE 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31089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GRANT OPTION = pass-on rights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84848" y="777240"/>
            <a:ext cx="20116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84848" y="777240"/>
            <a:ext cx="201168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– Transactions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94576" y="11887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— start transaction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4576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— save permanently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4576" y="24688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— undo since BEGIN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310896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 x / ROLLBACK TO 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47000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structure   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data   </a:t>
            </a: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access  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safety   |   Always use WHERE with UPDATE &amp; DELETE!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440740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•  Business Data Analytics with AI  •  SQL Module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2690</Words>
  <Application>Microsoft Office PowerPoint</Application>
  <PresentationFormat>On-screen Show (16:9)</PresentationFormat>
  <Paragraphs>559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Commands – DDL, DML, DCL, TCL</dc:title>
  <dc:subject>PptxGenJS Presentation</dc:subject>
  <dc:creator>PptxGenJS</dc:creator>
  <cp:lastModifiedBy>Sauhar Khanal</cp:lastModifiedBy>
  <cp:revision>10</cp:revision>
  <dcterms:created xsi:type="dcterms:W3CDTF">2026-03-27T09:08:03Z</dcterms:created>
  <dcterms:modified xsi:type="dcterms:W3CDTF">2026-03-30T01:50:27Z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2026-03-27T09:35:18Z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962e6251-50eb-4c8e-9d56-6975c3743439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