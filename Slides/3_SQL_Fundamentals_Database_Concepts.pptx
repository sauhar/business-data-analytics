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1" r:id="rId9"/>
    <p:sldId id="282" r:id="rId10"/>
    <p:sldId id="289" r:id="rId11"/>
    <p:sldId id="290" r:id="rId12"/>
    <p:sldId id="283" r:id="rId13"/>
    <p:sldId id="284" r:id="rId14"/>
    <p:sldId id="285" r:id="rId15"/>
    <p:sldId id="286" r:id="rId16"/>
    <p:sldId id="287" r:id="rId17"/>
    <p:sldId id="288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7" r:id="rId32"/>
    <p:sldId id="278" r:id="rId33"/>
    <p:sldId id="279" r:id="rId34"/>
    <p:sldId id="280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39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2374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Fundamentals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Database Concepts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Data Analytics with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Learn Today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0972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 (and why it matters)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62763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Rows, and Columns explained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5798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15798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SQL Commands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688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68833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SQL query: SELECT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21868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1868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with WHERE, Sorting with ORDER BY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749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Grouping, Aggregations &amp; Handling NULLs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27939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42793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tables with JOINs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digital filing cabinet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12801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is an organized collection of data stored electronically.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keeping information in paper files or Excel sheets scattered across your computer, a database keeps everything in one place — organized, searchable, and secure.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are everywhere: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Your bank stores your account balance and transactions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Amazon stores products, prices, and your order history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Your phone's contact list is a simple database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Schools store student records, grades, and attendance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SQL?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= Structured Query Language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(Pronounced "sequel" or "S-Q-L")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the language we use to "talk" to databases. When you want to get data from a database, you write a SQL query (a question), and the database gives you an answer.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11887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Analogy: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 librarian (the database). You ask: "Show me all books by Nepali authors published after 2020." The librarian searches and gives you a list. SQL is how you ask that question to a computer!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learn SQL?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no.1 skill for working with data.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SQL Commands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commands are grouped into 5 categories based on their function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731520" cy="5029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1371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Query Language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13716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Ask questions: reading data, nothing changes</a:t>
            </a:r>
          </a:p>
        </p:txBody>
      </p:sp>
      <p:sp>
        <p:nvSpPr>
          <p:cNvPr id="8" name="Shape 6"/>
          <p:cNvSpPr/>
          <p:nvPr/>
        </p:nvSpPr>
        <p:spPr>
          <a:xfrm>
            <a:off x="5943600" y="1371600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035040" y="13716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731520" cy="5029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02996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 Language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202996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Change the data: the rows inside the table</a:t>
            </a:r>
          </a:p>
        </p:txBody>
      </p:sp>
      <p:sp>
        <p:nvSpPr>
          <p:cNvPr id="14" name="Shape 12"/>
          <p:cNvSpPr/>
          <p:nvPr/>
        </p:nvSpPr>
        <p:spPr>
          <a:xfrm>
            <a:off x="5943600" y="2029968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35040" y="20299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INSERT, UPDATE, DELETE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688336"/>
            <a:ext cx="731520" cy="50292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688336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25880" y="268833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Definition Language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49040" y="2688336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Change the structure: the table itself</a:t>
            </a:r>
          </a:p>
        </p:txBody>
      </p:sp>
      <p:sp>
        <p:nvSpPr>
          <p:cNvPr id="20" name="Shape 18"/>
          <p:cNvSpPr/>
          <p:nvPr/>
        </p:nvSpPr>
        <p:spPr>
          <a:xfrm>
            <a:off x="5943600" y="2688336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35040" y="268833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CREATE, ALTER, DROP, TRUNCATE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46704"/>
            <a:ext cx="73152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346704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25880" y="3346704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Control Language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749040" y="334670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Control who can </a:t>
            </a:r>
            <a:r>
              <a:rPr 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do what: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permissions</a:t>
            </a:r>
          </a:p>
        </p:txBody>
      </p:sp>
      <p:sp>
        <p:nvSpPr>
          <p:cNvPr id="26" name="Shape 24"/>
          <p:cNvSpPr/>
          <p:nvPr/>
        </p:nvSpPr>
        <p:spPr>
          <a:xfrm>
            <a:off x="5943600" y="3346704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035040" y="334670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GRANT, REVOKE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005072"/>
            <a:ext cx="731520" cy="5029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400507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25880" y="400507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Control Language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749040" y="400507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Save or undo your work</a:t>
            </a:r>
          </a:p>
        </p:txBody>
      </p:sp>
      <p:sp>
        <p:nvSpPr>
          <p:cNvPr id="32" name="Shape 30"/>
          <p:cNvSpPr/>
          <p:nvPr/>
        </p:nvSpPr>
        <p:spPr>
          <a:xfrm>
            <a:off x="5943600" y="4005072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035040" y="400507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COMMIT, ROLLBACK, SAVEPOINT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Tables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is like an Excel spreadsheet inside the database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customers table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14630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ram@email.com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sita@email.com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 Gurung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hari@email.com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Lalitpur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Columns (fields) = types of information</a:t>
            </a:r>
            <a:endParaRPr lang="en-US" sz="1200" dirty="0"/>
          </a:p>
        </p:txBody>
      </p:sp>
      <p:sp>
        <p:nvSpPr>
          <p:cNvPr id="5" name="Text 4"/>
          <p:cNvSpPr/>
          <p:nvPr/>
        </p:nvSpPr>
        <p:spPr>
          <a:xfrm>
            <a:off x="5029200" y="3291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Rows (records) = individual entries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4114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= collection of related data (like one Excel sheet)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= a specific attribute (name, email, city)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= one complete record (one customer's information)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SQL Query: SELECT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tells the database what columns you want to see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column1, column2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table_name;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1: Get all customer names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393192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 FROM customers;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2: Get names and cities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393192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city FROM customers;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6974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Tip: SELECT * means "all columns"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3063240"/>
            <a:ext cx="393192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31089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customers;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Keys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enforce rules about uniqueness and relationships between tables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54864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85216" y="1389888"/>
            <a:ext cx="420624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85216" y="1389888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" y="1389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5216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Uniquely identifies each row in a table. Cannot be NULL. Only one per table.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85216" y="2048256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20482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SERIAL PRIMARY KEY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9744" y="1261872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09744" y="1261872"/>
            <a:ext cx="54864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937760" y="1389888"/>
            <a:ext cx="42062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37760" y="1389888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31536" y="1389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a column in one table to the Primary Key of another table. Enforces referential integrity.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2048256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10912" y="20482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 INT REFERENCES customers(id)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468880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54864" cy="10789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85216" y="2596896"/>
            <a:ext cx="420624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5216" y="2596896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UQ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8992" y="2596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85216" y="29260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all values in a column are different. Unlike PK, allows one NULL. A table can have many.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85216" y="3255264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8368" y="325526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VARCHAR(255) UNIQUE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9744" y="2468880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09744" y="2468880"/>
            <a:ext cx="54864" cy="107899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937760" y="2596896"/>
            <a:ext cx="420624" cy="2926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37760" y="2596896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31536" y="2596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37760" y="29260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a column must always have a value — it can never be empty/NULL.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7760" y="3255264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10912" y="325526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VARCHAR(100) NOT NULL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675888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7200" y="3675888"/>
            <a:ext cx="54864" cy="10789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85216" y="3803904"/>
            <a:ext cx="420624" cy="2926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85216" y="3803904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8992" y="38039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Constraint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85216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that values meet a custom condition before they are inserted or updated.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85216" y="4462272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58368" y="44622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salary NUMERIC CHECK (salary &gt; 0)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809744" y="3675888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809744" y="3675888"/>
            <a:ext cx="54864" cy="107899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937760" y="3803904"/>
            <a:ext cx="420624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937760" y="3803904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431536" y="38039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Value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937760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fills a column with a value if none is provided at insert time.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937760" y="4462272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010912" y="44622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VARCHAR DEFAULT 'active'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03504" y="4681728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Quick Rule: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should have a Primary Key. Foreign Keys link tables together. Unique Keys prevent duplicates on non-PK columns.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in PostgreSQL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declare every key type in a real CREATE TABLE statement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4572000" cy="352958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21792" y="1316736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employees table (PostgreSQL)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1536192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employees (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755648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" y="1975104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SERIAL PRIMARY KEY,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1792" y="2194560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dept_id  INT REFERENCES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1792" y="2414016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departments(id),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2633472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email    VARCHAR(255) UNIQUE,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" y="2852928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ED7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VARCHAR(100) NOT NULL,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" y="3072384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salary   NUMERIC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" y="3291840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CHECK (salary &gt; 0),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" y="3511296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   VARCHAR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" y="3730752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DEFAULT 'active'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" y="3950208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" y="4169664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30368" y="1207008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230368" y="1207008"/>
            <a:ext cx="54864" cy="4754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58384" y="124358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KEY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58384" y="14264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is auto-incremented (SERIAL) and unique — the row identifier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230368" y="1773936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230368" y="1773936"/>
            <a:ext cx="54864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58384" y="18105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FOREIGN KEY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358384" y="19933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dept_id must match an id that exists in the departments table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230368" y="2340864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230368" y="2340864"/>
            <a:ext cx="5486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58384" y="23774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358384" y="25603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two employees can share the same email address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230368" y="2907792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230368" y="2907792"/>
            <a:ext cx="54864" cy="4754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58384" y="29443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NULL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358384" y="31272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employee must have a name — empty is not allowed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0368" y="3474720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230368" y="3474720"/>
            <a:ext cx="54864" cy="4754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58384" y="351129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358384" y="36941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must be a positive number — negative is rejected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230368" y="4041648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230368" y="4041648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358384" y="407822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358384" y="426110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status is not given, it automatically becomes 'active'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solidFill>
            <a:srgbClr val="FFFBEB"/>
          </a:solidFill>
          <a:ln w="635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03504" y="475488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PostgreSQL note: </a:t>
            </a: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columns allow multiple NULLs (NULLs are not considered equal). PRIMARY KEY does not allow any NULL.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Constraint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that a column value MUST satisfy — PostgreSQL rejects any row that breaks the rule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77824"/>
            <a:ext cx="8229600" cy="329184"/>
          </a:xfrm>
          <a:prstGeom prst="rect">
            <a:avLst/>
          </a:prstGeom>
          <a:solidFill>
            <a:srgbClr val="EA580C">
              <a:alpha val="10000"/>
            </a:srgbClr>
          </a:solidFill>
          <a:ln w="12700">
            <a:solidFill>
              <a:srgbClr val="EA580C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54864" cy="3291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bouncer at the door: </a:t>
            </a: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row enters the table, CHECK inspects the value. If it fails the condition, the entire INSERT or UPDATE is rejected with an error — the row never enters the table.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931920" cy="1664208"/>
          </a:xfrm>
          <a:prstGeom prst="rect">
            <a:avLst/>
          </a:prstGeom>
          <a:solidFill>
            <a:srgbClr val="F8FAFC"/>
          </a:solidFill>
          <a:ln w="12700">
            <a:solidFill>
              <a:srgbClr val="EA580C">
                <a:alpha val="6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931920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1280160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CHECK to your products + orders tables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1572768"/>
            <a:ext cx="3712464" cy="131673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13232" y="166420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products (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3232" y="184708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product_id  INT PRIMARY KEY,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02996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product_name VARCHAR(100) NOT NULL,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" y="221284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category    VARCHAR(50),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3232" y="239572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      DECIMAL(10,2)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3232" y="257860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 (price &gt; 0),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3232" y="276148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stock_qty   INT DEFAULT 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" y="294436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 (stock_qty &gt;= 0)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1280160"/>
            <a:ext cx="3931920" cy="1664208"/>
          </a:xfrm>
          <a:prstGeom prst="rect">
            <a:avLst/>
          </a:prstGeom>
          <a:solidFill>
            <a:srgbClr val="F8FAFC"/>
          </a:solidFill>
          <a:ln w="12700">
            <a:solidFill>
              <a:srgbClr val="EA580C">
                <a:alpha val="6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1280160"/>
            <a:ext cx="3931920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64608" y="1280160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on orders.status — only valid values allowed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64608" y="1572768"/>
            <a:ext cx="3712464" cy="131673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10912" y="166420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orders (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10912" y="184708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order_id    INT PRIMARY KEY,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10912" y="202996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customer_id INT,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10912" y="221284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order_date  DATE,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10912" y="239572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      VARCHAR(20)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10912" y="257860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 (status IN (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10912" y="276148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'Pending','Processing',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10912" y="294436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'Shipped','Delivered'))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3017520"/>
            <a:ext cx="822960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0358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TEST if CHECK constraint is working — try inserting bad data and see if PostgreSQL blocks it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310128"/>
            <a:ext cx="4133088" cy="603504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>
                <a:alpha val="55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" y="3310128"/>
            <a:ext cx="54864" cy="6035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85216" y="334670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FAILS — blocked by constraint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85216" y="352958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products VALUES (999,'Bad',NULL,-500,10);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85216" y="371246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new row violates check constraint — price=-500 fails price &gt; 0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828032" y="3310128"/>
            <a:ext cx="4133088" cy="603504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>
                <a:alpha val="55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828032" y="3310128"/>
            <a:ext cx="54864" cy="6035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956048" y="334670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PASSES — allowed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956048" y="352958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products VALUES (999,'Good',NULL,85000,10);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956048" y="371246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0 1  ← PostgreSQL accepts it, price=85000 passes price &gt; 0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57200" y="4005072"/>
            <a:ext cx="4133088" cy="603504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>
                <a:alpha val="55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57200" y="4005072"/>
            <a:ext cx="54864" cy="6035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85216" y="404164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FAILS — blocked by constraint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5216" y="4224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orders VALUES (9999,1,'2024-01-01','Cancelled');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5216" y="440740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new row violates check constraint — 'Cancelled' not in allowed list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828032" y="4005072"/>
            <a:ext cx="4133088" cy="603504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>
                <a:alpha val="55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28032" y="4005072"/>
            <a:ext cx="54864" cy="6035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956048" y="404164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PASSES — allowed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956048" y="4224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orders VALUES (9999,1,'2024-01-01','Delivered');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956048" y="440740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0 1  ← 'Delivered' is in the allowed list, passes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57200" y="4736592"/>
            <a:ext cx="8229600" cy="384048"/>
          </a:xfrm>
          <a:prstGeom prst="rect">
            <a:avLst/>
          </a:prstGeom>
          <a:solidFill>
            <a:srgbClr val="7C3AED">
              <a:alpha val="10000"/>
            </a:srgbClr>
          </a:solidFill>
          <a:ln w="12700">
            <a:solidFill>
              <a:srgbClr val="7C3AED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57200" y="4736592"/>
            <a:ext cx="54864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03504" y="47731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CHECK to existing table: 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798064" y="4773168"/>
            <a:ext cx="576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products ADD CONSTRAINT chk_price CHECK (price &gt; 0);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03504" y="49377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CHECK: 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75104" y="4937760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products DROP CONSTRAINT chk_price;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  &amp;  DEFAULT Value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essential column-level rules — UNIQUE prevents duplicates, DEFAULT fills blanks automatically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77824"/>
            <a:ext cx="822960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877824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 — no two rows can have the same value in this column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931920" cy="969264"/>
          </a:xfrm>
          <a:prstGeom prst="rect">
            <a:avLst/>
          </a:prstGeom>
          <a:solidFill>
            <a:srgbClr val="F8FAFC"/>
          </a:solidFill>
          <a:ln w="12700">
            <a:solidFill>
              <a:srgbClr val="0D9488">
                <a:alpha val="58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" y="1207008"/>
            <a:ext cx="3712464" cy="85953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Option 1: inline on column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13232" y="148132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VARCHAR(150) UNIQUE,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3504" y="1691640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Option 2: named constraint (recommended)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1867782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uq_email UNIQUE (email)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1170432"/>
            <a:ext cx="3931920" cy="969264"/>
          </a:xfrm>
          <a:prstGeom prst="rect">
            <a:avLst/>
          </a:prstGeom>
          <a:solidFill>
            <a:srgbClr val="F8FAFC"/>
          </a:solidFill>
          <a:ln w="12700">
            <a:solidFill>
              <a:srgbClr val="0D9488">
                <a:alpha val="58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64608" y="1207008"/>
            <a:ext cx="3712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TEST UNIQUE is working: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64608" y="1408176"/>
            <a:ext cx="3712464" cy="219456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64608" y="1408176"/>
            <a:ext cx="54864" cy="2194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92624" y="1435608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email='new@email.com'  → INSERT succeeds (email is new)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864608" y="1664208"/>
            <a:ext cx="3712464" cy="36576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64608" y="1664208"/>
            <a:ext cx="54864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92624" y="1691640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email='ram.sharma@email.com'  → BLOCKED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92624" y="1847088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ERROR: duplicate key value — Key (email) already exists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03504" y="221284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249424"/>
            <a:ext cx="822960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224028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Value — automatically fills a column when no value is provided at INSERT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2551176"/>
            <a:ext cx="3931920" cy="1938528"/>
          </a:xfrm>
          <a:prstGeom prst="rect">
            <a:avLst/>
          </a:prstGeom>
          <a:solidFill>
            <a:srgbClr val="F8FAFC"/>
          </a:solidFill>
          <a:ln w="12700">
            <a:solidFill>
              <a:srgbClr val="7C3AED">
                <a:alpha val="58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48640" y="2596896"/>
            <a:ext cx="3712464" cy="18470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94944" y="269122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orders (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3232" y="290634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order_id   INT PRIMARY KEY,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13232" y="3064925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customer_id INT,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13232" y="3221816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order_date DATE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76656" y="3404456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CURRENT_DATE,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76656" y="360586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 VARCHAR(20)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" y="3802220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'Processing',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76656" y="394852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priority INT DEFAULT 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4672" y="416966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663440" y="2526872"/>
            <a:ext cx="3931920" cy="1938528"/>
          </a:xfrm>
          <a:prstGeom prst="rect">
            <a:avLst/>
          </a:prstGeom>
          <a:solidFill>
            <a:srgbClr val="F8FAFC"/>
          </a:solidFill>
          <a:ln w="12700">
            <a:solidFill>
              <a:srgbClr val="7C3AED">
                <a:alpha val="58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46320" y="2642616"/>
            <a:ext cx="3712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inserted row looks like in the table: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846320" y="2816352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provided: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864608" y="3008376"/>
            <a:ext cx="3712464" cy="40233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919472" y="302666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orders (order_id, customer_id)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919472" y="3185000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(2001, 1);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46320" y="3429000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automatically filled the rest: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846320" y="3643163"/>
            <a:ext cx="64008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77602" y="3643163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0" y="3643163"/>
            <a:ext cx="694944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541264" y="36301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181344" y="3643163"/>
            <a:ext cx="749808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245352" y="359359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order_date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908292" y="3643163"/>
            <a:ext cx="82296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995160" y="3643163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status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7731252" y="3643163"/>
            <a:ext cx="553332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7795260" y="3625596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3673" y="3882109"/>
            <a:ext cx="548640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902146" y="3922297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95682" y="3881869"/>
            <a:ext cx="694944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514794" y="39242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090866" y="3886200"/>
            <a:ext cx="749808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153430" y="391279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2024-01-20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43201" y="3886200"/>
            <a:ext cx="822960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6908292" y="3903887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662792" y="3886200"/>
            <a:ext cx="621792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7762894" y="391411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864608" y="4239688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auto-filled by DEFAULT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Keys: PostgreSQL vs Cloud Data Warehouses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enforces keys strictly. BigQuery and Snowflake support keys differently — optimised for parallel bulk loading at massive scale.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2633472" cy="512064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35024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 OLTP/DW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55264" y="1078992"/>
            <a:ext cx="2633472" cy="5120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55264" y="1097280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55264" y="1335024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Parallel processing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53328" y="1078992"/>
            <a:ext cx="2633472" cy="512064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53328" y="1097280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53328" y="1335024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DW · Parallel processing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70078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175564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55264" y="170078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55264" y="170078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83280" y="173736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83280" y="193852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for query optimisation only. No error on duplicates.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53328" y="170078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53328" y="170078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81344" y="173736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81344" y="193852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 / metadata only. Used by optimiser, not enforced.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234086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30352" y="239572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55264" y="234086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5264" y="234086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83280" y="237744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83280" y="257860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for documentation. Joins work but violations allowed.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053328" y="234086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053328" y="234086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81344" y="237744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81344" y="257860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Rely keyword. Engine trusts you — no validation at write time.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" y="298094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30352" y="303580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55264" y="298094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255264" y="298094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383280" y="301752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383280" y="321868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unique constraints. Handle dedup in query with QUALIFY ROW_NUMBER.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053328" y="298094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53328" y="298094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181344" y="301752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81344" y="321868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keyword accepted but not validated. Designer responsibility.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7200" y="362102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30352" y="367588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55264" y="362102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255264" y="3621024"/>
            <a:ext cx="54864" cy="5669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83280" y="36576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ENFORCED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383280" y="385876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and enforced on table columns.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053328" y="362102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053328" y="3621024"/>
            <a:ext cx="54864" cy="5669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181344" y="36576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ENFORCED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81344" y="385876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and enforced. Most reliable constraint in both DWs.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57200" y="4261104"/>
            <a:ext cx="2633472" cy="566928"/>
          </a:xfrm>
          <a:prstGeom prst="rect">
            <a:avLst/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30352" y="431596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enforce in DW?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255264" y="4261104"/>
            <a:ext cx="2633472" cy="566928"/>
          </a:xfrm>
          <a:prstGeom prst="rect">
            <a:avLst/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383280" y="429768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at scale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383280" y="449884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Enforcing PK/FK would require scanning billions of rows on every insert. Too slow.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053328" y="4261104"/>
            <a:ext cx="2633472" cy="566928"/>
          </a:xfrm>
          <a:prstGeom prst="rect">
            <a:avLst/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181344" y="429768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at scale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181344" y="449884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bulk loads skip constraint checks intentionally for performance.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57200" y="4773168"/>
            <a:ext cx="8229600" cy="292608"/>
          </a:xfrm>
          <a:prstGeom prst="rect">
            <a:avLst/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PK, FK, and Unique Keys Are Not Enforced in BigQuery &amp; Snowflake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limitation — it is a deliberate design decision for speed at massive scale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2615184" cy="201168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>
                <a:alpha val="55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60704"/>
            <a:ext cx="2615184" cy="3291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2615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million rows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1792224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every night from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source systems.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needs to be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into the DW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fast as possible.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4408" y="1060704"/>
            <a:ext cx="2615184" cy="201168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>
                <a:alpha val="55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64408" y="1060704"/>
            <a:ext cx="2615184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64408" y="1060704"/>
            <a:ext cx="2615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Keys Were Enforced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74136" y="148132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new row: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136" y="1737360"/>
            <a:ext cx="2395728" cy="365760"/>
          </a:xfrm>
          <a:prstGeom prst="rect">
            <a:avLst/>
          </a:prstGeom>
          <a:solidFill>
            <a:srgbClr val="DC2626">
              <a:alpha val="10000"/>
            </a:srgbClr>
          </a:solidFill>
          <a:ln w="12700">
            <a:solidFill>
              <a:srgbClr val="DC2626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47288" y="17556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Scan ALL existing rows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PK uniqueness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74136" y="2157984"/>
            <a:ext cx="2395728" cy="365760"/>
          </a:xfrm>
          <a:prstGeom prst="rect">
            <a:avLst/>
          </a:prstGeom>
          <a:solidFill>
            <a:srgbClr val="DC2626">
              <a:alpha val="10000"/>
            </a:srgbClr>
          </a:solidFill>
          <a:ln w="12700">
            <a:solidFill>
              <a:srgbClr val="DC2626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47288" y="217627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Scan another table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verify FK exists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74136" y="2578608"/>
            <a:ext cx="2395728" cy="365760"/>
          </a:xfrm>
          <a:prstGeom prst="rect">
            <a:avLst/>
          </a:prstGeom>
          <a:solidFill>
            <a:srgbClr val="DC2626">
              <a:alpha val="10000"/>
            </a:srgbClr>
          </a:solidFill>
          <a:ln w="12700">
            <a:solidFill>
              <a:srgbClr val="DC2626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Scan ALL rows again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UNIQUE check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71616" y="1060704"/>
            <a:ext cx="2615184" cy="201168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>
                <a:alpha val="55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71616" y="1060704"/>
            <a:ext cx="2615184" cy="3291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71616" y="1060704"/>
            <a:ext cx="2615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Do Instead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81344" y="1481328"/>
            <a:ext cx="2395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 at full speed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1000s of machines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— NO checks.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81344" y="2048256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declare the keys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metadata hints.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81344" y="2432304"/>
            <a:ext cx="2395728" cy="530352"/>
          </a:xfrm>
          <a:prstGeom prst="rect">
            <a:avLst/>
          </a:prstGeom>
          <a:solidFill>
            <a:srgbClr val="059669">
              <a:alpha val="12000"/>
            </a:srgbClr>
          </a:solidFill>
          <a:ln w="12700">
            <a:solidFill>
              <a:srgbClr val="059669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54496" y="2450592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query optimiser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them to plan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JOINs.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72384" y="2066544"/>
            <a:ext cx="20116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870448" y="2066544"/>
            <a:ext cx="20116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3182112"/>
            <a:ext cx="822960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1821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analogy — why PostgreSQL CAN enforce but BigQuery/Snowflake CANNOT at the same speed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3493008"/>
            <a:ext cx="39319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336791">
                <a:alpha val="6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" y="3493008"/>
            <a:ext cx="54864" cy="12801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85216" y="35295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—  Bank teller window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85216" y="380390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 at a time. Before accepting a deposit, the teller checks your account balance, verifies your ID, and confirms the account exists. Slow but thorough. Works perfectly for 50 customers a day.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352544" y="3913632"/>
            <a:ext cx="438912" cy="40233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352544" y="391363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54880" y="3493008"/>
            <a:ext cx="39319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1A73E8">
                <a:alpha val="6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54880" y="3493008"/>
            <a:ext cx="54864" cy="1280160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82896" y="35295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/ Snowflake  —  Airport check-in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82896" y="380390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passengers at 200 counters simultaneously. If every counter had to call every other counter before boarding each passenger to check for duplicates — the airport would collapse. Instead they trust the booking system did the check upstream.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3504" y="486460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Key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column or group of columns that can uniquely identify every row — including combinations with extra unnecessary columns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969264"/>
            <a:ext cx="48463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926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table — same as slide 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45720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11704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1170432"/>
            <a:ext cx="137160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1170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1170432"/>
            <a:ext cx="192024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40864" y="1170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06240" y="1170432"/>
            <a:ext cx="109728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261104" y="1170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426464"/>
            <a:ext cx="4572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" y="1444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14400" y="1426464"/>
            <a:ext cx="13716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87552" y="1444752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 Sharma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86000" y="1426464"/>
            <a:ext cx="192024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59152" y="1444752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ram@email.com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06240" y="1426464"/>
            <a:ext cx="109728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279392" y="1444752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Kathmandu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1664208"/>
            <a:ext cx="4572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" y="1682496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14400" y="1664208"/>
            <a:ext cx="13716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87552" y="1682496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 Thapa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0" y="1664208"/>
            <a:ext cx="1920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359152" y="168249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sita@email.com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06240" y="1664208"/>
            <a:ext cx="109728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79392" y="168249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Pokhara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1901952"/>
            <a:ext cx="4572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0352" y="192024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14400" y="1901952"/>
            <a:ext cx="13716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87552" y="1920240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 Gurung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286000" y="1901952"/>
            <a:ext cx="192024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59152" y="1920240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hari@email.com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206240" y="1901952"/>
            <a:ext cx="109728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279392" y="1920240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Lalitpur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0" y="969264"/>
            <a:ext cx="3200400" cy="1225296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>
                <a:alpha val="6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486400" y="969264"/>
            <a:ext cx="320040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486400" y="9692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577840" y="12984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 Key is ANY set of one or more columns that uniquely identifies each row.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does NOT matter — it can have extra columns. The only rule is: no two rows can have the same value(s) for that set.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" y="2231136"/>
            <a:ext cx="8229600" cy="256032"/>
          </a:xfrm>
          <a:prstGeom prst="rect">
            <a:avLst/>
          </a:prstGeom>
          <a:solidFill>
            <a:srgbClr val="EA580C">
              <a:alpha val="12000"/>
            </a:srgbClr>
          </a:solidFill>
          <a:ln w="12700">
            <a:solidFill>
              <a:srgbClr val="EA580C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48640" y="224942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valid super keys for the customers table — any of these uniquely identifies each row: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" y="2578608"/>
            <a:ext cx="4169664" cy="566928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>
                <a:alpha val="5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57200" y="2578608"/>
            <a:ext cx="54864" cy="56692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85216" y="2670048"/>
            <a:ext cx="237744" cy="182880"/>
          </a:xfrm>
          <a:prstGeom prst="rect">
            <a:avLst/>
          </a:prstGeom>
          <a:solidFill>
            <a:srgbClr val="EA580C">
              <a:alpha val="40000"/>
            </a:srgbClr>
          </a:solidFill>
          <a:ln w="12700">
            <a:solidFill>
              <a:srgbClr val="EA580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85216" y="2670048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77824" y="265176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{id}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85216" y="288950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2 · 3 are all different → uniquely identifies every row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09744" y="2578608"/>
            <a:ext cx="4169664" cy="566928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>
                <a:alpha val="5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809744" y="2578608"/>
            <a:ext cx="54864" cy="56692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937760" y="2670048"/>
            <a:ext cx="237744" cy="182880"/>
          </a:xfrm>
          <a:prstGeom prst="rect">
            <a:avLst/>
          </a:prstGeom>
          <a:solidFill>
            <a:srgbClr val="EA580C">
              <a:alpha val="40000"/>
            </a:srgbClr>
          </a:solidFill>
          <a:ln w="12700">
            <a:solidFill>
              <a:srgbClr val="EA580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937760" y="2670048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230368" y="265176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{email}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937760" y="288950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ram@, sita@, hari@ all different → uniquely identifies every row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57200" y="3236976"/>
            <a:ext cx="4169664" cy="56692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>
                <a:alpha val="38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57200" y="3236976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85216" y="3328416"/>
            <a:ext cx="237744" cy="182880"/>
          </a:xfrm>
          <a:prstGeom prst="rect">
            <a:avLst/>
          </a:prstGeom>
          <a:solidFill>
            <a:srgbClr val="D97706">
              <a:alpha val="30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85216" y="3328416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77824" y="331012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{id, name}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85216" y="3547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unique — but name is EXTRA.  {id} alone already does the job.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809744" y="3236976"/>
            <a:ext cx="4169664" cy="56692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>
                <a:alpha val="38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809744" y="3236976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937760" y="3328416"/>
            <a:ext cx="237744" cy="182880"/>
          </a:xfrm>
          <a:prstGeom prst="rect">
            <a:avLst/>
          </a:prstGeom>
          <a:solidFill>
            <a:srgbClr val="D97706">
              <a:alpha val="30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937760" y="3328416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230368" y="331012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{id, email}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4937760" y="3547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unique — but email is EXTRA.  {id} alone already does the job.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57200" y="3895344"/>
            <a:ext cx="4169664" cy="56692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>
                <a:alpha val="38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57200" y="3895344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85216" y="3986784"/>
            <a:ext cx="237744" cy="182880"/>
          </a:xfrm>
          <a:prstGeom prst="rect">
            <a:avLst/>
          </a:prstGeom>
          <a:solidFill>
            <a:srgbClr val="D97706">
              <a:alpha val="30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85216" y="398678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77824" y="3968496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{id, name, city}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85216" y="4206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unique — but name AND city are EXTRA columns.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809744" y="3895344"/>
            <a:ext cx="4169664" cy="56692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>
                <a:alpha val="38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809744" y="3895344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4937760" y="3986784"/>
            <a:ext cx="237744" cy="182880"/>
          </a:xfrm>
          <a:prstGeom prst="rect">
            <a:avLst/>
          </a:prstGeom>
          <a:solidFill>
            <a:srgbClr val="D97706">
              <a:alpha val="30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937760" y="398678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230368" y="3968496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{email, city}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4937760" y="4206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unique — but city is EXTRA.  {email} alone already does the job.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solidFill>
            <a:srgbClr val="EA580C">
              <a:alpha val="10000"/>
            </a:srgbClr>
          </a:solidFill>
          <a:ln w="12700">
            <a:solidFill>
              <a:srgbClr val="EA580C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457200" y="4572000"/>
            <a:ext cx="54864" cy="4572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603504" y="46085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603504" y="4773168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MANY super keys for any table — most have unnecessary extra columns. The goal of a Candidate Key is to filter these down to only the minimal ones.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minimal super keys — the only columns eligible to become Primary Key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957232"/>
            <a:ext cx="8229600" cy="621792"/>
          </a:xfrm>
          <a:prstGeom prst="rect">
            <a:avLst/>
          </a:prstGeom>
          <a:solidFill>
            <a:srgbClr val="059669">
              <a:alpha val="11000"/>
            </a:srgbClr>
          </a:solidFill>
          <a:ln w="12700">
            <a:solidFill>
              <a:srgbClr val="059669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969264"/>
            <a:ext cx="54864" cy="6217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03504" y="98755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candidate key is a super key with NO extra columns. Remove any one column and it immediately stops being unique. Only these qualify as candidates for the Primary Key.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2618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682496"/>
            <a:ext cx="48463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68249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table — same as slide 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883664"/>
            <a:ext cx="45720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064" y="18836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1883664"/>
            <a:ext cx="137160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9264" y="18836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0" y="1883664"/>
            <a:ext cx="192024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340864" y="18836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06240" y="1883664"/>
            <a:ext cx="109728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61104" y="18836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139696"/>
            <a:ext cx="4572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2157984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4400" y="2139696"/>
            <a:ext cx="13716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87552" y="215798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 Sharma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0" y="2139696"/>
            <a:ext cx="192024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359152" y="21579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ram@email.com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06240" y="2139696"/>
            <a:ext cx="109728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79392" y="2157984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Kathmandu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377440"/>
            <a:ext cx="4572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0352" y="2395728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" y="2377440"/>
            <a:ext cx="13716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87552" y="2395728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 Thapa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286000" y="2377440"/>
            <a:ext cx="1920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359152" y="2395728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sita@email.com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206240" y="2377440"/>
            <a:ext cx="109728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279392" y="239572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Pokhara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2615184"/>
            <a:ext cx="4572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30352" y="263347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14400" y="2615184"/>
            <a:ext cx="13716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87552" y="2633472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 Gurung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286000" y="2615184"/>
            <a:ext cx="192024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359152" y="2633472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hari@email.com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206240" y="2615184"/>
            <a:ext cx="109728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79392" y="2633472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Lalitpur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29443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test to each candidate — can I remove any column and still keep it unique?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3255264"/>
            <a:ext cx="8229600" cy="457200"/>
          </a:xfrm>
          <a:prstGeom prst="rect">
            <a:avLst/>
          </a:prstGeom>
          <a:solidFill>
            <a:srgbClr val="059669">
              <a:alpha val="9000"/>
            </a:srgbClr>
          </a:solidFill>
          <a:ln w="12700">
            <a:solidFill>
              <a:srgbClr val="059669">
                <a:alpha val="32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48640" y="3328416"/>
            <a:ext cx="1133856" cy="219456"/>
          </a:xfrm>
          <a:prstGeom prst="rect">
            <a:avLst/>
          </a:prstGeom>
          <a:solidFill>
            <a:srgbClr val="059669">
              <a:alpha val="4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85216" y="3337560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{id}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255264"/>
            <a:ext cx="54864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755648" y="33101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id →  Nothing left → cannot identify any row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755648" y="349300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 ✓  — minimal, nothing to remove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3803904"/>
            <a:ext cx="8229600" cy="457200"/>
          </a:xfrm>
          <a:prstGeom prst="rect">
            <a:avLst/>
          </a:prstGeom>
          <a:solidFill>
            <a:srgbClr val="059669">
              <a:alpha val="9000"/>
            </a:srgbClr>
          </a:solidFill>
          <a:ln w="12700">
            <a:solidFill>
              <a:srgbClr val="059669">
                <a:alpha val="32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48640" y="3877056"/>
            <a:ext cx="1133856" cy="219456"/>
          </a:xfrm>
          <a:prstGeom prst="rect">
            <a:avLst/>
          </a:prstGeom>
          <a:solidFill>
            <a:srgbClr val="059669">
              <a:alpha val="4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85216" y="3886200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{email}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57200" y="3803904"/>
            <a:ext cx="54864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755648" y="385876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email →  Nothing left → cannot identify any row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755648" y="404164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 ✓  — minimal, nothing to remove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4352544"/>
            <a:ext cx="8229600" cy="457200"/>
          </a:xfrm>
          <a:prstGeom prst="rect">
            <a:avLst/>
          </a:prstGeom>
          <a:solidFill>
            <a:srgbClr val="DC2626">
              <a:alpha val="9000"/>
            </a:srgbClr>
          </a:solidFill>
          <a:ln w="12700">
            <a:solidFill>
              <a:srgbClr val="DC2626">
                <a:alpha val="32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48640" y="4425696"/>
            <a:ext cx="1133856" cy="219456"/>
          </a:xfrm>
          <a:prstGeom prst="rect">
            <a:avLst/>
          </a:prstGeom>
          <a:solidFill>
            <a:srgbClr val="DC2626">
              <a:alpha val="40000"/>
            </a:srgbClr>
          </a:solidFill>
          <a:ln w="12700">
            <a:solidFill>
              <a:srgbClr val="DC262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85216" y="4434840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{id, email}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57200" y="4352544"/>
            <a:ext cx="54864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755648" y="44074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email →  id alone still identifies rows 1, 2, 3 uniquely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755648" y="459028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candidate key ✗  — email was redundant / extra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" y="4919472"/>
            <a:ext cx="8229600" cy="1828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03504" y="4928616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table has </a:t>
            </a: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candidate keys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we choose </a:t>
            </a: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Primary Key (integer is simpler, stays stable even if email changes)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  &amp;  Surrogate Key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key patterns you will use constantly in data warehousing and ELT pipelines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913632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>
                <a:alpha val="62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108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389888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Key made from TWO OR MORE columns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combined. No single column is unique alone 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together they are.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1956816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course_enrollment table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91440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3504" y="215798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student_id 🔑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81328" y="2157984"/>
            <a:ext cx="82296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517904" y="2157984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course_id 🔑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304288" y="2157984"/>
            <a:ext cx="658368" cy="2377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340864" y="215798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62656" y="2157984"/>
            <a:ext cx="1024128" cy="2377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99232" y="2157984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enrolled_on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" y="2395728"/>
            <a:ext cx="914400" cy="20116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3504" y="24140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81328" y="2395728"/>
            <a:ext cx="822960" cy="20116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517904" y="2414016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304288" y="2395728"/>
            <a:ext cx="65836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340864" y="2414016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962656" y="2395728"/>
            <a:ext cx="102412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999232" y="2414016"/>
            <a:ext cx="950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2024-01-10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6928" y="2596896"/>
            <a:ext cx="914400" cy="201168"/>
          </a:xfrm>
          <a:prstGeom prst="rect">
            <a:avLst/>
          </a:prstGeom>
          <a:solidFill>
            <a:srgbClr val="F5F3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03504" y="26151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481328" y="2596896"/>
            <a:ext cx="822960" cy="201168"/>
          </a:xfrm>
          <a:prstGeom prst="rect">
            <a:avLst/>
          </a:prstGeom>
          <a:solidFill>
            <a:srgbClr val="F5F3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517904" y="2615184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CS102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04288" y="2596896"/>
            <a:ext cx="65836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340864" y="261518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962656" y="2596896"/>
            <a:ext cx="102412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999232" y="2615184"/>
            <a:ext cx="950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2024-01-10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66928" y="2798064"/>
            <a:ext cx="914400" cy="20116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3504" y="281635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481328" y="2798064"/>
            <a:ext cx="822960" cy="20116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517904" y="281635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CS101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304288" y="2798064"/>
            <a:ext cx="65836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340864" y="2816352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62656" y="2798064"/>
            <a:ext cx="102412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999232" y="2816352"/>
            <a:ext cx="950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2024-01-11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66928" y="2999232"/>
            <a:ext cx="914400" cy="201168"/>
          </a:xfrm>
          <a:prstGeom prst="rect">
            <a:avLst/>
          </a:prstGeom>
          <a:solidFill>
            <a:srgbClr val="F5F3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03504" y="301752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1002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481328" y="2999232"/>
            <a:ext cx="822960" cy="201168"/>
          </a:xfrm>
          <a:prstGeom prst="rect">
            <a:avLst/>
          </a:prstGeom>
          <a:solidFill>
            <a:srgbClr val="F5F3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517904" y="3017520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CS103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304288" y="2999232"/>
            <a:ext cx="65836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340864" y="3017520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B+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962656" y="2999232"/>
            <a:ext cx="102412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999232" y="3017520"/>
            <a:ext cx="950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2024-01-11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66928" y="3236976"/>
            <a:ext cx="3712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student_id 1001 appears twice — NOT unique alone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course_id CS101 appears twice — NOT unique alone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(1001, CS101) appears only ONCE — UNIQUE ✓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66928" y="3749040"/>
            <a:ext cx="3712464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76656" y="3785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KEY (student_id, course_id)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76656" y="396849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two columns declared together as one PK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40080" y="4315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754880" y="1005840"/>
            <a:ext cx="3931920" cy="3913632"/>
          </a:xfrm>
          <a:prstGeom prst="rect">
            <a:avLst/>
          </a:prstGeom>
          <a:solidFill>
            <a:srgbClr val="ECFEFF"/>
          </a:solidFill>
          <a:ln w="12700">
            <a:solidFill>
              <a:srgbClr val="0891B2">
                <a:alpha val="62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754880" y="1005840"/>
            <a:ext cx="3931920" cy="3108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754880" y="10058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Key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4864608" y="1389888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ARTIFICIAL key added by the database — not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source data. Usually an auto-incrementing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integer. Has NO business meaning.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864608" y="1956816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key  vs  Surrogate key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864608" y="2157984"/>
            <a:ext cx="1755648" cy="2194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937760" y="215798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(natural) ✗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864608" y="2377440"/>
            <a:ext cx="175564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937760" y="2395728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ram@email.com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864608" y="2578608"/>
            <a:ext cx="175564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4937760" y="2596896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sita@email.com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864608" y="2779776"/>
            <a:ext cx="175564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937760" y="279806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hari@email.com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864608" y="2980944"/>
            <a:ext cx="1755648" cy="201168"/>
          </a:xfrm>
          <a:prstGeom prst="rect">
            <a:avLst/>
          </a:prstGeom>
          <a:solidFill>
            <a:srgbClr val="FEE2E2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4937760" y="2999232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changed@email.com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4864608" y="3200400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email changes →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FK refs break!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729984" y="2157984"/>
            <a:ext cx="1755648" cy="2194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803136" y="215798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member_sk (surr.) ✓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729984" y="2377440"/>
            <a:ext cx="175564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803136" y="2395728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6729984" y="2578608"/>
            <a:ext cx="175564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6803136" y="2596896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6729984" y="2779776"/>
            <a:ext cx="175564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6803136" y="279806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29984" y="2980944"/>
            <a:ext cx="1755648" cy="201168"/>
          </a:xfrm>
          <a:prstGeom prst="rect">
            <a:avLst/>
          </a:prstGeom>
          <a:solidFill>
            <a:srgbClr val="ECFE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6803136" y="2999232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(new row)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729984" y="3200400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email changes →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member_sk stays 1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864608" y="3547872"/>
            <a:ext cx="3712464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4974336" y="3584448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PostgreSQL (SERIAL = auto-increment)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974336" y="3774186"/>
            <a:ext cx="349300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member_sk  SERIAL PRIMARY KEY</a:t>
            </a:r>
            <a:b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900" dirty="0" err="1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</a:t>
            </a: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INT PRIMARY KEY IDENTITY(1,1)</a:t>
            </a:r>
            <a:b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900" dirty="0" err="1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</a:t>
            </a: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INT GENERATED ALWAYS AS IDENTITY (START WITH 1, INCREMENT BY 1)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4974336" y="4114800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937760" y="424281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457200" y="4974336"/>
            <a:ext cx="8229600" cy="1097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Key Types — Complete Reference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broadest concept (Super Key) down to the most practical implementation pattern (Surrogate Key)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EA580C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2706624" cy="2926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97840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50976" y="98755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Key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316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column or combination that uniquely identifies a row.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" y="160934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broad — includes redundant combinations. Not minimal.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956816"/>
            <a:ext cx="2487168" cy="713232"/>
          </a:xfrm>
          <a:prstGeom prst="rect">
            <a:avLst/>
          </a:prstGeom>
          <a:solidFill>
            <a:srgbClr val="EA580C">
              <a:alpha val="15000"/>
            </a:srgbClr>
          </a:solidFill>
          <a:ln w="12700">
            <a:solidFill>
              <a:srgbClr val="EA580C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19933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{student_id}  {email}  {student_id, email}  {student_id, name, dob}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364992" y="932688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59669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364992" y="932688"/>
            <a:ext cx="2706624" cy="2926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56432" y="978408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56432" y="97840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CK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58768" y="98755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74720" y="1316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super keys — remove any column and uniqueness breaks.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160934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can exist. One of them is chosen to become Primary Key.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474720" y="1956816"/>
            <a:ext cx="2487168" cy="713232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529584" y="19933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{student_id}  {email}  {phone}    ← all are minimal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72784" y="932688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2563EB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72784" y="932688"/>
            <a:ext cx="2706624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364224" y="978408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64224" y="97840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766560" y="98755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82512" y="1316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candidate key chosen to be the official row identifier.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82512" y="160934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NULL. Only one per table. Automatically indexed.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382512" y="1956816"/>
            <a:ext cx="2487168" cy="713232"/>
          </a:xfrm>
          <a:prstGeom prst="rect">
            <a:avLst/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37376" y="19933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SERIAL PRIMARY KEY    ← chosen from candidate keys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7200" y="2926080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" y="2926080"/>
            <a:ext cx="270662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48640" y="2971800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" y="297180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50976" y="2980944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66928" y="331012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that references the Primary Key of another table.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3602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referential integrity — the value must exist in parent.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66928" y="3950208"/>
            <a:ext cx="2487168" cy="713232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1792" y="39867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dept_id INT REFERENCES departments(id)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364992" y="2926080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7C3AED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364992" y="2926080"/>
            <a:ext cx="2706624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456432" y="2971800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456432" y="297180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58768" y="2980944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474720" y="331012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Key made from two or more columns combined.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474720" y="3602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when no single column is unique alone. Common in fact tables.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474720" y="3950208"/>
            <a:ext cx="2487168" cy="71323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529584" y="39867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KEY (student_id, course_id)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9" name="Shape 47"/>
          <p:cNvSpPr/>
          <p:nvPr/>
        </p:nvSpPr>
        <p:spPr>
          <a:xfrm>
            <a:off x="6272784" y="2926080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891B2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272784" y="2926080"/>
            <a:ext cx="2706624" cy="2926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364224" y="2971800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364224" y="297180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766560" y="2980944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Key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382512" y="331012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artificial key added by the system — not from source data.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382512" y="3602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Auto-increment integer. Stable even when business data changes.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382512" y="3950208"/>
            <a:ext cx="2487168" cy="713232"/>
          </a:xfrm>
          <a:prstGeom prst="rect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437376" y="39867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member_sk SERIAL    ← DW dim tables always use surrogate keys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8" name="Shape 56"/>
          <p:cNvSpPr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03504" y="4882896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Relationship: </a:t>
            </a:r>
            <a:r>
              <a:rPr lang="en-US" sz="8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Key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⊃  contains all  ⊃  </a:t>
            </a: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Keys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chosen as  →  </a:t>
            </a:r>
            <a:r>
              <a:rPr lang="en-US" sz="8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PK from multiple columns   |   </a:t>
            </a: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Key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system-generated PK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in Action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customers table: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3931920" cy="118872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ram@email.com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sita@email.com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 Gurung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hari@email.com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Lalitpur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3931920" cy="5029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29260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city FROM customers;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206240" y="20116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4" name="Text 6"/>
          <p:cNvSpPr/>
          <p:nvPr/>
        </p:nvSpPr>
        <p:spPr>
          <a:xfrm>
            <a:off x="4754880" y="914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234440"/>
          <a:ext cx="3931920" cy="118872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 Gurung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Lalitpur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40080" y="37490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We only get the columns we asked for (name and city). The id and email columns are not shown because we didn't SELECT them.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Data with WHERE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lets you filter rows based on a condition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column1, column2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table_name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condition;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53035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customers WHERE city = 'Kathmandu';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0" y="2834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customers from Kathmandu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520440"/>
            <a:ext cx="53035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products WHERE price &gt; 1000;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35204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costing more than 1000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06240"/>
            <a:ext cx="53035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42519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orders WHERE order_date = '2024-01-15';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42062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from a specific date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Comparison Operators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these to compare values in your conditions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737360" y="1325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931920" y="132588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city = 'Pokhara'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 or &lt;&gt;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737360" y="1737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equal to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31920" y="173736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02336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status != 'cancelled'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148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373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931920" y="214884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23360" y="2148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price &gt; 500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560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37360" y="25603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31920" y="256032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02336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age &lt; 18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2971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737360" y="2971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or equal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31920" y="297180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023360" y="2971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quantity &gt;= 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383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737360" y="3383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or equal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931920" y="338328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023360" y="3383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discount &lt;= 20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37947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BETWEEN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73736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range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31920" y="379476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2336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price BETWEEN 100 AND 500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2062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LIKE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737360" y="4206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match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931920" y="420624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023360" y="4206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name LIKE 'Ram%'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6177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737360" y="46177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any in list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931920" y="461772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023360" y="4617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city IN ('Kathmandu', 'Pokhara')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Conditions: AND, OR, NOT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- Both conditions must be true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products WHERE price &gt; 500 AND category = 'Electronics';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products that are expensive AND in Electronics category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- At least one condition must be true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customers WHERE city = 'Kathmandu' OR city = 'Pokhara';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customers from Kathmandu OR Pokhara (either one)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- Excludes matching rows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4069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orders WHERE NOT status = 'cancelled';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orders EXCEPT cancelled ones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Data with ORDER BY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arranges your results in a specific order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= Ascending (A→Z, 1→100) - Default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customers ORDER BY name ASC;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customers alphabetically: Aarav, Binod, Chandra...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 = Descending (Z→A, 100→1)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products ORDER BY price DESC;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most expensive products first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multiple columns: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employees ORDER BY department ASC, salary DESC;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Data with GROUP BY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groups rows that have the same values and lets you perform calculations on each group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this: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have a list of sales and want to know "total sales per city" — you GROUP BY city, then SUM the sales for each city.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column, AGGREGATE_FUNCTION(column)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table_name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column;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Count customers in each city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1605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city, COUNT(*) as customer_count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city;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that calculate a single value from multiple rows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COUNT(*)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number of rows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0" y="141732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COUNT(*) FROM orders;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863840" y="137160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150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SUM(column)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94560" y="21031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up all values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210312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89120" y="2148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SUM(amount) FROM sales;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0" y="21031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125000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AVG(column)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94560" y="28346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average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283464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89120" y="28803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AVG(price) FROM products;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63840" y="283464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450.50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MIN(column)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194560" y="3566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smallest value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356616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89120" y="3611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MIN(salary) FROM employees;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63840" y="356616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25000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MAX(column)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94560" y="4297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largest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429768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389120" y="43434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MAX(salary) FROM employees;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63840" y="42976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150000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NULL Values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means "empty" or "unknown" — it's not zero, not blank text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customer without a phone number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3200400" cy="10058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9801234567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EA58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9807654321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931920" y="1280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Ways to Handle NULL: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931920" y="1600200"/>
            <a:ext cx="4754880" cy="6400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023360" y="16459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 rows with NULL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02336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phone IS NULL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4754880" cy="8229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023360" y="2377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Replace NULL with something else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023360" y="2651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COALESCE(phone, 'No phone')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023360" y="28803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If phone is NULL, show 'No phone' instead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931920" y="3246120"/>
            <a:ext cx="4754880" cy="8229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023360" y="32918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Turn a value into NULL</a:t>
            </a:r>
            <a:endParaRPr lang="en-US" sz="1100" dirty="0"/>
          </a:p>
        </p:txBody>
      </p:sp>
      <p:sp>
        <p:nvSpPr>
          <p:cNvPr id="5" name="Text 13"/>
          <p:cNvSpPr/>
          <p:nvPr/>
        </p:nvSpPr>
        <p:spPr>
          <a:xfrm>
            <a:off x="4023360" y="3566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NULLIF(quantity, 0)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023360" y="3794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If quantity is 0, make it NULL (avoids ÷ by 0)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" y="4144879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&amp; After using ISNULL: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438069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725863"/>
              </p:ext>
            </p:extLst>
          </p:nvPr>
        </p:nvGraphicFramePr>
        <p:xfrm>
          <a:off x="502920" y="4593657"/>
          <a:ext cx="2560320" cy="5029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EA58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3108960" y="48006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3657600" y="4359041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ISNULL(phone, 'No phone')</a:t>
            </a:r>
            <a:endParaRPr lang="en-US" sz="1000" dirty="0"/>
          </a:p>
        </p:txBody>
      </p:sp>
      <p:graphicFrame>
        <p:nvGraphicFramePr>
          <p:cNvPr id="4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107462"/>
              </p:ext>
            </p:extLst>
          </p:nvPr>
        </p:nvGraphicFramePr>
        <p:xfrm>
          <a:off x="3657600" y="4600876"/>
          <a:ext cx="2560320" cy="5029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phone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in Action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table: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2926080" cy="173736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017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3246120"/>
            <a:ext cx="3383280" cy="9144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city,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SUM(amount) as total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sales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city;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931920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4572000" y="868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2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143000"/>
          <a:ext cx="2743200" cy="8686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4572000" y="2194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0" y="251460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Kathmandu: 5000 + 7000 + 2000 = 14000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Pokhara: 3000 + 4000 = 7000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0" y="3246120"/>
            <a:ext cx="411480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709160" y="33375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GROUP BY examples: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709160" y="3611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AVG(amount) → Average per city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COUNT(*) → Number of sales per city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MAX(amount) → Largest sale per city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Tables with JOINs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databases have multiple related tables. JOIN lets you combine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multiple tables?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an e-commerce database: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customers table: customer_id, name, email, city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orders table: order_id, customer_id, product, amount, order_date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customer_id connects them! To see "which customer ordered what," we JOIN the tables.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3337560"/>
            <a:ext cx="2286000" cy="10972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34290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customer_id 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0" y="3017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52160" y="3337560"/>
            <a:ext cx="2286000" cy="10972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0" y="34290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only rows that have matching values in BOTH tables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table2 ON table1.column = table2.column;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Get customer names with their orders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customers.name, orders.product, orders.amount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orders ON customers.customer_id = orders.customer_id;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86000" y="4023360"/>
            <a:ext cx="1828800" cy="914400"/>
          </a:xfrm>
          <a:prstGeom prst="ellipse">
            <a:avLst/>
          </a:prstGeom>
          <a:solidFill>
            <a:srgbClr val="2563EB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83280" y="4023360"/>
            <a:ext cx="1828800" cy="914400"/>
          </a:xfrm>
          <a:prstGeom prst="ellipse">
            <a:avLst/>
          </a:prstGeom>
          <a:solidFill>
            <a:srgbClr val="059669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103120" y="4297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0" y="4297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0" y="4251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669280" y="4297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overlap (matching records) is returned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the left table + matching rows from right table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table2 ON table1.column = table2.column;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LEFT JOIN?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ALL customers, even those who haven't placed any orders yet. Customers without orders will show NULL for order columns.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customers.name, orders.product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orders ON customers.customer_id = orders.customer_id;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0" y="4160520"/>
            <a:ext cx="1828800" cy="914400"/>
          </a:xfrm>
          <a:prstGeom prst="ellipse">
            <a:avLst/>
          </a:prstGeom>
          <a:solidFill>
            <a:srgbClr val="2563EB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83280" y="4160520"/>
            <a:ext cx="1828800" cy="914400"/>
          </a:xfrm>
          <a:prstGeom prst="ellipse">
            <a:avLst/>
          </a:prstGeom>
          <a:solidFill>
            <a:srgbClr val="059669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0" y="4434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left table + matching from right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 &amp; FULL JOIN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right table + matching from left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6858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JOIN orders ON 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651760"/>
            <a:ext cx="1097280" cy="640080"/>
          </a:xfrm>
          <a:prstGeom prst="ellipse">
            <a:avLst/>
          </a:prstGeom>
          <a:solidFill>
            <a:srgbClr val="2563EB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45920" y="2651760"/>
            <a:ext cx="1097280" cy="640080"/>
          </a:xfrm>
          <a:prstGeom prst="ellipse">
            <a:avLst/>
          </a:prstGeom>
          <a:solidFill>
            <a:srgbClr val="059669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54880" y="10058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JOIN (or FULL OUTER JOIN)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1325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both tables (matching or not)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828800"/>
            <a:ext cx="3931920" cy="6858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187452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JOIN orders ON ...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12080" y="2651760"/>
            <a:ext cx="1097280" cy="640080"/>
          </a:xfrm>
          <a:prstGeom prst="ellipse">
            <a:avLst/>
          </a:prstGeom>
          <a:solidFill>
            <a:srgbClr val="2563EB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943600" y="2651760"/>
            <a:ext cx="1097280" cy="640080"/>
          </a:xfrm>
          <a:prstGeom prst="ellipse">
            <a:avLst/>
          </a:prstGeom>
          <a:solidFill>
            <a:srgbClr val="059669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Summary: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8229600" cy="1295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JOIN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matching rows from both tables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JOIN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from left + matches from right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JOIN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from right + matches from left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JOIN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rows from both tables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Query Writing Order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 order for writing SQL statements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1325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columns to show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3258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1783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table(s) to 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other tables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2240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2697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26974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rows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26974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3154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286000" y="3154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rows for aggregation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31546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3611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286000" y="3611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groups (after GROUP BY)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36118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4069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286000" y="4069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results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4069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2960" y="4526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286000" y="4526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number of rows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0" y="4526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Runs Your Query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processes your query in a specific order (different from how you write it!)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3258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/ JOIN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32588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First, identifies which tables to use and combines them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1737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17373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out rows that don't match your conditions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4884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21488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68880" y="21488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the remaining rows together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2560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68880" y="2560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out groups that don't match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29718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68880" y="29718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which columns to show and calculates aggregates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DISTINCT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338328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duplicate rows (if used)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794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60120" y="3794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468880" y="37947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the results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0624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0120" y="42062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468880" y="42062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only the number of rows you requested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All Together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SQL query using everything we learned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28422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7863840" cy="2750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chemeClr val="bg1"/>
                </a:solidFill>
              </a:rPr>
              <a:t>SELECT </a:t>
            </a:r>
          </a:p>
          <a:p>
            <a:r>
              <a:rPr lang="en-US" sz="1400" dirty="0">
                <a:solidFill>
                  <a:schemeClr val="bg1"/>
                </a:solidFill>
              </a:rPr>
              <a:t>EXTRACT(YEAR FROM </a:t>
            </a:r>
            <a:r>
              <a:rPr lang="en-US" sz="1400" dirty="0" err="1">
                <a:solidFill>
                  <a:schemeClr val="bg1"/>
                </a:solidFill>
              </a:rPr>
              <a:t>o.order_date</a:t>
            </a:r>
            <a:r>
              <a:rPr lang="en-US" sz="1400" dirty="0">
                <a:solidFill>
                  <a:schemeClr val="bg1"/>
                </a:solidFill>
              </a:rPr>
              <a:t>) AS year,</a:t>
            </a:r>
          </a:p>
          <a:p>
            <a:r>
              <a:rPr lang="en-US" sz="1400" dirty="0">
                <a:solidFill>
                  <a:schemeClr val="bg1"/>
                </a:solidFill>
              </a:rPr>
              <a:t>EXTRACT(MONTH FROM </a:t>
            </a:r>
            <a:r>
              <a:rPr lang="en-US" sz="1400" dirty="0" err="1">
                <a:solidFill>
                  <a:schemeClr val="bg1"/>
                </a:solidFill>
              </a:rPr>
              <a:t>o.order_date</a:t>
            </a:r>
            <a:r>
              <a:rPr lang="en-US" sz="1400" dirty="0">
                <a:solidFill>
                  <a:schemeClr val="bg1"/>
                </a:solidFill>
              </a:rPr>
              <a:t>) AS month,</a:t>
            </a:r>
          </a:p>
          <a:p>
            <a:r>
              <a:rPr lang="en-US" sz="1400" dirty="0">
                <a:solidFill>
                  <a:schemeClr val="bg1"/>
                </a:solidFill>
              </a:rPr>
              <a:t>COUNT(DISTINCT </a:t>
            </a:r>
            <a:r>
              <a:rPr lang="en-US" sz="1400" dirty="0" err="1">
                <a:solidFill>
                  <a:schemeClr val="bg1"/>
                </a:solidFill>
              </a:rPr>
              <a:t>o.order_id</a:t>
            </a:r>
            <a:r>
              <a:rPr lang="en-US" sz="1400" dirty="0">
                <a:solidFill>
                  <a:schemeClr val="bg1"/>
                </a:solidFill>
              </a:rPr>
              <a:t>) AS </a:t>
            </a:r>
            <a:r>
              <a:rPr lang="en-US" sz="1400" dirty="0" err="1">
                <a:solidFill>
                  <a:schemeClr val="bg1"/>
                </a:solidFill>
              </a:rPr>
              <a:t>total_orders</a:t>
            </a:r>
            <a:r>
              <a:rPr lang="en-US" sz="1400" dirty="0">
                <a:solidFill>
                  <a:schemeClr val="bg1"/>
                </a:solidFill>
              </a:rPr>
              <a:t>,</a:t>
            </a:r>
          </a:p>
          <a:p>
            <a:r>
              <a:rPr lang="en-US" sz="1400" dirty="0">
                <a:solidFill>
                  <a:schemeClr val="bg1"/>
                </a:solidFill>
              </a:rPr>
              <a:t>SUM(</a:t>
            </a:r>
            <a:r>
              <a:rPr lang="en-US" sz="1400" dirty="0" err="1">
                <a:solidFill>
                  <a:schemeClr val="bg1"/>
                </a:solidFill>
              </a:rPr>
              <a:t>oi.quantity</a:t>
            </a:r>
            <a:r>
              <a:rPr lang="en-US" sz="1400" dirty="0">
                <a:solidFill>
                  <a:schemeClr val="bg1"/>
                </a:solidFill>
              </a:rPr>
              <a:t> * </a:t>
            </a:r>
            <a:r>
              <a:rPr lang="en-US" sz="1400" dirty="0" err="1">
                <a:solidFill>
                  <a:schemeClr val="bg1"/>
                </a:solidFill>
              </a:rPr>
              <a:t>oi.unit_price</a:t>
            </a:r>
            <a:r>
              <a:rPr lang="en-US" sz="1400" dirty="0">
                <a:solidFill>
                  <a:schemeClr val="bg1"/>
                </a:solidFill>
              </a:rPr>
              <a:t>) AS </a:t>
            </a:r>
            <a:r>
              <a:rPr lang="en-US" sz="1400" dirty="0" err="1">
                <a:solidFill>
                  <a:schemeClr val="bg1"/>
                </a:solidFill>
              </a:rPr>
              <a:t>total_sales</a:t>
            </a:r>
            <a:endParaRPr lang="en-US" sz="1400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FROM orders o</a:t>
            </a:r>
          </a:p>
          <a:p>
            <a:r>
              <a:rPr lang="en-US" sz="1400" dirty="0">
                <a:solidFill>
                  <a:schemeClr val="bg1"/>
                </a:solidFill>
              </a:rPr>
              <a:t>JOIN </a:t>
            </a:r>
            <a:r>
              <a:rPr lang="en-US" sz="1400" dirty="0" err="1">
                <a:solidFill>
                  <a:schemeClr val="bg1"/>
                </a:solidFill>
              </a:rPr>
              <a:t>order_items</a:t>
            </a:r>
            <a:r>
              <a:rPr lang="en-US" sz="1400" dirty="0">
                <a:solidFill>
                  <a:schemeClr val="bg1"/>
                </a:solidFill>
              </a:rPr>
              <a:t> oi </a:t>
            </a:r>
          </a:p>
          <a:p>
            <a:r>
              <a:rPr lang="en-US" sz="1400" dirty="0">
                <a:solidFill>
                  <a:schemeClr val="bg1"/>
                </a:solidFill>
              </a:rPr>
              <a:t>ON </a:t>
            </a:r>
            <a:r>
              <a:rPr lang="en-US" sz="1400" dirty="0" err="1">
                <a:solidFill>
                  <a:schemeClr val="bg1"/>
                </a:solidFill>
              </a:rPr>
              <a:t>o.order_id</a:t>
            </a:r>
            <a:r>
              <a:rPr lang="en-US" sz="1400" dirty="0">
                <a:solidFill>
                  <a:schemeClr val="bg1"/>
                </a:solidFill>
              </a:rPr>
              <a:t> = </a:t>
            </a:r>
            <a:r>
              <a:rPr lang="en-US" sz="1400" dirty="0" err="1">
                <a:solidFill>
                  <a:schemeClr val="bg1"/>
                </a:solidFill>
              </a:rPr>
              <a:t>oi.order_id</a:t>
            </a:r>
            <a:endParaRPr lang="en-US" sz="1400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GROUP BY </a:t>
            </a:r>
          </a:p>
          <a:p>
            <a:r>
              <a:rPr lang="en-US" sz="1400" dirty="0">
                <a:solidFill>
                  <a:schemeClr val="bg1"/>
                </a:solidFill>
              </a:rPr>
              <a:t>EXTRACT(YEAR FROM </a:t>
            </a:r>
            <a:r>
              <a:rPr lang="en-US" sz="1400" dirty="0" err="1">
                <a:solidFill>
                  <a:schemeClr val="bg1"/>
                </a:solidFill>
              </a:rPr>
              <a:t>o.order_date</a:t>
            </a:r>
            <a:r>
              <a:rPr lang="en-US" sz="1400" dirty="0">
                <a:solidFill>
                  <a:schemeClr val="bg1"/>
                </a:solidFill>
              </a:rPr>
              <a:t>),</a:t>
            </a:r>
          </a:p>
          <a:p>
            <a:r>
              <a:rPr lang="en-US" sz="1400" dirty="0">
                <a:solidFill>
                  <a:schemeClr val="bg1"/>
                </a:solidFill>
              </a:rPr>
              <a:t>EXTRACT(MONTH FROM </a:t>
            </a:r>
            <a:r>
              <a:rPr lang="en-US" sz="1400" dirty="0" err="1">
                <a:solidFill>
                  <a:schemeClr val="bg1"/>
                </a:solidFill>
              </a:rPr>
              <a:t>o.order_date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sz="1400" dirty="0">
                <a:solidFill>
                  <a:schemeClr val="bg1"/>
                </a:solidFill>
              </a:rPr>
              <a:t>ORDER BY year, month;</a:t>
            </a:r>
          </a:p>
        </p:txBody>
      </p:sp>
      <p:sp>
        <p:nvSpPr>
          <p:cNvPr id="6" name="Text 4"/>
          <p:cNvSpPr/>
          <p:nvPr/>
        </p:nvSpPr>
        <p:spPr>
          <a:xfrm>
            <a:off x="350520" y="43510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does:</a:t>
            </a:r>
            <a:b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/>
              <a:t>calculate the total number of orders and total sales for each month. The output should show the year, month, total orders, and total sales, sorted by year and month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960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stores organized data in tables (rows &amp; columns)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the language to "ask questions" to the database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types of SQL: DQL, DML, DDL, DCL, TCL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chooses columns, FROM chooses the table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788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filters rows, ORDER BY sorts results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46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246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+ aggregates (COUNT, SUM, AVG) summarize data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3703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ISNULL, COALESCE, NULLIF handle NULL values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60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160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combine related tables using a shared column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4617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execution order differs from writing order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1651</TotalTime>
  <Words>4684</Words>
  <Application>Microsoft Office PowerPoint</Application>
  <PresentationFormat>On-screen Show (16:9)</PresentationFormat>
  <Paragraphs>830</Paragraphs>
  <Slides>34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Fundamentals &amp; Database Concepts</dc:title>
  <dc:subject>PptxGenJS Presentation</dc:subject>
  <dc:creator>PptxGenJS</dc:creator>
  <cp:lastModifiedBy>Sauhar Khanal</cp:lastModifiedBy>
  <cp:revision>27</cp:revision>
  <dcterms:created xsi:type="dcterms:W3CDTF">2026-03-16T09:54:22Z</dcterms:created>
  <dcterms:modified xsi:type="dcterms:W3CDTF">2026-03-26T05:22:27Z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b2248cf-7f03-4ea3-bc21-100a3e94dc1a_Enabled">
    <vt:lpwstr>true</vt:lpwstr>
  </property>
  <property fmtid="{D5CDD505-2E9C-101B-9397-08002B2CF9AE}" pid="3" name="MSIP_Label_0b2248cf-7f03-4ea3-bc21-100a3e94dc1a_SetDate">
    <vt:lpwstr>2026-03-16T09:59:32Z</vt:lpwstr>
  </property>
  <property fmtid="{D5CDD505-2E9C-101B-9397-08002B2CF9AE}" pid="4" name="MSIP_Label_0b2248cf-7f03-4ea3-bc21-100a3e94dc1a_Method">
    <vt:lpwstr>Standard</vt:lpwstr>
  </property>
  <property fmtid="{D5CDD505-2E9C-101B-9397-08002B2CF9AE}" pid="5" name="MSIP_Label_0b2248cf-7f03-4ea3-bc21-100a3e94dc1a_Name">
    <vt:lpwstr>defa4170-0d19-0005-0004-bc88714345d2</vt:lpwstr>
  </property>
  <property fmtid="{D5CDD505-2E9C-101B-9397-08002B2CF9AE}" pid="6" name="MSIP_Label_0b2248cf-7f03-4ea3-bc21-100a3e94dc1a_SiteId">
    <vt:lpwstr>8ccadef0-d125-45d2-82b6-d3a9d60db293</vt:lpwstr>
  </property>
  <property fmtid="{D5CDD505-2E9C-101B-9397-08002B2CF9AE}" pid="7" name="MSIP_Label_0b2248cf-7f03-4ea3-bc21-100a3e94dc1a_ActionId">
    <vt:lpwstr>0ed1628d-1892-44e7-9bd1-a641a280b8a6</vt:lpwstr>
  </property>
  <property fmtid="{D5CDD505-2E9C-101B-9397-08002B2CF9AE}" pid="8" name="MSIP_Label_0b2248cf-7f03-4ea3-bc21-100a3e94dc1a_ContentBits">
    <vt:lpwstr>0</vt:lpwstr>
  </property>
  <property fmtid="{D5CDD505-2E9C-101B-9397-08002B2CF9AE}" pid="9" name="MSIP_Label_0b2248cf-7f03-4ea3-bc21-100a3e94dc1a_Tag">
    <vt:lpwstr>10, 3, 0, 1</vt:lpwstr>
  </property>
</Properties>
</file>