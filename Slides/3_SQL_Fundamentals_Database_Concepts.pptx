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81" r:id="rId9"/>
    <p:sldId id="282" r:id="rId10"/>
    <p:sldId id="283" r:id="rId11"/>
    <p:sldId id="284" r:id="rId12"/>
    <p:sldId id="285" r:id="rId13"/>
    <p:sldId id="286" r:id="rId14"/>
    <p:sldId id="287" r:id="rId15"/>
    <p:sldId id="288" r:id="rId16"/>
    <p:sldId id="263" r:id="rId17"/>
    <p:sldId id="264" r:id="rId18"/>
    <p:sldId id="265" r:id="rId19"/>
    <p:sldId id="266" r:id="rId20"/>
    <p:sldId id="267" r:id="rId21"/>
    <p:sldId id="268" r:id="rId22"/>
    <p:sldId id="269" r:id="rId23"/>
    <p:sldId id="270" r:id="rId24"/>
    <p:sldId id="271" r:id="rId25"/>
    <p:sldId id="272" r:id="rId26"/>
    <p:sldId id="273" r:id="rId27"/>
    <p:sldId id="274" r:id="rId28"/>
    <p:sldId id="275" r:id="rId29"/>
    <p:sldId id="277" r:id="rId30"/>
    <p:sldId id="278" r:id="rId31"/>
    <p:sldId id="279" r:id="rId32"/>
    <p:sldId id="280" r:id="rId3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10" autoAdjust="0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139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23741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Fundamentals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Database Concepts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Data Analytics with AI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Learn Today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10972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Database? (and why it matters)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627632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1627632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Tables, Rows, and Columns explained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57984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2157984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SQL Commands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2688336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2688336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first SQL query: SELECT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" y="3218688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14400" y="3218688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Filtering with WHERE, Sorting with ORDER BY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7200" y="374904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14400" y="37490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Grouping, Aggregations &amp; Handling NULLs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7200" y="4279392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14400" y="4279392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tables with JOINs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Database?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it as a digital filing cabinet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8229600" cy="128016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6002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database is an organized collection of data stored electronically.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keeping information in paper files or Excel sheets scattered across your computer, a database keeps everything in one place — organized, searchable, and secure.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Databases are everywhere: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3337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Your bank stores your account balance and transactions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749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Amazon stores products, prices, and your order history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Your phone's contact list is a simple database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Schools store student records, grades, and attendance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SQL?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= Structured Query Language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(Pronounced "sequel" or "S-Q-L")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is the language we use to "talk" to databases. When you want to get data from a database, you write a SQL query (a question), and the database gives you an answer.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2743200"/>
            <a:ext cx="8229600" cy="118872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28803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Analogy: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324612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Imagine a librarian (the database). You ask: "Show me all books by Nepali authors published after 2020." The librarian searches and gives you a list. SQL is how you ask that question to a computer!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41148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learn SQL?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4480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the no.1 skill for working with data.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SQL Commands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commands are grouped into 5 categories based on their function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731520" cy="50292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325880" y="13716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Query Language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749040" y="137160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data from database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0" y="1371600"/>
            <a:ext cx="2743200" cy="50292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035040" y="137160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029968"/>
            <a:ext cx="731520" cy="50292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2029968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325880" y="2029968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Manipulation Language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749040" y="2029968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Add, update, delete data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43600" y="2029968"/>
            <a:ext cx="2743200" cy="50292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035040" y="2029968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INSERT, UPDATE, DELETE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688336"/>
            <a:ext cx="731520" cy="502920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7200" y="2688336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325880" y="2688336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Definition Language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749040" y="2688336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&amp; modify structure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943600" y="2688336"/>
            <a:ext cx="2743200" cy="50292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035040" y="2688336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CREATE, ALTER, DROP, TRUNCATE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346704"/>
            <a:ext cx="731520" cy="50292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57200" y="3346704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DCL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325880" y="3346704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Control Language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749040" y="3346704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access &amp; permissions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943600" y="3346704"/>
            <a:ext cx="2743200" cy="50292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035040" y="3346704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GRANT, REVOKE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4005072"/>
            <a:ext cx="731520" cy="5029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57200" y="4005072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TCL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325880" y="4005072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Control Language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749040" y="4005072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transactions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943600" y="4005072"/>
            <a:ext cx="2743200" cy="50292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035040" y="4005072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COMMIT, ROLLBACK, SAVEPOINT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40080" y="46177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course, we focus mainly on DQL (SELECT) and basic DML commands for data analysis.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Tables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table is like an Excel spreadsheet inside the database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customers table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37360"/>
          <a:ext cx="8229600" cy="146304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Ram Sharma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ram@email.com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Kathmandu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Sita Thapa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sita@email.com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Pokhara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Hari Gurung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hari@email.com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Lalitpur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029200" y="13716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Columns (fields) = types of information</a:t>
            </a:r>
            <a:endParaRPr lang="en-US" sz="1200" dirty="0"/>
          </a:p>
        </p:txBody>
      </p:sp>
      <p:sp>
        <p:nvSpPr>
          <p:cNvPr id="5" name="Text 4"/>
          <p:cNvSpPr/>
          <p:nvPr/>
        </p:nvSpPr>
        <p:spPr>
          <a:xfrm>
            <a:off x="5029200" y="32918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Rows (records) = individual entries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3749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Terms: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457200" y="41148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= collection of related data (like one Excel sheet)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= a specific attribute (name, email, city)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= one complete record (one customer's information)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First SQL Query: SELECT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tells the database what columns you want to see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82296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column1, column2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table_name;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377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1: Get all customer names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697480"/>
            <a:ext cx="3931920" cy="54864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27432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name FROM customers;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383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2: Get names and cities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703320"/>
            <a:ext cx="3931920" cy="54864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48640" y="374904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name, city FROM customers;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54880" y="26974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Tip: SELECT * means "all columns"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54880" y="3063240"/>
            <a:ext cx="3931920" cy="54864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46320" y="31089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customers;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Keys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 enforce rules about uniqueness and relationships between tables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261872"/>
            <a:ext cx="4096512" cy="107899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261872"/>
            <a:ext cx="54864" cy="10789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85216" y="1389888"/>
            <a:ext cx="420624" cy="2926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85216" y="1389888"/>
            <a:ext cx="420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78992" y="138988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Key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85216" y="171907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Uniquely identifies each row in a table. Cannot be NULL. Only one per table.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85216" y="2048256"/>
            <a:ext cx="3840480" cy="20116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58368" y="204825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SERIAL PRIMARY KEY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809744" y="1261872"/>
            <a:ext cx="4096512" cy="107899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809744" y="1261872"/>
            <a:ext cx="54864" cy="10789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937760" y="1389888"/>
            <a:ext cx="420624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937760" y="1389888"/>
            <a:ext cx="420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FK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431536" y="138988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Key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937760" y="171907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a column in one table to the Primary Key of another table. Enforces referential integrity.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937760" y="2048256"/>
            <a:ext cx="3840480" cy="20116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010912" y="204825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customer_id INT REFERENCES customers(id)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" y="2468880"/>
            <a:ext cx="4096512" cy="107899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57200" y="2468880"/>
            <a:ext cx="54864" cy="10789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85216" y="2596896"/>
            <a:ext cx="420624" cy="2926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85216" y="2596896"/>
            <a:ext cx="420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UQ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78992" y="2596896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Key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85216" y="292608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Ensures all values in a column are different. Unlike PK, allows one NULL. A table can have many.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85216" y="3255264"/>
            <a:ext cx="3840480" cy="20116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58368" y="325526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 VARCHAR(255) UNIQUE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809744" y="2468880"/>
            <a:ext cx="4096512" cy="107899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809744" y="2468880"/>
            <a:ext cx="54864" cy="107899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937760" y="2596896"/>
            <a:ext cx="420624" cy="29260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937760" y="2596896"/>
            <a:ext cx="420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NN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431536" y="2596896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NULL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937760" y="292608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Guarantees a column must always have a value — it can never be empty/NULL.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937760" y="3255264"/>
            <a:ext cx="3840480" cy="20116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010912" y="325526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VARCHAR(100) NOT NULL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57200" y="3675888"/>
            <a:ext cx="4096512" cy="107899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457200" y="3675888"/>
            <a:ext cx="54864" cy="107899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585216" y="3803904"/>
            <a:ext cx="420624" cy="2926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585216" y="3803904"/>
            <a:ext cx="420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CK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78992" y="3803904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Constraint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585216" y="413308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that values meet a custom condition before they are inserted or updated.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85216" y="4462272"/>
            <a:ext cx="3840480" cy="20116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658368" y="446227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salary NUMERIC CHECK (salary &gt; 0)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809744" y="3675888"/>
            <a:ext cx="4096512" cy="107899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4809744" y="3675888"/>
            <a:ext cx="54864" cy="107899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4937760" y="3803904"/>
            <a:ext cx="420624" cy="29260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4937760" y="3803904"/>
            <a:ext cx="420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5431536" y="3803904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Value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4937760" y="413308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fills a column with a value if none is provided at insert time.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937760" y="4462272"/>
            <a:ext cx="3840480" cy="20116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5010912" y="446227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 VARCHAR DEFAULT 'active'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457200" y="4663440"/>
            <a:ext cx="8229600" cy="347472"/>
          </a:xfrm>
          <a:prstGeom prst="rect">
            <a:avLst/>
          </a:prstGeom>
          <a:solidFill>
            <a:srgbClr val="EFF6FF"/>
          </a:solidFill>
          <a:ln w="635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603504" y="4681728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Quick Rule: </a:t>
            </a: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table should have a Primary Key. Foreign Keys link tables together. Unique Keys prevent duplicates on non-PK columns.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 in PostgreSQL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declare every key type in a real CREATE TABLE statement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4572000" cy="3529584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21792" y="1316736"/>
            <a:ext cx="4224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employees table (PostgreSQL)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21792" y="1536192"/>
            <a:ext cx="4224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employees (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21792" y="1755648"/>
            <a:ext cx="4224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21792" y="1975104"/>
            <a:ext cx="4224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id       SERIAL PRIMARY KEY,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21792" y="2194560"/>
            <a:ext cx="4224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dept_id  INT REFERENCES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21792" y="2414016"/>
            <a:ext cx="4224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departments(id),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21792" y="2633472"/>
            <a:ext cx="4224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email    VARCHAR(255) UNIQUE,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21792" y="2852928"/>
            <a:ext cx="4224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ED7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     VARCHAR(100) NOT NULL,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21792" y="3072384"/>
            <a:ext cx="4224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salary   NUMERIC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21792" y="3291840"/>
            <a:ext cx="4224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CHECK (salary &gt; 0),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21792" y="3511296"/>
            <a:ext cx="4224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status   VARCHAR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21792" y="3730752"/>
            <a:ext cx="4224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DEFAULT 'active'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21792" y="3950208"/>
            <a:ext cx="4224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21792" y="4169664"/>
            <a:ext cx="4224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230368" y="1207008"/>
            <a:ext cx="3438144" cy="47548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230368" y="1207008"/>
            <a:ext cx="54864" cy="47548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358384" y="1243584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PRIMARY KEY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358384" y="1426464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is auto-incremented (SERIAL) and unique — the row identifier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230368" y="1773936"/>
            <a:ext cx="3438144" cy="47548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5230368" y="1773936"/>
            <a:ext cx="54864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358384" y="1810512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FOREIGN KEY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358384" y="1993392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dept_id must match an id that exists in the departments table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230368" y="2340864"/>
            <a:ext cx="3438144" cy="47548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5230368" y="2340864"/>
            <a:ext cx="54864" cy="47548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358384" y="237744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UNIQUE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358384" y="256032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two employees can share the same email address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230368" y="2907792"/>
            <a:ext cx="3438144" cy="47548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5230368" y="2907792"/>
            <a:ext cx="54864" cy="47548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358384" y="294436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 NULL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358384" y="3127248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employee must have a name — empty is not allowed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230368" y="3474720"/>
            <a:ext cx="3438144" cy="47548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5230368" y="3474720"/>
            <a:ext cx="54864" cy="47548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358384" y="351129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358384" y="3694176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 must be a positive number — negative is rejected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230368" y="4041648"/>
            <a:ext cx="3438144" cy="47548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5230368" y="4041648"/>
            <a:ext cx="54864" cy="47548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5358384" y="4078224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5358384" y="4261104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status is not given, it automatically becomes 'active'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57200" y="4736592"/>
            <a:ext cx="8229600" cy="274320"/>
          </a:xfrm>
          <a:prstGeom prst="rect">
            <a:avLst/>
          </a:prstGeom>
          <a:solidFill>
            <a:srgbClr val="FFFBEB"/>
          </a:solidFill>
          <a:ln w="6350">
            <a:solidFill>
              <a:srgbClr val="FDE6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03504" y="4754880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PostgreSQL note: </a:t>
            </a: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columns allow multiple NULLs (NULLs are not considered equal). PRIMARY KEY does not allow any NULL.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Keys: PostgreSQL vs Cloud Data Warehouses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enforces keys strictly. BigQuery and Snowflake support keys differently — optimised for parallel bulk loading at massive scale.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2633472" cy="512064"/>
          </a:xfrm>
          <a:prstGeom prst="rect">
            <a:avLst/>
          </a:prstGeom>
          <a:solidFill>
            <a:srgbClr val="336791"/>
          </a:solidFill>
          <a:ln w="12700">
            <a:solidFill>
              <a:srgbClr val="33679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335024"/>
            <a:ext cx="2633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On-premises OLTP/DW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55264" y="1078992"/>
            <a:ext cx="2633472" cy="512064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55264" y="1097280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BigQuery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255264" y="1335024"/>
            <a:ext cx="2633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· Parallel processing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053328" y="1078992"/>
            <a:ext cx="2633472" cy="512064"/>
          </a:xfrm>
          <a:prstGeom prst="rect">
            <a:avLst/>
          </a:prstGeom>
          <a:solidFill>
            <a:srgbClr val="29B5E8"/>
          </a:solidFill>
          <a:ln w="12700">
            <a:solidFill>
              <a:srgbClr val="29B5E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053328" y="1097280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053328" y="1335024"/>
            <a:ext cx="2633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DW · Parallel processing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1700784"/>
            <a:ext cx="2633472" cy="56692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30352" y="1755648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Key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55264" y="1700784"/>
            <a:ext cx="2633472" cy="56692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255264" y="1700784"/>
            <a:ext cx="54864" cy="5669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383280" y="1737360"/>
            <a:ext cx="2432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enforced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383280" y="1938528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Declared for query optimisation only. No error on duplicates.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053328" y="1700784"/>
            <a:ext cx="2633472" cy="56692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053328" y="1700784"/>
            <a:ext cx="54864" cy="5669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181344" y="1737360"/>
            <a:ext cx="2432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enforced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181344" y="1938528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Informational / metadata only. Used by optimiser, not enforced.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57200" y="2340864"/>
            <a:ext cx="2633472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30352" y="2395728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Key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55264" y="2340864"/>
            <a:ext cx="2633472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255264" y="2340864"/>
            <a:ext cx="54864" cy="5669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383280" y="2377440"/>
            <a:ext cx="2432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enforced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383280" y="2578608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for documentation. Joins work but violations allowed.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053328" y="2340864"/>
            <a:ext cx="2633472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053328" y="2340864"/>
            <a:ext cx="54864" cy="5669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181344" y="2377440"/>
            <a:ext cx="2432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enforced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181344" y="2578608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Rely keyword. Engine trusts you — no validation at write time.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57200" y="2980944"/>
            <a:ext cx="2633472" cy="56692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30352" y="3035808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Key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255264" y="2980944"/>
            <a:ext cx="2633472" cy="56692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3255264" y="2980944"/>
            <a:ext cx="54864" cy="5669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3383280" y="3017520"/>
            <a:ext cx="2432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enforced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383280" y="3218688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unique constraints. Handle dedup in query with QUALIFY ROW_NUMBER.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6053328" y="2980944"/>
            <a:ext cx="2633472" cy="56692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6053328" y="2980944"/>
            <a:ext cx="54864" cy="5669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6181344" y="3017520"/>
            <a:ext cx="2432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enforced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181344" y="3218688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keyword accepted but not validated. Designer responsibility.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57200" y="3621024"/>
            <a:ext cx="2633472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530352" y="3675888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NULL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3255264" y="3621024"/>
            <a:ext cx="2633472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3255264" y="3621024"/>
            <a:ext cx="54864" cy="56692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3383280" y="3657600"/>
            <a:ext cx="2432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ENFORCED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3383280" y="3858768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 and enforced on table columns.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6053328" y="3621024"/>
            <a:ext cx="2633472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6053328" y="3621024"/>
            <a:ext cx="54864" cy="56692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6181344" y="3657600"/>
            <a:ext cx="2432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ENFORCED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6181344" y="3858768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 and enforced. Most reliable constraint in both DWs.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457200" y="4261104"/>
            <a:ext cx="2633472" cy="566928"/>
          </a:xfrm>
          <a:prstGeom prst="rect">
            <a:avLst/>
          </a:prstGeom>
          <a:solidFill>
            <a:srgbClr val="FFF7ED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530352" y="4315968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enforce in DW?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3255264" y="4261104"/>
            <a:ext cx="2633472" cy="566928"/>
          </a:xfrm>
          <a:prstGeom prst="rect">
            <a:avLst/>
          </a:prstGeom>
          <a:solidFill>
            <a:srgbClr val="FFF7ED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3383280" y="4297680"/>
            <a:ext cx="2432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at scale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3383280" y="4498848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Enforcing PK/FK would require scanning billions of rows on every insert. Too slow.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6053328" y="4261104"/>
            <a:ext cx="2633472" cy="566928"/>
          </a:xfrm>
          <a:prstGeom prst="rect">
            <a:avLst/>
          </a:prstGeom>
          <a:solidFill>
            <a:srgbClr val="FFF7ED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6181344" y="4297680"/>
            <a:ext cx="2432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at scale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6181344" y="4498848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bulk loads skip constraint checks intentionally for performance.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457200" y="4773168"/>
            <a:ext cx="8229600" cy="292608"/>
          </a:xfrm>
          <a:prstGeom prst="rect">
            <a:avLst/>
          </a:prstGeom>
          <a:solidFill>
            <a:srgbClr val="F0FDF4"/>
          </a:solidFill>
          <a:ln w="635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PK, FK, and Unique Keys Are Not Enforced in BigQuery &amp; Snowflake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not a limitation — it is a deliberate design decision for speed at massive scale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024128"/>
            <a:ext cx="2615184" cy="2011680"/>
          </a:xfrm>
          <a:prstGeom prst="rect">
            <a:avLst/>
          </a:prstGeom>
          <a:solidFill>
            <a:srgbClr val="FFF7ED"/>
          </a:solidFill>
          <a:ln w="12700">
            <a:solidFill>
              <a:srgbClr val="EA580C">
                <a:alpha val="55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060704"/>
            <a:ext cx="2615184" cy="329184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060704"/>
            <a:ext cx="2615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66928" y="1481328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million rows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66928" y="1792224"/>
            <a:ext cx="23957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arrive every night from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source systems.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row needs to be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into the DW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fast as possible.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64408" y="1060704"/>
            <a:ext cx="2615184" cy="2011680"/>
          </a:xfrm>
          <a:prstGeom prst="rect">
            <a:avLst/>
          </a:prstGeom>
          <a:solidFill>
            <a:srgbClr val="FEF2F2"/>
          </a:solidFill>
          <a:ln w="12700">
            <a:solidFill>
              <a:srgbClr val="DC2626">
                <a:alpha val="55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264408" y="1060704"/>
            <a:ext cx="2615184" cy="32918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264408" y="1060704"/>
            <a:ext cx="2615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Keys Were Enforced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74136" y="1481328"/>
            <a:ext cx="2395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 new row: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374136" y="1737360"/>
            <a:ext cx="2395728" cy="365760"/>
          </a:xfrm>
          <a:prstGeom prst="rect">
            <a:avLst/>
          </a:prstGeom>
          <a:solidFill>
            <a:srgbClr val="DC2626">
              <a:alpha val="10000"/>
            </a:srgbClr>
          </a:solidFill>
          <a:ln w="12700">
            <a:solidFill>
              <a:srgbClr val="DC2626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447288" y="175564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Scan ALL existing rows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check PK uniqueness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374136" y="2157984"/>
            <a:ext cx="2395728" cy="365760"/>
          </a:xfrm>
          <a:prstGeom prst="rect">
            <a:avLst/>
          </a:prstGeom>
          <a:solidFill>
            <a:srgbClr val="DC2626">
              <a:alpha val="10000"/>
            </a:srgbClr>
          </a:solidFill>
          <a:ln w="12700">
            <a:solidFill>
              <a:srgbClr val="DC2626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447288" y="2176272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Scan another table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verify FK exists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374136" y="2578608"/>
            <a:ext cx="2395728" cy="365760"/>
          </a:xfrm>
          <a:prstGeom prst="rect">
            <a:avLst/>
          </a:prstGeom>
          <a:solidFill>
            <a:srgbClr val="DC2626">
              <a:alpha val="10000"/>
            </a:srgbClr>
          </a:solidFill>
          <a:ln w="12700">
            <a:solidFill>
              <a:srgbClr val="DC2626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447288" y="2596896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Scan ALL rows again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UNIQUE check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071616" y="1060704"/>
            <a:ext cx="2615184" cy="2011680"/>
          </a:xfrm>
          <a:prstGeom prst="rect">
            <a:avLst/>
          </a:prstGeom>
          <a:solidFill>
            <a:srgbClr val="F0FDF4"/>
          </a:solidFill>
          <a:ln w="12700">
            <a:solidFill>
              <a:srgbClr val="059669">
                <a:alpha val="55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071616" y="1060704"/>
            <a:ext cx="2615184" cy="32918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071616" y="1060704"/>
            <a:ext cx="2615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They Do Instead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181344" y="1481328"/>
            <a:ext cx="23957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data at full speed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1000s of machines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parallel — NO checks.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181344" y="2048256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declare the keys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metadata hints.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81344" y="2432304"/>
            <a:ext cx="2395728" cy="530352"/>
          </a:xfrm>
          <a:prstGeom prst="rect">
            <a:avLst/>
          </a:prstGeom>
          <a:solidFill>
            <a:srgbClr val="059669">
              <a:alpha val="12000"/>
            </a:srgbClr>
          </a:solidFill>
          <a:ln w="12700">
            <a:solidFill>
              <a:srgbClr val="059669">
                <a:alpha val="3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254496" y="2450592"/>
            <a:ext cx="224942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query optimiser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them to plan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JOINs.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072384" y="2066544"/>
            <a:ext cx="201168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5870448" y="2066544"/>
            <a:ext cx="201168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tailEnd type="arrow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57200" y="3182112"/>
            <a:ext cx="8229600" cy="237744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57200" y="318211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analogy — why PostgreSQL CAN enforce but BigQuery/Snowflake CANNOT at the same speed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57200" y="3493008"/>
            <a:ext cx="3931920" cy="1280160"/>
          </a:xfrm>
          <a:prstGeom prst="rect">
            <a:avLst/>
          </a:prstGeom>
          <a:solidFill>
            <a:srgbClr val="F8FAFC"/>
          </a:solidFill>
          <a:ln w="12700">
            <a:solidFill>
              <a:srgbClr val="336791">
                <a:alpha val="60000"/>
              </a:srgbClr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57200" y="3493008"/>
            <a:ext cx="54864" cy="1280160"/>
          </a:xfrm>
          <a:prstGeom prst="rect">
            <a:avLst/>
          </a:prstGeom>
          <a:solidFill>
            <a:srgbClr val="336791"/>
          </a:solidFill>
          <a:ln w="12700">
            <a:solidFill>
              <a:srgbClr val="3367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85216" y="3529584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67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 —  Bank teller window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85216" y="3803904"/>
            <a:ext cx="37490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customer at a time. Before accepting a deposit, the teller checks your account balance, verifies your ID, and confirms the account exists. Slow but thorough. Works perfectly for 50 customers a day.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352544" y="3913632"/>
            <a:ext cx="438912" cy="40233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352544" y="3913632"/>
            <a:ext cx="438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754880" y="3493008"/>
            <a:ext cx="3931920" cy="1280160"/>
          </a:xfrm>
          <a:prstGeom prst="rect">
            <a:avLst/>
          </a:prstGeom>
          <a:solidFill>
            <a:srgbClr val="F8FAFC"/>
          </a:solidFill>
          <a:ln w="12700">
            <a:solidFill>
              <a:srgbClr val="1A73E8">
                <a:alpha val="60000"/>
              </a:srgbClr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4754880" y="3493008"/>
            <a:ext cx="54864" cy="1280160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882896" y="3529584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BigQuery / Snowflake  —  Airport check-in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882896" y="3803904"/>
            <a:ext cx="37490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 passengers at 200 counters simultaneously. If every counter had to call every other counter before boarding each passenger to check for duplicates — the airport would collapse. Instead they trust the booking system did the check upstream.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03504" y="4864608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 Key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column or group of columns that can uniquely identify every row — including combinations with extra unnecessary columns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969264"/>
            <a:ext cx="4846320" cy="20116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969264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table — same as slide 6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1170432"/>
            <a:ext cx="457200" cy="25603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12064" y="117043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914400" y="1170432"/>
            <a:ext cx="1371600" cy="25603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69264" y="117043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286000" y="1170432"/>
            <a:ext cx="1920240" cy="25603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340864" y="11704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206240" y="1170432"/>
            <a:ext cx="1097280" cy="25603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261104" y="117043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city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1426464"/>
            <a:ext cx="457200" cy="237744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30352" y="1444752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914400" y="1426464"/>
            <a:ext cx="1371600" cy="237744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87552" y="144475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Ram Sharma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286000" y="1426464"/>
            <a:ext cx="1920240" cy="237744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359152" y="1444752"/>
            <a:ext cx="1792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ram@email.com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206240" y="1426464"/>
            <a:ext cx="1097280" cy="237744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279392" y="1444752"/>
            <a:ext cx="969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Kathmandu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57200" y="1664208"/>
            <a:ext cx="45720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30352" y="1682496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14400" y="1664208"/>
            <a:ext cx="137160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987552" y="168249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Sita Thapa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286000" y="1664208"/>
            <a:ext cx="192024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2359152" y="1682496"/>
            <a:ext cx="1792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sita@email.com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206240" y="1664208"/>
            <a:ext cx="109728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279392" y="1682496"/>
            <a:ext cx="969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Pokhara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57200" y="1901952"/>
            <a:ext cx="457200" cy="237744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30352" y="1920240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914400" y="1901952"/>
            <a:ext cx="1371600" cy="237744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987552" y="1920240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Hari Gurung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286000" y="1901952"/>
            <a:ext cx="1920240" cy="237744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2359152" y="1920240"/>
            <a:ext cx="1792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hari@email.com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206240" y="1901952"/>
            <a:ext cx="1097280" cy="237744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279392" y="1920240"/>
            <a:ext cx="969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Lalitpur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486400" y="969264"/>
            <a:ext cx="3200400" cy="1225296"/>
          </a:xfrm>
          <a:prstGeom prst="rect">
            <a:avLst/>
          </a:prstGeom>
          <a:solidFill>
            <a:srgbClr val="FFF7ED"/>
          </a:solidFill>
          <a:ln w="12700">
            <a:solidFill>
              <a:srgbClr val="EA580C">
                <a:alpha val="60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5486400" y="969264"/>
            <a:ext cx="3200400" cy="27432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5486400" y="96926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577840" y="1298448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Super Key is ANY set of one or more columns that uniquely identifies each row.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does NOT matter — it can have extra columns. The only rule is: no two rows can have the same value(s) for that set.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57200" y="2231136"/>
            <a:ext cx="8229600" cy="256032"/>
          </a:xfrm>
          <a:prstGeom prst="rect">
            <a:avLst/>
          </a:prstGeom>
          <a:solidFill>
            <a:srgbClr val="EA580C">
              <a:alpha val="12000"/>
            </a:srgbClr>
          </a:solidFill>
          <a:ln w="12700">
            <a:solidFill>
              <a:srgbClr val="EA580C">
                <a:alpha val="3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548640" y="2249424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valid super keys for the customers table — any of these uniquely identifies each row: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57200" y="2578608"/>
            <a:ext cx="4169664" cy="566928"/>
          </a:xfrm>
          <a:prstGeom prst="rect">
            <a:avLst/>
          </a:prstGeom>
          <a:solidFill>
            <a:srgbClr val="FFF7ED"/>
          </a:solidFill>
          <a:ln w="12700">
            <a:solidFill>
              <a:srgbClr val="EA580C">
                <a:alpha val="50000"/>
              </a:srgbClr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457200" y="2578608"/>
            <a:ext cx="54864" cy="56692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585216" y="2670048"/>
            <a:ext cx="237744" cy="182880"/>
          </a:xfrm>
          <a:prstGeom prst="rect">
            <a:avLst/>
          </a:prstGeom>
          <a:solidFill>
            <a:srgbClr val="EA580C">
              <a:alpha val="40000"/>
            </a:srgbClr>
          </a:solidFill>
          <a:ln w="12700">
            <a:solidFill>
              <a:srgbClr val="EA580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585216" y="2670048"/>
            <a:ext cx="237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877824" y="2651760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{id}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585216" y="288950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2 · 3 are all different → uniquely identifies every row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4809744" y="2578608"/>
            <a:ext cx="4169664" cy="566928"/>
          </a:xfrm>
          <a:prstGeom prst="rect">
            <a:avLst/>
          </a:prstGeom>
          <a:solidFill>
            <a:srgbClr val="FFF7ED"/>
          </a:solidFill>
          <a:ln w="12700">
            <a:solidFill>
              <a:srgbClr val="EA580C">
                <a:alpha val="50000"/>
              </a:srgbClr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4809744" y="2578608"/>
            <a:ext cx="54864" cy="56692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4937760" y="2670048"/>
            <a:ext cx="237744" cy="182880"/>
          </a:xfrm>
          <a:prstGeom prst="rect">
            <a:avLst/>
          </a:prstGeom>
          <a:solidFill>
            <a:srgbClr val="EA580C">
              <a:alpha val="40000"/>
            </a:srgbClr>
          </a:solidFill>
          <a:ln w="12700">
            <a:solidFill>
              <a:srgbClr val="EA580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4937760" y="2670048"/>
            <a:ext cx="237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5230368" y="2651760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{email}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4937760" y="288950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ram@, sita@, hari@ all different → uniquely identifies every row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457200" y="3236976"/>
            <a:ext cx="4169664" cy="566928"/>
          </a:xfrm>
          <a:prstGeom prst="rect">
            <a:avLst/>
          </a:prstGeom>
          <a:solidFill>
            <a:srgbClr val="FFFBEB"/>
          </a:solidFill>
          <a:ln w="12700">
            <a:solidFill>
              <a:srgbClr val="D97706">
                <a:alpha val="38000"/>
              </a:srgbClr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457200" y="3236976"/>
            <a:ext cx="54864" cy="56692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585216" y="3328416"/>
            <a:ext cx="237744" cy="182880"/>
          </a:xfrm>
          <a:prstGeom prst="rect">
            <a:avLst/>
          </a:prstGeom>
          <a:solidFill>
            <a:srgbClr val="D97706">
              <a:alpha val="30000"/>
            </a:srgbClr>
          </a:solidFill>
          <a:ln w="12700">
            <a:solidFill>
              <a:srgbClr val="D9770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585216" y="3328416"/>
            <a:ext cx="237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877824" y="3310128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{id, name}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585216" y="354787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unique — but name is EXTRA.  {id} alone already does the job.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4809744" y="3236976"/>
            <a:ext cx="4169664" cy="566928"/>
          </a:xfrm>
          <a:prstGeom prst="rect">
            <a:avLst/>
          </a:prstGeom>
          <a:solidFill>
            <a:srgbClr val="FFFBEB"/>
          </a:solidFill>
          <a:ln w="12700">
            <a:solidFill>
              <a:srgbClr val="D97706">
                <a:alpha val="38000"/>
              </a:srgbClr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4809744" y="3236976"/>
            <a:ext cx="54864" cy="56692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4937760" y="3328416"/>
            <a:ext cx="237744" cy="182880"/>
          </a:xfrm>
          <a:prstGeom prst="rect">
            <a:avLst/>
          </a:prstGeom>
          <a:solidFill>
            <a:srgbClr val="D97706">
              <a:alpha val="30000"/>
            </a:srgbClr>
          </a:solidFill>
          <a:ln w="12700">
            <a:solidFill>
              <a:srgbClr val="D9770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4937760" y="3328416"/>
            <a:ext cx="237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5230368" y="3310128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{id, email}</a:t>
            </a:r>
            <a:endParaRPr lang="en-US" sz="950" dirty="0"/>
          </a:p>
        </p:txBody>
      </p:sp>
      <p:sp>
        <p:nvSpPr>
          <p:cNvPr id="67" name="Text 65"/>
          <p:cNvSpPr/>
          <p:nvPr/>
        </p:nvSpPr>
        <p:spPr>
          <a:xfrm>
            <a:off x="4937760" y="354787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unique — but email is EXTRA.  {id} alone already does the job.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457200" y="3895344"/>
            <a:ext cx="4169664" cy="566928"/>
          </a:xfrm>
          <a:prstGeom prst="rect">
            <a:avLst/>
          </a:prstGeom>
          <a:solidFill>
            <a:srgbClr val="FFFBEB"/>
          </a:solidFill>
          <a:ln w="12700">
            <a:solidFill>
              <a:srgbClr val="D97706">
                <a:alpha val="38000"/>
              </a:srgbClr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9" name="Shape 67"/>
          <p:cNvSpPr/>
          <p:nvPr/>
        </p:nvSpPr>
        <p:spPr>
          <a:xfrm>
            <a:off x="457200" y="3895344"/>
            <a:ext cx="54864" cy="56692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Shape 68"/>
          <p:cNvSpPr/>
          <p:nvPr/>
        </p:nvSpPr>
        <p:spPr>
          <a:xfrm>
            <a:off x="585216" y="3986784"/>
            <a:ext cx="237744" cy="182880"/>
          </a:xfrm>
          <a:prstGeom prst="rect">
            <a:avLst/>
          </a:prstGeom>
          <a:solidFill>
            <a:srgbClr val="D97706">
              <a:alpha val="30000"/>
            </a:srgbClr>
          </a:solidFill>
          <a:ln w="12700">
            <a:solidFill>
              <a:srgbClr val="D9770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585216" y="3986784"/>
            <a:ext cx="237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877824" y="3968496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{id, name, city}</a:t>
            </a:r>
            <a:endParaRPr lang="en-US" sz="950" dirty="0"/>
          </a:p>
        </p:txBody>
      </p:sp>
      <p:sp>
        <p:nvSpPr>
          <p:cNvPr id="73" name="Text 71"/>
          <p:cNvSpPr/>
          <p:nvPr/>
        </p:nvSpPr>
        <p:spPr>
          <a:xfrm>
            <a:off x="585216" y="420624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unique — but name AND city are EXTRA columns.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4809744" y="3895344"/>
            <a:ext cx="4169664" cy="566928"/>
          </a:xfrm>
          <a:prstGeom prst="rect">
            <a:avLst/>
          </a:prstGeom>
          <a:solidFill>
            <a:srgbClr val="FFFBEB"/>
          </a:solidFill>
          <a:ln w="12700">
            <a:solidFill>
              <a:srgbClr val="D97706">
                <a:alpha val="38000"/>
              </a:srgbClr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5" name="Shape 73"/>
          <p:cNvSpPr/>
          <p:nvPr/>
        </p:nvSpPr>
        <p:spPr>
          <a:xfrm>
            <a:off x="4809744" y="3895344"/>
            <a:ext cx="54864" cy="56692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Shape 74"/>
          <p:cNvSpPr/>
          <p:nvPr/>
        </p:nvSpPr>
        <p:spPr>
          <a:xfrm>
            <a:off x="4937760" y="3986784"/>
            <a:ext cx="237744" cy="182880"/>
          </a:xfrm>
          <a:prstGeom prst="rect">
            <a:avLst/>
          </a:prstGeom>
          <a:solidFill>
            <a:srgbClr val="D97706">
              <a:alpha val="30000"/>
            </a:srgbClr>
          </a:solidFill>
          <a:ln w="12700">
            <a:solidFill>
              <a:srgbClr val="D9770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Text 75"/>
          <p:cNvSpPr/>
          <p:nvPr/>
        </p:nvSpPr>
        <p:spPr>
          <a:xfrm>
            <a:off x="4937760" y="3986784"/>
            <a:ext cx="237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5230368" y="3968496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{email, city}</a:t>
            </a:r>
            <a:endParaRPr lang="en-US" sz="950" dirty="0"/>
          </a:p>
        </p:txBody>
      </p:sp>
      <p:sp>
        <p:nvSpPr>
          <p:cNvPr id="79" name="Text 77"/>
          <p:cNvSpPr/>
          <p:nvPr/>
        </p:nvSpPr>
        <p:spPr>
          <a:xfrm>
            <a:off x="4937760" y="420624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unique — but city is EXTRA.  {email} alone already does the job.</a:t>
            </a:r>
            <a:endParaRPr lang="en-US" sz="850" dirty="0"/>
          </a:p>
        </p:txBody>
      </p:sp>
      <p:sp>
        <p:nvSpPr>
          <p:cNvPr id="80" name="Shape 78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solidFill>
            <a:srgbClr val="EA580C">
              <a:alpha val="10000"/>
            </a:srgbClr>
          </a:solidFill>
          <a:ln w="12700">
            <a:solidFill>
              <a:srgbClr val="EA580C">
                <a:alpha val="3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Shape 79"/>
          <p:cNvSpPr/>
          <p:nvPr/>
        </p:nvSpPr>
        <p:spPr>
          <a:xfrm>
            <a:off x="457200" y="4572000"/>
            <a:ext cx="54864" cy="4572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Text 80"/>
          <p:cNvSpPr/>
          <p:nvPr/>
        </p:nvSpPr>
        <p:spPr>
          <a:xfrm>
            <a:off x="603504" y="4608576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</a:t>
            </a:r>
            <a:endParaRPr lang="en-US" sz="900" dirty="0"/>
          </a:p>
        </p:txBody>
      </p:sp>
      <p:sp>
        <p:nvSpPr>
          <p:cNvPr id="83" name="Text 81"/>
          <p:cNvSpPr/>
          <p:nvPr/>
        </p:nvSpPr>
        <p:spPr>
          <a:xfrm>
            <a:off x="603504" y="4773168"/>
            <a:ext cx="7955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are MANY super keys for any table — most have unnecessary extra columns. The goal of a Candidate Key is to filter these down to only the minimal ones.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Key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minimal super keys — the only columns eligible to become Primary Key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969264"/>
            <a:ext cx="8229600" cy="621792"/>
          </a:xfrm>
          <a:prstGeom prst="rect">
            <a:avLst/>
          </a:prstGeom>
          <a:solidFill>
            <a:srgbClr val="059669">
              <a:alpha val="11000"/>
            </a:srgbClr>
          </a:solidFill>
          <a:ln w="12700">
            <a:solidFill>
              <a:srgbClr val="059669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969264"/>
            <a:ext cx="54864" cy="62179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03504" y="987552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exactly as you said. </a:t>
            </a: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candidate key is a super key with NO extra columns. Remove any one column and it immediately stops being unique. Only these qualify as candidates for the Primary Key.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03504" y="1261872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One-line rule: Can I remove any column and still uniquely identify every row?  NO → it is a candidate key.  YES → it is not.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57200" y="1682496"/>
            <a:ext cx="4846320" cy="20116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1682496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table — same as slide 6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57200" y="1883664"/>
            <a:ext cx="457200" cy="25603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12064" y="188366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14400" y="1883664"/>
            <a:ext cx="1371600" cy="25603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69264" y="188366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286000" y="1883664"/>
            <a:ext cx="1920240" cy="25603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340864" y="188366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206240" y="1883664"/>
            <a:ext cx="1097280" cy="25603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261104" y="188366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city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2139696"/>
            <a:ext cx="457200" cy="237744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30352" y="2157984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914400" y="2139696"/>
            <a:ext cx="1371600" cy="237744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87552" y="215798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Ram Sharma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286000" y="2139696"/>
            <a:ext cx="1920240" cy="237744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359152" y="2157984"/>
            <a:ext cx="1792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ram@email.com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206240" y="2139696"/>
            <a:ext cx="1097280" cy="237744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279392" y="2157984"/>
            <a:ext cx="969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Kathmandu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57200" y="2377440"/>
            <a:ext cx="45720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30352" y="2395728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914400" y="2377440"/>
            <a:ext cx="137160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987552" y="2395728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Sita Thapa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286000" y="2377440"/>
            <a:ext cx="192024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2359152" y="2395728"/>
            <a:ext cx="1792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sita@email.com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206240" y="2377440"/>
            <a:ext cx="109728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279392" y="2395728"/>
            <a:ext cx="969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Pokhara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57200" y="2615184"/>
            <a:ext cx="457200" cy="237744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30352" y="2633472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914400" y="2615184"/>
            <a:ext cx="1371600" cy="237744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987552" y="2633472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Hari Gurung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2286000" y="2615184"/>
            <a:ext cx="1920240" cy="237744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2359152" y="2633472"/>
            <a:ext cx="1792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hari@email.com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206240" y="2615184"/>
            <a:ext cx="1097280" cy="237744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279392" y="2633472"/>
            <a:ext cx="969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Lalitpur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457200" y="294436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test to each candidate — can I remove any column and still keep it unique?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57200" y="3255264"/>
            <a:ext cx="8229600" cy="457200"/>
          </a:xfrm>
          <a:prstGeom prst="rect">
            <a:avLst/>
          </a:prstGeom>
          <a:solidFill>
            <a:srgbClr val="059669">
              <a:alpha val="9000"/>
            </a:srgbClr>
          </a:solidFill>
          <a:ln w="12700">
            <a:solidFill>
              <a:srgbClr val="059669">
                <a:alpha val="32000"/>
              </a:srgbClr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548640" y="3328416"/>
            <a:ext cx="1133856" cy="219456"/>
          </a:xfrm>
          <a:prstGeom prst="rect">
            <a:avLst/>
          </a:prstGeom>
          <a:solidFill>
            <a:srgbClr val="059669">
              <a:alpha val="40000"/>
            </a:srgbClr>
          </a:solidFill>
          <a:ln w="12700">
            <a:solidFill>
              <a:srgbClr val="059669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585216" y="3337560"/>
            <a:ext cx="1060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{id}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57200" y="3255264"/>
            <a:ext cx="54864" cy="4572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1755648" y="33101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id →  Nothing left → cannot identify any row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755648" y="3493008"/>
            <a:ext cx="6766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KEY ✓  — minimal, nothing to remove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57200" y="3803904"/>
            <a:ext cx="8229600" cy="457200"/>
          </a:xfrm>
          <a:prstGeom prst="rect">
            <a:avLst/>
          </a:prstGeom>
          <a:solidFill>
            <a:srgbClr val="059669">
              <a:alpha val="9000"/>
            </a:srgbClr>
          </a:solidFill>
          <a:ln w="12700">
            <a:solidFill>
              <a:srgbClr val="059669">
                <a:alpha val="32000"/>
              </a:srgbClr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548640" y="3877056"/>
            <a:ext cx="1133856" cy="219456"/>
          </a:xfrm>
          <a:prstGeom prst="rect">
            <a:avLst/>
          </a:prstGeom>
          <a:solidFill>
            <a:srgbClr val="059669">
              <a:alpha val="40000"/>
            </a:srgbClr>
          </a:solidFill>
          <a:ln w="12700">
            <a:solidFill>
              <a:srgbClr val="059669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585216" y="3886200"/>
            <a:ext cx="1060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{email}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457200" y="3803904"/>
            <a:ext cx="54864" cy="4572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1755648" y="385876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email →  Nothing left → cannot identify any row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1755648" y="4041648"/>
            <a:ext cx="6766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KEY ✓  — minimal, nothing to remove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457200" y="4352544"/>
            <a:ext cx="8229600" cy="457200"/>
          </a:xfrm>
          <a:prstGeom prst="rect">
            <a:avLst/>
          </a:prstGeom>
          <a:solidFill>
            <a:srgbClr val="DC2626">
              <a:alpha val="9000"/>
            </a:srgbClr>
          </a:solidFill>
          <a:ln w="12700">
            <a:solidFill>
              <a:srgbClr val="DC2626">
                <a:alpha val="32000"/>
              </a:srgbClr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548640" y="4425696"/>
            <a:ext cx="1133856" cy="219456"/>
          </a:xfrm>
          <a:prstGeom prst="rect">
            <a:avLst/>
          </a:prstGeom>
          <a:solidFill>
            <a:srgbClr val="DC2626">
              <a:alpha val="40000"/>
            </a:srgbClr>
          </a:solidFill>
          <a:ln w="12700">
            <a:solidFill>
              <a:srgbClr val="DC2626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585216" y="4434840"/>
            <a:ext cx="1060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{id, email}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457200" y="4352544"/>
            <a:ext cx="54864" cy="4572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1755648" y="440740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email →  id alone still identifies rows 1, 2, 3 uniquely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1755648" y="4590288"/>
            <a:ext cx="6766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candidate key ✗  — email was redundant / extra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457200" y="4919472"/>
            <a:ext cx="8229600" cy="18288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603504" y="4928616"/>
            <a:ext cx="7955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Conclusion: 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table has </a:t>
            </a:r>
            <a:r>
              <a:rPr lang="en-US" sz="9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candidate keys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</a:t>
            </a:r>
            <a:r>
              <a:rPr lang="en-US" sz="95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r>
              <a:rPr lang="en-US" sz="95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we choose </a:t>
            </a:r>
            <a:r>
              <a:rPr lang="en-US" sz="95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as Primary Key (integer is simpler, stays stable even if email changes)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Key  &amp;  Surrogate Key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69494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key patterns you will use constantly in data warehousing and ELT pipelines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931920" cy="3913632"/>
          </a:xfrm>
          <a:prstGeom prst="rect">
            <a:avLst/>
          </a:prstGeom>
          <a:solidFill>
            <a:srgbClr val="F5F3FF"/>
          </a:solidFill>
          <a:ln w="12700">
            <a:solidFill>
              <a:srgbClr val="7C3AED">
                <a:alpha val="62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3931920" cy="31089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Key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66928" y="1389888"/>
            <a:ext cx="37124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Primary Key made from TWO OR MORE columns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combined. No single column is unique alone —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together they are.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66928" y="1956816"/>
            <a:ext cx="3712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example: course_enrollment table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66928" y="2157984"/>
            <a:ext cx="914400" cy="23774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03504" y="2157984"/>
            <a:ext cx="841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student_id 🔑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481328" y="2157984"/>
            <a:ext cx="822960" cy="23774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517904" y="2157984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course_id 🔑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304288" y="2157984"/>
            <a:ext cx="658368" cy="2377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340864" y="2157984"/>
            <a:ext cx="585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grade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962656" y="2157984"/>
            <a:ext cx="1024128" cy="2377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999232" y="2157984"/>
            <a:ext cx="9509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enrolled_on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66928" y="2395728"/>
            <a:ext cx="914400" cy="201168"/>
          </a:xfrm>
          <a:prstGeom prst="rect">
            <a:avLst/>
          </a:prstGeom>
          <a:solidFill>
            <a:srgbClr val="EDE9FE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03504" y="2414016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1001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1481328" y="2395728"/>
            <a:ext cx="822960" cy="201168"/>
          </a:xfrm>
          <a:prstGeom prst="rect">
            <a:avLst/>
          </a:prstGeom>
          <a:solidFill>
            <a:srgbClr val="EDE9FE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517904" y="2414016"/>
            <a:ext cx="749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CS101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304288" y="2395728"/>
            <a:ext cx="658368" cy="201168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340864" y="2414016"/>
            <a:ext cx="5852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962656" y="2395728"/>
            <a:ext cx="1024128" cy="201168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999232" y="2414016"/>
            <a:ext cx="9509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2024-01-10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66928" y="2596896"/>
            <a:ext cx="914400" cy="201168"/>
          </a:xfrm>
          <a:prstGeom prst="rect">
            <a:avLst/>
          </a:prstGeom>
          <a:solidFill>
            <a:srgbClr val="F5F3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03504" y="2615184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1001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1481328" y="2596896"/>
            <a:ext cx="822960" cy="201168"/>
          </a:xfrm>
          <a:prstGeom prst="rect">
            <a:avLst/>
          </a:prstGeom>
          <a:solidFill>
            <a:srgbClr val="F5F3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1517904" y="2615184"/>
            <a:ext cx="749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CS102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304288" y="2596896"/>
            <a:ext cx="658368" cy="20116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2340864" y="2615184"/>
            <a:ext cx="5852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962656" y="2596896"/>
            <a:ext cx="1024128" cy="20116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2999232" y="2615184"/>
            <a:ext cx="9509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2024-01-10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566928" y="2798064"/>
            <a:ext cx="914400" cy="201168"/>
          </a:xfrm>
          <a:prstGeom prst="rect">
            <a:avLst/>
          </a:prstGeom>
          <a:solidFill>
            <a:srgbClr val="EDE9FE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03504" y="2816352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1002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1481328" y="2798064"/>
            <a:ext cx="822960" cy="201168"/>
          </a:xfrm>
          <a:prstGeom prst="rect">
            <a:avLst/>
          </a:prstGeom>
          <a:solidFill>
            <a:srgbClr val="EDE9FE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1517904" y="2816352"/>
            <a:ext cx="749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CS101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2304288" y="2798064"/>
            <a:ext cx="658368" cy="201168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2340864" y="2816352"/>
            <a:ext cx="5852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A+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2962656" y="2798064"/>
            <a:ext cx="1024128" cy="201168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2999232" y="2816352"/>
            <a:ext cx="9509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2024-01-11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566928" y="2999232"/>
            <a:ext cx="914400" cy="201168"/>
          </a:xfrm>
          <a:prstGeom prst="rect">
            <a:avLst/>
          </a:prstGeom>
          <a:solidFill>
            <a:srgbClr val="F5F3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03504" y="3017520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1002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1481328" y="2999232"/>
            <a:ext cx="822960" cy="201168"/>
          </a:xfrm>
          <a:prstGeom prst="rect">
            <a:avLst/>
          </a:prstGeom>
          <a:solidFill>
            <a:srgbClr val="F5F3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1517904" y="3017520"/>
            <a:ext cx="749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CS103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2304288" y="2999232"/>
            <a:ext cx="658368" cy="20116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2340864" y="3017520"/>
            <a:ext cx="5852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B+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2962656" y="2999232"/>
            <a:ext cx="1024128" cy="20116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2999232" y="3017520"/>
            <a:ext cx="9509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2024-01-11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566928" y="3236976"/>
            <a:ext cx="37124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student_id 1001 appears twice — NOT unique alone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course_id CS101 appears twice — NOT unique alone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(1001, CS101) appears only ONCE — UNIQUE ✓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566928" y="3749040"/>
            <a:ext cx="3712464" cy="47548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676656" y="3785616"/>
            <a:ext cx="3493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PRIMARY KEY (student_id, course_id)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76656" y="3968496"/>
            <a:ext cx="3493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two columns declared together as one PK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640080" y="431596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4754880" y="1005840"/>
            <a:ext cx="3931920" cy="3913632"/>
          </a:xfrm>
          <a:prstGeom prst="rect">
            <a:avLst/>
          </a:prstGeom>
          <a:solidFill>
            <a:srgbClr val="ECFEFF"/>
          </a:solidFill>
          <a:ln w="12700">
            <a:solidFill>
              <a:srgbClr val="0891B2">
                <a:alpha val="62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4754880" y="1005840"/>
            <a:ext cx="3931920" cy="31089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4754880" y="1005840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Surrogate Key</a:t>
            </a:r>
            <a:endParaRPr lang="en-US" sz="1400" dirty="0"/>
          </a:p>
        </p:txBody>
      </p:sp>
      <p:sp>
        <p:nvSpPr>
          <p:cNvPr id="58" name="Text 56"/>
          <p:cNvSpPr/>
          <p:nvPr/>
        </p:nvSpPr>
        <p:spPr>
          <a:xfrm>
            <a:off x="4864608" y="1389888"/>
            <a:ext cx="37124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ARTIFICIAL key added by the database — not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source data. Usually an auto-incrementing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integer. Has NO business meaning.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4864608" y="1956816"/>
            <a:ext cx="3712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key  vs  Surrogate key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4864608" y="2157984"/>
            <a:ext cx="1755648" cy="21945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4937760" y="2157984"/>
            <a:ext cx="1609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 (natural) ✗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4864608" y="2377440"/>
            <a:ext cx="1755648" cy="201168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4937760" y="2395728"/>
            <a:ext cx="16093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ram@email.com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4864608" y="2578608"/>
            <a:ext cx="1755648" cy="20116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65" name="Text 63"/>
          <p:cNvSpPr/>
          <p:nvPr/>
        </p:nvSpPr>
        <p:spPr>
          <a:xfrm>
            <a:off x="4937760" y="2596896"/>
            <a:ext cx="16093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sita@email.com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4864608" y="2779776"/>
            <a:ext cx="1755648" cy="201168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4937760" y="2798064"/>
            <a:ext cx="16093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hari@email.com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4864608" y="2980944"/>
            <a:ext cx="1755648" cy="201168"/>
          </a:xfrm>
          <a:prstGeom prst="rect">
            <a:avLst/>
          </a:prstGeom>
          <a:solidFill>
            <a:srgbClr val="FEE2E2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4937760" y="2999232"/>
            <a:ext cx="16093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changed@email.com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4864608" y="3200400"/>
            <a:ext cx="175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email changes →</a:t>
            </a:r>
            <a:endParaRPr lang="en-US" sz="800" dirty="0"/>
          </a:p>
          <a:p>
            <a:pPr marL="0" indent="0">
              <a:buNone/>
            </a:pPr>
            <a:r>
              <a:rPr lang="en-US" sz="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FK refs break!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6729984" y="2157984"/>
            <a:ext cx="1755648" cy="21945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/>
          <p:nvPr/>
        </p:nvSpPr>
        <p:spPr>
          <a:xfrm>
            <a:off x="6803136" y="2157984"/>
            <a:ext cx="1609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member_sk (surr.) ✓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6729984" y="2377440"/>
            <a:ext cx="1755648" cy="201168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72"/>
          <p:cNvSpPr/>
          <p:nvPr/>
        </p:nvSpPr>
        <p:spPr>
          <a:xfrm>
            <a:off x="6803136" y="2395728"/>
            <a:ext cx="16093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6729984" y="2578608"/>
            <a:ext cx="1755648" cy="20116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Text 74"/>
          <p:cNvSpPr/>
          <p:nvPr/>
        </p:nvSpPr>
        <p:spPr>
          <a:xfrm>
            <a:off x="6803136" y="2596896"/>
            <a:ext cx="16093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6729984" y="2779776"/>
            <a:ext cx="1755648" cy="201168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Text 76"/>
          <p:cNvSpPr/>
          <p:nvPr/>
        </p:nvSpPr>
        <p:spPr>
          <a:xfrm>
            <a:off x="6803136" y="2798064"/>
            <a:ext cx="16093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6729984" y="2980944"/>
            <a:ext cx="1755648" cy="201168"/>
          </a:xfrm>
          <a:prstGeom prst="rect">
            <a:avLst/>
          </a:prstGeom>
          <a:solidFill>
            <a:srgbClr val="ECFE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Text 78"/>
          <p:cNvSpPr/>
          <p:nvPr/>
        </p:nvSpPr>
        <p:spPr>
          <a:xfrm>
            <a:off x="6803136" y="2999232"/>
            <a:ext cx="16093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(new row)</a:t>
            </a:r>
            <a:endParaRPr lang="en-US" sz="800" dirty="0"/>
          </a:p>
        </p:txBody>
      </p:sp>
      <p:sp>
        <p:nvSpPr>
          <p:cNvPr id="81" name="Text 79"/>
          <p:cNvSpPr/>
          <p:nvPr/>
        </p:nvSpPr>
        <p:spPr>
          <a:xfrm>
            <a:off x="6729984" y="3200400"/>
            <a:ext cx="175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email changes →</a:t>
            </a:r>
            <a:endParaRPr lang="en-US" sz="800" dirty="0"/>
          </a:p>
          <a:p>
            <a:pPr marL="0" indent="0">
              <a:buNone/>
            </a:pPr>
            <a:r>
              <a:rPr lang="en-US" sz="8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member_sk stays 1</a:t>
            </a:r>
            <a:endParaRPr lang="en-US" sz="800" dirty="0"/>
          </a:p>
        </p:txBody>
      </p:sp>
      <p:sp>
        <p:nvSpPr>
          <p:cNvPr id="82" name="Shape 80"/>
          <p:cNvSpPr/>
          <p:nvPr/>
        </p:nvSpPr>
        <p:spPr>
          <a:xfrm>
            <a:off x="4864608" y="3547872"/>
            <a:ext cx="3712464" cy="62179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Text 81"/>
          <p:cNvSpPr/>
          <p:nvPr/>
        </p:nvSpPr>
        <p:spPr>
          <a:xfrm>
            <a:off x="4974336" y="3584448"/>
            <a:ext cx="3493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PostgreSQL (SERIAL = auto-increment)</a:t>
            </a:r>
            <a:endParaRPr lang="en-US" sz="800" dirty="0"/>
          </a:p>
        </p:txBody>
      </p:sp>
      <p:sp>
        <p:nvSpPr>
          <p:cNvPr id="84" name="Text 82"/>
          <p:cNvSpPr/>
          <p:nvPr/>
        </p:nvSpPr>
        <p:spPr>
          <a:xfrm>
            <a:off x="4974336" y="3749040"/>
            <a:ext cx="3493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member_sk  SERIAL PRIMARY KEY</a:t>
            </a:r>
            <a:endParaRPr lang="en-US" sz="900" dirty="0"/>
          </a:p>
        </p:txBody>
      </p:sp>
      <p:sp>
        <p:nvSpPr>
          <p:cNvPr id="85" name="Text 83"/>
          <p:cNvSpPr/>
          <p:nvPr/>
        </p:nvSpPr>
        <p:spPr>
          <a:xfrm>
            <a:off x="4974336" y="3950208"/>
            <a:ext cx="3493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BigQuery / Snowflake</a:t>
            </a:r>
            <a:endParaRPr lang="en-US" sz="800" dirty="0"/>
          </a:p>
        </p:txBody>
      </p:sp>
      <p:sp>
        <p:nvSpPr>
          <p:cNvPr id="86" name="Text 84"/>
          <p:cNvSpPr/>
          <p:nvPr/>
        </p:nvSpPr>
        <p:spPr>
          <a:xfrm>
            <a:off x="4974336" y="4114800"/>
            <a:ext cx="3493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88" name="Text 86"/>
          <p:cNvSpPr/>
          <p:nvPr/>
        </p:nvSpPr>
        <p:spPr>
          <a:xfrm>
            <a:off x="4937760" y="4242816"/>
            <a:ext cx="3566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89" name="Shape 87"/>
          <p:cNvSpPr/>
          <p:nvPr/>
        </p:nvSpPr>
        <p:spPr>
          <a:xfrm>
            <a:off x="457200" y="4974336"/>
            <a:ext cx="8229600" cy="10972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Key Types — Complete Reference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broadest concept (Super Key) down to the most practical implementation pattern (Surrogate Key)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457200" y="932688"/>
            <a:ext cx="2706624" cy="1865376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EA580C">
                <a:alpha val="58000"/>
              </a:srgbClr>
            </a:solidFill>
            <a:prstDash val="solid"/>
          </a:ln>
          <a:effectLst>
            <a:outerShdw blurRad="1524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932688"/>
            <a:ext cx="2706624" cy="29260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978408"/>
            <a:ext cx="347472" cy="201168"/>
          </a:xfrm>
          <a:prstGeom prst="rect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978408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950976" y="987552"/>
            <a:ext cx="21396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 Key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66928" y="1316736"/>
            <a:ext cx="2487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column or combination that uniquely identifies a row.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66928" y="1609344"/>
            <a:ext cx="2487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broad — includes redundant combinations. Not minimal.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66928" y="1956816"/>
            <a:ext cx="2487168" cy="713232"/>
          </a:xfrm>
          <a:prstGeom prst="rect">
            <a:avLst/>
          </a:prstGeom>
          <a:solidFill>
            <a:srgbClr val="EA580C">
              <a:alpha val="15000"/>
            </a:srgbClr>
          </a:solidFill>
          <a:ln w="12700">
            <a:solidFill>
              <a:srgbClr val="EA580C">
                <a:alpha val="3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21792" y="1993392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chemeClr val="bg2">
                    <a:lumMod val="5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{student_id}  {email}  {student_id, email}  {student_id, name, dob}</a:t>
            </a:r>
            <a:endParaRPr lang="en-US" sz="8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3" name="Shape 11"/>
          <p:cNvSpPr/>
          <p:nvPr/>
        </p:nvSpPr>
        <p:spPr>
          <a:xfrm>
            <a:off x="3364992" y="932688"/>
            <a:ext cx="2706624" cy="1865376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059669">
                <a:alpha val="58000"/>
              </a:srgbClr>
            </a:solidFill>
            <a:prstDash val="solid"/>
          </a:ln>
          <a:effectLst>
            <a:outerShdw blurRad="1524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364992" y="932688"/>
            <a:ext cx="2706624" cy="2926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456432" y="978408"/>
            <a:ext cx="347472" cy="201168"/>
          </a:xfrm>
          <a:prstGeom prst="rect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456432" y="978408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CK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858768" y="987552"/>
            <a:ext cx="21396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Key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474720" y="1316736"/>
            <a:ext cx="2487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super keys — remove any column and uniqueness breaks.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474720" y="1609344"/>
            <a:ext cx="2487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can exist. One of them is chosen to become Primary Key.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474720" y="1956816"/>
            <a:ext cx="2487168" cy="713232"/>
          </a:xfrm>
          <a:prstGeom prst="rect">
            <a:avLst/>
          </a:prstGeom>
          <a:solidFill>
            <a:srgbClr val="059669">
              <a:alpha val="15000"/>
            </a:srgbClr>
          </a:solidFill>
          <a:ln w="12700">
            <a:solidFill>
              <a:srgbClr val="059669">
                <a:alpha val="3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529584" y="1993392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chemeClr val="bg2">
                    <a:lumMod val="5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{student_id}  {email}  {phone}    ← all are minimal</a:t>
            </a:r>
            <a:endParaRPr lang="en-US" sz="8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22" name="Shape 20"/>
          <p:cNvSpPr/>
          <p:nvPr/>
        </p:nvSpPr>
        <p:spPr>
          <a:xfrm>
            <a:off x="6272784" y="932688"/>
            <a:ext cx="2706624" cy="1865376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2563EB">
                <a:alpha val="58000"/>
              </a:srgbClr>
            </a:solidFill>
            <a:prstDash val="solid"/>
          </a:ln>
          <a:effectLst>
            <a:outerShdw blurRad="1524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272784" y="932688"/>
            <a:ext cx="2706624" cy="2926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364224" y="978408"/>
            <a:ext cx="347472" cy="201168"/>
          </a:xfrm>
          <a:prstGeom prst="rect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364224" y="978408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766560" y="987552"/>
            <a:ext cx="21396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Key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382512" y="1316736"/>
            <a:ext cx="2487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candidate key chosen to be the official row identifier.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382512" y="1609344"/>
            <a:ext cx="2487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be NULL. Only one per table. Automatically indexed.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382512" y="1956816"/>
            <a:ext cx="2487168" cy="713232"/>
          </a:xfrm>
          <a:prstGeom prst="rect">
            <a:avLst/>
          </a:prstGeom>
          <a:solidFill>
            <a:srgbClr val="2563EB">
              <a:alpha val="15000"/>
            </a:srgbClr>
          </a:solidFill>
          <a:ln w="12700">
            <a:solidFill>
              <a:srgbClr val="2563EB">
                <a:alpha val="3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437376" y="1993392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chemeClr val="bg2">
                    <a:lumMod val="5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SERIAL PRIMARY KEY    ← chosen from candidate keys</a:t>
            </a:r>
            <a:endParaRPr lang="en-US" sz="8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31" name="Shape 29"/>
          <p:cNvSpPr/>
          <p:nvPr/>
        </p:nvSpPr>
        <p:spPr>
          <a:xfrm>
            <a:off x="457200" y="2926080"/>
            <a:ext cx="2706624" cy="1865376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0D9488">
                <a:alpha val="58000"/>
              </a:srgbClr>
            </a:solidFill>
            <a:prstDash val="solid"/>
          </a:ln>
          <a:effectLst>
            <a:outerShdw blurRad="1524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57200" y="2926080"/>
            <a:ext cx="2706624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548640" y="2971800"/>
            <a:ext cx="347472" cy="201168"/>
          </a:xfrm>
          <a:prstGeom prst="rect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48640" y="2971800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FK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950976" y="2980944"/>
            <a:ext cx="21396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Key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66928" y="3310128"/>
            <a:ext cx="2487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column that references the Primary Key of another table.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66928" y="3602736"/>
            <a:ext cx="2487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Enforces referential integrity — the value must exist in parent.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566928" y="3950208"/>
            <a:ext cx="2487168" cy="713232"/>
          </a:xfrm>
          <a:prstGeom prst="rect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>
                <a:alpha val="3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21792" y="3986784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chemeClr val="bg2">
                    <a:lumMod val="5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dept_id INT REFERENCES departments(id)</a:t>
            </a:r>
            <a:endParaRPr lang="en-US" sz="8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0" name="Shape 38"/>
          <p:cNvSpPr/>
          <p:nvPr/>
        </p:nvSpPr>
        <p:spPr>
          <a:xfrm>
            <a:off x="3364992" y="2926080"/>
            <a:ext cx="2706624" cy="1865376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7C3AED">
                <a:alpha val="58000"/>
              </a:srgbClr>
            </a:solidFill>
            <a:prstDash val="solid"/>
          </a:ln>
          <a:effectLst>
            <a:outerShdw blurRad="1524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3364992" y="2926080"/>
            <a:ext cx="2706624" cy="2926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3456432" y="2971800"/>
            <a:ext cx="347472" cy="201168"/>
          </a:xfrm>
          <a:prstGeom prst="rect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3456432" y="2971800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3858768" y="2980944"/>
            <a:ext cx="21396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Key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3474720" y="3310128"/>
            <a:ext cx="2487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Primary Key made from two or more columns combined.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3474720" y="3602736"/>
            <a:ext cx="2487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when no single column is unique alone. Common in fact tables.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3474720" y="3950208"/>
            <a:ext cx="2487168" cy="713232"/>
          </a:xfrm>
          <a:prstGeom prst="rect">
            <a:avLst/>
          </a:prstGeom>
          <a:solidFill>
            <a:srgbClr val="7C3AED">
              <a:alpha val="15000"/>
            </a:srgbClr>
          </a:solidFill>
          <a:ln w="12700">
            <a:solidFill>
              <a:srgbClr val="7C3AED">
                <a:alpha val="3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3529584" y="3986784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chemeClr val="bg2">
                    <a:lumMod val="5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PRIMARY KEY (student_id, course_id)</a:t>
            </a:r>
            <a:endParaRPr lang="en-US" sz="8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9" name="Shape 47"/>
          <p:cNvSpPr/>
          <p:nvPr/>
        </p:nvSpPr>
        <p:spPr>
          <a:xfrm>
            <a:off x="6272784" y="2926080"/>
            <a:ext cx="2706624" cy="1865376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0891B2">
                <a:alpha val="58000"/>
              </a:srgbClr>
            </a:solidFill>
            <a:prstDash val="solid"/>
          </a:ln>
          <a:effectLst>
            <a:outerShdw blurRad="152400" dist="38100" dir="8100000" algn="bl" rotWithShape="0">
              <a:srgbClr val="000000">
                <a:alpha val="11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6272784" y="2926080"/>
            <a:ext cx="2706624" cy="2926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6364224" y="2971800"/>
            <a:ext cx="347472" cy="201168"/>
          </a:xfrm>
          <a:prstGeom prst="rect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6364224" y="2971800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SUR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6766560" y="2980944"/>
            <a:ext cx="21396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Surrogate Key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6382512" y="3310128"/>
            <a:ext cx="2487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artificial key added by the system — not from source data.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6382512" y="3602736"/>
            <a:ext cx="2487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Auto-increment integer. Stable even when business data changes.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6382512" y="3950208"/>
            <a:ext cx="2487168" cy="713232"/>
          </a:xfrm>
          <a:prstGeom prst="rect">
            <a:avLst/>
          </a:prstGeom>
          <a:solidFill>
            <a:srgbClr val="0891B2">
              <a:alpha val="15000"/>
            </a:srgbClr>
          </a:solidFill>
          <a:ln w="12700">
            <a:solidFill>
              <a:srgbClr val="0891B2">
                <a:alpha val="3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6437376" y="3986784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chemeClr val="bg2">
                    <a:lumMod val="5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member_sk SERIAL    ← DW dim tables always use surrogate keys</a:t>
            </a:r>
            <a:endParaRPr lang="en-US" sz="8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58" name="Shape 56"/>
          <p:cNvSpPr/>
          <p:nvPr/>
        </p:nvSpPr>
        <p:spPr>
          <a:xfrm>
            <a:off x="457200" y="4864608"/>
            <a:ext cx="8229600" cy="201168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603504" y="4882896"/>
            <a:ext cx="7955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Relationship: </a:t>
            </a:r>
            <a:r>
              <a:rPr lang="en-US" sz="85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 Key</a:t>
            </a: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⊃  contains all  ⊃  </a:t>
            </a:r>
            <a:r>
              <a:rPr lang="en-US" sz="8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Keys</a:t>
            </a: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one chosen as  →  </a:t>
            </a:r>
            <a:r>
              <a:rPr lang="en-US" sz="8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Key</a:t>
            </a: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</a:t>
            </a:r>
            <a:r>
              <a:rPr lang="en-US" sz="8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Key</a:t>
            </a: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PK from multiple columns   |   </a:t>
            </a:r>
            <a:r>
              <a:rPr lang="en-US" sz="8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Surrogate Key</a:t>
            </a: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system-generated PK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in Action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customers table: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3931920" cy="1188720"/>
        </p:xfrm>
        <a:graphic>
          <a:graphicData uri="http://schemas.openxmlformats.org/drawingml/2006/table">
            <a:tbl>
              <a:tblPr/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71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Ram Sharma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ram@email.com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Kathmandu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Sita Thapa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sita@email.com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Pokhara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Hari Gurung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hari@email.com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Lalitpur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2606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Query: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57200" y="2880360"/>
            <a:ext cx="3931920" cy="50292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48640" y="292608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name, city FROM customers;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206240" y="201168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4" name="Text 6"/>
          <p:cNvSpPr/>
          <p:nvPr/>
        </p:nvSpPr>
        <p:spPr>
          <a:xfrm>
            <a:off x="4754880" y="9144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</a:t>
            </a:r>
            <a:endParaRPr lang="en-US" sz="13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234440"/>
          <a:ext cx="3931920" cy="1188720"/>
        </p:xfrm>
        <a:graphic>
          <a:graphicData uri="http://schemas.openxmlformats.org/drawingml/2006/table">
            <a:tbl>
              <a:tblPr/>
              <a:tblGrid>
                <a:gridCol w="1965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71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Ram Sharma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Kathmandu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Sita Thapa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Pokhara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Hari Gurung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Lalitpur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457200" y="3657600"/>
            <a:ext cx="8229600" cy="73152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640080" y="37490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Notice: We only get the columns we asked for (name and city). The id and email columns are not shown because we didn't SELECT them.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Filtering Data with WHERE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lets you filter rows based on a condition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7863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column1, column2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table_name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condition;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2468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834640"/>
            <a:ext cx="5303520" cy="50292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288036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customers WHERE city = 'Kathmandu';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0" y="283464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customers from Kathmandu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520440"/>
            <a:ext cx="5303520" cy="50292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48640" y="356616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products WHERE price &gt; 1000;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0" y="352044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costing more than 1000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4206240"/>
            <a:ext cx="5303520" cy="50292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48640" y="425196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orders WHERE order_date = '2024-01-15';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943600" y="420624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from a specific date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Comparison Operators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these to compare values in your conditions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737360" y="13258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 to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931920" y="1325880"/>
            <a:ext cx="4754880" cy="36576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023360" y="13258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city = 'Pokhara'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73736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!= or &lt;&gt;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737360" y="17373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equal to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931920" y="1737360"/>
            <a:ext cx="4754880" cy="36576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023360" y="17373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status != 'cancelled'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214884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737360" y="21488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than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931920" y="2148840"/>
            <a:ext cx="4754880" cy="36576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023360" y="21488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price &gt; 500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256032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737360" y="25603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than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931920" y="2560320"/>
            <a:ext cx="4754880" cy="36576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023360" y="25603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age &lt; 18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297180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&gt;=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737360" y="29718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than or equal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931920" y="2971800"/>
            <a:ext cx="4754880" cy="36576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023360" y="2971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quantity &gt;= 10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33832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&lt;=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737360" y="3383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than or equal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931920" y="3383280"/>
            <a:ext cx="4754880" cy="36576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023360" y="33832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discount &lt;= 20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379476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BETWEEN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737360" y="37947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range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931920" y="3794760"/>
            <a:ext cx="4754880" cy="36576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023360" y="3794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price BETWEEN 100 AND 500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57200" y="420624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LIKE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737360" y="42062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match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931920" y="4206240"/>
            <a:ext cx="4754880" cy="36576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023360" y="4206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name LIKE 'Ram%'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57200" y="461772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737360" y="46177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any in list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3931920" y="4617720"/>
            <a:ext cx="4754880" cy="36576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023360" y="46177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city IN ('Kathmandu', 'Pokhara')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Conditions: AND, OR, NOT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- Both conditions must be true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50292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products WHERE price &gt; 500 AND category = 'Electronics';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products that are expensive AND in Electronics category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377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- At least one condition must be true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697480"/>
            <a:ext cx="8229600" cy="50292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274320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customers WHERE city = 'Kathmandu' OR city = 'Pokhara';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246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customers from Kathmandu OR Pokhara (either one)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703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- Excludes matching rows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4023360"/>
            <a:ext cx="8229600" cy="50292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48640" y="406908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orders WHERE NOT status = 'cancelled';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all orders EXCEPT cancelled ones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Sorting Data with ORDER BY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BY arranges your results in a specific order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ASC = Ascending (A→Z, 1→100) - Default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8229600" cy="50292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73736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customers ORDER BY name ASC;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240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Sorts customers alphabetically: Aarav, Binod, Chandra...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697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 = Descending (Z→A, 100→1)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3017520"/>
            <a:ext cx="8229600" cy="50292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306324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products ORDER BY price DESC;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3566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most expensive products first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40233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by multiple columns: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57200" y="4343400"/>
            <a:ext cx="8229600" cy="50292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48640" y="438912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employees ORDER BY department ASC, salary DESC;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Grouping Data with GROUP BY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BY groups rows that have the same values and lets you perform calculations on each group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8229600" cy="9144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it like this: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have a list of sales and want to know "total sales per city" — you GROUP BY city, then SUM the sales for each city.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560320"/>
            <a:ext cx="8229600" cy="100584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2651760"/>
            <a:ext cx="7863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column, AGGREGATE_FUNCTION(column)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table_name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column;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749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Count customers in each city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4114800"/>
            <a:ext cx="8229600" cy="6858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48640" y="416052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city, COUNT(*) as customer_count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customers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city;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Functions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that calculate a single value from multiple rows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COUNT(*)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194560" y="13716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 number of rows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297680" y="1371600"/>
            <a:ext cx="3474720" cy="50292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389120" y="141732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COUNT(*) FROM orders;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863840" y="137160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Returns: 150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21031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SUM(column)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194560" y="21031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up all values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297680" y="2103120"/>
            <a:ext cx="3474720" cy="50292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389120" y="214884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SUM(amount) FROM sales;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863840" y="210312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Returns: 125000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28346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AVG(column)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194560" y="28346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Calculates average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297680" y="2834640"/>
            <a:ext cx="3474720" cy="50292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389120" y="288036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AVG(price) FROM products;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863840" y="283464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Returns: 450.50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35661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MIN(column)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194560" y="35661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smallest value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297680" y="3566160"/>
            <a:ext cx="3474720" cy="50292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389120" y="361188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MIN(salary) FROM employees;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863840" y="356616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Returns: 25000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42976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MAX(column)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2194560" y="42976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largest value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297680" y="4297680"/>
            <a:ext cx="3474720" cy="50292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389120" y="434340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MAX(salary) FROM employees;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863840" y="429768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Returns: 150000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NULL Values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means "empty" or "unknown" — it's not zero, not blank text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A customer without a phone number</a:t>
            </a:r>
            <a:endParaRPr lang="en-US" sz="13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3200400" cy="100584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14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phone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9801234567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i="1" dirty="0">
                          <a:solidFill>
                            <a:srgbClr val="EA58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9807654321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931920" y="128016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Ways to Handle NULL: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931920" y="1600200"/>
            <a:ext cx="4754880" cy="64008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023360" y="16459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Find rows with NULL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023360" y="1920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phone IS NULL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931920" y="2331720"/>
            <a:ext cx="4754880" cy="82296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4023360" y="23774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Replace NULL with something else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023360" y="26517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ISNULL(phone, 'No phone')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023360" y="28803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If phone is NULL, show 'No phone' instead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931920" y="3246120"/>
            <a:ext cx="4754880" cy="82296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4023360" y="32918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Turn a value into NULL</a:t>
            </a:r>
            <a:endParaRPr lang="en-US" sz="1100" dirty="0"/>
          </a:p>
        </p:txBody>
      </p:sp>
      <p:sp>
        <p:nvSpPr>
          <p:cNvPr id="5" name="Text 13"/>
          <p:cNvSpPr/>
          <p:nvPr/>
        </p:nvSpPr>
        <p:spPr>
          <a:xfrm>
            <a:off x="4023360" y="35661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NULLIF(quantity, 0)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023360" y="379476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If quantity is 0, make it NULL (avoids ÷ by 0)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457200" y="4144879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&amp; After using ISNULL: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457200" y="438069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000" dirty="0"/>
          </a:p>
        </p:txBody>
      </p:sp>
      <p:graphicFrame>
        <p:nvGraphicFramePr>
          <p:cNvPr id="3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1725863"/>
              </p:ext>
            </p:extLst>
          </p:nvPr>
        </p:nvGraphicFramePr>
        <p:xfrm>
          <a:off x="502920" y="4593657"/>
          <a:ext cx="2560320" cy="50292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14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580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phone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580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i="1" dirty="0">
                          <a:solidFill>
                            <a:srgbClr val="EA58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NULL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1" name="Text 17"/>
          <p:cNvSpPr/>
          <p:nvPr/>
        </p:nvSpPr>
        <p:spPr>
          <a:xfrm>
            <a:off x="3108960" y="48006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Text 18"/>
          <p:cNvSpPr/>
          <p:nvPr/>
        </p:nvSpPr>
        <p:spPr>
          <a:xfrm>
            <a:off x="3657600" y="4359041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ISNULL(phone, 'No phone')</a:t>
            </a:r>
            <a:endParaRPr lang="en-US" sz="1000" dirty="0"/>
          </a:p>
        </p:txBody>
      </p:sp>
      <p:graphicFrame>
        <p:nvGraphicFramePr>
          <p:cNvPr id="46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5107462"/>
              </p:ext>
            </p:extLst>
          </p:nvPr>
        </p:nvGraphicFramePr>
        <p:xfrm>
          <a:off x="3657600" y="4600876"/>
          <a:ext cx="2560320" cy="50292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14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phone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phone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BY in Action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table:</a:t>
            </a:r>
            <a:endParaRPr lang="en-US" sz="12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2926080" cy="1737360"/>
        </p:xfrm>
        <a:graphic>
          <a:graphicData uri="http://schemas.openxmlformats.org/drawingml/2006/table">
            <a:tbl>
              <a:tblPr/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95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amount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Kathmandu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Pokhara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Kathmandu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Pokhara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Kathmandu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301752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Query: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57200" y="3246120"/>
            <a:ext cx="3383280" cy="91440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48640" y="329184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city,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SUM(amount) as total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sales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city;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3931920" y="18288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4572000" y="868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</a:t>
            </a:r>
            <a:endParaRPr lang="en-US" sz="1200" dirty="0"/>
          </a:p>
        </p:txBody>
      </p:sp>
      <p:graphicFrame>
        <p:nvGraphicFramePr>
          <p:cNvPr id="3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0" y="1143000"/>
          <a:ext cx="2743200" cy="86868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95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Kathmandu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Pokhara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4572000" y="21945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happened: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4572000" y="251460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Kathmandu: 5000 + 7000 + 2000 = 14000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Pokhara: 3000 + 4000 = 7000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4572000" y="3246120"/>
            <a:ext cx="4114800" cy="9144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4709160" y="333756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GROUP BY examples: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4709160" y="361188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AVG(amount) → Average per city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COUNT(*) → Number of sales per city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MAX(amount) → Largest sale per city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Tables with JOINs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databases have multiple related tables. JOIN lets you combine them.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multiple tables?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7863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Imagine an e-commerce database: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customers table: customer_id, name, email, city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orders table: order_id, customer_id, product, amount, order_date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customer_id connects them! To see "which customer ordered what," we JOIN the tables.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30175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14400" y="3337560"/>
            <a:ext cx="2286000" cy="109728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05840" y="342900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customer_id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383280" y="37490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customer_id →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852160" y="30175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852160" y="3337560"/>
            <a:ext cx="2286000" cy="109728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943600" y="342900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order_id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customer_id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JOIN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only rows that have matching values in BOTH tables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8229600" cy="91440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325880"/>
            <a:ext cx="7863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columns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table1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INNER JOIN table2 ON table1.column = table2.column;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Get customer names with their orders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606040"/>
            <a:ext cx="8229600" cy="9144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269748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customers.name, orders.product, orders.amount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customers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INNER JOIN orders ON customers.customer_id = orders.customer_id;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3749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Visual: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286000" y="4023360"/>
            <a:ext cx="1828800" cy="914400"/>
          </a:xfrm>
          <a:prstGeom prst="ellipse">
            <a:avLst/>
          </a:prstGeom>
          <a:solidFill>
            <a:srgbClr val="2563EB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383280" y="4023360"/>
            <a:ext cx="1828800" cy="914400"/>
          </a:xfrm>
          <a:prstGeom prst="ellipse">
            <a:avLst/>
          </a:prstGeom>
          <a:solidFill>
            <a:srgbClr val="059669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103120" y="42976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389120" y="42976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0" y="42519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669280" y="42976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overlap (matching records) is returned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JOIN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ALL rows from the left table + matching rows from right table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8229600" cy="91440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325880"/>
            <a:ext cx="7863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columns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table1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LEFT JOIN table2 ON table1.column = table2.column;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 LEFT JOIN?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697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want ALL customers, even those who haven't placed any orders yet. Customers without orders will show NULL for order columns.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246120"/>
            <a:ext cx="8229600" cy="73152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32918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customers.name, orders.product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customers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LEFT JOIN orders ON customers.customer_id = orders.customer_id;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286000" y="4160520"/>
            <a:ext cx="1828800" cy="914400"/>
          </a:xfrm>
          <a:prstGeom prst="ellipse">
            <a:avLst/>
          </a:prstGeom>
          <a:solidFill>
            <a:srgbClr val="2563EB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383280" y="4160520"/>
            <a:ext cx="1828800" cy="914400"/>
          </a:xfrm>
          <a:prstGeom prst="ellipse">
            <a:avLst/>
          </a:prstGeom>
          <a:solidFill>
            <a:srgbClr val="059669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669280" y="44348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of left table + matching from right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JOIN &amp; FULL JOIN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JOIN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ALL rows from right table + matching from left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3931920" cy="6858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87452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customers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RIGHT JOIN orders ON ...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914400" y="2651760"/>
            <a:ext cx="1097280" cy="640080"/>
          </a:xfrm>
          <a:prstGeom prst="ellipse">
            <a:avLst/>
          </a:prstGeom>
          <a:solidFill>
            <a:srgbClr val="2563EB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645920" y="2651760"/>
            <a:ext cx="1097280" cy="640080"/>
          </a:xfrm>
          <a:prstGeom prst="ellipse">
            <a:avLst/>
          </a:prstGeom>
          <a:solidFill>
            <a:srgbClr val="059669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754880" y="10058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JOIN (or FULL OUTER JOIN)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754880" y="13258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ALL rows from both tables (matching or not)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1828800"/>
            <a:ext cx="3931920" cy="6858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846320" y="187452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customers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FULL JOIN orders ON ...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212080" y="2651760"/>
            <a:ext cx="1097280" cy="640080"/>
          </a:xfrm>
          <a:prstGeom prst="ellipse">
            <a:avLst/>
          </a:prstGeom>
          <a:solidFill>
            <a:srgbClr val="2563EB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943600" y="2651760"/>
            <a:ext cx="1097280" cy="640080"/>
          </a:xfrm>
          <a:prstGeom prst="ellipse">
            <a:avLst/>
          </a:prstGeom>
          <a:solidFill>
            <a:srgbClr val="059669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" y="3520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Summary:</a:t>
            </a:r>
            <a:endParaRPr lang="en-US" sz="14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840480"/>
          <a:ext cx="8229600" cy="12954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JOIN 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returns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INNER JOIN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matching rows from both tables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LEFT JOIN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from left + matches from right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RIGHT JOIN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from right + matches from left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JOIN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rows from both tables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Query Writing Order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correct order for writing SQL statements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13258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286000" y="13258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columns to show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583680" y="13258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783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17830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286000" y="17830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table(s) to use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583680" y="17830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2240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22402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286000" y="22402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with other tables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583680" y="22402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2697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2960" y="26974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86000" y="26974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rows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583680" y="26974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3154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22960" y="31546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286000" y="31546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rows for aggregation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583680" y="31546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3611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22960" y="36118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HAVING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286000" y="36118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groups (after GROUP BY)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583680" y="36118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4069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22960" y="40690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2286000" y="40690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results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583680" y="40690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57200" y="4526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22960" y="45262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LIMIT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2286000" y="45262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 number of rows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583680" y="45262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SQL Runs Your Query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database processes your query in a specific order (different from how you write it!)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365760" cy="36576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60120" y="13258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/ JOIN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468880" y="1325880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First, identifies which tables to use and combines them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365760" cy="36576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1737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60120" y="17373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468880" y="1737360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out rows that don't match your conditions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148840"/>
            <a:ext cx="365760" cy="36576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2148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60120" y="21488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468880" y="2148840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the remaining rows together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560320"/>
            <a:ext cx="365760" cy="36576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7200" y="2560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60120" y="256032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HAVING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468880" y="2560320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out groups that don't match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2971800"/>
            <a:ext cx="365760" cy="36576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57200" y="2971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60120" y="297180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468880" y="2971800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Picks which columns to show and calculates aggregates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3383280"/>
            <a:ext cx="365760" cy="36576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57200" y="3383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60120" y="33832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DISTINCT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468880" y="3383280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duplicate rows (if used)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3794760"/>
            <a:ext cx="365760" cy="36576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57200" y="3794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60120" y="3794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468880" y="3794760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Sorts the results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" y="4206240"/>
            <a:ext cx="365760" cy="36576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57200" y="4206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960120" y="42062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LIMIT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2468880" y="4206240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only the number of rows you requested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40080" y="46634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It All Together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SQL query using everything we learned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219456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78638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c.city,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COUNT(*) as order_count,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SUM(o.amount) as total_sales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customers c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INNER JOIN orders o ON c.customer_id = o.customer_id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o.order_date &gt;= '2024-01-01'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c.city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total_sales DESC;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3566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does: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8862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Joins customers and orders tables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Filters for orders from 2024 onwards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Groups by city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Counts orders and sums sales per city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Sorts by highest total sales first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9601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database stores organized data in tables (rows &amp; columns)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14173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is the language to "ask questions" to the database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8745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18745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types of SQL: DQL, DML, DDL, DCL, TCL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331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23317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chooses columns, FROM chooses the table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2788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14400" y="27889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filters rows, ORDER BY sorts results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3246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14400" y="32461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BY + aggregates (COUNT, SUM, AVG) summarize data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3703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14400" y="37033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ISNULL, COALESCE, NULLIF handle NULL values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41605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14400" y="41605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JOINs combine related tables using a shared column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4617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14400" y="46177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execution order differs from writing order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4070</Words>
  <Application>Microsoft Office PowerPoint</Application>
  <PresentationFormat>On-screen Show (16:9)</PresentationFormat>
  <Paragraphs>759</Paragraphs>
  <Slides>32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6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 Fundamentals &amp; Database Concepts</dc:title>
  <dc:subject>PptxGenJS Presentation</dc:subject>
  <dc:creator>PptxGenJS</dc:creator>
  <cp:lastModifiedBy>Sauhar Khanal</cp:lastModifiedBy>
  <cp:revision>13</cp:revision>
  <dcterms:created xsi:type="dcterms:W3CDTF">2026-03-16T09:54:22Z</dcterms:created>
  <dcterms:modified xsi:type="dcterms:W3CDTF">2026-03-21T16:35:39Z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b2248cf-7f03-4ea3-bc21-100a3e94dc1a_Enabled">
    <vt:lpwstr>true</vt:lpwstr>
  </property>
  <property fmtid="{D5CDD505-2E9C-101B-9397-08002B2CF9AE}" pid="3" name="MSIP_Label_0b2248cf-7f03-4ea3-bc21-100a3e94dc1a_SetDate">
    <vt:lpwstr>2026-03-16T09:59:32Z</vt:lpwstr>
  </property>
  <property fmtid="{D5CDD505-2E9C-101B-9397-08002B2CF9AE}" pid="4" name="MSIP_Label_0b2248cf-7f03-4ea3-bc21-100a3e94dc1a_Method">
    <vt:lpwstr>Standard</vt:lpwstr>
  </property>
  <property fmtid="{D5CDD505-2E9C-101B-9397-08002B2CF9AE}" pid="5" name="MSIP_Label_0b2248cf-7f03-4ea3-bc21-100a3e94dc1a_Name">
    <vt:lpwstr>defa4170-0d19-0005-0004-bc88714345d2</vt:lpwstr>
  </property>
  <property fmtid="{D5CDD505-2E9C-101B-9397-08002B2CF9AE}" pid="6" name="MSIP_Label_0b2248cf-7f03-4ea3-bc21-100a3e94dc1a_SiteId">
    <vt:lpwstr>8ccadef0-d125-45d2-82b6-d3a9d60db293</vt:lpwstr>
  </property>
  <property fmtid="{D5CDD505-2E9C-101B-9397-08002B2CF9AE}" pid="7" name="MSIP_Label_0b2248cf-7f03-4ea3-bc21-100a3e94dc1a_ActionId">
    <vt:lpwstr>0ed1628d-1892-44e7-9bd1-a641a280b8a6</vt:lpwstr>
  </property>
  <property fmtid="{D5CDD505-2E9C-101B-9397-08002B2CF9AE}" pid="8" name="MSIP_Label_0b2248cf-7f03-4ea3-bc21-100a3e94dc1a_ContentBits">
    <vt:lpwstr>0</vt:lpwstr>
  </property>
  <property fmtid="{D5CDD505-2E9C-101B-9397-08002B2CF9AE}" pid="9" name="MSIP_Label_0b2248cf-7f03-4ea3-bc21-100a3e94dc1a_Tag">
    <vt:lpwstr>10, 3, 0, 1</vt:lpwstr>
  </property>
</Properties>
</file>