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6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21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Power BI 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C107"/>
                </a:solidFill>
              </a:defRPr>
            </a:pPr>
            <a:r>
              <a:t>A Simple Beginner's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43876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rPr dirty="0"/>
              <a:t>What is a Chart?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24242"/>
                </a:solidFill>
              </a:defRPr>
            </a:pPr>
            <a:r>
              <a:t>A chart is a PICTURE that shows your data.</a:t>
            </a:r>
          </a:p>
          <a:p>
            <a:r>
              <a:t>It helps people understand numbers quickly without reading a big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7315200" cy="548640"/>
          </a:xfrm>
          <a:prstGeom prst="roundRect">
            <a:avLst/>
          </a:prstGeom>
          <a:solidFill>
            <a:srgbClr val="E8EAF6"/>
          </a:solidFill>
          <a:ln>
            <a:solidFill>
              <a:srgbClr val="E8E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400" b="1">
                <a:solidFill>
                  <a:srgbClr val="9C27B0"/>
                </a:solidFill>
              </a:defRPr>
            </a:pPr>
            <a:r>
              <a:t>Think of it like this: Would you rather read 100 numbers or look at one picture?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4336"/>
                </a:solidFill>
              </a:defRPr>
            </a:pPr>
            <a:r>
              <a:rPr dirty="0"/>
              <a:t>Hard to Understand: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A: 45,000</a:t>
            </a:r>
          </a:p>
          <a:p>
            <a:r>
              <a:t>Product B: 32,000</a:t>
            </a:r>
          </a:p>
          <a:p>
            <a:r>
              <a:t>Product C: 28,000</a:t>
            </a:r>
          </a:p>
          <a:p>
            <a:r>
              <a:t>Product D: 15,000</a:t>
            </a:r>
          </a:p>
          <a:p>
            <a:r>
              <a:t>Product E: 12,000</a:t>
            </a:r>
          </a:p>
          <a:p>
            <a:r>
              <a:t>Product F: 8,000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00400"/>
            <a:ext cx="4114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</a:defRPr>
            </a:pPr>
            <a:r>
              <a:rPr dirty="0"/>
              <a:t>Easy to Understand: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3657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3703320"/>
            <a:ext cx="3200400" cy="22859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3657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CAF50"/>
                </a:solidFill>
              </a:defRPr>
            </a:pPr>
            <a:r>
              <a:t>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0690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4114800"/>
            <a:ext cx="2275840" cy="22859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10880" y="40690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CAF50"/>
                </a:solidFill>
              </a:defRPr>
            </a:pPr>
            <a:r>
              <a:t>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44805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4526280"/>
            <a:ext cx="1991360" cy="22859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26399" y="4480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CAF50"/>
                </a:solidFill>
              </a:defRPr>
            </a:pPr>
            <a:r>
              <a:t>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4892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4937759"/>
            <a:ext cx="1066799" cy="228599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01839" y="48920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CAF50"/>
                </a:solidFill>
              </a:defRPr>
            </a:pPr>
            <a: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94360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C27B0"/>
                </a:solidFill>
              </a:defRPr>
            </a:pPr>
            <a:r>
              <a:rPr dirty="0"/>
              <a:t>Charts turn boring numbers into clear stories!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The GOLDEN RULE 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7315200" cy="182880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Ask ONE Simple Question First:</a:t>
            </a:r>
          </a:p>
          <a:p>
            <a:endParaRPr/>
          </a:p>
          <a:p>
            <a:r>
              <a:t>What do I want to show?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24242"/>
                </a:solidFill>
              </a:defRPr>
            </a:pPr>
            <a:r>
              <a:t>The question you ask will tell you which chart to use.</a:t>
            </a:r>
          </a:p>
          <a:p>
            <a:endParaRPr/>
          </a:p>
          <a:p>
            <a:r>
              <a:t>It's like choosing the right tool:</a:t>
            </a:r>
          </a:p>
          <a:p>
            <a:r>
              <a:t>🔨 Hammer for nails, 🪛 Screwdriver for screws, 📊 Chart for your question!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474" y="292356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rPr dirty="0"/>
              <a:t>The 3 Most Common Questions Beginners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24242"/>
                </a:solidFill>
              </a:defRPr>
            </a:pPr>
            <a:r>
              <a:t>Start with these three - they cover 80% of what you'll need: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920240"/>
            <a:ext cx="457200" cy="45720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745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196F3"/>
                </a:solidFill>
              </a:defRPr>
            </a:pPr>
            <a:r>
              <a:t>Which one is BIGGER?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920240"/>
            <a:ext cx="3474720" cy="457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24242"/>
                </a:solidFill>
              </a:defRPr>
            </a:pPr>
            <a:r>
              <a:t>Comparing things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</a:defRPr>
            </a:pPr>
            <a:r>
              <a:t>How is it CHANGING?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3108960"/>
            <a:ext cx="3474720" cy="457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24242"/>
                </a:solidFill>
              </a:defRPr>
            </a:pPr>
            <a:r>
              <a:t>Showing trends over time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251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9800"/>
                </a:solidFill>
              </a:defRPr>
            </a:pPr>
            <a:r>
              <a:t>What are the PARTS?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4297680"/>
            <a:ext cx="3474720" cy="457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424242"/>
                </a:solidFill>
              </a:defRPr>
            </a:pPr>
            <a:r>
              <a:t>Breaking down a total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690766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rPr dirty="0"/>
              <a:t>Question 1: Which One is BIGGER?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96F3"/>
                </a:solidFill>
              </a:defRPr>
            </a:pPr>
            <a:r>
              <a:t>Use this when you want to COMPARE different things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4114800" cy="548640"/>
          </a:xfrm>
          <a:prstGeom prst="roundRect">
            <a:avLst/>
          </a:prstGeom>
          <a:solidFill>
            <a:srgbClr val="2196F3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Use: BAR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4242"/>
                </a:solidFill>
              </a:defRPr>
            </a:pPr>
            <a:r>
              <a:t>Real-Life Examples: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</a:defRPr>
            </a:pPr>
            <a:r>
              <a:t>• Which product sold the most?</a:t>
            </a:r>
          </a:p>
          <a:p>
            <a:r>
              <a:t>• Which store made more money?</a:t>
            </a:r>
          </a:p>
          <a:p>
            <a:r>
              <a:t>• Which team has more members?</a:t>
            </a:r>
          </a:p>
          <a:p>
            <a:r>
              <a:t>• Who got the highest score?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4114800" cy="640080"/>
          </a:xfrm>
          <a:prstGeom prst="roundRect">
            <a:avLst/>
          </a:prstGeom>
          <a:solidFill>
            <a:srgbClr val="E3F2FD"/>
          </a:solidFill>
          <a:ln>
            <a:solidFill>
              <a:srgbClr val="E3F2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2196F3"/>
                </a:solidFill>
              </a:defRPr>
            </a:pPr>
            <a:r>
              <a:t>Think: I want to see who's WINNING or what's BIGGEST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4242"/>
                </a:solidFill>
              </a:defRPr>
            </a:pPr>
            <a:r>
              <a:t>What it looks like: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031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148839"/>
            <a:ext cx="3200400" cy="228599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35440" y="2103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96F3"/>
                </a:solidFill>
              </a:defRPr>
            </a:pPr>
            <a:r>
              <a:t>85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514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560320"/>
            <a:ext cx="2334409" cy="228599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9449" y="2514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96F3"/>
                </a:solidFill>
              </a:defRPr>
            </a:pPr>
            <a:r>
              <a:t>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92607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971799"/>
            <a:ext cx="1807284" cy="228599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42324" y="292607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96F3"/>
                </a:solidFill>
              </a:defRPr>
            </a:pPr>
            <a:r>
              <a:t>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337559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3383279"/>
            <a:ext cx="1129552" cy="228599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64592" y="3337559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196F3"/>
                </a:solidFill>
              </a:defRPr>
            </a:pPr>
            <a:r>
              <a:t>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754880"/>
            <a:ext cx="3931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rPr dirty="0"/>
              <a:t>See how EASY it is to spot that Product A is the winner? </a:t>
            </a:r>
          </a:p>
          <a:p>
            <a:endParaRPr dirty="0"/>
          </a:p>
          <a:p>
            <a:r>
              <a:rPr dirty="0"/>
              <a:t>Bars make comparison super simple!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673293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rPr dirty="0"/>
              <a:t>Question 2: How is it CHANGING?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</a:defRPr>
            </a:pPr>
            <a:r>
              <a:t>Use this when you want to see TRENDS over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4114800" cy="548640"/>
          </a:xfrm>
          <a:prstGeom prst="roundRect">
            <a:avLst/>
          </a:prstGeom>
          <a:solidFill>
            <a:srgbClr val="4CAF50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Use: LINE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4242"/>
                </a:solidFill>
              </a:defRPr>
            </a:pPr>
            <a:r>
              <a:t>Real-Life Examples: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</a:defRPr>
            </a:pPr>
            <a:r>
              <a:t>• Are sales going UP or DOWN?</a:t>
            </a:r>
          </a:p>
          <a:p>
            <a:r>
              <a:t>• How did traffic change monthly?</a:t>
            </a:r>
          </a:p>
          <a:p>
            <a:r>
              <a:t>• Is the temperature rising?</a:t>
            </a:r>
          </a:p>
          <a:p>
            <a:r>
              <a:t>• What's the pattern over time?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4114800" cy="640080"/>
          </a:xfrm>
          <a:prstGeom prst="roundRect">
            <a:avLst/>
          </a:prstGeom>
          <a:solidFill>
            <a:srgbClr val="E8F5E9"/>
          </a:solidFill>
          <a:ln>
            <a:solidFill>
              <a:srgbClr val="E8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4CAF50"/>
                </a:solidFill>
              </a:defRPr>
            </a:pPr>
            <a:r>
              <a:t>Think: I want to see if things are getting BETTER or WORSE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4242"/>
                </a:solidFill>
              </a:defRPr>
            </a:pPr>
            <a:r>
              <a:t>What it looks like: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4206240"/>
            <a:ext cx="3200400" cy="18288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2194560"/>
            <a:ext cx="18288" cy="201168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 flipV="1">
            <a:off x="5029200" y="3573346"/>
            <a:ext cx="457200" cy="256056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486400" y="3465901"/>
            <a:ext cx="457200" cy="153168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943600" y="3405144"/>
            <a:ext cx="457200" cy="154622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400800" y="3153597"/>
            <a:ext cx="457200" cy="290954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858000" y="2999456"/>
            <a:ext cx="457200" cy="215403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315200" y="2942734"/>
            <a:ext cx="457200" cy="91257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772400" y="2742987"/>
            <a:ext cx="457200" cy="112181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9204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</a:defRPr>
            </a:pPr>
            <a:r>
              <a:t>Jan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</a:defRPr>
            </a:pPr>
            <a:r>
              <a:t>Feb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</a:defRPr>
            </a:pPr>
            <a:r>
              <a:t>Mar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79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6464"/>
                </a:solidFill>
              </a:defRPr>
            </a:pPr>
            <a:r>
              <a:t>Apr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7548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CAF50"/>
                </a:solidFill>
              </a:defRPr>
            </a:pPr>
            <a:r>
              <a:t>Lines show the DIRECTION - going up = good! 📈</a:t>
            </a:r>
          </a:p>
          <a:p>
            <a:r>
              <a:t>going down = need attention! 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Question 3: What Are the PARTS? 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</a:defRPr>
            </a:pPr>
            <a:r>
              <a:t>Use this when you want to show PIECES of a WHOLE (like slices of a pie)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4114800" cy="54864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Use: PIE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4242"/>
                </a:solidFill>
              </a:defRPr>
            </a:pPr>
            <a:r>
              <a:t>Real-Life Examples: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24242"/>
                </a:solidFill>
              </a:defRPr>
            </a:pPr>
            <a:r>
              <a:t>• What % of total sales is each product?</a:t>
            </a:r>
          </a:p>
          <a:p>
            <a:r>
              <a:t>• How is my budget divided?</a:t>
            </a:r>
          </a:p>
          <a:p>
            <a:r>
              <a:t>• What portion does each team contribute?</a:t>
            </a:r>
          </a:p>
          <a:p>
            <a:r>
              <a:t>• Market share breakdown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4114800" cy="640080"/>
          </a:xfrm>
          <a:prstGeom prst="roundRect">
            <a:avLst/>
          </a:prstGeom>
          <a:solidFill>
            <a:srgbClr val="FFF3E0"/>
          </a:solidFill>
          <a:ln>
            <a:solidFill>
              <a:srgbClr val="FFF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FF9800"/>
                </a:solidFill>
              </a:defRPr>
            </a:pPr>
            <a:r>
              <a:t>Think: I want to see PERCENTAGES or SHARES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24242"/>
                </a:solidFill>
              </a:defRPr>
            </a:pPr>
            <a:r>
              <a:t>What it looks like: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194560"/>
            <a:ext cx="548640" cy="548640"/>
          </a:xfrm>
          <a:prstGeom prst="roundRect">
            <a:avLst/>
          </a:prstGeom>
          <a:solidFill>
            <a:srgbClr val="2196F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77840" y="2194560"/>
            <a:ext cx="365760" cy="365760"/>
          </a:xfrm>
          <a:prstGeom prst="roundRect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577840" y="2560320"/>
            <a:ext cx="365760" cy="18288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029200" y="2743200"/>
            <a:ext cx="274320" cy="365760"/>
          </a:xfrm>
          <a:prstGeom prst="roundRect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0" y="3291840"/>
            <a:ext cx="182880" cy="18288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0" y="3246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A - 40%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3611880"/>
            <a:ext cx="182880" cy="1828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B - 30%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3931920"/>
            <a:ext cx="182880" cy="18288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C - 20%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4251959"/>
            <a:ext cx="182880" cy="18288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24242"/>
                </a:solidFill>
              </a:defRPr>
            </a:pPr>
            <a:r>
              <a:t>Product D - 10%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120640"/>
            <a:ext cx="39319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9800"/>
                </a:solidFill>
              </a:defRPr>
            </a:pPr>
            <a:r>
              <a:rPr dirty="0"/>
              <a:t>All slices together = 100%</a:t>
            </a:r>
          </a:p>
          <a:p>
            <a:r>
              <a:rPr dirty="0"/>
              <a:t>Bigger slice = bigger share!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294542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rPr dirty="0"/>
              <a:t>Quick Summary - The 3 Charts You MUST Know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73AB7"/>
                </a:solidFill>
              </a:defRPr>
            </a:pPr>
            <a:r>
              <a:t>Master these 3 and you can handle most situations! 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2560320" cy="54864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BAR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196F3"/>
                </a:solidFill>
              </a:defRPr>
            </a:pPr>
            <a:r>
              <a:t>Which is BIGGER?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83280"/>
            <a:ext cx="2560320" cy="457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24242"/>
                </a:solidFill>
              </a:defRPr>
            </a:pPr>
            <a:r>
              <a:t>Comparing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011680"/>
            <a:ext cx="2560320" cy="548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LINE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CAF50"/>
                </a:solidFill>
              </a:defRPr>
            </a:pPr>
            <a:r>
              <a:t>How is it CHANGING?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3383280"/>
            <a:ext cx="2560320" cy="457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24242"/>
                </a:solidFill>
              </a:defRPr>
            </a:pPr>
            <a:r>
              <a:t>Trends over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011680"/>
            <a:ext cx="2560320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PIE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7432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9800"/>
                </a:solidFill>
              </a:defRPr>
            </a:pPr>
            <a:r>
              <a:t>What are the PARTS?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383280"/>
            <a:ext cx="2560320" cy="45720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424242"/>
                </a:solidFill>
              </a:defRPr>
            </a:pPr>
            <a:r>
              <a:t>Percentages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89120"/>
            <a:ext cx="457200" cy="2743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280160" y="4114800"/>
            <a:ext cx="457200" cy="5486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920239" y="3840480"/>
            <a:ext cx="457200" cy="822959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0" y="5029200"/>
            <a:ext cx="1828800" cy="18288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0" y="4114800"/>
            <a:ext cx="18288" cy="914400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19"/>
          <p:cNvCxnSpPr/>
          <p:nvPr/>
        </p:nvCxnSpPr>
        <p:spPr>
          <a:xfrm flipV="1">
            <a:off x="3657600" y="4694139"/>
            <a:ext cx="261257" cy="177679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918857" y="4665072"/>
            <a:ext cx="261257" cy="74791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180114" y="4682691"/>
            <a:ext cx="261257" cy="76246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4441371" y="4509522"/>
            <a:ext cx="261257" cy="212576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702628" y="4433757"/>
            <a:ext cx="261257" cy="137026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963885" y="4455413"/>
            <a:ext cx="261257" cy="12880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225142" y="4334043"/>
            <a:ext cx="261258" cy="33804"/>
          </a:xfrm>
          <a:prstGeom prst="line">
            <a:avLst/>
          </a:prstGeom>
          <a:ln w="38100">
            <a:solidFill>
              <a:srgbClr val="4CAF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217920" y="4206240"/>
            <a:ext cx="640080" cy="640080"/>
          </a:xfrm>
          <a:prstGeom prst="roundRect">
            <a:avLst/>
          </a:prstGeom>
          <a:solidFill>
            <a:srgbClr val="FF98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58000" y="4206240"/>
            <a:ext cx="457200" cy="457200"/>
          </a:xfrm>
          <a:prstGeom prst="roundRect">
            <a:avLst/>
          </a:prstGeom>
          <a:solidFill>
            <a:srgbClr val="FFC10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17920" y="4846320"/>
            <a:ext cx="457200" cy="457200"/>
          </a:xfrm>
          <a:prstGeom prst="roundRect">
            <a:avLst/>
          </a:prstGeom>
          <a:solidFill>
            <a:srgbClr val="FFD54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12121"/>
                </a:solidFill>
              </a:defRPr>
            </a:pPr>
            <a:r>
              <a:t>Your Simple Decision Tree 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88"/>
                </a:solidFill>
              </a:defRPr>
            </a:pPr>
            <a:r>
              <a:t>Follow this flowchart every time you need to choose a chart: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828800"/>
            <a:ext cx="274320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START: What do I want to show?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2468880"/>
            <a:ext cx="91440" cy="45720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256032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424242"/>
                </a:solidFill>
              </a:defRPr>
            </a:pPr>
            <a:r>
              <a:t>Compare sizes?</a:t>
            </a:r>
          </a:p>
        </p:txBody>
      </p:sp>
      <p:sp>
        <p:nvSpPr>
          <p:cNvPr id="9" name="Rectangle 8"/>
          <p:cNvSpPr/>
          <p:nvPr/>
        </p:nvSpPr>
        <p:spPr>
          <a:xfrm>
            <a:off x="1691640" y="3749039"/>
            <a:ext cx="91440" cy="36576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" y="4206240"/>
            <a:ext cx="2560320" cy="64008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BAR CHART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468880"/>
            <a:ext cx="91440" cy="45720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00400" y="3017520"/>
            <a:ext cx="256032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424242"/>
                </a:solidFill>
              </a:defRPr>
            </a:pPr>
            <a:r>
              <a:t>Show change over time?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3749039"/>
            <a:ext cx="91440" cy="3657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00400" y="4206240"/>
            <a:ext cx="2560320" cy="640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LINE CHART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468880"/>
            <a:ext cx="91440" cy="457200"/>
          </a:xfrm>
          <a:prstGeom prst="rect">
            <a:avLst/>
          </a:prstGeom>
          <a:solidFill>
            <a:srgbClr val="96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943600" y="3017520"/>
            <a:ext cx="2560320" cy="640080"/>
          </a:xfrm>
          <a:prstGeom prst="roundRect">
            <a:avLst/>
          </a:prstGeom>
          <a:solidFill>
            <a:srgbClr val="F5F5F5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>
                <a:solidFill>
                  <a:srgbClr val="424242"/>
                </a:solidFill>
              </a:defRPr>
            </a:pPr>
            <a:r>
              <a:t>Show parts of whole?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3749039"/>
            <a:ext cx="91440" cy="3657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943600" y="4206240"/>
            <a:ext cx="256032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PIE CHART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597</Words>
  <Application>Microsoft Office PowerPoint</Application>
  <PresentationFormat>On-screen Show (4:3)</PresentationFormat>
  <Paragraphs>115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Sauhar Khanal</cp:lastModifiedBy>
  <cp:revision>4</cp:revision>
  <dcterms:created xsi:type="dcterms:W3CDTF">2013-01-27T09:14:16Z</dcterms:created>
  <dcterms:modified xsi:type="dcterms:W3CDTF">2026-04-01T13:10:53Z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b2248cf-7f03-4ea3-bc21-100a3e94dc1a_Enabled">
    <vt:lpwstr>true</vt:lpwstr>
  </property>
  <property fmtid="{D5CDD505-2E9C-101B-9397-08002B2CF9AE}" pid="3" name="MSIP_Label_0b2248cf-7f03-4ea3-bc21-100a3e94dc1a_SetDate">
    <vt:lpwstr>2026-04-01T13:09:18Z</vt:lpwstr>
  </property>
  <property fmtid="{D5CDD505-2E9C-101B-9397-08002B2CF9AE}" pid="4" name="MSIP_Label_0b2248cf-7f03-4ea3-bc21-100a3e94dc1a_Method">
    <vt:lpwstr>Standard</vt:lpwstr>
  </property>
  <property fmtid="{D5CDD505-2E9C-101B-9397-08002B2CF9AE}" pid="5" name="MSIP_Label_0b2248cf-7f03-4ea3-bc21-100a3e94dc1a_Name">
    <vt:lpwstr>defa4170-0d19-0005-0004-bc88714345d2</vt:lpwstr>
  </property>
  <property fmtid="{D5CDD505-2E9C-101B-9397-08002B2CF9AE}" pid="6" name="MSIP_Label_0b2248cf-7f03-4ea3-bc21-100a3e94dc1a_SiteId">
    <vt:lpwstr>8ccadef0-d125-45d2-82b6-d3a9d60db293</vt:lpwstr>
  </property>
  <property fmtid="{D5CDD505-2E9C-101B-9397-08002B2CF9AE}" pid="7" name="MSIP_Label_0b2248cf-7f03-4ea3-bc21-100a3e94dc1a_ActionId">
    <vt:lpwstr>71015ed2-8861-4c11-84d6-f5726648abaf</vt:lpwstr>
  </property>
  <property fmtid="{D5CDD505-2E9C-101B-9397-08002B2CF9AE}" pid="8" name="MSIP_Label_0b2248cf-7f03-4ea3-bc21-100a3e94dc1a_ContentBits">
    <vt:lpwstr>0</vt:lpwstr>
  </property>
  <property fmtid="{D5CDD505-2E9C-101B-9397-08002B2CF9AE}" pid="9" name="MSIP_Label_0b2248cf-7f03-4ea3-bc21-100a3e94dc1a_Tag">
    <vt:lpwstr>10, 3, 0, 1</vt:lpwstr>
  </property>
</Properties>
</file>